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slides/slide76.xml" ContentType="application/vnd.openxmlformats-officedocument.presentationml.slide+xml"/>
  <Override PartName="/ppt/notesSlides/notesSlide2.xml" ContentType="application/vnd.openxmlformats-officedocument.presentationml.notesSlide+xml"/>
  <Override PartName="/ppt/notesSlides/notesSlide78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7.xml" ContentType="application/vnd.openxmlformats-officedocument.presentationml.notesSlid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slides/slide7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Default Extension="png" ContentType="image/png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79.xml" ContentType="application/vnd.openxmlformats-officedocument.presentationml.notes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slides/slide69.xml" ContentType="application/vnd.openxmlformats-officedocument.presentationml.slide+xml"/>
  <Override PartName="/ppt/slides/slide78.xml" ContentType="application/vnd.openxmlformats-officedocument.presentationml.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notesSlides/notesSlide69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76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slides/slide79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77.xml" ContentType="application/vnd.openxmlformats-officedocument.presentationml.notesSlide+xml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1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  <p:sldId id="302" r:id="rId45"/>
    <p:sldId id="303" r:id="rId46"/>
    <p:sldId id="305" r:id="rId47"/>
    <p:sldId id="306" r:id="rId48"/>
    <p:sldId id="307" r:id="rId49"/>
    <p:sldId id="308" r:id="rId50"/>
    <p:sldId id="309" r:id="rId51"/>
    <p:sldId id="310" r:id="rId52"/>
    <p:sldId id="311" r:id="rId53"/>
    <p:sldId id="312" r:id="rId54"/>
    <p:sldId id="313" r:id="rId55"/>
    <p:sldId id="316" r:id="rId56"/>
    <p:sldId id="317" r:id="rId57"/>
    <p:sldId id="318" r:id="rId58"/>
    <p:sldId id="319" r:id="rId59"/>
    <p:sldId id="320" r:id="rId60"/>
    <p:sldId id="322" r:id="rId61"/>
    <p:sldId id="323" r:id="rId62"/>
    <p:sldId id="324" r:id="rId63"/>
    <p:sldId id="326" r:id="rId64"/>
    <p:sldId id="328" r:id="rId65"/>
    <p:sldId id="327" r:id="rId66"/>
    <p:sldId id="329" r:id="rId67"/>
    <p:sldId id="330" r:id="rId68"/>
    <p:sldId id="331" r:id="rId69"/>
    <p:sldId id="333" r:id="rId70"/>
    <p:sldId id="334" r:id="rId71"/>
    <p:sldId id="335" r:id="rId72"/>
    <p:sldId id="336" r:id="rId73"/>
    <p:sldId id="337" r:id="rId74"/>
    <p:sldId id="338" r:id="rId75"/>
    <p:sldId id="339" r:id="rId76"/>
    <p:sldId id="340" r:id="rId77"/>
    <p:sldId id="341" r:id="rId78"/>
    <p:sldId id="343" r:id="rId79"/>
    <p:sldId id="344" r:id="rId8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4AA1DFF-D224-84A3-F385-E3C7C10D69FF}" v="158" dt="2026-10-05T12:25:42.968"/>
    <p1510:client id="{8F4A5A72-665E-8FF9-253A-DC40228D7BD9}" v="3" dt="2026-10-07T07:48:57.244"/>
    <p1510:client id="{D476DB4C-D6B5-B318-5DCB-E7B1C6ABEFCE}" v="2" dt="2026-10-05T08:35:49.2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11"/>
    <p:restoredTop sz="98933" autoAdjust="0"/>
  </p:normalViewPr>
  <p:slideViewPr>
    <p:cSldViewPr snapToGrid="0" snapToObjects="1">
      <p:cViewPr varScale="1">
        <p:scale>
          <a:sx n="97" d="100"/>
          <a:sy n="97" d="100"/>
        </p:scale>
        <p:origin x="-452" y="-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heme" Target="theme/theme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presProps" Target="presProps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Alan Kay coined “object-oriented”. Objects keep their own data inside, like a cell, and cooperate by sending messages: in Java, calling methods. This is the mental model for the whole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class is the cookie cutter, objects are the cookies.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Encapsulation</a:t>
            </a:r>
            <a:r>
              <a:rPr lang="en-US" dirty="0"/>
              <a:t>: the capsule keeps data and methods together; the bank balance only changes through deposit.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Inheritance</a:t>
            </a:r>
            <a:r>
              <a:rPr lang="en-US" dirty="0"/>
              <a:t>: Dog, Cat and Cow all get what Animal has.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Polymorphism</a:t>
            </a:r>
            <a:r>
              <a:rPr lang="en-US" dirty="0"/>
              <a:t>: the same call speak() gives Bark, Meow or Moo depending on the object. 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Abstraction</a:t>
            </a:r>
            <a:r>
              <a:rPr lang="en-US" dirty="0"/>
              <a:t>: you use the ATM through withdraw, you never see how the bank processes it. </a:t>
            </a:r>
            <a:endParaRPr lang="en-US" dirty="0" smtClean="0"/>
          </a:p>
          <a:p>
            <a:r>
              <a:rPr lang="en-US" dirty="0" smtClean="0"/>
              <a:t>Each </a:t>
            </a:r>
            <a:r>
              <a:rPr lang="en-US" dirty="0"/>
              <a:t>pillar gets its own lecture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OOP is an idea, not a language. Kotlin runs on the same JVM as Java, so Java skills transfer.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Every </a:t>
            </a:r>
            <a:r>
              <a:rPr lang="en-US" dirty="0"/>
              <a:t>method and field is declared inside a </a:t>
            </a:r>
            <a:r>
              <a:rPr lang="en-US" dirty="0" smtClean="0"/>
              <a:t>class</a:t>
            </a:r>
            <a:r>
              <a:rPr lang="en-US" baseline="0" dirty="0" smtClean="0"/>
              <a:t> or </a:t>
            </a:r>
            <a:r>
              <a:rPr lang="en-US" dirty="0" smtClean="0"/>
              <a:t>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java First hello gives args[0] = "hello".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java and javac show different versions, there are two Javas on the machine: see troubleshooting.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39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Wrap-up of the Java part, before Eclipse.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49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Commit = save point, branch = alternate route, merge = routes rejoin, remote = cloud save.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winget? Download Git for Windows from git-scm.com and accept every default. The name and email end up in every commit.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notepad .gitignore creates the file with exactly that name (no .txt) when you say Yes to create it. Check: dir -Force should list .gitignore.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Your GitHub account password never works for git push. Windows: Git Credential Manager handles it in the browser. Mac without GCM: a personal access token pasted as the password.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72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73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75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pPr/>
              <a:t>79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482515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8021"/>
            <a:ext cx="10566400" cy="410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4825154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15000"/>
              </a:lnSpc>
              <a:buNone/>
              <a:defRPr lang="en-US" sz="360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defRPr>
            </a:lvl1pPr>
          </a:lstStyle>
          <a:p>
            <a:pPr marL="0" indent="0" algn="l">
              <a:lnSpc>
                <a:spcPct val="115000"/>
              </a:lnSpc>
              <a:buNone/>
            </a:pPr>
            <a:endParaRPr lang="en-US" sz="36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01"/>
          </p:nvPr>
        </p:nvSpPr>
        <p:spPr>
          <a:xfrm>
            <a:off x="812800" y="1938021"/>
            <a:ext cx="10566400" cy="41071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indent="0" algn="l">
              <a:lnSpc>
                <a:spcPct val="140000"/>
              </a:lnSpc>
              <a:buNone/>
              <a:def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defRPr>
            </a:lvl1pPr>
          </a:lstStyle>
          <a:p>
            <a:pPr marL="0" indent="0" algn="l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adoptium.net/temurin/releases/" TargetMode="Externa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visp.github.io/java-oop-course/00-tools/java/" TargetMode="Externa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clipse.org/downloads/" TargetMode="External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visp.github.io/java-oop-course/00-tools/eclipse-setup/" TargetMode="Externa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s://git-scm.com/download/win" TargetMode="External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visp.github.io/java-oop-course/00-tools/git-github/" TargetMode="Externa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8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11313"/>
            <a:ext cx="1056640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80876" tIns="4676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 smtClean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Seminar</a:t>
            </a:r>
            <a:r>
              <a:rPr lang="en-US" sz="1200" b="1" kern="0" spc="50" dirty="0" smtClean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· OBJECT-ORIENTED PROGRAMMING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154873"/>
            <a:ext cx="5624830" cy="21164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488"/>
              </a:lnSpc>
              <a:buNone/>
            </a:pPr>
            <a:r>
              <a:rPr lang="en-US" sz="5600" b="1" i="0" kern="0" spc="-1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Java,</a:t>
            </a:r>
            <a:endParaRPr lang="en-US" sz="5600" dirty="0"/>
          </a:p>
          <a:p>
            <a:pPr marL="0" indent="0" algn="l">
              <a:lnSpc>
                <a:spcPts val="5488"/>
              </a:lnSpc>
              <a:buNone/>
            </a:pPr>
            <a:r>
              <a:rPr lang="en-US" sz="5600" b="1" i="0" kern="0" spc="-1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Eclipse</a:t>
            </a:r>
            <a:endParaRPr lang="en-US" sz="5600" dirty="0"/>
          </a:p>
          <a:p>
            <a:pPr marL="0" indent="0" algn="l">
              <a:lnSpc>
                <a:spcPts val="5488"/>
              </a:lnSpc>
              <a:buNone/>
            </a:pPr>
            <a:r>
              <a:rPr lang="en-US" sz="5600" b="1" i="0" kern="0" spc="-1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&amp; </a:t>
            </a:r>
            <a:r>
              <a:rPr lang="en-US" sz="5600" b="1" i="0" kern="0" spc="-150" dirty="0">
                <a:solidFill>
                  <a:srgbClr val="FF6B2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GitHub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4474528"/>
            <a:ext cx="536321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 you set up the three tools you will use every week, and push your first commit.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 rot="180000">
            <a:off x="6350000" y="1078230"/>
            <a:ext cx="4826000" cy="1924050"/>
          </a:xfrm>
          <a:prstGeom prst="roundRect">
            <a:avLst>
              <a:gd name="adj" fmla="val 4620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 rot="180000">
            <a:off x="6390640" y="1079288"/>
            <a:ext cx="4826000" cy="368300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7" name="Shape 5"/>
          <p:cNvSpPr/>
          <p:nvPr/>
        </p:nvSpPr>
        <p:spPr>
          <a:xfrm rot="180000">
            <a:off x="6508062" y="1101037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 rot="180000">
            <a:off x="6660250" y="1108975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 rot="180000">
            <a:off x="6812545" y="1117018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 rot="180000">
            <a:off x="6963451" y="1084357"/>
            <a:ext cx="96520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180000">
            <a:off x="6340422" y="1444943"/>
            <a:ext cx="4826000" cy="1555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Commit history on GitHub"/>
          <p:cNvPicPr>
            <a:picLocks noChangeAspect="1"/>
          </p:cNvPicPr>
          <p:nvPr/>
        </p:nvPicPr>
        <p:blipFill>
          <a:blip r:embed="rId3"/>
          <a:srcRect t="-179" b="-179"/>
          <a:stretch/>
        </p:blipFill>
        <p:spPr>
          <a:xfrm rot="180000">
            <a:off x="6340422" y="1444943"/>
            <a:ext cx="4826000" cy="155575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 rot="21360000">
            <a:off x="6350000" y="3300677"/>
            <a:ext cx="3810000" cy="191135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 rot="21360000">
            <a:off x="6296184" y="3302582"/>
            <a:ext cx="3810000" cy="368300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15" name="Shape 12"/>
          <p:cNvSpPr/>
          <p:nvPr/>
        </p:nvSpPr>
        <p:spPr>
          <a:xfrm rot="21360000">
            <a:off x="6414717" y="356409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6" name="Shape 13"/>
          <p:cNvSpPr/>
          <p:nvPr/>
        </p:nvSpPr>
        <p:spPr>
          <a:xfrm rot="21360000">
            <a:off x="6566799" y="3553513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7" name="Shape 14"/>
          <p:cNvSpPr/>
          <p:nvPr/>
        </p:nvSpPr>
        <p:spPr>
          <a:xfrm rot="21360000">
            <a:off x="6718776" y="354293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8" name="Text 15"/>
          <p:cNvSpPr/>
          <p:nvPr/>
        </p:nvSpPr>
        <p:spPr>
          <a:xfrm rot="21360000">
            <a:off x="6870360" y="3447676"/>
            <a:ext cx="69215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Eclipse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 rot="21360000">
            <a:off x="6362753" y="3667337"/>
            <a:ext cx="3810000" cy="15430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0" name="Image 1" descr="Eclipse quick fix suggestions for an error"/>
          <p:cNvPicPr>
            <a:picLocks noChangeAspect="1"/>
          </p:cNvPicPr>
          <p:nvPr/>
        </p:nvPicPr>
        <p:blipFill>
          <a:blip r:embed="rId4"/>
          <a:srcRect l="-16" r="-16"/>
          <a:stretch/>
        </p:blipFill>
        <p:spPr>
          <a:xfrm rot="21360000">
            <a:off x="6362753" y="3667337"/>
            <a:ext cx="3810000" cy="154305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 rot="360000">
            <a:off x="9143947" y="2984553"/>
            <a:ext cx="1905000" cy="787400"/>
          </a:xfrm>
          <a:prstGeom prst="roundRect">
            <a:avLst>
              <a:gd name="adj" fmla="val 9677"/>
            </a:avLst>
          </a:prstGeom>
          <a:solidFill>
            <a:srgbClr val="FFD23F"/>
          </a:solidFill>
          <a:ln/>
          <a:effectLst>
            <a:outerShdw blurRad="190500" dist="76200" dir="5400000" algn="bl" rotWithShape="0">
              <a:srgbClr val="000000">
                <a:alpha val="40000"/>
              </a:srgbClr>
            </a:outerShdw>
          </a:effectLst>
        </p:spPr>
        <p:txBody>
          <a:bodyPr wrap="square" lIns="130082" tIns="104682" rIns="79282" bIns="79282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java -version</a:t>
            </a:r>
            <a:endParaRPr lang="en-US" sz="1500" dirty="0"/>
          </a:p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→ 25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812800" y="628904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Inter"/>
                <a:ea typeface="Inter" pitchFamily="34" charset="-122"/>
                <a:cs typeface="Inter" pitchFamily="34" charset="-120"/>
              </a:rPr>
              <a:t>Alba Meca</a:t>
            </a:r>
            <a:endParaRPr lang="en-US" sz="1200" dirty="0">
              <a:latin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816927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0"/>
            <a:ext cx="858977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Four stops, one goal: your first push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20"/>
            <a:ext cx="2527300" cy="3903980"/>
          </a:xfrm>
          <a:prstGeom prst="roundRect">
            <a:avLst>
              <a:gd name="adj" fmla="val 6030"/>
            </a:avLst>
          </a:prstGeom>
          <a:solidFill>
            <a:srgbClr val="FFD23F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66620"/>
            <a:ext cx="218452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01418">
                    <a:alpha val="9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1016000" y="3599234"/>
            <a:ext cx="2184527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course &amp; OOP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1016000" y="4027251"/>
            <a:ext cx="218452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just">
              <a:lnSpc>
                <a:spcPts val="1820"/>
              </a:lnSpc>
              <a:buNone/>
            </a:pPr>
            <a:r>
              <a:rPr lang="en-US" sz="1600" dirty="0">
                <a:solidFill>
                  <a:srgbClr val="1014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we'll build and how we'll think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92500" y="1938020"/>
            <a:ext cx="2527300" cy="3903980"/>
          </a:xfrm>
          <a:prstGeom prst="roundRect">
            <a:avLst>
              <a:gd name="adj" fmla="val 6030"/>
            </a:avLst>
          </a:prstGeom>
          <a:solidFill>
            <a:srgbClr val="FF6B2C"/>
          </a:solidFill>
          <a:ln/>
        </p:spPr>
      </p:sp>
      <p:sp>
        <p:nvSpPr>
          <p:cNvPr id="9" name="Text 7"/>
          <p:cNvSpPr/>
          <p:nvPr/>
        </p:nvSpPr>
        <p:spPr>
          <a:xfrm>
            <a:off x="3695700" y="2166620"/>
            <a:ext cx="218452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101418">
                    <a:alpha val="9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3695700" y="3599234"/>
            <a:ext cx="2184527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695700" y="3953564"/>
            <a:ext cx="21845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1014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it, compile &amp; run</a:t>
            </a:r>
          </a:p>
        </p:txBody>
      </p:sp>
      <p:sp>
        <p:nvSpPr>
          <p:cNvPr id="12" name="Shape 10"/>
          <p:cNvSpPr/>
          <p:nvPr/>
        </p:nvSpPr>
        <p:spPr>
          <a:xfrm>
            <a:off x="6172200" y="1938020"/>
            <a:ext cx="2527300" cy="3903980"/>
          </a:xfrm>
          <a:prstGeom prst="roundRect">
            <a:avLst>
              <a:gd name="adj" fmla="val 6030"/>
            </a:avLst>
          </a:prstGeom>
          <a:solidFill>
            <a:srgbClr val="2563EB"/>
          </a:solidFill>
          <a:ln/>
        </p:spPr>
      </p:sp>
      <p:sp>
        <p:nvSpPr>
          <p:cNvPr id="13" name="Text 11"/>
          <p:cNvSpPr/>
          <p:nvPr/>
        </p:nvSpPr>
        <p:spPr>
          <a:xfrm>
            <a:off x="6375400" y="2166620"/>
            <a:ext cx="218452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3EEE4">
                    <a:alpha val="9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6375400" y="3599234"/>
            <a:ext cx="2184527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Eclipse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375400" y="3953564"/>
            <a:ext cx="21845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600" dirty="0">
                <a:solidFill>
                  <a:srgbClr val="F3EEE4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it, run a class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8851900" y="1938020"/>
            <a:ext cx="2527300" cy="3903980"/>
          </a:xfrm>
          <a:prstGeom prst="roundRect">
            <a:avLst>
              <a:gd name="adj" fmla="val 6030"/>
            </a:avLst>
          </a:prstGeom>
          <a:solidFill>
            <a:srgbClr val="101418"/>
          </a:solidFill>
          <a:ln/>
        </p:spPr>
      </p:sp>
      <p:sp>
        <p:nvSpPr>
          <p:cNvPr id="17" name="Text 15"/>
          <p:cNvSpPr/>
          <p:nvPr/>
        </p:nvSpPr>
        <p:spPr>
          <a:xfrm>
            <a:off x="9055100" y="2166620"/>
            <a:ext cx="2184527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F3EEE4">
                    <a:alpha val="9000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6000" dirty="0"/>
          </a:p>
        </p:txBody>
      </p:sp>
      <p:sp>
        <p:nvSpPr>
          <p:cNvPr id="18" name="Text 16"/>
          <p:cNvSpPr/>
          <p:nvPr/>
        </p:nvSpPr>
        <p:spPr>
          <a:xfrm>
            <a:off x="9055100" y="3599234"/>
            <a:ext cx="2184527" cy="29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90"/>
              </a:lnSpc>
              <a:buNone/>
            </a:pPr>
            <a:r>
              <a:rPr lang="en-US" sz="19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 &amp; GitHub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055100" y="3953564"/>
            <a:ext cx="218452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just">
              <a:lnSpc>
                <a:spcPts val="1820"/>
              </a:lnSpc>
              <a:buNone/>
            </a:pPr>
            <a:r>
              <a:rPr lang="en-US" sz="1600" dirty="0">
                <a:solidFill>
                  <a:srgbClr val="F3EEE4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repo, your first push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2800" y="62890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Seminar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 ·  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296035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COURSE</a:t>
            </a:r>
            <a:endParaRPr lang="en-US" sz="1200" dirty="0"/>
          </a:p>
        </p:txBody>
      </p:sp>
      <p:pic>
        <p:nvPicPr>
          <p:cNvPr id="3" name="Image 0" descr="Course roadmap: Foundations, Core OOP Principles, Files and Exceptions, Modern Java"/>
          <p:cNvPicPr>
            <a:picLocks noChangeAspect="1"/>
          </p:cNvPicPr>
          <p:nvPr/>
        </p:nvPicPr>
        <p:blipFill>
          <a:blip r:embed="rId3"/>
          <a:srcRect t="-2" b="-2"/>
          <a:stretch/>
        </p:blipFill>
        <p:spPr>
          <a:xfrm>
            <a:off x="1460500" y="1102361"/>
            <a:ext cx="9271000" cy="46037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62890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296035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COURSE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11379200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Following an example teaches syntax. Building teaches the skill.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9150" y="1761489"/>
            <a:ext cx="5168900" cy="1417320"/>
          </a:xfrm>
          <a:prstGeom prst="roundRect">
            <a:avLst>
              <a:gd name="adj" fmla="val 8513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41400" y="1958339"/>
            <a:ext cx="48661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B83A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LECTURE · 2 HOURS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41400" y="2235200"/>
            <a:ext cx="486613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Theory and live coding. One example grows all semester: </a:t>
            </a: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bank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03950" y="1761489"/>
            <a:ext cx="5168900" cy="1417320"/>
          </a:xfrm>
          <a:prstGeom prst="roundRect">
            <a:avLst>
              <a:gd name="adj" fmla="val 8513"/>
            </a:avLst>
          </a:prstGeom>
          <a:solidFill>
            <a:srgbClr val="FFD23F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26200" y="1958339"/>
            <a:ext cx="48661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SEMINAR · 2 HOURS · TODAY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26200" y="2235200"/>
            <a:ext cx="4866132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 write the code, on a different problem: </a:t>
            </a: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university system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One folder, one repository, extended every week.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819150" y="3420111"/>
            <a:ext cx="5854700" cy="2076450"/>
          </a:xfrm>
          <a:prstGeom prst="roundRect">
            <a:avLst>
              <a:gd name="adj" fmla="val 5199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11" name="Image 0" descr="The bank example growing from week 2 to week 4"/>
          <p:cNvPicPr>
            <a:picLocks noChangeAspect="1"/>
          </p:cNvPicPr>
          <p:nvPr/>
        </p:nvPicPr>
        <p:blipFill>
          <a:blip r:embed="rId3"/>
          <a:srcRect l="-1" r="-1"/>
          <a:stretch/>
        </p:blipFill>
        <p:spPr>
          <a:xfrm>
            <a:off x="927100" y="3528061"/>
            <a:ext cx="5715000" cy="186055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934200" y="4209414"/>
            <a:ext cx="457835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Nothing restarts from zero. By week 4 your seminar folder becomes the starting point for </a:t>
            </a: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Sprint 1</a:t>
            </a: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812800" y="62890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883392" cy="1087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180"/>
              </a:lnSpc>
              <a:buNone/>
            </a:pPr>
            <a:r>
              <a:rPr lang="en-US" sz="3800" b="1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only way to learn a programming language is by coding.</a:t>
            </a:r>
            <a:endParaRPr lang="en-US" sz="3800" dirty="0"/>
          </a:p>
        </p:txBody>
      </p:sp>
      <p:pic>
        <p:nvPicPr>
          <p:cNvPr id="3" name="Image 0" descr="Helmeted bounty hunter: This is the way!"/>
          <p:cNvPicPr>
            <a:picLocks noChangeAspect="1"/>
          </p:cNvPicPr>
          <p:nvPr/>
        </p:nvPicPr>
        <p:blipFill>
          <a:blip r:embed="rId3"/>
          <a:srcRect l="12548" t="25440" r="13191"/>
          <a:stretch/>
        </p:blipFill>
        <p:spPr>
          <a:xfrm>
            <a:off x="2959100" y="2038350"/>
            <a:ext cx="6273800" cy="3886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12800" y="62890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D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783079"/>
            <a:ext cx="10883392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Hands up if you have ever…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12800" y="2479039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kern="0" spc="-50" dirty="0" smtClean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</a:rPr>
              <a:t>used an OOP language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3108961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used Java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812800" y="3738879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pushed code to GitHub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12800" y="4368800"/>
            <a:ext cx="10883392" cy="528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960"/>
              </a:lnSpc>
              <a:buNone/>
            </a:pPr>
            <a:r>
              <a:rPr lang="en-US" sz="3600" b="1" kern="0" spc="-50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lost work you really needed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12800" y="628903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816927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61"/>
            <a:ext cx="579018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tools, in this order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18971"/>
            <a:ext cx="5676900" cy="2241550"/>
          </a:xfrm>
          <a:prstGeom prst="roundRect">
            <a:avLst>
              <a:gd name="adj" fmla="val 4816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5" name="Image 0" descr="Java compiles and runs, Eclipse is where you write, Git is where it is kept; all feed your project"/>
          <p:cNvPicPr>
            <a:picLocks noChangeAspect="1"/>
          </p:cNvPicPr>
          <p:nvPr/>
        </p:nvPicPr>
        <p:blipFill>
          <a:blip r:embed="rId3"/>
          <a:srcRect t="-38" b="-38"/>
          <a:stretch/>
        </p:blipFill>
        <p:spPr>
          <a:xfrm>
            <a:off x="927100" y="2026921"/>
            <a:ext cx="5461000" cy="20256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4293871"/>
            <a:ext cx="5755640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Java </a:t>
            </a: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</a:t>
            </a: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Eclipse. Most setup problems come from doing it the other way round.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807200" y="1912621"/>
            <a:ext cx="470916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 are done when:</a:t>
            </a:r>
            <a:endParaRPr lang="en-US" sz="1700" dirty="0"/>
          </a:p>
        </p:txBody>
      </p:sp>
      <p:pic>
        <p:nvPicPr>
          <p:cNvPr id="8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07200" y="2329179"/>
            <a:ext cx="254000" cy="254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162800" y="2331721"/>
            <a:ext cx="24577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-version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reports 25</a:t>
            </a:r>
            <a:endParaRPr lang="en-US" sz="1400" dirty="0"/>
          </a:p>
        </p:txBody>
      </p:sp>
      <p:pic>
        <p:nvPicPr>
          <p:cNvPr id="10" name="Image 2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07200" y="2697479"/>
            <a:ext cx="254000" cy="254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162800" y="2700021"/>
            <a:ext cx="2583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javac -version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reports 25</a:t>
            </a:r>
            <a:endParaRPr lang="en-US" sz="1400" dirty="0"/>
          </a:p>
        </p:txBody>
      </p:sp>
      <p:pic>
        <p:nvPicPr>
          <p:cNvPr id="12" name="Image 3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807200" y="3065779"/>
            <a:ext cx="254000" cy="2540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162800" y="3068321"/>
            <a:ext cx="31033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Eclipse opens and runs a class</a:t>
            </a:r>
            <a:endParaRPr lang="en-US" sz="1400" dirty="0"/>
          </a:p>
        </p:txBody>
      </p:sp>
      <p:pic>
        <p:nvPicPr>
          <p:cNvPr id="14" name="Image 4" descr="CheckCircle"/>
          <p:cNvPicPr>
            <a:picLocks noChangeAspect="1"/>
          </p:cNvPicPr>
          <p:nvPr/>
        </p:nvPicPr>
        <p:blipFill>
          <a:blip r:embed="rId5"/>
          <a:srcRect t="-532" b="-532"/>
          <a:stretch/>
        </p:blipFill>
        <p:spPr>
          <a:xfrm>
            <a:off x="6807200" y="3556000"/>
            <a:ext cx="238760" cy="254000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7147560" y="3434079"/>
            <a:ext cx="4358589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repo exists on GitHub with a commit you pushed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6807200" y="4046221"/>
            <a:ext cx="4572000" cy="922020"/>
          </a:xfrm>
          <a:prstGeom prst="roundRect">
            <a:avLst>
              <a:gd name="adj" fmla="val 9642"/>
            </a:avLst>
          </a:prstGeom>
          <a:solidFill>
            <a:srgbClr val="FFE1D9"/>
          </a:solidFill>
          <a:ln/>
        </p:spPr>
        <p:txBody>
          <a:bodyPr wrap="square" lIns="113662" tIns="88262" rIns="0" bIns="6286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in OneDrive, Desktop or Documents.</a:t>
            </a:r>
            <a:r>
              <a:rPr lang="en-US" sz="13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Cloud sync rewrites files while the compiler reads them. Use </a:t>
            </a:r>
            <a:r>
              <a:rPr lang="en-US" sz="1300" dirty="0">
                <a:solidFill>
                  <a:srgbClr val="B83A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C:\dev\</a:t>
            </a:r>
            <a:endParaRPr lang="en-US" sz="1300" dirty="0"/>
          </a:p>
        </p:txBody>
      </p:sp>
      <p:sp>
        <p:nvSpPr>
          <p:cNvPr id="17" name="Text 10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D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40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000000">
                    <a:alpha val="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3415029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1 OF 4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3816350"/>
            <a:ext cx="654050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6000" b="1" i="0" kern="0" spc="-1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Object-oriented</a:t>
            </a:r>
            <a:endParaRPr lang="en-US" sz="6000" dirty="0"/>
          </a:p>
          <a:p>
            <a:pPr marL="0" indent="0" algn="l">
              <a:lnSpc>
                <a:spcPts val="5880"/>
              </a:lnSpc>
              <a:buNone/>
            </a:pPr>
            <a:r>
              <a:rPr lang="en-US" sz="6000" b="1" i="0" kern="0" spc="-1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languages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799" y="5462271"/>
            <a:ext cx="7093243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014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Programs built from objects that hold </a:t>
            </a:r>
            <a:r>
              <a:rPr lang="en-US" sz="1700" b="1" dirty="0">
                <a:solidFill>
                  <a:srgbClr val="C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</a:t>
            </a:r>
            <a:r>
              <a:rPr lang="en-US" sz="1700" b="1" dirty="0">
                <a:solidFill>
                  <a:srgbClr val="1014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>
                <a:solidFill>
                  <a:srgbClr val="1014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</a:t>
            </a:r>
            <a:r>
              <a:rPr lang="en-US" sz="1700" b="1" dirty="0" err="1">
                <a:solidFill>
                  <a:srgbClr val="C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behaviour</a:t>
            </a:r>
            <a:r>
              <a:rPr lang="en-US" sz="1700" dirty="0">
                <a:solidFill>
                  <a:srgbClr val="1014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700" dirty="0" smtClean="0">
                <a:solidFill>
                  <a:srgbClr val="1014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together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D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985008"/>
            <a:ext cx="1020318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b="1" i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“I thought of objects being like biological cells and/or individual computers on a network, only able to communicate with messages […].”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812800" y="3813808"/>
            <a:ext cx="10883392" cy="363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Alan Kay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812800" y="4456429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3D3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Dr. Alan Kay on the Meaning of “Object-Oriented Programming”, 2003. Retrieved 11 February 2010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3D3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3D3A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3176799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OBJECT-ORIENTED LANGUAGES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675919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blueprint, many objects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89770"/>
            <a:ext cx="5431885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CLASS = the blueprint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2419034"/>
            <a:ext cx="5207000" cy="2512695"/>
          </a:xfrm>
          <a:prstGeom prst="roundRect">
            <a:avLst>
              <a:gd name="adj" fmla="val 3538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2419034"/>
            <a:ext cx="5207000" cy="365760"/>
          </a:xfrm>
          <a:custGeom>
            <a:avLst/>
            <a:gdLst/>
            <a:ahLst/>
            <a:cxnLst/>
            <a:rect l="l" t="t" r="r" b="b"/>
            <a:pathLst>
              <a:path w="5207000" h="365760">
                <a:moveTo>
                  <a:pt x="0" y="88900"/>
                </a:moveTo>
                <a:arcTo wR="88900" hR="88900" stAng="10800000" swAng="5400000"/>
                <a:lnTo>
                  <a:pt x="5118100" y="0"/>
                </a:lnTo>
                <a:arcTo wR="88900" hR="88900" stAng="16200000" swAng="5400000"/>
                <a:lnTo>
                  <a:pt x="5207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7" name="Shape 5"/>
          <p:cNvSpPr/>
          <p:nvPr/>
        </p:nvSpPr>
        <p:spPr>
          <a:xfrm>
            <a:off x="927100" y="2557463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2557463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1900" y="2557463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384300" y="2495234"/>
            <a:ext cx="131673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Student.java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6000" y="2962591"/>
            <a:ext cx="4944618" cy="1816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Student {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7DC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String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name;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7DC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double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gpa;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3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void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updateGpa(...) { ... }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7DC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Student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ana = </a:t>
            </a:r>
            <a:r>
              <a:rPr lang="en-US" sz="13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new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Student(...);</a:t>
            </a:r>
            <a:endParaRPr lang="en-US" sz="1300" dirty="0"/>
          </a:p>
        </p:txBody>
      </p:sp>
      <p:pic>
        <p:nvPicPr>
          <p:cNvPr id="12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89675" y="3308350"/>
            <a:ext cx="571500" cy="3048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064375" y="1938021"/>
            <a:ext cx="444427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2563E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OBJECTS = the real things</a:t>
            </a:r>
            <a:endParaRPr lang="en-US" sz="1700" dirty="0"/>
          </a:p>
        </p:txBody>
      </p:sp>
      <p:sp>
        <p:nvSpPr>
          <p:cNvPr id="14" name="Shape 11"/>
          <p:cNvSpPr/>
          <p:nvPr/>
        </p:nvSpPr>
        <p:spPr>
          <a:xfrm>
            <a:off x="7070725" y="2373629"/>
            <a:ext cx="4302125" cy="774700"/>
          </a:xfrm>
          <a:prstGeom prst="roundRect">
            <a:avLst>
              <a:gd name="adj" fmla="val 12295"/>
            </a:avLst>
          </a:prstGeom>
          <a:solidFill>
            <a:srgbClr val="FFD23F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254875" y="2519679"/>
            <a:ext cx="40518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ana : Student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254875" y="2788921"/>
            <a:ext cx="4051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 = "Ana"   gpa = 3.6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070725" y="3288029"/>
            <a:ext cx="4302125" cy="774700"/>
          </a:xfrm>
          <a:prstGeom prst="roundRect">
            <a:avLst>
              <a:gd name="adj" fmla="val 12295"/>
            </a:avLst>
          </a:prstGeom>
          <a:solidFill>
            <a:srgbClr val="CFE0FF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254875" y="3434079"/>
            <a:ext cx="40518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erion : Student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7254875" y="3703321"/>
            <a:ext cx="4051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 = "Erion"   gpa = 3.1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7070725" y="4202429"/>
            <a:ext cx="4302125" cy="774700"/>
          </a:xfrm>
          <a:prstGeom prst="roundRect">
            <a:avLst>
              <a:gd name="adj" fmla="val 12295"/>
            </a:avLst>
          </a:prstGeom>
          <a:solidFill>
            <a:srgbClr val="FFD9C7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254875" y="4348479"/>
            <a:ext cx="405184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sara : Student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254875" y="4617721"/>
            <a:ext cx="405184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name = "Sara"   gpa = 3.9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3176799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OBJECT-ORIENTED LANGUAGES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535901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four pillars of OOP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61821"/>
            <a:ext cx="2527300" cy="3380740"/>
          </a:xfrm>
          <a:prstGeom prst="roundRect">
            <a:avLst>
              <a:gd name="adj" fmla="val 5025"/>
            </a:avLst>
          </a:prstGeom>
          <a:solidFill>
            <a:srgbClr val="1B222B"/>
          </a:solidFill>
          <a:ln/>
        </p:spPr>
      </p:sp>
      <p:sp>
        <p:nvSpPr>
          <p:cNvPr id="5" name="Shape 3"/>
          <p:cNvSpPr/>
          <p:nvPr/>
        </p:nvSpPr>
        <p:spPr>
          <a:xfrm>
            <a:off x="812800" y="1861821"/>
            <a:ext cx="2527300" cy="3380740"/>
          </a:xfrm>
          <a:custGeom>
            <a:avLst/>
            <a:gdLst/>
            <a:ahLst/>
            <a:cxnLst/>
            <a:rect l="l" t="t" r="r" b="b"/>
            <a:pathLst>
              <a:path w="2527300" h="338074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63500" stAng="0" swAng="-5400000"/>
                <a:lnTo>
                  <a:pt x="127000" y="63500"/>
                </a:lnTo>
                <a:arcTo wR="127000" hR="63500" stAng="16200000" swAng="-5400000"/>
                <a:close/>
              </a:path>
            </a:pathLst>
          </a:custGeom>
          <a:solidFill>
            <a:srgbClr val="FFD23F"/>
          </a:solidFill>
          <a:ln/>
        </p:spPr>
      </p:sp>
      <p:sp>
        <p:nvSpPr>
          <p:cNvPr id="6" name="Shape 4"/>
          <p:cNvSpPr/>
          <p:nvPr/>
        </p:nvSpPr>
        <p:spPr>
          <a:xfrm>
            <a:off x="939800" y="2052321"/>
            <a:ext cx="2273300" cy="127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/>
        </p:spPr>
      </p:sp>
      <p:pic>
        <p:nvPicPr>
          <p:cNvPr id="7" name="Image 0" descr="Encapsulation diagram: methods and data inside one class capsul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800" y="2130041"/>
            <a:ext cx="2273300" cy="11145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9800" y="3411221"/>
            <a:ext cx="234149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Encapsulation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939800" y="3774442"/>
            <a:ext cx="2341499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data and the methods that guard it together, and hide the data.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39800" y="4480558"/>
            <a:ext cx="2273300" cy="596900"/>
          </a:xfrm>
          <a:prstGeom prst="roundRect">
            <a:avLst>
              <a:gd name="adj" fmla="val 10638"/>
            </a:avLst>
          </a:prstGeom>
          <a:solidFill>
            <a:srgbClr val="0B0F14"/>
          </a:solidFill>
          <a:ln/>
        </p:spPr>
        <p:txBody>
          <a:bodyPr wrap="square" lIns="83001" tIns="70301" rIns="20898" bIns="44901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double balance;</a:t>
            </a:r>
            <a:endParaRPr lang="en-US" sz="11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void deposit(...)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92500" y="1861821"/>
            <a:ext cx="2527300" cy="3380740"/>
          </a:xfrm>
          <a:prstGeom prst="roundRect">
            <a:avLst>
              <a:gd name="adj" fmla="val 5025"/>
            </a:avLst>
          </a:prstGeom>
          <a:solidFill>
            <a:srgbClr val="1B222B"/>
          </a:solidFill>
          <a:ln/>
        </p:spPr>
      </p:sp>
      <p:sp>
        <p:nvSpPr>
          <p:cNvPr id="12" name="Shape 9"/>
          <p:cNvSpPr/>
          <p:nvPr/>
        </p:nvSpPr>
        <p:spPr>
          <a:xfrm>
            <a:off x="3492500" y="1861821"/>
            <a:ext cx="2527300" cy="3380740"/>
          </a:xfrm>
          <a:custGeom>
            <a:avLst/>
            <a:gdLst/>
            <a:ahLst/>
            <a:cxnLst/>
            <a:rect l="l" t="t" r="r" b="b"/>
            <a:pathLst>
              <a:path w="2527300" h="338074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63500" stAng="0" swAng="-5400000"/>
                <a:lnTo>
                  <a:pt x="127000" y="63500"/>
                </a:lnTo>
                <a:arcTo wR="127000" hR="63500" stAng="16200000" swAng="-5400000"/>
                <a:close/>
              </a:path>
            </a:pathLst>
          </a:custGeom>
          <a:solidFill>
            <a:srgbClr val="FF6B2C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9500" y="2052321"/>
            <a:ext cx="2273300" cy="127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/>
        </p:spPr>
      </p:sp>
      <p:pic>
        <p:nvPicPr>
          <p:cNvPr id="14" name="Image 1" descr="Animal class with Dog, Cat and Cow classes below it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894" y="2052321"/>
            <a:ext cx="1848512" cy="12700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19500" y="3411221"/>
            <a:ext cx="234149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FF6B2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Inheritance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3619500" y="3774442"/>
            <a:ext cx="2341499" cy="436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class reuses and extends another: a Dog is an Animal.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619500" y="4274821"/>
            <a:ext cx="2273300" cy="387350"/>
          </a:xfrm>
          <a:prstGeom prst="roundRect">
            <a:avLst>
              <a:gd name="adj" fmla="val 16393"/>
            </a:avLst>
          </a:prstGeom>
          <a:solidFill>
            <a:srgbClr val="0B0F14"/>
          </a:solidFill>
          <a:ln/>
        </p:spPr>
        <p:txBody>
          <a:bodyPr wrap="square" lIns="83001" tIns="70301" rIns="20898" bIns="44901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FF6B2C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 Dog extends Animal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172200" y="1861821"/>
            <a:ext cx="2527300" cy="3380740"/>
          </a:xfrm>
          <a:prstGeom prst="roundRect">
            <a:avLst>
              <a:gd name="adj" fmla="val 5025"/>
            </a:avLst>
          </a:prstGeom>
          <a:solidFill>
            <a:srgbClr val="1B222B"/>
          </a:solidFill>
          <a:ln/>
        </p:spPr>
      </p:sp>
      <p:sp>
        <p:nvSpPr>
          <p:cNvPr id="19" name="Shape 15"/>
          <p:cNvSpPr/>
          <p:nvPr/>
        </p:nvSpPr>
        <p:spPr>
          <a:xfrm>
            <a:off x="6172200" y="1861821"/>
            <a:ext cx="2527300" cy="3380740"/>
          </a:xfrm>
          <a:custGeom>
            <a:avLst/>
            <a:gdLst/>
            <a:ahLst/>
            <a:cxnLst/>
            <a:rect l="l" t="t" r="r" b="b"/>
            <a:pathLst>
              <a:path w="2527300" h="338074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63500" stAng="0" swAng="-5400000"/>
                <a:lnTo>
                  <a:pt x="127000" y="63500"/>
                </a:lnTo>
                <a:arcTo wR="127000" hR="63500" stAng="16200000" swAng="-5400000"/>
                <a:close/>
              </a:path>
            </a:pathLst>
          </a:custGeom>
          <a:solidFill>
            <a:srgbClr val="8AB4FF"/>
          </a:solidFill>
          <a:ln/>
        </p:spPr>
      </p:sp>
      <p:sp>
        <p:nvSpPr>
          <p:cNvPr id="20" name="Shape 16"/>
          <p:cNvSpPr/>
          <p:nvPr/>
        </p:nvSpPr>
        <p:spPr>
          <a:xfrm>
            <a:off x="6299200" y="2052321"/>
            <a:ext cx="2273300" cy="127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/>
        </p:spPr>
      </p:sp>
      <p:pic>
        <p:nvPicPr>
          <p:cNvPr id="21" name="Image 2" descr="Animal speak() with Dog Bark, Cat Meow, Cow Mo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9200" y="2106367"/>
            <a:ext cx="2273300" cy="1161909"/>
          </a:xfrm>
          <a:custGeom>
            <a:avLst/>
            <a:gdLst/>
            <a:ahLst/>
            <a:cxnLst/>
            <a:rect l="l" t="t" r="r" b="b"/>
            <a:pathLst>
              <a:path w="2273300" h="1161909">
                <a:moveTo>
                  <a:pt x="0" y="22154"/>
                </a:moveTo>
                <a:arcTo wR="76200" hR="76200" stAng="10800000" swAng="1014138"/>
                <a:lnTo>
                  <a:pt x="2270008" y="0"/>
                </a:lnTo>
                <a:arcTo wR="76200" hR="76200" stAng="20585862" swAng="1014138"/>
                <a:lnTo>
                  <a:pt x="2273300" y="1139754"/>
                </a:lnTo>
                <a:arcTo wR="76200" hR="76200" stAng="0" swAng="1014138"/>
                <a:lnTo>
                  <a:pt x="3292" y="1161909"/>
                </a:lnTo>
                <a:arcTo wR="76200" hR="76200" stAng="9785862" swAng="1014138"/>
                <a:close/>
              </a:path>
            </a:pathLst>
          </a:custGeom>
        </p:spPr>
      </p:pic>
      <p:sp>
        <p:nvSpPr>
          <p:cNvPr id="22" name="Text 17"/>
          <p:cNvSpPr/>
          <p:nvPr/>
        </p:nvSpPr>
        <p:spPr>
          <a:xfrm>
            <a:off x="6299200" y="3411221"/>
            <a:ext cx="234149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8AB4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Polymorphism</a:t>
            </a:r>
            <a:endParaRPr lang="en-US" sz="1800" dirty="0"/>
          </a:p>
        </p:txBody>
      </p:sp>
      <p:sp>
        <p:nvSpPr>
          <p:cNvPr id="23" name="Text 18"/>
          <p:cNvSpPr/>
          <p:nvPr/>
        </p:nvSpPr>
        <p:spPr>
          <a:xfrm>
            <a:off x="6299200" y="3774442"/>
            <a:ext cx="2341499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call, different behaviour: each animal speaks its own way.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6299200" y="4480558"/>
            <a:ext cx="2273300" cy="596900"/>
          </a:xfrm>
          <a:prstGeom prst="roundRect">
            <a:avLst>
              <a:gd name="adj" fmla="val 10638"/>
            </a:avLst>
          </a:prstGeom>
          <a:solidFill>
            <a:srgbClr val="0B0F14"/>
          </a:solidFill>
          <a:ln/>
        </p:spPr>
        <p:txBody>
          <a:bodyPr wrap="square" lIns="83001" tIns="70301" rIns="20898" bIns="44901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8A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animal.speak();</a:t>
            </a:r>
            <a:endParaRPr lang="en-US" sz="11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8A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Bark? Meow? Moo?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8851900" y="1861821"/>
            <a:ext cx="2527300" cy="3380740"/>
          </a:xfrm>
          <a:prstGeom prst="roundRect">
            <a:avLst>
              <a:gd name="adj" fmla="val 5025"/>
            </a:avLst>
          </a:prstGeom>
          <a:solidFill>
            <a:srgbClr val="1B222B"/>
          </a:solidFill>
          <a:ln/>
        </p:spPr>
      </p:sp>
      <p:sp>
        <p:nvSpPr>
          <p:cNvPr id="26" name="Shape 21"/>
          <p:cNvSpPr/>
          <p:nvPr/>
        </p:nvSpPr>
        <p:spPr>
          <a:xfrm>
            <a:off x="8851900" y="1861821"/>
            <a:ext cx="2527300" cy="3380740"/>
          </a:xfrm>
          <a:custGeom>
            <a:avLst/>
            <a:gdLst/>
            <a:ahLst/>
            <a:cxnLst/>
            <a:rect l="l" t="t" r="r" b="b"/>
            <a:pathLst>
              <a:path w="2527300" h="3380740">
                <a:moveTo>
                  <a:pt x="0" y="127000"/>
                </a:moveTo>
                <a:lnTo>
                  <a:pt x="0" y="127000"/>
                </a:lnTo>
                <a:arcTo wR="127000" hR="127000" stAng="10800000" swAng="5400000"/>
                <a:lnTo>
                  <a:pt x="2400300" y="0"/>
                </a:lnTo>
                <a:arcTo wR="127000" hR="127000" stAng="16200000" swAng="5400000"/>
                <a:lnTo>
                  <a:pt x="2527300" y="127000"/>
                </a:lnTo>
                <a:arcTo wR="127000" hR="63500" stAng="0" swAng="-5400000"/>
                <a:lnTo>
                  <a:pt x="127000" y="63500"/>
                </a:lnTo>
                <a:arcTo wR="127000" hR="63500" stAng="16200000" swAng="-5400000"/>
                <a:close/>
              </a:path>
            </a:pathLst>
          </a:custGeom>
          <a:solidFill>
            <a:srgbClr val="4ADE80"/>
          </a:solidFill>
          <a:ln/>
        </p:spPr>
      </p:sp>
      <p:sp>
        <p:nvSpPr>
          <p:cNvPr id="27" name="Shape 22"/>
          <p:cNvSpPr/>
          <p:nvPr/>
        </p:nvSpPr>
        <p:spPr>
          <a:xfrm>
            <a:off x="8978900" y="2052321"/>
            <a:ext cx="2273300" cy="1270000"/>
          </a:xfrm>
          <a:prstGeom prst="roundRect">
            <a:avLst>
              <a:gd name="adj" fmla="val 6000"/>
            </a:avLst>
          </a:prstGeom>
          <a:solidFill>
            <a:srgbClr val="F1F1F1"/>
          </a:solidFill>
          <a:ln/>
        </p:spPr>
      </p:sp>
      <p:pic>
        <p:nvPicPr>
          <p:cNvPr id="28" name="Image 3" descr="Abstraction: using an ATM or a coffee machine without knowing the internal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8900" y="2104400"/>
            <a:ext cx="2273300" cy="1165843"/>
          </a:xfrm>
          <a:custGeom>
            <a:avLst/>
            <a:gdLst/>
            <a:ahLst/>
            <a:cxnLst/>
            <a:rect l="l" t="t" r="r" b="b"/>
            <a:pathLst>
              <a:path w="2273300" h="1165843">
                <a:moveTo>
                  <a:pt x="0" y="24122"/>
                </a:moveTo>
                <a:arcTo wR="76200" hR="76200" stAng="10800000" swAng="1107287"/>
                <a:lnTo>
                  <a:pt x="2269381" y="0"/>
                </a:lnTo>
                <a:arcTo wR="76200" hR="76200" stAng="20492713" swAng="1107287"/>
                <a:lnTo>
                  <a:pt x="2273300" y="1141722"/>
                </a:lnTo>
                <a:arcTo wR="76200" hR="76200" stAng="0" swAng="1107287"/>
                <a:lnTo>
                  <a:pt x="3919" y="1165843"/>
                </a:lnTo>
                <a:arcTo wR="76200" hR="76200" stAng="9692713" swAng="1107287"/>
                <a:close/>
              </a:path>
            </a:pathLst>
          </a:custGeom>
        </p:spPr>
      </p:pic>
      <p:sp>
        <p:nvSpPr>
          <p:cNvPr id="29" name="Text 23"/>
          <p:cNvSpPr/>
          <p:nvPr/>
        </p:nvSpPr>
        <p:spPr>
          <a:xfrm>
            <a:off x="8978900" y="3411221"/>
            <a:ext cx="2341499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4ADE8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Abstraction</a:t>
            </a:r>
            <a:endParaRPr lang="en-US" sz="1800" dirty="0"/>
          </a:p>
        </p:txBody>
      </p:sp>
      <p:sp>
        <p:nvSpPr>
          <p:cNvPr id="30" name="Text 24"/>
          <p:cNvSpPr/>
          <p:nvPr/>
        </p:nvSpPr>
        <p:spPr>
          <a:xfrm>
            <a:off x="8978900" y="3774442"/>
            <a:ext cx="2341499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something by what it does, not how: an ATM, a coffee machine.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978900" y="4480558"/>
            <a:ext cx="2273300" cy="596900"/>
          </a:xfrm>
          <a:prstGeom prst="roundRect">
            <a:avLst>
              <a:gd name="adj" fmla="val 10638"/>
            </a:avLst>
          </a:prstGeom>
          <a:solidFill>
            <a:srgbClr val="0B0F14"/>
          </a:solidFill>
          <a:ln/>
        </p:spPr>
        <p:txBody>
          <a:bodyPr wrap="square" lIns="83001" tIns="70301" rIns="20898" bIns="44901" rtlCol="0" anchor="t">
            <a:normAutofit/>
          </a:bodyPr>
          <a:lstStyle/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atm.withdraw(50);</a:t>
            </a:r>
            <a:endParaRPr lang="en-US" sz="1100" dirty="0"/>
          </a:p>
          <a:p>
            <a:pPr marL="0" indent="0" algn="l">
              <a:lnSpc>
                <a:spcPts val="1650"/>
              </a:lnSpc>
              <a:buNone/>
            </a:pPr>
            <a:r>
              <a:rPr lang="en-US" sz="11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how? hidden from you</a:t>
            </a:r>
            <a:endParaRPr lang="en-US" sz="1100" dirty="0"/>
          </a:p>
        </p:txBody>
      </p:sp>
      <p:sp>
        <p:nvSpPr>
          <p:cNvPr id="32" name="Text 26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Four pillars of OOP meme: encapsulation, polymorphism, inheritance, abstraction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48000" y="1015189"/>
            <a:ext cx="6277583" cy="4745477"/>
          </a:xfrm>
          <a:prstGeom prst="roundRect">
            <a:avLst>
              <a:gd name="adj" fmla="val 2571"/>
            </a:avLst>
          </a:prstGeom>
          <a:effectLst>
            <a:outerShdw blurRad="317500" dist="1270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6" name="Text 3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3176799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01 · OBJECT-ORIENTED LANGUAGES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911352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OOP is an idea. Many languages use it.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3266015"/>
            <a:ext cx="1322176" cy="1122680"/>
          </a:xfrm>
          <a:prstGeom prst="roundRect">
            <a:avLst>
              <a:gd name="adj" fmla="val 8484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52500" y="3424765"/>
            <a:ext cx="11062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1972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52500" y="3701628"/>
            <a:ext cx="11062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Smalltalk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52500" y="4031828"/>
            <a:ext cx="110627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Pure OO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55626" y="3067900"/>
            <a:ext cx="1322282" cy="1320800"/>
          </a:xfrm>
          <a:prstGeom prst="roundRect">
            <a:avLst>
              <a:gd name="adj" fmla="val 7212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388976" y="3226650"/>
            <a:ext cx="110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1985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88976" y="3503507"/>
            <a:ext cx="11063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C++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88976" y="3833707"/>
            <a:ext cx="110638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OO added to 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692208" y="3067900"/>
            <a:ext cx="1322282" cy="1320800"/>
          </a:xfrm>
          <a:prstGeom prst="roundRect">
            <a:avLst>
              <a:gd name="adj" fmla="val 7212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5558" y="3226650"/>
            <a:ext cx="110638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1991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825558" y="3503507"/>
            <a:ext cx="110638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Python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825558" y="3833707"/>
            <a:ext cx="1106382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Data, scripts, AI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31964" y="1947546"/>
            <a:ext cx="1928283" cy="2437977"/>
          </a:xfrm>
          <a:prstGeom prst="roundRect">
            <a:avLst>
              <a:gd name="adj" fmla="val 6092"/>
            </a:avLst>
          </a:prstGeom>
          <a:solidFill>
            <a:srgbClr val="FFD23F"/>
          </a:solidFill>
          <a:ln w="19050">
            <a:solidFill>
              <a:srgbClr val="101418"/>
            </a:solidFill>
            <a:prstDash val="solid"/>
          </a:ln>
          <a:effectLst>
            <a:outerShdw dist="71842" dir="2700000" algn="bl" rotWithShape="0">
              <a:srgbClr val="101418">
                <a:alpha val="10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304472" y="2158150"/>
            <a:ext cx="163406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1995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304472" y="2478193"/>
            <a:ext cx="1634067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3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304472" y="2973493"/>
            <a:ext cx="1634067" cy="848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0"/>
              </a:lnSpc>
              <a:buNone/>
            </a:pPr>
            <a:r>
              <a:rPr lang="en-US" sz="12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Class-based, statically typed. Enterprise, Android, back-ends.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4472" y="3885350"/>
            <a:ext cx="1208934" cy="289560"/>
          </a:xfrm>
          <a:custGeom>
            <a:avLst/>
            <a:gdLst/>
            <a:ahLst/>
            <a:cxnLst/>
            <a:rect l="l" t="t" r="r" b="b"/>
            <a:pathLst>
              <a:path w="1208934" h="289560">
                <a:moveTo>
                  <a:pt x="144780" y="0"/>
                </a:moveTo>
                <a:lnTo>
                  <a:pt x="1064154" y="0"/>
                </a:lnTo>
                <a:arcTo wR="144780" hR="144780" stAng="16200000" swAng="5400000"/>
                <a:lnTo>
                  <a:pt x="1208934" y="144780"/>
                </a:lnTo>
                <a:arcTo wR="144780" hR="144780" stAng="0" swAng="5400000"/>
                <a:lnTo>
                  <a:pt x="144780" y="289560"/>
                </a:lnTo>
                <a:arcTo wR="144780" hR="144780" stAng="5400000" swAng="5400000"/>
                <a:lnTo>
                  <a:pt x="0" y="144780"/>
                </a:lnTo>
                <a:arcTo wR="144780" hR="144780" stAng="10800000" swAng="5400000"/>
                <a:close/>
              </a:path>
            </a:pathLst>
          </a:custGeom>
          <a:solidFill>
            <a:srgbClr val="10141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COURSE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177722" y="3067900"/>
            <a:ext cx="1322176" cy="1320800"/>
          </a:xfrm>
          <a:prstGeom prst="roundRect">
            <a:avLst>
              <a:gd name="adj" fmla="val 7212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1072" y="3226650"/>
            <a:ext cx="11062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311072" y="3503507"/>
            <a:ext cx="11062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C#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311072" y="3833707"/>
            <a:ext cx="110627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.NET, Unity games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614198" y="3067900"/>
            <a:ext cx="1322176" cy="1320800"/>
          </a:xfrm>
          <a:prstGeom prst="roundRect">
            <a:avLst>
              <a:gd name="adj" fmla="val 7212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747548" y="3226650"/>
            <a:ext cx="11062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47548" y="3503507"/>
            <a:ext cx="11062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Kotlin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8747548" y="3833707"/>
            <a:ext cx="1106276" cy="421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Android, runs on the JVM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050674" y="3266015"/>
            <a:ext cx="1322176" cy="1122680"/>
          </a:xfrm>
          <a:prstGeom prst="roundRect">
            <a:avLst>
              <a:gd name="adj" fmla="val 8484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84024" y="3424765"/>
            <a:ext cx="110627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2014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0184024" y="3701628"/>
            <a:ext cx="110627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Swift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0184024" y="4031828"/>
            <a:ext cx="1106276" cy="223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6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iOS apps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12800" y="4750650"/>
            <a:ext cx="9810750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Learn OOP once. Switching languages later is </a:t>
            </a:r>
            <a:r>
              <a:rPr lang="en-US" sz="22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mostly new syntax</a:t>
            </a:r>
            <a:r>
              <a:rPr lang="en-US" sz="2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·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13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6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40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000000">
                    <a:alpha val="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4161792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2 OF 4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4563108"/>
            <a:ext cx="65405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6000" b="1" i="0" kern="0" spc="-1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462271"/>
            <a:ext cx="5886450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01418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it, then compile and run a program without any editor.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2819933"/>
            <a:ext cx="11379200" cy="7507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712"/>
              </a:lnSpc>
              <a:buNone/>
            </a:pPr>
            <a:r>
              <a:rPr lang="en-US" sz="5600" b="1" i="0" kern="0" spc="-1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 Java, all code belongs to a </a:t>
            </a:r>
            <a:r>
              <a:rPr lang="en-US" sz="5600" b="1" i="0" kern="0" spc="-150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class</a:t>
            </a:r>
            <a:r>
              <a:rPr lang="en-US" sz="5600" b="1" i="0" kern="0" spc="-1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12800" y="3824709"/>
            <a:ext cx="981075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Methods, fields, even lambdas and streams sit inside classes. 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·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768667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Characteristics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9150" y="19443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Simple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383617" y="19443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Object-Oriented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948083" y="19443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Distributed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19150" y="27317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Interpreted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383617" y="27317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Robust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948083" y="27317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Secure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19150" y="35191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Architecture-Neutral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4383617" y="35191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Portable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948083" y="35191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Performant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819150" y="43065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Multithreaded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383617" y="4306565"/>
            <a:ext cx="3424767" cy="647700"/>
          </a:xfrm>
          <a:prstGeom prst="roundRect">
            <a:avLst>
              <a:gd name="adj" fmla="val 1470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6252" tIns="118152" rIns="64558" bIns="92752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Dynamic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992533" y="4514850"/>
            <a:ext cx="343594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the original Java white paper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·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16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755142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Simple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partially modeled on C++, but greatly simplified and improved. Some people call it “C++--”: like C++, with more functionality and fewer negative aspects.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27550" y="3430910"/>
            <a:ext cx="6845300" cy="882650"/>
          </a:xfrm>
          <a:prstGeom prst="roundRect">
            <a:avLst>
              <a:gd name="adj" fmla="val 9353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1700" y="3576960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Shares many syntax elements with C/C++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11700" y="3910335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Learning curve less steep for C/C++ programmers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17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069467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Object-Oriented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was designed from the start to be object-oriented. OOP gives flexibility, modularity, clarity and reusability through encapsulation, inheritance and polymorphism.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27550" y="3430910"/>
            <a:ext cx="6845300" cy="1139825"/>
          </a:xfrm>
          <a:prstGeom prst="roundRect">
            <a:avLst>
              <a:gd name="adj" fmla="val 7242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1700" y="3576960"/>
            <a:ext cx="6671310" cy="539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Quasi-pure OO: only classes and objects, no free functions or pointers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11700" y="4167510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Basic types (int, double…) are the exception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2383792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Distributed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Distributed computing means several computers working together on a network. Networking is built into Java, so writing network programs is like sending and receiving data to and from a file.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7550" y="3430910"/>
            <a:ext cx="6845300" cy="549275"/>
          </a:xfrm>
          <a:prstGeom prst="roundRect">
            <a:avLst>
              <a:gd name="adj" fmla="val 1502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9972" tIns="121872" rIns="0" bIns="9647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Network programming in the standard library: sockets, RMI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19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2698117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Interpreted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Programs are compiled into Java Virtual Machine code called bytecode. Bytecode is </a:t>
            </a:r>
            <a:r>
              <a:rPr lang="en-US" sz="17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machine-independent</a:t>
            </a: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runs on any machine that has a JVM.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27550" y="3430910"/>
            <a:ext cx="6845300" cy="882650"/>
          </a:xfrm>
          <a:prstGeom prst="roundRect">
            <a:avLst>
              <a:gd name="adj" fmla="val 9353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1700" y="3576960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Translated to an intermediate language: bytecode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11700" y="3910335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Interpreted with optimizations (JIT)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012442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Robust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127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compilers detect many problems that would only show up at run time in other languages. Error-prone constructs from other languages are gone, and runtime exception handling supports robustness.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27550" y="3743958"/>
            <a:ext cx="6845300" cy="1549400"/>
          </a:xfrm>
          <a:prstGeom prst="roundRect">
            <a:avLst>
              <a:gd name="adj" fmla="val 5328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1700" y="3890008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Strong type model, no explicit pointers: compile-time checks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11700" y="4223383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Run-time checks: no array overflow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4711700" y="4556758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Garbage collection: no manual memory freeing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711700" y="4890133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Exceptions: a pervasive mechanism to check errors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3326767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Secure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implements several security mechanisms to protect your system against harm caused by stray programs.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7550" y="3117850"/>
            <a:ext cx="6845300" cy="549275"/>
          </a:xfrm>
          <a:prstGeom prst="roundRect">
            <a:avLst>
              <a:gd name="adj" fmla="val 1502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9972" tIns="121872" rIns="0" bIns="9647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Bytecode is verified before it runs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·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12800" y="3955417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Portable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6515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Because Java is architecture-neutral, Java programs are portable: they run on any platform without being recompiled.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7550" y="3117850"/>
            <a:ext cx="6845300" cy="549275"/>
          </a:xfrm>
          <a:prstGeom prst="roundRect">
            <a:avLst>
              <a:gd name="adj" fmla="val 1502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9972" tIns="121872" rIns="0" bIns="9647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Lots of standard utilities included: threads, GUI, networking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23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2800" y="4269742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Java's performance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JVM’s just-in-time (JIT) compiler turns frequently executed bytecode into native machine code while the program runs, so Java programs run fast.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7550" y="3430910"/>
            <a:ext cx="6845300" cy="549275"/>
          </a:xfrm>
          <a:prstGeom prst="roundRect">
            <a:avLst>
              <a:gd name="adj" fmla="val 1502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9972" tIns="121872" rIns="0" bIns="9647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Bytecode + JIT: close to native speed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24</a:t>
            </a:r>
            <a:endParaRPr lang="en-US" sz="1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4584067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914400" y="49237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Multithreaded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Multithreaded programming is smoothly integrated in Java. In other languages you call procedures specific to the operating system to get threads.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4527550" y="3430910"/>
            <a:ext cx="6845300" cy="549275"/>
          </a:xfrm>
          <a:prstGeom prst="roundRect">
            <a:avLst>
              <a:gd name="adj" fmla="val 1502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59972" tIns="121872" rIns="0" bIns="96472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Concurrency (threads) is part of the standard library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25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4298188" cy="39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Characteristics of Java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4400" y="17805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Simple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914400" y="20948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Object-Oriented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4091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Distributed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27235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Interpreted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30378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Robust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33521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Secure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14400" y="366649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Architecture-Neutral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14400" y="398081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Portable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14400" y="4295142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Java's Performance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914400" y="4609467"/>
            <a:ext cx="3191764" cy="263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Multithreaded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12800" y="4898392"/>
            <a:ext cx="3302000" cy="288925"/>
          </a:xfrm>
          <a:prstGeom prst="roundRect">
            <a:avLst>
              <a:gd name="adj" fmla="val 21978"/>
            </a:avLst>
          </a:prstGeom>
          <a:solidFill>
            <a:srgbClr val="FFD23F"/>
          </a:solidFill>
          <a:ln/>
        </p:spPr>
        <p:txBody>
          <a:bodyPr wrap="square" lIns="83001" tIns="6801" rIns="0" bIns="0" rtlCol="0" anchor="t">
            <a:normAutofit/>
          </a:bodyPr>
          <a:lstStyle/>
          <a:p>
            <a:pPr marL="0" indent="0" algn="l">
              <a:lnSpc>
                <a:spcPts val="1875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Dynamic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21200" y="1755142"/>
            <a:ext cx="7063740" cy="4254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is Dynamic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4521200" y="2320292"/>
            <a:ext cx="7063740" cy="9645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6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adapts to an evolving environment: new code can be loaded on the fly, without recompiling, and new features incorporated transparently as needed.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4527550" y="3430910"/>
            <a:ext cx="6845300" cy="882650"/>
          </a:xfrm>
          <a:prstGeom prst="roundRect">
            <a:avLst>
              <a:gd name="adj" fmla="val 9353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11700" y="3576960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Run-time loading and linking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711700" y="3910335"/>
            <a:ext cx="6671310" cy="2825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15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▸ Dynamic array sizes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26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523405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Java, web and beyond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44365"/>
            <a:ext cx="5181600" cy="1450340"/>
          </a:xfrm>
          <a:prstGeom prst="roundRect">
            <a:avLst>
              <a:gd name="adj" fmla="val 831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9500" y="2179315"/>
            <a:ext cx="480072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Standalone applications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79500" y="2590800"/>
            <a:ext cx="480072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Desktop programs and tools, like Eclipse itself.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91250" y="1944365"/>
            <a:ext cx="5181600" cy="1450340"/>
          </a:xfrm>
          <a:prstGeom prst="roundRect">
            <a:avLst>
              <a:gd name="adj" fmla="val 831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51600" y="2179315"/>
            <a:ext cx="480072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Web servers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6451600" y="2590800"/>
            <a:ext cx="48007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back-end of banking, shopping and booking sites.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9150" y="3585208"/>
            <a:ext cx="5181600" cy="1450340"/>
          </a:xfrm>
          <a:prstGeom prst="roundRect">
            <a:avLst>
              <a:gd name="adj" fmla="val 831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79500" y="3820158"/>
            <a:ext cx="480072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Hand-held devices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079500" y="4231642"/>
            <a:ext cx="4800727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Android apps run Java and Kotlin.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191250" y="3585208"/>
            <a:ext cx="5181600" cy="1450340"/>
          </a:xfrm>
          <a:prstGeom prst="roundRect">
            <a:avLst>
              <a:gd name="adj" fmla="val 8319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51600" y="3820158"/>
            <a:ext cx="4800727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From a browser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51600" y="4231642"/>
            <a:ext cx="4800727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Once via applets; today the browser talks to a Java server.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27</a:t>
            </a:r>
            <a:endParaRPr lang="en-US" sz="1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783107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first-level concept: the class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31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183641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There is only one first-level concept: the </a:t>
            </a:r>
            <a:r>
              <a:rPr lang="en-US" sz="1800" b="1" dirty="0">
                <a:solidFill>
                  <a:srgbClr val="B83A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12800" y="2348235"/>
            <a:ext cx="4445000" cy="1390650"/>
          </a:xfrm>
          <a:prstGeom prst="roundRect">
            <a:avLst>
              <a:gd name="adj" fmla="val 6393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2800" y="2348235"/>
            <a:ext cx="4445000" cy="365760"/>
          </a:xfrm>
          <a:custGeom>
            <a:avLst/>
            <a:gdLst/>
            <a:ahLst/>
            <a:cxnLst/>
            <a:rect l="l" t="t" r="r" b="b"/>
            <a:pathLst>
              <a:path w="4445000" h="365760">
                <a:moveTo>
                  <a:pt x="0" y="88900"/>
                </a:moveTo>
                <a:arcTo wR="88900" hR="88900" stAng="10800000" swAng="5400000"/>
                <a:lnTo>
                  <a:pt x="4356100" y="0"/>
                </a:lnTo>
                <a:arcTo wR="88900" hR="88900" stAng="16200000" swAng="5400000"/>
                <a:lnTo>
                  <a:pt x="4445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8" name="Shape 6"/>
          <p:cNvSpPr/>
          <p:nvPr/>
        </p:nvSpPr>
        <p:spPr>
          <a:xfrm>
            <a:off x="927100" y="2486658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079500" y="2486658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231900" y="2486658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384300" y="2424435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First.java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6000" y="2891792"/>
            <a:ext cx="4159758" cy="6946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35"/>
              </a:lnSpc>
              <a:buNone/>
            </a:pPr>
            <a:r>
              <a:rPr lang="en-US" sz="17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</a:t>
            </a:r>
            <a:r>
              <a:rPr lang="en-US" sz="17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First {</a:t>
            </a:r>
            <a:endParaRPr lang="en-US" sz="1700" dirty="0"/>
          </a:p>
          <a:p>
            <a:pPr marL="0" indent="0" algn="l">
              <a:lnSpc>
                <a:spcPts val="2635"/>
              </a:lnSpc>
              <a:buNone/>
            </a:pPr>
            <a:r>
              <a:rPr lang="en-US" sz="17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398885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394208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source code of a class sits in a </a:t>
            </a:r>
            <a:r>
              <a:rPr lang="en-US" sz="1800" i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.java</a:t>
            </a: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 with the </a:t>
            </a:r>
            <a:r>
              <a:rPr lang="en-US" sz="18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name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68400" y="4386151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73200" y="4364992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Rule: one file per class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68400" y="477477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473200" y="4753608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Enforced automatically by IDEs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68400" y="516339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473200" y="5142235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Case-wise name correspondence: first.java ≠ First.java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89042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·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28</a:t>
            </a:r>
            <a:endParaRPr lang="en-US" sz="12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58"/>
            <a:ext cx="6635242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 functions, only methods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831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183641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 Java there are no functions, only methods within classes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306104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25933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Execution starts from one special method: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2771130"/>
            <a:ext cx="6172200" cy="584200"/>
          </a:xfrm>
          <a:prstGeom prst="roundRect">
            <a:avLst>
              <a:gd name="adj" fmla="val 15217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static void main(String[] args)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68400" y="357971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73200" y="3558530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type is 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void</a:t>
            </a: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 C: 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 main(int argc, char* argv[])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68400" y="39683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73200" y="3947170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args[0]</a:t>
            </a: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the first argument on the command line, after the program name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29</a:t>
            </a:r>
            <a:endParaRPr lang="en-US" sz="1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530593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Example: source code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15"/>
            <a:ext cx="6096000" cy="3556000"/>
          </a:xfrm>
          <a:prstGeom prst="roundRect">
            <a:avLst>
              <a:gd name="adj" fmla="val 2500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938015"/>
            <a:ext cx="6096000" cy="365760"/>
          </a:xfrm>
          <a:custGeom>
            <a:avLst/>
            <a:gdLst/>
            <a:ahLst/>
            <a:cxnLst/>
            <a:rect l="l" t="t" r="r" b="b"/>
            <a:pathLst>
              <a:path w="6096000" h="365760">
                <a:moveTo>
                  <a:pt x="0" y="88900"/>
                </a:moveTo>
                <a:arcTo wR="88900" hR="88900" stAng="10800000" swAng="5400000"/>
                <a:lnTo>
                  <a:pt x="6007100" y="0"/>
                </a:lnTo>
                <a:arcTo wR="88900" hR="88900" stAng="16200000" swAng="5400000"/>
                <a:lnTo>
                  <a:pt x="6096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2014215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First.java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481585"/>
            <a:ext cx="5860288" cy="286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90"/>
              </a:lnSpc>
              <a:buNone/>
            </a:pPr>
            <a:r>
              <a:rPr lang="en-US" sz="18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</a:t>
            </a: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First {</a:t>
            </a:r>
            <a:endParaRPr lang="en-US" sz="1800" dirty="0"/>
          </a:p>
          <a:p>
            <a:pPr marL="0" indent="0" algn="l">
              <a:lnSpc>
                <a:spcPts val="2790"/>
              </a:lnSpc>
              <a:buNone/>
            </a:pP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8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static void</a:t>
            </a: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main(String[] args) {</a:t>
            </a:r>
            <a:endParaRPr lang="en-US" sz="1800" dirty="0"/>
          </a:p>
          <a:p>
            <a:pPr marL="0" indent="0" algn="l">
              <a:lnSpc>
                <a:spcPts val="2790"/>
              </a:lnSpc>
              <a:buNone/>
            </a:pP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800" dirty="0">
                <a:solidFill>
                  <a:srgbClr val="7DCF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a;</a:t>
            </a:r>
            <a:endParaRPr lang="en-US" sz="1800" dirty="0"/>
          </a:p>
          <a:p>
            <a:pPr marL="0" indent="0" algn="l">
              <a:lnSpc>
                <a:spcPts val="2790"/>
              </a:lnSpc>
              <a:buNone/>
            </a:pP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a = 3;</a:t>
            </a:r>
            <a:endParaRPr lang="en-US" sz="1800" dirty="0"/>
          </a:p>
          <a:p>
            <a:pPr marL="0" indent="0" algn="l">
              <a:lnSpc>
                <a:spcPts val="2790"/>
              </a:lnSpc>
              <a:buNone/>
            </a:pP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System.out.println(a);</a:t>
            </a:r>
            <a:endParaRPr lang="en-US" sz="1800" dirty="0"/>
          </a:p>
          <a:p>
            <a:pPr marL="0" indent="0" algn="l">
              <a:lnSpc>
                <a:spcPts val="2790"/>
              </a:lnSpc>
              <a:buNone/>
            </a:pP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800" dirty="0"/>
          </a:p>
          <a:p>
            <a:pPr marL="0" indent="0" algn="l">
              <a:lnSpc>
                <a:spcPts val="2790"/>
              </a:lnSpc>
              <a:buNone/>
            </a:pPr>
            <a:r>
              <a:rPr lang="en-US" sz="18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264400" y="1938015"/>
            <a:ext cx="4238244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does it print?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264400" y="2456185"/>
            <a:ext cx="42382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0"/>
              </a:lnSpc>
              <a:buNone/>
            </a:pPr>
            <a:r>
              <a:rPr lang="en-US" sz="16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Then: 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javac First.java</a:t>
            </a:r>
            <a:r>
              <a:rPr lang="en-US" sz="16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then 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First</a:t>
            </a:r>
            <a:r>
              <a:rPr lang="en-US" sz="16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30</a:t>
            </a:r>
            <a:endParaRPr lang="en-US" sz="1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848855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Creating and editing using Notepad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077715"/>
            <a:ext cx="4055110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use Notepad, type </a:t>
            </a:r>
            <a:r>
              <a:rPr lang="en-US" sz="17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notepad Welcome.java</a:t>
            </a: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the prompt.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003800" y="1861815"/>
            <a:ext cx="4826000" cy="1036320"/>
          </a:xfrm>
          <a:prstGeom prst="roundRect">
            <a:avLst>
              <a:gd name="adj" fmla="val 8578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03800" y="1861815"/>
            <a:ext cx="4826000" cy="365760"/>
          </a:xfrm>
          <a:custGeom>
            <a:avLst/>
            <a:gdLst/>
            <a:ahLst/>
            <a:cxnLst/>
            <a:rect l="l" t="t" r="r" b="b"/>
            <a:pathLst>
              <a:path w="4826000" h="365760">
                <a:moveTo>
                  <a:pt x="0" y="88900"/>
                </a:moveTo>
                <a:arcTo wR="88900" hR="88900" stAng="10800000" swAng="5400000"/>
                <a:lnTo>
                  <a:pt x="4737100" y="0"/>
                </a:lnTo>
                <a:arcTo wR="88900" hR="88900" stAng="16200000" swAng="5400000"/>
                <a:lnTo>
                  <a:pt x="4826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7" name="Shape 5"/>
          <p:cNvSpPr/>
          <p:nvPr/>
        </p:nvSpPr>
        <p:spPr>
          <a:xfrm>
            <a:off x="5118100" y="20002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5270500" y="20002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5422900" y="20002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5575300" y="1938015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207000" y="2405385"/>
            <a:ext cx="4552188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notepad Welcome.java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819150" y="3107680"/>
            <a:ext cx="6337300" cy="2472690"/>
          </a:xfrm>
          <a:prstGeom prst="roundRect">
            <a:avLst>
              <a:gd name="adj" fmla="val 3338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5500" y="3114030"/>
            <a:ext cx="6324600" cy="383540"/>
          </a:xfrm>
          <a:custGeom>
            <a:avLst/>
            <a:gdLst/>
            <a:ahLst/>
            <a:cxnLst/>
            <a:rect l="l" t="t" r="r" b="b"/>
            <a:pathLst>
              <a:path w="6324600" h="383540">
                <a:moveTo>
                  <a:pt x="0" y="76200"/>
                </a:moveTo>
                <a:arcTo wR="76200" hR="76200" stAng="10800000" swAng="5400000"/>
                <a:lnTo>
                  <a:pt x="6248400" y="0"/>
                </a:lnTo>
                <a:arcTo wR="76200" hR="76200" stAng="16200000" swAng="5400000"/>
                <a:lnTo>
                  <a:pt x="6324600" y="383540"/>
                </a:lnTo>
                <a:lnTo>
                  <a:pt x="0" y="383540"/>
                </a:lnTo>
                <a:close/>
              </a:path>
            </a:pathLst>
          </a:custGeom>
          <a:solidFill>
            <a:srgbClr val="ECE8DF"/>
          </a:solidFill>
          <a:ln/>
        </p:spPr>
        <p:txBody>
          <a:bodyPr wrap="square" lIns="127000" tIns="76200" rIns="0" bIns="5080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Welcome.java - Notepad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77900" y="3649985"/>
            <a:ext cx="6200394" cy="1797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// This application program prints Welcome to Java!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 Welcome {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public static void main(String[] args) {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System.out.println("Welcome to Java!");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500" dirty="0"/>
          </a:p>
          <a:p>
            <a:pPr marL="0" indent="0" algn="l">
              <a:lnSpc>
                <a:spcPts val="2325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31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989224" cy="300461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570"/>
              </a:lnSpc>
              <a:buNone/>
            </a:pPr>
            <a:r>
              <a:rPr lang="en-US" sz="1121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121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38659"/>
            <a:ext cx="2690368" cy="423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71"/>
              </a:lnSpc>
              <a:buNone/>
            </a:pPr>
            <a:r>
              <a:rPr lang="en-US" sz="302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and run</a:t>
            </a:r>
            <a:endParaRPr lang="en-US" sz="3020" dirty="0"/>
          </a:p>
        </p:txBody>
      </p:sp>
      <p:sp>
        <p:nvSpPr>
          <p:cNvPr id="4" name="Shape 2"/>
          <p:cNvSpPr/>
          <p:nvPr/>
        </p:nvSpPr>
        <p:spPr>
          <a:xfrm>
            <a:off x="819150" y="1663477"/>
            <a:ext cx="5930900" cy="4279900"/>
          </a:xfrm>
          <a:prstGeom prst="roundRect">
            <a:avLst>
              <a:gd name="adj" fmla="val 2522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5" name="Image 0" descr="Build and run: First.java, javac First.java, Java compiler, First.class bytecode, java First (no extension), Java Virtual Machine, output"/>
          <p:cNvPicPr>
            <a:picLocks noChangeAspect="1"/>
          </p:cNvPicPr>
          <p:nvPr/>
        </p:nvPicPr>
        <p:blipFill>
          <a:blip r:embed="rId3"/>
          <a:srcRect t="-16" b="-16"/>
          <a:stretch/>
        </p:blipFill>
        <p:spPr>
          <a:xfrm>
            <a:off x="927100" y="1771427"/>
            <a:ext cx="5715000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2000" y="2994447"/>
            <a:ext cx="4395216" cy="62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javac First.java</a:t>
            </a: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turns source into </a:t>
            </a:r>
            <a:r>
              <a:rPr lang="en-US" sz="17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First.class</a:t>
            </a: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bytecode.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7112000" y="3776762"/>
            <a:ext cx="4395216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First</a:t>
            </a: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runs it on the JVM.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112000" y="4256832"/>
            <a:ext cx="4395216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 extension!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32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reating, compiling and running programs: source code, javac, bytecode, java, result, with loops back on errors"/>
          <p:cNvPicPr>
            <a:picLocks noChangeAspect="1"/>
          </p:cNvPicPr>
          <p:nvPr/>
        </p:nvPicPr>
        <p:blipFill>
          <a:blip r:embed="rId3"/>
          <a:srcRect l="-8" r="-8"/>
          <a:stretch/>
        </p:blipFill>
        <p:spPr>
          <a:xfrm>
            <a:off x="2413000" y="609600"/>
            <a:ext cx="7366000" cy="5270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33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948410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happens when you type java First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085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186181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Command: </a:t>
            </a:r>
            <a:r>
              <a:rPr lang="en-US" sz="18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First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68400" y="230589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73200" y="2284735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Take the name of the class (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</a:t>
            </a: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68400" y="269450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73200" y="2673350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the bytecode for that class, in the classpath (and the current folder)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8400" y="308314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200" y="3061965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Load the class’s bytecode and perform all due initializations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68400" y="347176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73200" y="3450580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Look for the 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main()</a:t>
            </a: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method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68400" y="386037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73200" y="3839220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execution from the 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main()</a:t>
            </a: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method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34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788847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you actually install: the JDK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44365"/>
            <a:ext cx="5930900" cy="38227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5" name="Image 0" descr="Eclipse calls the JDK tools: javac compiles, java runs, plus jshell jar jlink; a JRE is only the java part"/>
          <p:cNvPicPr>
            <a:picLocks noChangeAspect="1"/>
          </p:cNvPicPr>
          <p:nvPr/>
        </p:nvPicPr>
        <p:blipFill>
          <a:blip r:embed="rId3"/>
          <a:srcRect t="-5" b="-5"/>
          <a:stretch/>
        </p:blipFill>
        <p:spPr>
          <a:xfrm>
            <a:off x="927100" y="2052315"/>
            <a:ext cx="5715000" cy="3606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2000" y="3006725"/>
            <a:ext cx="4395216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40"/>
              </a:lnSpc>
              <a:buNone/>
            </a:pPr>
            <a:r>
              <a:rPr lang="en-US" sz="28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JRE can run Java. </a:t>
            </a:r>
            <a:r>
              <a:rPr lang="en-US" sz="28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It cannot compile it.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7112000" y="3931295"/>
            <a:ext cx="4395216" cy="798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a JRE by mistake and you can run other people's programs but not your own. We install the full JDK.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35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659485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Which Java? This course: 25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2332558"/>
            <a:ext cx="5624830" cy="541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new Java every six months. Every two years one is </a:t>
            </a: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LTS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long-term support. Companies stay on LTS versions for years.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3013298"/>
            <a:ext cx="5624830" cy="5041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85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History: JDK 1.0 (1996), 1.2 (1998), 5 (2004), 6 (2006), 7 (2011), 8 (2014). Since 2017, every six months.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19150" y="3663528"/>
            <a:ext cx="641562" cy="767927"/>
          </a:xfrm>
          <a:prstGeom prst="roundRect">
            <a:avLst>
              <a:gd name="adj" fmla="val 14847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7164" y="3771478"/>
            <a:ext cx="24553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8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65200" y="4101678"/>
            <a:ext cx="41935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2014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562312" y="3663528"/>
            <a:ext cx="637434" cy="767927"/>
          </a:xfrm>
          <a:prstGeom prst="roundRect">
            <a:avLst>
              <a:gd name="adj" fmla="val 14943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52283" y="3771478"/>
            <a:ext cx="25738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7500" lnSpcReduction="20000"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708362" y="4101678"/>
            <a:ext cx="41440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2018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301346" y="3663528"/>
            <a:ext cx="636058" cy="767927"/>
          </a:xfrm>
          <a:prstGeom prst="roundRect">
            <a:avLst>
              <a:gd name="adj" fmla="val 14975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4308" y="3771478"/>
            <a:ext cx="31013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85000" lnSpcReduction="10000"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17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447396" y="4101678"/>
            <a:ext cx="41275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039004" y="3663528"/>
            <a:ext cx="668126" cy="767927"/>
          </a:xfrm>
          <a:prstGeom prst="roundRect">
            <a:avLst>
              <a:gd name="adj" fmla="val 14256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3586" y="3771478"/>
            <a:ext cx="33896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3185054" y="4101678"/>
            <a:ext cx="45123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2023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811905" y="3666703"/>
            <a:ext cx="666538" cy="761577"/>
          </a:xfrm>
          <a:prstGeom prst="roundRect">
            <a:avLst>
              <a:gd name="adj" fmla="val 13814"/>
            </a:avLst>
          </a:prstGeom>
          <a:solidFill>
            <a:srgbClr val="FFD23F"/>
          </a:solidFill>
          <a:ln w="19050">
            <a:solidFill>
              <a:srgbClr val="10141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65046" y="3775720"/>
            <a:ext cx="432308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25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3959013" y="4105920"/>
            <a:ext cx="44678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2025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4602907"/>
            <a:ext cx="5461000" cy="744220"/>
          </a:xfrm>
          <a:prstGeom prst="roundRect">
            <a:avLst>
              <a:gd name="adj" fmla="val 11945"/>
            </a:avLst>
          </a:prstGeom>
          <a:solidFill>
            <a:srgbClr val="FFE1D9"/>
          </a:solidFill>
          <a:ln/>
        </p:spPr>
        <p:txBody>
          <a:bodyPr wrap="square" lIns="113662" tIns="88262" rIns="0" bIns="62862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use Eclipse Temurin 25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the free OpenJDK build. Not Oracle's download: different licence, same Java.</a:t>
            </a:r>
            <a:endParaRPr lang="en-US" sz="1400" dirty="0"/>
          </a:p>
        </p:txBody>
      </p:sp>
      <p:pic>
        <p:nvPicPr>
          <p:cNvPr id="22" name="Image 0" descr="Meme: Java 23 is coming; we use 17; we use 11; there is a newer version than 8?"/>
          <p:cNvPicPr>
            <a:picLocks noChangeAspect="1"/>
          </p:cNvPicPr>
          <p:nvPr/>
        </p:nvPicPr>
        <p:blipFill>
          <a:blip r:embed="rId3"/>
          <a:srcRect l="-23" r="-23"/>
          <a:stretch/>
        </p:blipFill>
        <p:spPr>
          <a:xfrm>
            <a:off x="7442200" y="1887215"/>
            <a:ext cx="3937000" cy="3905250"/>
          </a:xfrm>
          <a:prstGeom prst="roundRect">
            <a:avLst>
              <a:gd name="adj" fmla="val 2602"/>
            </a:avLst>
          </a:prstGeom>
          <a:effectLst>
            <a:outerShdw blurRad="317500" dist="127000" dir="5400000" algn="bl" rotWithShape="0">
              <a:srgbClr val="000000">
                <a:alpha val="20000"/>
              </a:srgbClr>
            </a:outerShdw>
          </a:effectLst>
        </p:spPr>
      </p:pic>
      <p:sp>
        <p:nvSpPr>
          <p:cNvPr id="23" name="Text 20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36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6053709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Install Java 25 (Temurin JDK)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4498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744985"/>
            <a:ext cx="4892294" cy="27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PowerShell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Start menu, type PowerShell.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21488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214885"/>
            <a:ext cx="4892294" cy="27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the install command on the right.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68478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2684785"/>
            <a:ext cx="489229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PowerShell and open a new one.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PATH only updates in new windows.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31512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315122"/>
            <a:ext cx="489229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winget? Use the .msi from adoptium.net: Windows, x64, JDK, 25. Tick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 JAVA_HOME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and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to PATH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75400" y="1744985"/>
            <a:ext cx="4953000" cy="1272540"/>
          </a:xfrm>
          <a:prstGeom prst="roundRect">
            <a:avLst>
              <a:gd name="adj" fmla="val 6986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5400" y="1744985"/>
            <a:ext cx="4953000" cy="365760"/>
          </a:xfrm>
          <a:custGeom>
            <a:avLst/>
            <a:gdLst/>
            <a:ahLst/>
            <a:cxnLst/>
            <a:rect l="l" t="t" r="r" b="b"/>
            <a:pathLst>
              <a:path w="4953000" h="365760">
                <a:moveTo>
                  <a:pt x="0" y="88900"/>
                </a:moveTo>
                <a:arcTo wR="88900" hR="88900" stAng="10800000" swAng="5400000"/>
                <a:lnTo>
                  <a:pt x="4864100" y="0"/>
                </a:lnTo>
                <a:arcTo wR="88900" hR="88900" stAng="16200000" swAng="5400000"/>
                <a:lnTo>
                  <a:pt x="4953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97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6421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7945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6946900" y="1821185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578600" y="2288530"/>
            <a:ext cx="4682998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winget install -e --id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EclipseAdoptium.Temurin.25.JDK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75400" y="3169915"/>
            <a:ext cx="515391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Mac:</a:t>
            </a:r>
            <a:r>
              <a:rPr lang="en-US" sz="12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download the .pkg from adoptium.net and double-click it. Apple chip (M1–M4): </a:t>
            </a:r>
            <a:r>
              <a:rPr lang="en-US" sz="12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aarch64</a:t>
            </a:r>
            <a:r>
              <a:rPr lang="en-US" sz="12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Intel: </a:t>
            </a:r>
            <a:r>
              <a:rPr lang="en-US" sz="12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x64</a:t>
            </a:r>
            <a:r>
              <a:rPr lang="en-US" sz="12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375400" y="3749030"/>
            <a:ext cx="1619144" cy="40894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adoptium.net 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096145" y="3749030"/>
            <a:ext cx="2573549" cy="408940"/>
          </a:xfrm>
          <a:prstGeom prst="roundRect">
            <a:avLst>
              <a:gd name="adj" fmla="val 50000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Course page: Install Java 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 ·</a:t>
            </a:r>
            <a:r>
              <a:rPr lang="en-US" sz="1200" dirty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37</a:t>
            </a:r>
            <a:endParaRPr lang="en-US" sz="1200" dirty="0">
              <a:latin typeface="Inter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559473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Prove it: no editor needed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44985"/>
            <a:ext cx="5156200" cy="2847340"/>
          </a:xfrm>
          <a:prstGeom prst="roundRect">
            <a:avLst>
              <a:gd name="adj" fmla="val 3122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744985"/>
            <a:ext cx="5156200" cy="365760"/>
          </a:xfrm>
          <a:custGeom>
            <a:avLst/>
            <a:gdLst/>
            <a:ahLst/>
            <a:cxnLst/>
            <a:rect l="l" t="t" r="r" b="b"/>
            <a:pathLst>
              <a:path w="5156200" h="365760">
                <a:moveTo>
                  <a:pt x="0" y="88900"/>
                </a:moveTo>
                <a:arcTo wR="88900" hR="88900" stAng="10800000" swAng="5400000"/>
                <a:lnTo>
                  <a:pt x="5067300" y="0"/>
                </a:lnTo>
                <a:arcTo wR="88900" hR="88900" stAng="16200000" swAng="5400000"/>
                <a:lnTo>
                  <a:pt x="51562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1821185"/>
            <a:ext cx="2414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· Check the versions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288530"/>
            <a:ext cx="4892294" cy="2151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java -version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openjdk version "25.0.x" ...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javac -version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javac 25.0.x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jshell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jshell&gt; System.out.println("Running on "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+ Runtime.version());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Running on 25.0.x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jshell&gt; /exit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23000" y="1744985"/>
            <a:ext cx="5156200" cy="2847340"/>
          </a:xfrm>
          <a:prstGeom prst="roundRect">
            <a:avLst>
              <a:gd name="adj" fmla="val 3122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3000" y="1744985"/>
            <a:ext cx="5156200" cy="365760"/>
          </a:xfrm>
          <a:custGeom>
            <a:avLst/>
            <a:gdLst/>
            <a:ahLst/>
            <a:cxnLst/>
            <a:rect l="l" t="t" r="r" b="b"/>
            <a:pathLst>
              <a:path w="5156200" h="365760">
                <a:moveTo>
                  <a:pt x="0" y="88900"/>
                </a:moveTo>
                <a:arcTo wR="88900" hR="88900" stAng="10800000" swAng="5400000"/>
                <a:lnTo>
                  <a:pt x="5067300" y="0"/>
                </a:lnTo>
                <a:arcTo wR="88900" hR="88900" stAng="16200000" swAng="5400000"/>
                <a:lnTo>
                  <a:pt x="51562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373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97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6421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6794500" y="1821185"/>
            <a:ext cx="20848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 · Compile by hand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6200" y="2288530"/>
            <a:ext cx="4892294" cy="167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mkdir C:\dev\jdkcheck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cd C:\dev\jdkcheck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notepad Check.java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...type the class, save...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javac Check.java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java Check</a:t>
            </a:r>
            <a:endParaRPr lang="en-US" sz="14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400" dirty="0">
                <a:solidFill>
                  <a:srgbClr val="6EE7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Compiled and running on 25.0.x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12800" y="4820915"/>
            <a:ext cx="10883392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Check.java prints </a:t>
            </a:r>
            <a:r>
              <a:rPr lang="en-US" sz="1300" dirty="0">
                <a:solidFill>
                  <a:srgbClr val="FFD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"Compiled and running on " + Runtime.version()</a:t>
            </a:r>
            <a:r>
              <a:rPr lang="en-US" sz="13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Both numbers must start with 25. Mac: use Terminal and ~/dev/jdkcheck.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38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864603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Reading the </a:t>
            </a:r>
            <a:r>
              <a:rPr lang="en-US" sz="3600" b="1" i="0" kern="0" spc="-50" dirty="0" smtClea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program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15"/>
            <a:ext cx="6350000" cy="2099310"/>
          </a:xfrm>
          <a:prstGeom prst="roundRect">
            <a:avLst>
              <a:gd name="adj" fmla="val 4235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938015"/>
            <a:ext cx="6350000" cy="365760"/>
          </a:xfrm>
          <a:custGeom>
            <a:avLst/>
            <a:gdLst/>
            <a:ahLst/>
            <a:cxnLst/>
            <a:rect l="l" t="t" r="r" b="b"/>
            <a:pathLst>
              <a:path w="6350000" h="365760">
                <a:moveTo>
                  <a:pt x="0" y="88900"/>
                </a:moveTo>
                <a:arcTo wR="88900" hR="88900" stAng="10800000" swAng="5400000"/>
                <a:lnTo>
                  <a:pt x="6261100" y="0"/>
                </a:lnTo>
                <a:arcTo wR="88900" hR="88900" stAng="16200000" swAng="5400000"/>
                <a:lnTo>
                  <a:pt x="6350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2014215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Check.java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481585"/>
            <a:ext cx="6121908" cy="140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1  </a:t>
            </a:r>
            <a:r>
              <a:rPr lang="en-US" sz="14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Check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2  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4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static void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main(String[] args)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3  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System.out.println(</a:t>
            </a:r>
            <a:r>
              <a:rPr lang="en-US" sz="1400" dirty="0">
                <a:solidFill>
                  <a:srgbClr val="9ECE6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"Hello, OOP!"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);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4  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}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5C6672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5  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164335"/>
            <a:ext cx="6350000" cy="843280"/>
          </a:xfrm>
          <a:prstGeom prst="roundRect">
            <a:avLst>
              <a:gd name="adj" fmla="val 10542"/>
            </a:avLst>
          </a:prstGeom>
          <a:solidFill>
            <a:srgbClr val="0B0F14"/>
          </a:solidFill>
          <a:ln/>
        </p:spPr>
      </p:sp>
      <p:sp>
        <p:nvSpPr>
          <p:cNvPr id="12" name="Text 10"/>
          <p:cNvSpPr/>
          <p:nvPr/>
        </p:nvSpPr>
        <p:spPr>
          <a:xfrm>
            <a:off x="812800" y="4164335"/>
            <a:ext cx="6350000" cy="340360"/>
          </a:xfrm>
          <a:custGeom>
            <a:avLst/>
            <a:gdLst/>
            <a:ahLst/>
            <a:cxnLst/>
            <a:rect l="l" t="t" r="r" b="b"/>
            <a:pathLst>
              <a:path w="6350000" h="340360">
                <a:moveTo>
                  <a:pt x="0" y="88900"/>
                </a:moveTo>
                <a:arcTo wR="88900" hR="88900" stAng="10800000" swAng="5400000"/>
                <a:lnTo>
                  <a:pt x="6261100" y="0"/>
                </a:lnTo>
                <a:arcTo wR="88900" hR="88900" stAng="16200000" swAng="5400000"/>
                <a:lnTo>
                  <a:pt x="6350000" y="340360"/>
                </a:lnTo>
                <a:lnTo>
                  <a:pt x="0" y="340360"/>
                </a:lnTo>
                <a:close/>
              </a:path>
            </a:pathLst>
          </a:custGeom>
          <a:solidFill>
            <a:srgbClr val="232A33"/>
          </a:solidFill>
          <a:ln/>
        </p:spPr>
        <p:txBody>
          <a:bodyPr wrap="square" lIns="114300" tIns="63500" rIns="0" bIns="3810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16000" y="4631680"/>
            <a:ext cx="61219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Hello, OOP!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518400" y="193801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001000" y="1938015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 Check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01000" y="2194570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must be named Check.java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18400" y="261620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01000" y="2616200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main(...)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001000" y="2872730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every program starts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518400" y="3294385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001000" y="3294385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System.out.println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001000" y="3550915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Prints one line to the console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518400" y="397257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8001000" y="3972570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001000" y="4229100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Ends every statement. Don't forget it.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39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rgbClr val="D6F5E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1612578"/>
            <a:ext cx="4927600" cy="31496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  <p:txBody>
          <a:bodyPr wrap="square" lIns="80876" tIns="4676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EXPECTATION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12800" y="2130747"/>
            <a:ext cx="5075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kern="0" spc="-10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It just</a:t>
            </a:r>
            <a:endParaRPr lang="en-US" sz="4400" dirty="0"/>
          </a:p>
          <a:p>
            <a:pPr marL="0" indent="0" algn="l">
              <a:lnSpc>
                <a:spcPts val="4400"/>
              </a:lnSpc>
              <a:buNone/>
            </a:pPr>
            <a:r>
              <a:rPr lang="en-US" sz="4400" b="1" kern="0" spc="-10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works.</a:t>
            </a:r>
            <a:endParaRPr lang="en-US" sz="4400" dirty="0"/>
          </a:p>
        </p:txBody>
      </p:sp>
      <p:sp>
        <p:nvSpPr>
          <p:cNvPr id="5" name="Shape 3"/>
          <p:cNvSpPr/>
          <p:nvPr/>
        </p:nvSpPr>
        <p:spPr>
          <a:xfrm>
            <a:off x="812800" y="3451547"/>
            <a:ext cx="4572000" cy="1489075"/>
          </a:xfrm>
          <a:prstGeom prst="roundRect">
            <a:avLst>
              <a:gd name="adj" fmla="val 5970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3451547"/>
            <a:ext cx="4572000" cy="365760"/>
          </a:xfrm>
          <a:custGeom>
            <a:avLst/>
            <a:gdLst/>
            <a:ahLst/>
            <a:cxnLst/>
            <a:rect l="l" t="t" r="r" b="b"/>
            <a:pathLst>
              <a:path w="4572000" h="365760">
                <a:moveTo>
                  <a:pt x="0" y="88900"/>
                </a:moveTo>
                <a:arcTo wR="88900" hR="88900" stAng="10800000" swAng="5400000"/>
                <a:lnTo>
                  <a:pt x="4483100" y="0"/>
                </a:lnTo>
                <a:arcTo wR="88900" hR="88900" stAng="16200000" swAng="5400000"/>
                <a:lnTo>
                  <a:pt x="4572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7" name="Shape 5"/>
          <p:cNvSpPr/>
          <p:nvPr/>
        </p:nvSpPr>
        <p:spPr>
          <a:xfrm>
            <a:off x="927100" y="358998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358998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1900" y="3589982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384300" y="3527747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6000" y="3995093"/>
            <a:ext cx="4290568" cy="793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javac Check.java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java Check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Hello, OOP!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rgbClr val="FFDCD2"/>
          </a:solidFill>
          <a:ln/>
        </p:spPr>
      </p:sp>
      <p:sp>
        <p:nvSpPr>
          <p:cNvPr id="13" name="Text 11"/>
          <p:cNvSpPr/>
          <p:nvPr/>
        </p:nvSpPr>
        <p:spPr>
          <a:xfrm>
            <a:off x="6451600" y="1524000"/>
            <a:ext cx="4927600" cy="3149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lIns="80876" tIns="4676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51600" y="2042170"/>
            <a:ext cx="50754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4400"/>
              </a:lnSpc>
              <a:buNone/>
            </a:pPr>
            <a:r>
              <a:rPr lang="en-US" sz="4400" b="1" kern="0" spc="-10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One tiny</a:t>
            </a:r>
            <a:endParaRPr lang="en-US" sz="4400" dirty="0"/>
          </a:p>
          <a:p>
            <a:pPr marL="0" indent="0" algn="l">
              <a:lnSpc>
                <a:spcPts val="4400"/>
              </a:lnSpc>
              <a:buNone/>
            </a:pPr>
            <a:r>
              <a:rPr lang="en-US" sz="4400" b="1" kern="0" spc="-10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semicolon.</a:t>
            </a:r>
            <a:endParaRPr lang="en-US" sz="4400" dirty="0"/>
          </a:p>
        </p:txBody>
      </p:sp>
      <p:sp>
        <p:nvSpPr>
          <p:cNvPr id="15" name="Shape 13"/>
          <p:cNvSpPr/>
          <p:nvPr/>
        </p:nvSpPr>
        <p:spPr>
          <a:xfrm>
            <a:off x="6451600" y="3362970"/>
            <a:ext cx="4572000" cy="1666240"/>
          </a:xfrm>
          <a:prstGeom prst="roundRect">
            <a:avLst>
              <a:gd name="adj" fmla="val 5335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51600" y="3362970"/>
            <a:ext cx="4572000" cy="365760"/>
          </a:xfrm>
          <a:custGeom>
            <a:avLst/>
            <a:gdLst/>
            <a:ahLst/>
            <a:cxnLst/>
            <a:rect l="l" t="t" r="r" b="b"/>
            <a:pathLst>
              <a:path w="4572000" h="365760">
                <a:moveTo>
                  <a:pt x="0" y="88900"/>
                </a:moveTo>
                <a:arcTo wR="88900" hR="88900" stAng="10800000" swAng="5400000"/>
                <a:lnTo>
                  <a:pt x="4483100" y="0"/>
                </a:lnTo>
                <a:arcTo wR="88900" hR="88900" stAng="16200000" swAng="5400000"/>
                <a:lnTo>
                  <a:pt x="4572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7" name="Shape 15"/>
          <p:cNvSpPr/>
          <p:nvPr/>
        </p:nvSpPr>
        <p:spPr>
          <a:xfrm>
            <a:off x="6565900" y="35013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718300" y="35013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870700" y="35013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0" name="Text 18"/>
          <p:cNvSpPr/>
          <p:nvPr/>
        </p:nvSpPr>
        <p:spPr>
          <a:xfrm>
            <a:off x="7023100" y="3439170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654800" y="3906515"/>
            <a:ext cx="4290568" cy="970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Check.java:3: </a:t>
            </a:r>
            <a:r>
              <a:rPr lang="en-US" sz="12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error:</a:t>
            </a:r>
            <a:r>
              <a:rPr lang="en-US" sz="12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';' expected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System.out.println("Hello, OOP!")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                                 </a:t>
            </a:r>
            <a:r>
              <a:rPr lang="en-US" sz="12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^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error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40</a:t>
            </a:r>
            <a:endParaRPr lang="en-US" sz="12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721220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cares about names. A lot.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15"/>
            <a:ext cx="8255000" cy="2374900"/>
          </a:xfrm>
          <a:prstGeom prst="roundRect">
            <a:avLst>
              <a:gd name="adj" fmla="val 3743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938015"/>
            <a:ext cx="8255000" cy="365760"/>
          </a:xfrm>
          <a:custGeom>
            <a:avLst/>
            <a:gdLst/>
            <a:ahLst/>
            <a:cxnLst/>
            <a:rect l="l" t="t" r="r" b="b"/>
            <a:pathLst>
              <a:path w="8255000" h="365760">
                <a:moveTo>
                  <a:pt x="0" y="88900"/>
                </a:moveTo>
                <a:arcTo wR="88900" hR="88900" stAng="10800000" swAng="5400000"/>
                <a:lnTo>
                  <a:pt x="8166100" y="0"/>
                </a:lnTo>
                <a:arcTo wR="88900" hR="88900" stAng="16200000" swAng="5400000"/>
                <a:lnTo>
                  <a:pt x="8255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2014215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481585"/>
            <a:ext cx="8084058" cy="1678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javac check.java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check.java:1: </a:t>
            </a:r>
            <a:r>
              <a:rPr lang="en-US" sz="14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error: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class Check is public, should be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declared in a file named Check.java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class Check {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</a:t>
            </a:r>
            <a:r>
              <a:rPr lang="en-US" sz="14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^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 error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12800" y="4592315"/>
            <a:ext cx="1917700" cy="513080"/>
          </a:xfrm>
          <a:prstGeom prst="roundRect">
            <a:avLst>
              <a:gd name="adj" fmla="val 19802"/>
            </a:avLst>
          </a:prstGeom>
          <a:solidFill>
            <a:srgbClr val="1B222B"/>
          </a:solidFill>
          <a:ln/>
        </p:spPr>
      </p:sp>
      <p:pic>
        <p:nvPicPr>
          <p:cNvPr id="12" name="Image 0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90600" y="4721870"/>
            <a:ext cx="254000" cy="25400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333500" y="4706615"/>
            <a:ext cx="1397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strike="sngStrike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check.java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2882900" y="4592315"/>
            <a:ext cx="2405380" cy="513080"/>
          </a:xfrm>
          <a:prstGeom prst="roundRect">
            <a:avLst>
              <a:gd name="adj" fmla="val 19802"/>
            </a:avLst>
          </a:prstGeom>
          <a:solidFill>
            <a:srgbClr val="1B222B"/>
          </a:solidFill>
          <a:ln/>
        </p:spPr>
      </p:sp>
      <p:pic>
        <p:nvPicPr>
          <p:cNvPr id="15" name="Image 1" descr="Warni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060700" y="4721870"/>
            <a:ext cx="254000" cy="2540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03600" y="4706615"/>
            <a:ext cx="188468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strike="sngStrike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Check.java.txt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5440680" y="4592315"/>
            <a:ext cx="1917700" cy="513080"/>
          </a:xfrm>
          <a:prstGeom prst="roundRect">
            <a:avLst>
              <a:gd name="adj" fmla="val 19802"/>
            </a:avLst>
          </a:prstGeom>
          <a:solidFill>
            <a:srgbClr val="4ADE80"/>
          </a:solidFill>
          <a:ln/>
        </p:spPr>
      </p:sp>
      <p:pic>
        <p:nvPicPr>
          <p:cNvPr id="18" name="Image 2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618480" y="4721870"/>
            <a:ext cx="254000" cy="254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61380" y="4706615"/>
            <a:ext cx="1397000" cy="309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Check.java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812800" y="541020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Notepad loves adding </a:t>
            </a:r>
            <a:r>
              <a:rPr lang="en-US" sz="1400" dirty="0">
                <a:solidFill>
                  <a:srgbClr val="FFD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.txt</a:t>
            </a:r>
            <a:r>
              <a:rPr lang="en-US" sz="14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In File Explorer turn on View › Show › File name extensions.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·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41</a:t>
            </a:r>
            <a:endParaRPr lang="en-US" sz="12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5958205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“Java can’t find my class”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861815"/>
            <a:ext cx="8890000" cy="1272540"/>
          </a:xfrm>
          <a:prstGeom prst="roundRect">
            <a:avLst>
              <a:gd name="adj" fmla="val 6986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861815"/>
            <a:ext cx="8890000" cy="365760"/>
          </a:xfrm>
          <a:custGeom>
            <a:avLst/>
            <a:gdLst/>
            <a:ahLst/>
            <a:cxnLst/>
            <a:rect l="l" t="t" r="r" b="b"/>
            <a:pathLst>
              <a:path w="8890000" h="365760">
                <a:moveTo>
                  <a:pt x="0" y="88900"/>
                </a:moveTo>
                <a:arcTo wR="88900" hR="88900" stAng="10800000" swAng="5400000"/>
                <a:lnTo>
                  <a:pt x="8801100" y="0"/>
                </a:lnTo>
                <a:arcTo wR="88900" hR="88900" stAng="16200000" swAng="5400000"/>
                <a:lnTo>
                  <a:pt x="8890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20002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0002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20002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1938015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405385"/>
            <a:ext cx="8738108" cy="5765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Error: Could not find or load main class First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Caused by: java.lang.ClassNotFoundException: First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12800" y="340972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17600" y="3362970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Don’t include the extension: </a:t>
            </a:r>
            <a:r>
              <a:rPr lang="en-US" sz="18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First</a:t>
            </a: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java First.class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812800" y="383264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17600" y="3785865"/>
            <a:ext cx="9810750" cy="642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you are in the right folder: java looks for classes starting from the current working directory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2800" y="456416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7600" y="4517380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capitals: first is not First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42</a:t>
            </a:r>
            <a:endParaRPr lang="en-US" sz="1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479818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Coding conventions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847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193801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</a:t>
            </a:r>
            <a:r>
              <a:rPr lang="en-US" sz="18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camelBackCapitalization</a:t>
            </a: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for compound names, not underscores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40771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36093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Class names must be </a:t>
            </a:r>
            <a:r>
              <a:rPr lang="en-US" sz="1800" b="1" dirty="0">
                <a:solidFill>
                  <a:srgbClr val="B83A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</a:t>
            </a: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apitalized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12800" y="283061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17600" y="2783830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 names, object names, attributes and variables start in lowercase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12800" y="3253532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7600" y="3206750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Constants are all UPPERCASE (with underscores)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12800" y="367642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3629670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Indent properly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43</a:t>
            </a:r>
            <a:endParaRPr lang="en-US" sz="12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708698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Coding conventions: example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15"/>
            <a:ext cx="6985000" cy="3870960"/>
          </a:xfrm>
          <a:prstGeom prst="roundRect">
            <a:avLst>
              <a:gd name="adj" fmla="val 2297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938015"/>
            <a:ext cx="6985000" cy="365760"/>
          </a:xfrm>
          <a:custGeom>
            <a:avLst/>
            <a:gdLst/>
            <a:ahLst/>
            <a:cxnLst/>
            <a:rect l="l" t="t" r="r" b="b"/>
            <a:pathLst>
              <a:path w="6985000" h="365760">
                <a:moveTo>
                  <a:pt x="0" y="88900"/>
                </a:moveTo>
                <a:arcTo wR="88900" hR="88900" stAng="10800000" swAng="5400000"/>
                <a:lnTo>
                  <a:pt x="6896100" y="0"/>
                </a:lnTo>
                <a:arcTo wR="88900" hR="88900" stAng="16200000" swAng="5400000"/>
                <a:lnTo>
                  <a:pt x="6985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2014215"/>
            <a:ext cx="15361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ClassName.java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481585"/>
            <a:ext cx="6775958" cy="317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600" dirty="0">
                <a:solidFill>
                  <a:srgbClr val="FFB8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ClassName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{</a:t>
            </a: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endParaRPr lang="en-US" sz="1600" dirty="0"/>
          </a:p>
          <a:p>
            <a:pPr>
              <a:lnSpc>
                <a:spcPts val="2480"/>
              </a:lnSpc>
            </a:pPr>
            <a:r>
              <a:rPr lang="en-US" sz="1600" dirty="0" smtClean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static final double</a:t>
            </a:r>
            <a:r>
              <a:rPr lang="en-US" sz="1600" dirty="0" smtClean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600" dirty="0">
                <a:solidFill>
                  <a:srgbClr val="FFB8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PI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= 3.14;</a:t>
            </a: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private int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600" dirty="0">
                <a:solidFill>
                  <a:srgbClr val="FFB8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attributeName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</a:t>
            </a:r>
            <a:r>
              <a:rPr lang="en-US" sz="16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public void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600" dirty="0">
                <a:solidFill>
                  <a:srgbClr val="FFB8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methodName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() {</a:t>
            </a: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</a:t>
            </a:r>
            <a:r>
              <a:rPr lang="en-US" sz="1600" dirty="0">
                <a:solidFill>
                  <a:srgbClr val="FF9E64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int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600" dirty="0" smtClean="0">
                <a:solidFill>
                  <a:srgbClr val="FFB8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count </a:t>
            </a:r>
            <a:r>
              <a:rPr lang="en-US" sz="1600" dirty="0" smtClean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 0</a:t>
            </a:r>
            <a:r>
              <a:rPr lang="en-US" sz="1600" dirty="0" smtClean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;</a:t>
            </a: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if </a:t>
            </a:r>
            <a:r>
              <a:rPr lang="en-US" sz="1600" dirty="0" smtClean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(</a:t>
            </a:r>
            <a:r>
              <a:rPr lang="en-US" sz="1600" dirty="0" smtClean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count</a:t>
            </a:r>
            <a:r>
              <a:rPr lang="en-US" sz="1600" dirty="0" smtClean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</a:t>
            </a: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== 0) { }</a:t>
            </a: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}</a:t>
            </a:r>
            <a:endParaRPr lang="en-US" sz="1600" dirty="0"/>
          </a:p>
          <a:p>
            <a:pPr marL="0" indent="0" algn="l">
              <a:lnSpc>
                <a:spcPts val="2480"/>
              </a:lnSpc>
              <a:buNone/>
            </a:pPr>
            <a:r>
              <a:rPr lang="en-US" sz="16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}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44</a:t>
            </a:r>
            <a:endParaRPr lang="en-US" sz="12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493915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Deployment: jar files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8479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117600" y="193801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programs are packaged and deployed in </a:t>
            </a:r>
            <a:r>
              <a:rPr lang="en-US" sz="1800" b="1" dirty="0">
                <a:solidFill>
                  <a:srgbClr val="B83A0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jar</a:t>
            </a: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files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12800" y="240771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7600" y="236093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jar is a compressed archive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68400" y="280501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73200" y="2783830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 a zip file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68400" y="31936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73200" y="3172470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Contains additional meta-information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2800" y="3607867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17600" y="3561085"/>
            <a:ext cx="9810750" cy="3340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30"/>
              </a:lnSpc>
              <a:buNone/>
            </a:pPr>
            <a:r>
              <a:rPr lang="en-US" sz="18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JVM can run the contents of a jar directly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68400" y="4005163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◆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73200" y="3983980"/>
            <a:ext cx="9444482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JVM loads classes from inside the jar: 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-jar app.jar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45</a:t>
            </a:r>
            <a:endParaRPr lang="en-US" sz="1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03632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 · JAVA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3819398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in one slide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84474"/>
            <a:ext cx="22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17600" y="1938015"/>
            <a:ext cx="9810750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Java is a quasi-pure object-oriented language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812800" y="2424534"/>
            <a:ext cx="22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7600" y="2378075"/>
            <a:ext cx="9810750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Compiled to bytecode, then interpreted with JIT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12800" y="2864594"/>
            <a:ext cx="22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17600" y="2818135"/>
            <a:ext cx="9810750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Robust: no explicit pointers, static and dynamic checks, garbage collection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12800" y="3304654"/>
            <a:ext cx="22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117600" y="3258195"/>
            <a:ext cx="9810750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Many utilities: data types, threads, networking, graphics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812800" y="3744689"/>
            <a:ext cx="22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7600" y="3698230"/>
            <a:ext cx="9810750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Used for many kinds of programs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12800" y="4184749"/>
            <a:ext cx="2286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F6B2C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117600" y="4138290"/>
            <a:ext cx="9810750" cy="351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565"/>
              </a:lnSpc>
              <a:buNone/>
            </a:pPr>
            <a:r>
              <a:rPr lang="en-US" sz="19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Coding conventions are not “just aesthetic”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46</a:t>
            </a:r>
            <a:endParaRPr lang="en-US" sz="1200" dirty="0">
              <a:latin typeface="Inter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256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40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000000">
                    <a:alpha val="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812800" y="489711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3 OF 4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5298430"/>
            <a:ext cx="6540500" cy="772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6000" b="1" i="0" kern="0" spc="-1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Eclipse</a:t>
            </a:r>
            <a:endParaRPr lang="en-US" sz="6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273916" cy="314007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70"/>
              </a:lnSpc>
              <a:buNone/>
            </a:pPr>
            <a:r>
              <a:rPr lang="en-US" sz="1193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ECLIPSE</a:t>
            </a:r>
            <a:endParaRPr lang="en-US" sz="1193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2203"/>
            <a:ext cx="7536688" cy="5034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68"/>
              </a:lnSpc>
              <a:buNone/>
            </a:pPr>
            <a:r>
              <a:rPr lang="en-US" sz="3589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Shortcuts worth learning today</a:t>
            </a:r>
            <a:endParaRPr lang="en-US" sz="3589" dirty="0"/>
          </a:p>
        </p:txBody>
      </p:sp>
      <p:sp>
        <p:nvSpPr>
          <p:cNvPr id="4" name="Shape 2"/>
          <p:cNvSpPr/>
          <p:nvPr/>
        </p:nvSpPr>
        <p:spPr>
          <a:xfrm>
            <a:off x="812800" y="1833463"/>
            <a:ext cx="3251200" cy="1693122"/>
          </a:xfrm>
          <a:prstGeom prst="roundRect">
            <a:avLst>
              <a:gd name="adj" fmla="val 5251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833463"/>
            <a:ext cx="3251200" cy="364913"/>
          </a:xfrm>
          <a:custGeom>
            <a:avLst/>
            <a:gdLst/>
            <a:ahLst/>
            <a:cxnLst/>
            <a:rect l="l" t="t" r="r" b="b"/>
            <a:pathLst>
              <a:path w="3251200" h="364913">
                <a:moveTo>
                  <a:pt x="0" y="88900"/>
                </a:moveTo>
                <a:arcTo wR="88900" hR="88900" stAng="10800000" swAng="5400000"/>
                <a:lnTo>
                  <a:pt x="3162300" y="0"/>
                </a:lnTo>
                <a:arcTo wR="88900" hR="88900" stAng="16200000" swAng="5400000"/>
                <a:lnTo>
                  <a:pt x="3251200" y="364913"/>
                </a:lnTo>
                <a:lnTo>
                  <a:pt x="0" y="364913"/>
                </a:lnTo>
                <a:close/>
              </a:path>
            </a:pathLst>
          </a:custGeom>
          <a:solidFill>
            <a:srgbClr val="2A313B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1909242"/>
            <a:ext cx="114808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Autocomplete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12800" y="2198365"/>
            <a:ext cx="3251200" cy="1328208"/>
          </a:xfrm>
          <a:custGeom>
            <a:avLst/>
            <a:gdLst/>
            <a:ahLst/>
            <a:cxnLst/>
            <a:rect l="l" t="t" r="r" b="b"/>
            <a:pathLst>
              <a:path w="3251200" h="1328208">
                <a:moveTo>
                  <a:pt x="3251200" y="1239308"/>
                </a:moveTo>
                <a:arcTo wR="88900" hR="88900" stAng="0" swAng="5400000"/>
                <a:lnTo>
                  <a:pt x="88900" y="1328208"/>
                </a:lnTo>
                <a:arcTo wR="88900" hR="88900" stAng="5400000" swAng="5400000"/>
                <a:lnTo>
                  <a:pt x="0" y="0"/>
                </a:lnTo>
                <a:lnTo>
                  <a:pt x="32512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11" name="Image 0" descr="Content assist showing method suggestion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2800" y="2226982"/>
            <a:ext cx="3251200" cy="1270975"/>
          </a:xfrm>
          <a:custGeom>
            <a:avLst/>
            <a:gdLst/>
            <a:ahLst/>
            <a:cxnLst/>
            <a:rect l="l" t="t" r="r" b="b"/>
            <a:pathLst>
              <a:path w="3251200" h="1270975">
                <a:moveTo>
                  <a:pt x="3251200" y="1210692"/>
                </a:moveTo>
                <a:arcTo wR="88900" hR="88900" stAng="0" swAng="2561739"/>
                <a:lnTo>
                  <a:pt x="23562" y="1270975"/>
                </a:lnTo>
                <a:arcTo wR="88900" hR="88900" stAng="8238261" swAng="2561739"/>
                <a:lnTo>
                  <a:pt x="0" y="0"/>
                </a:lnTo>
                <a:lnTo>
                  <a:pt x="3251200" y="0"/>
                </a:lnTo>
                <a:close/>
              </a:path>
            </a:pathLst>
          </a:custGeom>
        </p:spPr>
      </p:pic>
      <p:sp>
        <p:nvSpPr>
          <p:cNvPr id="12" name="Text 9"/>
          <p:cNvSpPr/>
          <p:nvPr/>
        </p:nvSpPr>
        <p:spPr>
          <a:xfrm>
            <a:off x="812800" y="3628182"/>
            <a:ext cx="3488267" cy="32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Autocomplete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812800" y="407987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663700" y="4032994"/>
            <a:ext cx="1366520" cy="307340"/>
          </a:xfrm>
          <a:prstGeom prst="roundRect">
            <a:avLst>
              <a:gd name="adj" fmla="val 16529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Ctrl + Space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12800" y="4487763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663700" y="4440758"/>
            <a:ext cx="1366520" cy="307340"/>
          </a:xfrm>
          <a:prstGeom prst="roundRect">
            <a:avLst>
              <a:gd name="adj" fmla="val 16529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Ctrl + Space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402667" y="1833463"/>
            <a:ext cx="3251200" cy="1693122"/>
          </a:xfrm>
          <a:prstGeom prst="roundRect">
            <a:avLst>
              <a:gd name="adj" fmla="val 5251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4402667" y="1833463"/>
            <a:ext cx="3251200" cy="364913"/>
          </a:xfrm>
          <a:custGeom>
            <a:avLst/>
            <a:gdLst/>
            <a:ahLst/>
            <a:cxnLst/>
            <a:rect l="l" t="t" r="r" b="b"/>
            <a:pathLst>
              <a:path w="3251200" h="364913">
                <a:moveTo>
                  <a:pt x="0" y="88900"/>
                </a:moveTo>
                <a:arcTo wR="88900" hR="88900" stAng="10800000" swAng="5400000"/>
                <a:lnTo>
                  <a:pt x="3162300" y="0"/>
                </a:lnTo>
                <a:arcTo wR="88900" hR="88900" stAng="16200000" swAng="5400000"/>
                <a:lnTo>
                  <a:pt x="3251200" y="364913"/>
                </a:lnTo>
                <a:lnTo>
                  <a:pt x="0" y="364913"/>
                </a:lnTo>
                <a:close/>
              </a:path>
            </a:pathLst>
          </a:custGeom>
          <a:solidFill>
            <a:srgbClr val="2A313B"/>
          </a:solidFill>
          <a:ln/>
        </p:spPr>
      </p:sp>
      <p:sp>
        <p:nvSpPr>
          <p:cNvPr id="19" name="Shape 16"/>
          <p:cNvSpPr/>
          <p:nvPr/>
        </p:nvSpPr>
        <p:spPr>
          <a:xfrm>
            <a:off x="4516967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20" name="Shape 17"/>
          <p:cNvSpPr/>
          <p:nvPr/>
        </p:nvSpPr>
        <p:spPr>
          <a:xfrm>
            <a:off x="4669367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21" name="Shape 18"/>
          <p:cNvSpPr/>
          <p:nvPr/>
        </p:nvSpPr>
        <p:spPr>
          <a:xfrm>
            <a:off x="4821767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2" name="Text 19"/>
          <p:cNvSpPr/>
          <p:nvPr/>
        </p:nvSpPr>
        <p:spPr>
          <a:xfrm>
            <a:off x="4974167" y="1909242"/>
            <a:ext cx="87376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Quick fix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4402667" y="2198365"/>
            <a:ext cx="3251200" cy="1328208"/>
          </a:xfrm>
          <a:custGeom>
            <a:avLst/>
            <a:gdLst/>
            <a:ahLst/>
            <a:cxnLst/>
            <a:rect l="l" t="t" r="r" b="b"/>
            <a:pathLst>
              <a:path w="3251200" h="1328208">
                <a:moveTo>
                  <a:pt x="3251200" y="1239308"/>
                </a:moveTo>
                <a:arcTo wR="88900" hR="88900" stAng="0" swAng="5400000"/>
                <a:lnTo>
                  <a:pt x="88900" y="1328208"/>
                </a:lnTo>
                <a:arcTo wR="88900" hR="88900" stAng="5400000" swAng="5400000"/>
                <a:lnTo>
                  <a:pt x="0" y="0"/>
                </a:lnTo>
                <a:lnTo>
                  <a:pt x="32512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24" name="Image 1" descr="Quick fix suggestions for an error"/>
          <p:cNvPicPr>
            <a:picLocks noChangeAspect="1"/>
          </p:cNvPicPr>
          <p:nvPr/>
        </p:nvPicPr>
        <p:blipFill>
          <a:blip r:embed="rId4"/>
          <a:srcRect t="-420" b="-420"/>
          <a:stretch/>
        </p:blipFill>
        <p:spPr>
          <a:xfrm>
            <a:off x="4402667" y="2198365"/>
            <a:ext cx="3251200" cy="1328208"/>
          </a:xfrm>
          <a:custGeom>
            <a:avLst/>
            <a:gdLst/>
            <a:ahLst/>
            <a:cxnLst/>
            <a:rect l="l" t="t" r="r" b="b"/>
            <a:pathLst>
              <a:path w="3251200" h="1328208">
                <a:moveTo>
                  <a:pt x="3251200" y="1239308"/>
                </a:moveTo>
                <a:arcTo wR="88900" hR="88900" stAng="0" swAng="5400000"/>
                <a:lnTo>
                  <a:pt x="88900" y="1328208"/>
                </a:lnTo>
                <a:arcTo wR="88900" hR="88900" stAng="5400000" swAng="5400000"/>
                <a:lnTo>
                  <a:pt x="0" y="0"/>
                </a:lnTo>
                <a:lnTo>
                  <a:pt x="3251200" y="0"/>
                </a:lnTo>
                <a:close/>
              </a:path>
            </a:pathLst>
          </a:custGeom>
        </p:spPr>
      </p:pic>
      <p:sp>
        <p:nvSpPr>
          <p:cNvPr id="25" name="Text 21"/>
          <p:cNvSpPr/>
          <p:nvPr/>
        </p:nvSpPr>
        <p:spPr>
          <a:xfrm>
            <a:off x="4402667" y="3628182"/>
            <a:ext cx="3488267" cy="32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Quick fix</a:t>
            </a:r>
            <a:endParaRPr lang="en-US" sz="2000" dirty="0"/>
          </a:p>
        </p:txBody>
      </p:sp>
      <p:sp>
        <p:nvSpPr>
          <p:cNvPr id="26" name="Text 22"/>
          <p:cNvSpPr/>
          <p:nvPr/>
        </p:nvSpPr>
        <p:spPr>
          <a:xfrm>
            <a:off x="4402667" y="407987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5253567" y="4032994"/>
            <a:ext cx="970280" cy="307340"/>
          </a:xfrm>
          <a:prstGeom prst="roundRect">
            <a:avLst>
              <a:gd name="adj" fmla="val 16529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Ctrl + 1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4402667" y="4487763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5253567" y="4440758"/>
            <a:ext cx="1106593" cy="307340"/>
          </a:xfrm>
          <a:prstGeom prst="roundRect">
            <a:avLst>
              <a:gd name="adj" fmla="val 16529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⌘ Cmd + 1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7992533" y="1833463"/>
            <a:ext cx="3251200" cy="1693122"/>
          </a:xfrm>
          <a:prstGeom prst="roundRect">
            <a:avLst>
              <a:gd name="adj" fmla="val 5251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7992533" y="1833463"/>
            <a:ext cx="3251200" cy="364913"/>
          </a:xfrm>
          <a:custGeom>
            <a:avLst/>
            <a:gdLst/>
            <a:ahLst/>
            <a:cxnLst/>
            <a:rect l="l" t="t" r="r" b="b"/>
            <a:pathLst>
              <a:path w="3251200" h="364913">
                <a:moveTo>
                  <a:pt x="0" y="88900"/>
                </a:moveTo>
                <a:arcTo wR="88900" hR="88900" stAng="10800000" swAng="5400000"/>
                <a:lnTo>
                  <a:pt x="3162300" y="0"/>
                </a:lnTo>
                <a:arcTo wR="88900" hR="88900" stAng="16200000" swAng="5400000"/>
                <a:lnTo>
                  <a:pt x="3251200" y="364913"/>
                </a:lnTo>
                <a:lnTo>
                  <a:pt x="0" y="364913"/>
                </a:lnTo>
                <a:close/>
              </a:path>
            </a:pathLst>
          </a:custGeom>
          <a:solidFill>
            <a:srgbClr val="2A313B"/>
          </a:solidFill>
          <a:ln/>
        </p:spPr>
      </p:sp>
      <p:sp>
        <p:nvSpPr>
          <p:cNvPr id="32" name="Shape 28"/>
          <p:cNvSpPr/>
          <p:nvPr/>
        </p:nvSpPr>
        <p:spPr>
          <a:xfrm>
            <a:off x="8106833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33" name="Shape 29"/>
          <p:cNvSpPr/>
          <p:nvPr/>
        </p:nvSpPr>
        <p:spPr>
          <a:xfrm>
            <a:off x="8259233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34" name="Shape 30"/>
          <p:cNvSpPr/>
          <p:nvPr/>
        </p:nvSpPr>
        <p:spPr>
          <a:xfrm>
            <a:off x="8411633" y="1971452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35" name="Text 31"/>
          <p:cNvSpPr/>
          <p:nvPr/>
        </p:nvSpPr>
        <p:spPr>
          <a:xfrm>
            <a:off x="8564033" y="1909242"/>
            <a:ext cx="78232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Debugger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7992533" y="2198365"/>
            <a:ext cx="3251200" cy="1328208"/>
          </a:xfrm>
          <a:custGeom>
            <a:avLst/>
            <a:gdLst/>
            <a:ahLst/>
            <a:cxnLst/>
            <a:rect l="l" t="t" r="r" b="b"/>
            <a:pathLst>
              <a:path w="3251200" h="1328208">
                <a:moveTo>
                  <a:pt x="3251200" y="1239308"/>
                </a:moveTo>
                <a:arcTo wR="88900" hR="88900" stAng="0" swAng="5400000"/>
                <a:lnTo>
                  <a:pt x="88900" y="1328208"/>
                </a:lnTo>
                <a:arcTo wR="88900" hR="88900" stAng="5400000" swAng="5400000"/>
                <a:lnTo>
                  <a:pt x="0" y="0"/>
                </a:lnTo>
                <a:lnTo>
                  <a:pt x="32512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37" name="Image 2" descr="Code paused at a breakpoint in the debugger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92533" y="2534570"/>
            <a:ext cx="3251200" cy="655798"/>
          </a:xfrm>
          <a:prstGeom prst="rect">
            <a:avLst/>
          </a:prstGeom>
        </p:spPr>
      </p:pic>
      <p:sp>
        <p:nvSpPr>
          <p:cNvPr id="38" name="Text 33"/>
          <p:cNvSpPr/>
          <p:nvPr/>
        </p:nvSpPr>
        <p:spPr>
          <a:xfrm>
            <a:off x="7992533" y="3628182"/>
            <a:ext cx="3488267" cy="3291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Debugger</a:t>
            </a:r>
            <a:endParaRPr lang="en-US" sz="2000" dirty="0"/>
          </a:p>
        </p:txBody>
      </p:sp>
      <p:sp>
        <p:nvSpPr>
          <p:cNvPr id="39" name="Text 34"/>
          <p:cNvSpPr/>
          <p:nvPr/>
        </p:nvSpPr>
        <p:spPr>
          <a:xfrm>
            <a:off x="7992533" y="4079875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Windows</a:t>
            </a:r>
            <a:endParaRPr lang="en-US" sz="1200" dirty="0"/>
          </a:p>
        </p:txBody>
      </p:sp>
      <p:sp>
        <p:nvSpPr>
          <p:cNvPr id="40" name="Text 35"/>
          <p:cNvSpPr/>
          <p:nvPr/>
        </p:nvSpPr>
        <p:spPr>
          <a:xfrm>
            <a:off x="8843433" y="4032994"/>
            <a:ext cx="474980" cy="307340"/>
          </a:xfrm>
          <a:prstGeom prst="roundRect">
            <a:avLst>
              <a:gd name="adj" fmla="val 16529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F11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7992533" y="4487763"/>
            <a:ext cx="81280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</a:t>
            </a:r>
            <a:endParaRPr lang="en-US" sz="1200" dirty="0"/>
          </a:p>
        </p:txBody>
      </p:sp>
      <p:sp>
        <p:nvSpPr>
          <p:cNvPr id="42" name="Text 37"/>
          <p:cNvSpPr/>
          <p:nvPr/>
        </p:nvSpPr>
        <p:spPr>
          <a:xfrm>
            <a:off x="8843433" y="4440758"/>
            <a:ext cx="1304713" cy="307340"/>
          </a:xfrm>
          <a:prstGeom prst="roundRect">
            <a:avLst>
              <a:gd name="adj" fmla="val 16529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⌘ Cmd + F11</a:t>
            </a:r>
            <a:endParaRPr lang="en-US" sz="1300" dirty="0"/>
          </a:p>
        </p:txBody>
      </p:sp>
      <p:sp>
        <p:nvSpPr>
          <p:cNvPr id="43" name="Shape 38"/>
          <p:cNvSpPr/>
          <p:nvPr/>
        </p:nvSpPr>
        <p:spPr>
          <a:xfrm>
            <a:off x="812800" y="4950768"/>
            <a:ext cx="2565400" cy="891223"/>
          </a:xfrm>
          <a:prstGeom prst="roundRect">
            <a:avLst>
              <a:gd name="adj" fmla="val 9975"/>
            </a:avLst>
          </a:prstGeom>
          <a:solidFill>
            <a:srgbClr val="1B222B"/>
          </a:solidFill>
          <a:ln/>
        </p:spPr>
      </p:sp>
      <p:sp>
        <p:nvSpPr>
          <p:cNvPr id="44" name="Text 39"/>
          <p:cNvSpPr/>
          <p:nvPr/>
        </p:nvSpPr>
        <p:spPr>
          <a:xfrm>
            <a:off x="939800" y="5052368"/>
            <a:ext cx="2380742" cy="237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</a:t>
            </a:r>
            <a:endParaRPr lang="en-US" sz="1193" dirty="0"/>
          </a:p>
        </p:txBody>
      </p:sp>
      <p:sp>
        <p:nvSpPr>
          <p:cNvPr id="45" name="Text 40"/>
          <p:cNvSpPr/>
          <p:nvPr/>
        </p:nvSpPr>
        <p:spPr>
          <a:xfrm>
            <a:off x="939800" y="5290195"/>
            <a:ext cx="2380742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Win Ctrl+F11</a:t>
            </a:r>
            <a:endParaRPr lang="en-US" sz="1193" dirty="0"/>
          </a:p>
        </p:txBody>
      </p:sp>
      <p:sp>
        <p:nvSpPr>
          <p:cNvPr id="46" name="Text 41"/>
          <p:cNvSpPr/>
          <p:nvPr/>
        </p:nvSpPr>
        <p:spPr>
          <a:xfrm>
            <a:off x="939800" y="5527997"/>
            <a:ext cx="2380742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dirty="0">
                <a:solidFill>
                  <a:srgbClr val="8A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Mac ⌘+Shift+F11</a:t>
            </a:r>
            <a:endParaRPr lang="en-US" sz="1193" dirty="0"/>
          </a:p>
        </p:txBody>
      </p:sp>
      <p:sp>
        <p:nvSpPr>
          <p:cNvPr id="47" name="Shape 42"/>
          <p:cNvSpPr/>
          <p:nvPr/>
        </p:nvSpPr>
        <p:spPr>
          <a:xfrm>
            <a:off x="3479800" y="4950768"/>
            <a:ext cx="2565400" cy="891223"/>
          </a:xfrm>
          <a:prstGeom prst="roundRect">
            <a:avLst>
              <a:gd name="adj" fmla="val 9975"/>
            </a:avLst>
          </a:prstGeom>
          <a:solidFill>
            <a:srgbClr val="1B222B"/>
          </a:solidFill>
          <a:ln/>
        </p:spPr>
      </p:sp>
      <p:sp>
        <p:nvSpPr>
          <p:cNvPr id="48" name="Text 43"/>
          <p:cNvSpPr/>
          <p:nvPr/>
        </p:nvSpPr>
        <p:spPr>
          <a:xfrm>
            <a:off x="3606800" y="5052368"/>
            <a:ext cx="2380742" cy="237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Format</a:t>
            </a:r>
            <a:endParaRPr lang="en-US" sz="1193" dirty="0"/>
          </a:p>
        </p:txBody>
      </p:sp>
      <p:sp>
        <p:nvSpPr>
          <p:cNvPr id="49" name="Text 44"/>
          <p:cNvSpPr/>
          <p:nvPr/>
        </p:nvSpPr>
        <p:spPr>
          <a:xfrm>
            <a:off x="3606800" y="5290195"/>
            <a:ext cx="2380742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Win Ctrl+Shift+F</a:t>
            </a:r>
            <a:endParaRPr lang="en-US" sz="1193" dirty="0"/>
          </a:p>
        </p:txBody>
      </p:sp>
      <p:sp>
        <p:nvSpPr>
          <p:cNvPr id="50" name="Text 45"/>
          <p:cNvSpPr/>
          <p:nvPr/>
        </p:nvSpPr>
        <p:spPr>
          <a:xfrm>
            <a:off x="3606800" y="5527997"/>
            <a:ext cx="2380742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dirty="0">
                <a:solidFill>
                  <a:srgbClr val="8A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Mac ⌘+Shift+F</a:t>
            </a:r>
            <a:endParaRPr lang="en-US" sz="1193" dirty="0"/>
          </a:p>
        </p:txBody>
      </p:sp>
      <p:sp>
        <p:nvSpPr>
          <p:cNvPr id="51" name="Shape 46"/>
          <p:cNvSpPr/>
          <p:nvPr/>
        </p:nvSpPr>
        <p:spPr>
          <a:xfrm>
            <a:off x="6146800" y="4950768"/>
            <a:ext cx="2565400" cy="891223"/>
          </a:xfrm>
          <a:prstGeom prst="roundRect">
            <a:avLst>
              <a:gd name="adj" fmla="val 9975"/>
            </a:avLst>
          </a:prstGeom>
          <a:solidFill>
            <a:srgbClr val="1B222B"/>
          </a:solidFill>
          <a:ln/>
        </p:spPr>
      </p:sp>
      <p:sp>
        <p:nvSpPr>
          <p:cNvPr id="52" name="Text 47"/>
          <p:cNvSpPr/>
          <p:nvPr/>
        </p:nvSpPr>
        <p:spPr>
          <a:xfrm>
            <a:off x="6273800" y="5052368"/>
            <a:ext cx="2380742" cy="237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Rename</a:t>
            </a:r>
            <a:endParaRPr lang="en-US" sz="1193" dirty="0"/>
          </a:p>
        </p:txBody>
      </p:sp>
      <p:sp>
        <p:nvSpPr>
          <p:cNvPr id="53" name="Text 48"/>
          <p:cNvSpPr/>
          <p:nvPr/>
        </p:nvSpPr>
        <p:spPr>
          <a:xfrm>
            <a:off x="6273800" y="5290195"/>
            <a:ext cx="2380742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Win Alt+Shift+R</a:t>
            </a:r>
            <a:endParaRPr lang="en-US" sz="1193" dirty="0"/>
          </a:p>
        </p:txBody>
      </p:sp>
      <p:sp>
        <p:nvSpPr>
          <p:cNvPr id="54" name="Text 49"/>
          <p:cNvSpPr/>
          <p:nvPr/>
        </p:nvSpPr>
        <p:spPr>
          <a:xfrm>
            <a:off x="6273800" y="5527997"/>
            <a:ext cx="2380742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dirty="0">
                <a:solidFill>
                  <a:srgbClr val="8A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Mac ⌥+⌘+R</a:t>
            </a:r>
            <a:endParaRPr lang="en-US" sz="1193" dirty="0"/>
          </a:p>
        </p:txBody>
      </p:sp>
      <p:sp>
        <p:nvSpPr>
          <p:cNvPr id="55" name="Shape 50"/>
          <p:cNvSpPr/>
          <p:nvPr/>
        </p:nvSpPr>
        <p:spPr>
          <a:xfrm>
            <a:off x="8813800" y="4950768"/>
            <a:ext cx="2565400" cy="891223"/>
          </a:xfrm>
          <a:prstGeom prst="roundRect">
            <a:avLst>
              <a:gd name="adj" fmla="val 9975"/>
            </a:avLst>
          </a:prstGeom>
          <a:solidFill>
            <a:srgbClr val="1B222B"/>
          </a:solidFill>
          <a:ln/>
        </p:spPr>
      </p:sp>
      <p:sp>
        <p:nvSpPr>
          <p:cNvPr id="56" name="Text 51"/>
          <p:cNvSpPr/>
          <p:nvPr/>
        </p:nvSpPr>
        <p:spPr>
          <a:xfrm>
            <a:off x="8940800" y="5052368"/>
            <a:ext cx="2380742" cy="2378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 class</a:t>
            </a:r>
            <a:endParaRPr lang="en-US" sz="1193" dirty="0"/>
          </a:p>
        </p:txBody>
      </p:sp>
      <p:sp>
        <p:nvSpPr>
          <p:cNvPr id="57" name="Text 52"/>
          <p:cNvSpPr/>
          <p:nvPr/>
        </p:nvSpPr>
        <p:spPr>
          <a:xfrm>
            <a:off x="8940800" y="5290195"/>
            <a:ext cx="2380742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Win Ctrl+Shift+T</a:t>
            </a:r>
            <a:endParaRPr lang="en-US" sz="1193" dirty="0"/>
          </a:p>
        </p:txBody>
      </p:sp>
      <p:sp>
        <p:nvSpPr>
          <p:cNvPr id="58" name="Text 53"/>
          <p:cNvSpPr/>
          <p:nvPr/>
        </p:nvSpPr>
        <p:spPr>
          <a:xfrm>
            <a:off x="8940800" y="5527997"/>
            <a:ext cx="2380742" cy="237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dirty="0">
                <a:solidFill>
                  <a:srgbClr val="8AB4F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Mac ⌘+Shift+T</a:t>
            </a:r>
            <a:endParaRPr lang="en-US" sz="1193" dirty="0"/>
          </a:p>
        </p:txBody>
      </p:sp>
      <p:sp>
        <p:nvSpPr>
          <p:cNvPr id="59" name="Text 54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48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279843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ECLIPSE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6517513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All good tools. We pick one.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825500" y="1950715"/>
          <a:ext cx="10553700" cy="2941320"/>
        </p:xfrm>
        <a:graphic>
          <a:graphicData uri="http://schemas.openxmlformats.org/drawingml/2006/table">
            <a:tbl>
              <a:tblPr/>
              <a:tblGrid>
                <a:gridCol w="189966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32181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3588258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2743962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F5A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IDE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F5A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Cost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F5A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Strengths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5F5A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Keep in mind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DD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Eclipse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Free, open source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Mature Java tools, plugins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3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Interface feels busy at first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23F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IntelliJ IDEA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 tier + paid edition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Excellent code assistance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Heavier on memory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A83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VS Code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Lightweight, many languages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Java support via extensions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NetBeans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Free, open source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Simple setup, GUI builder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Smaller community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BlueJ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Free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Designed for teaching OOP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 used in industry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114300" marB="1143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519683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Prefer another editor? Fine: projects are plain Java (later plain Maven). You still need Java 25 and git.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49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279843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ECLIPSE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4743831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 we use Eclipse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15"/>
            <a:ext cx="5410200" cy="2131060"/>
          </a:xfrm>
          <a:prstGeom prst="roundRect">
            <a:avLst>
              <a:gd name="adj" fmla="val 7151"/>
            </a:avLst>
          </a:prstGeom>
          <a:solidFill>
            <a:srgbClr val="FFD23F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242815"/>
            <a:ext cx="494461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3000" b="1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Same screens for everyone.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117600" y="3195315"/>
            <a:ext cx="494461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40"/>
              </a:lnSpc>
              <a:buNone/>
            </a:pP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problem takes </a:t>
            </a:r>
            <a:r>
              <a:rPr lang="en-US" sz="16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minutes</a:t>
            </a:r>
            <a:r>
              <a:rPr lang="en-US" sz="16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solve instead of twenty.</a:t>
            </a:r>
            <a:endParaRPr lang="en-US" sz="1600" dirty="0"/>
          </a:p>
        </p:txBody>
      </p:sp>
      <p:pic>
        <p:nvPicPr>
          <p:cNvPr id="7" name="Image 0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8600" y="1938015"/>
            <a:ext cx="279400" cy="279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85000" y="1938015"/>
            <a:ext cx="41859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Built for Java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6985000" y="2225030"/>
            <a:ext cx="41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 and quick fixes as you type.</a:t>
            </a:r>
            <a:endParaRPr lang="en-US" sz="1400" dirty="0"/>
          </a:p>
        </p:txBody>
      </p:sp>
      <p:pic>
        <p:nvPicPr>
          <p:cNvPr id="10" name="Image 1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8600" y="2664470"/>
            <a:ext cx="279400" cy="279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85000" y="2664470"/>
            <a:ext cx="41859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Strong debugger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985000" y="2951485"/>
            <a:ext cx="41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Breakpoints, variables, step by step.</a:t>
            </a:r>
            <a:endParaRPr lang="en-US" sz="1400" dirty="0"/>
          </a:p>
        </p:txBody>
      </p:sp>
      <p:pic>
        <p:nvPicPr>
          <p:cNvPr id="13" name="Image 2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8600" y="3390900"/>
            <a:ext cx="279400" cy="2794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985000" y="3390900"/>
            <a:ext cx="41859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Free &amp; open source</a:t>
            </a:r>
            <a:endParaRPr lang="en-US" sz="1800" dirty="0"/>
          </a:p>
        </p:txBody>
      </p:sp>
      <p:sp>
        <p:nvSpPr>
          <p:cNvPr id="15" name="Text 10"/>
          <p:cNvSpPr/>
          <p:nvPr/>
        </p:nvSpPr>
        <p:spPr>
          <a:xfrm>
            <a:off x="6985000" y="3677915"/>
            <a:ext cx="41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tool at home and in the lab.</a:t>
            </a:r>
            <a:endParaRPr lang="en-US" sz="1400" dirty="0"/>
          </a:p>
        </p:txBody>
      </p:sp>
      <p:pic>
        <p:nvPicPr>
          <p:cNvPr id="16" name="Image 3" descr="CheckCircl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578600" y="4117330"/>
            <a:ext cx="279400" cy="2794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985000" y="4117330"/>
            <a:ext cx="4185920" cy="299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60"/>
              </a:lnSpc>
              <a:buNone/>
            </a:pPr>
            <a:r>
              <a:rPr lang="en-US" sz="18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Nothing depends on it</a:t>
            </a:r>
            <a:endParaRPr lang="en-US" sz="1800" dirty="0"/>
          </a:p>
        </p:txBody>
      </p:sp>
      <p:sp>
        <p:nvSpPr>
          <p:cNvPr id="18" name="Text 12"/>
          <p:cNvSpPr/>
          <p:nvPr/>
        </p:nvSpPr>
        <p:spPr>
          <a:xfrm>
            <a:off x="6985000" y="4404370"/>
            <a:ext cx="418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Plain Java projects you can build anywhere.</a:t>
            </a:r>
            <a:endParaRPr lang="en-US" sz="1400" dirty="0"/>
          </a:p>
        </p:txBody>
      </p:sp>
      <p:sp>
        <p:nvSpPr>
          <p:cNvPr id="19" name="Text 13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50</a:t>
            </a:r>
            <a:endParaRPr lang="en-US" sz="1200" dirty="0">
              <a:latin typeface="Inter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298932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Install Eclipse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4498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744985"/>
            <a:ext cx="502310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eclipse.org/downloads ›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Eclipse Installer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Windows x86_64.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37532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375322"/>
            <a:ext cx="502310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the file before running it: compare its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SHA-512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the one on the download page.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3005658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3005658"/>
            <a:ext cx="5023104" cy="7613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 it ›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Eclipse IDE for Java Developers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› Install › Launch. Blue SmartScreen box? More info › Run anyway (only after the hash matched).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881338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881338"/>
            <a:ext cx="502310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Workspace: </a:t>
            </a:r>
            <a:r>
              <a:rPr lang="en-US" sz="1400" dirty="0">
                <a:solidFill>
                  <a:srgbClr val="FDE6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C:\dev\workspace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Tick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this as the default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51600" y="1744985"/>
            <a:ext cx="4826000" cy="1744980"/>
          </a:xfrm>
          <a:prstGeom prst="roundRect">
            <a:avLst>
              <a:gd name="adj" fmla="val 5095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51600" y="1744985"/>
            <a:ext cx="4826000" cy="365760"/>
          </a:xfrm>
          <a:custGeom>
            <a:avLst/>
            <a:gdLst/>
            <a:ahLst/>
            <a:cxnLst/>
            <a:rect l="l" t="t" r="r" b="b"/>
            <a:pathLst>
              <a:path w="4826000" h="365760">
                <a:moveTo>
                  <a:pt x="0" y="88900"/>
                </a:moveTo>
                <a:arcTo wR="88900" hR="88900" stAng="10800000" swAng="5400000"/>
                <a:lnTo>
                  <a:pt x="4737100" y="0"/>
                </a:lnTo>
                <a:arcTo wR="88900" hR="88900" stAng="16200000" swAng="5400000"/>
                <a:lnTo>
                  <a:pt x="4826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5659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183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707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7023100" y="1821185"/>
            <a:ext cx="208483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 · step 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54800" y="2288530"/>
            <a:ext cx="4552188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Get-FileHash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"$HOME\Downloads\eclipse-inst-jre-win64.exe"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-Algorithm SHA512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51600" y="3642370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Mac:</a:t>
            </a:r>
            <a:r>
              <a:rPr lang="en-US" sz="12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Installer for </a:t>
            </a:r>
            <a:r>
              <a:rPr lang="en-US" sz="12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AArch64</a:t>
            </a:r>
            <a:r>
              <a:rPr lang="en-US" sz="12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(Apple chip) or x86_64 (Intel). Hash: shasum -a 512 file.dmg. Workspace: ~/dev/workspace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51600" y="4221485"/>
            <a:ext cx="2403475" cy="40894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eclipse.org/downloads 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56675" y="4221485"/>
            <a:ext cx="2239645" cy="408940"/>
          </a:xfrm>
          <a:prstGeom prst="roundRect">
            <a:avLst>
              <a:gd name="adj" fmla="val 50000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Course page: Eclipse 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·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51</a:t>
            </a:r>
            <a:endParaRPr lang="en-US" sz="12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598208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Point Eclipse at your JDK 25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4498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744985"/>
            <a:ext cx="5415534" cy="27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Window › Preferences › Java › Installed JREs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21488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214885"/>
            <a:ext cx="5415534" cy="27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jdk-25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listed and ticked? Done. Eclipse found it.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68478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2684785"/>
            <a:ext cx="541553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Otherwise: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› Standard VM › Next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JRE home: </a:t>
            </a:r>
            <a:r>
              <a:rPr lang="en-US" sz="1400" dirty="0">
                <a:solidFill>
                  <a:srgbClr val="FDE68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C:\Program Files\Eclipse Adoptium\jdk-25…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31512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315122"/>
            <a:ext cx="5415534" cy="27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Finish,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tick the new entry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Apply and Close.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83400" y="1744985"/>
            <a:ext cx="4578350" cy="854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Eclipse ships with its own small Java. Without this step it can </a:t>
            </a:r>
            <a:r>
              <a:rPr lang="en-US" sz="15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seem</a:t>
            </a:r>
            <a:r>
              <a:rPr lang="en-US" sz="15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 work, then fail later in a way that looks unrelated.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883400" y="2713360"/>
            <a:ext cx="4578350" cy="665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Mac:</a:t>
            </a:r>
            <a:r>
              <a:rPr lang="en-US" sz="12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Eclipse › Settings… › Java › Installed JREs. JDK folder: /Library/Java/JavaVirtualMachines/temurin-25.jdk/Contents/Home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52</a:t>
            </a:r>
            <a:endParaRPr lang="en-US" sz="12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9466834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Build something, then run it without Eclipse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19585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719585"/>
            <a:ext cx="528472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 › New › Java Project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name it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Setup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Finish. (If “Create module-info.java” is ticked, untick it.)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349922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349922"/>
            <a:ext cx="528472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Right-click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src › New › Class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name it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tick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public static void main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Finish.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980258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2980258"/>
            <a:ext cx="5284724" cy="27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Paste the line on the right inside main.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450158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450158"/>
            <a:ext cx="528472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Run: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Ctrl+F11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or the green ▶. Console says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Eclipse is running on 25…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05600" y="1719585"/>
            <a:ext cx="4572000" cy="1489075"/>
          </a:xfrm>
          <a:prstGeom prst="roundRect">
            <a:avLst>
              <a:gd name="adj" fmla="val 5970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705600" y="1719585"/>
            <a:ext cx="4572000" cy="365760"/>
          </a:xfrm>
          <a:custGeom>
            <a:avLst/>
            <a:gdLst/>
            <a:ahLst/>
            <a:cxnLst/>
            <a:rect l="l" t="t" r="r" b="b"/>
            <a:pathLst>
              <a:path w="4572000" h="365760">
                <a:moveTo>
                  <a:pt x="0" y="88900"/>
                </a:moveTo>
                <a:arcTo wR="88900" hR="88900" stAng="10800000" swAng="5400000"/>
                <a:lnTo>
                  <a:pt x="4483100" y="0"/>
                </a:lnTo>
                <a:arcTo wR="88900" hR="88900" stAng="16200000" swAng="5400000"/>
                <a:lnTo>
                  <a:pt x="4572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819900" y="18580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972300" y="18580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7124700" y="18580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7277100" y="1795785"/>
            <a:ext cx="120700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inside main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908800" y="2263130"/>
            <a:ext cx="4290568" cy="793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System.out.println(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9ECE6A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"Eclipse is running on "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+ Runtime.version());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05600" y="3348360"/>
            <a:ext cx="4572000" cy="1489075"/>
          </a:xfrm>
          <a:prstGeom prst="roundRect">
            <a:avLst>
              <a:gd name="adj" fmla="val 5970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05600" y="3348360"/>
            <a:ext cx="4572000" cy="365760"/>
          </a:xfrm>
          <a:custGeom>
            <a:avLst/>
            <a:gdLst/>
            <a:ahLst/>
            <a:cxnLst/>
            <a:rect l="l" t="t" r="r" b="b"/>
            <a:pathLst>
              <a:path w="4572000" h="365760">
                <a:moveTo>
                  <a:pt x="0" y="88900"/>
                </a:moveTo>
                <a:arcTo wR="88900" hR="88900" stAng="10800000" swAng="5400000"/>
                <a:lnTo>
                  <a:pt x="4483100" y="0"/>
                </a:lnTo>
                <a:arcTo wR="88900" hR="88900" stAng="16200000" swAng="5400000"/>
                <a:lnTo>
                  <a:pt x="4572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21" name="Shape 19"/>
          <p:cNvSpPr/>
          <p:nvPr/>
        </p:nvSpPr>
        <p:spPr>
          <a:xfrm>
            <a:off x="6819900" y="3486795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22" name="Shape 20"/>
          <p:cNvSpPr/>
          <p:nvPr/>
        </p:nvSpPr>
        <p:spPr>
          <a:xfrm>
            <a:off x="6972300" y="3486795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23" name="Shape 21"/>
          <p:cNvSpPr/>
          <p:nvPr/>
        </p:nvSpPr>
        <p:spPr>
          <a:xfrm>
            <a:off x="7124700" y="3486795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4" name="Text 22"/>
          <p:cNvSpPr/>
          <p:nvPr/>
        </p:nvSpPr>
        <p:spPr>
          <a:xfrm>
            <a:off x="7277100" y="3424560"/>
            <a:ext cx="2304288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Then, outside Eclipse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08800" y="3891905"/>
            <a:ext cx="4290568" cy="7931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cd C:\dev\workspace\Setup\bin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java Check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6EE7A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Eclipse is running on 25.0.x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·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53</a:t>
            </a:r>
            <a:endParaRPr lang="en-US" sz="1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1200"/>
            <a:ext cx="1273916" cy="308187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" name="Text 1"/>
          <p:cNvSpPr/>
          <p:nvPr/>
        </p:nvSpPr>
        <p:spPr>
          <a:xfrm>
            <a:off x="939800" y="762000"/>
            <a:ext cx="1070716" cy="2319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03 · ECLIPSE</a:t>
            </a:r>
            <a:endParaRPr lang="en-US" sz="1193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46398"/>
            <a:ext cx="6798564" cy="4386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66"/>
              </a:lnSpc>
              <a:buNone/>
            </a:pPr>
            <a:r>
              <a:rPr lang="en-US" sz="311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Finding your way around Eclipse</a:t>
            </a:r>
            <a:endParaRPr lang="en-US" sz="3110" dirty="0"/>
          </a:p>
        </p:txBody>
      </p:sp>
      <p:sp>
        <p:nvSpPr>
          <p:cNvPr id="5" name="Shape 3"/>
          <p:cNvSpPr/>
          <p:nvPr/>
        </p:nvSpPr>
        <p:spPr>
          <a:xfrm>
            <a:off x="812800" y="1788269"/>
            <a:ext cx="5461000" cy="4150360"/>
          </a:xfrm>
          <a:prstGeom prst="roundRect">
            <a:avLst>
              <a:gd name="adj" fmla="val 2142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1788269"/>
            <a:ext cx="5461000" cy="365760"/>
          </a:xfrm>
          <a:custGeom>
            <a:avLst/>
            <a:gdLst/>
            <a:ahLst/>
            <a:cxnLst/>
            <a:rect l="l" t="t" r="r" b="b"/>
            <a:pathLst>
              <a:path w="5461000" h="365760">
                <a:moveTo>
                  <a:pt x="0" y="88900"/>
                </a:moveTo>
                <a:arcTo wR="88900" hR="88900" stAng="10800000" swAng="5400000"/>
                <a:lnTo>
                  <a:pt x="5372100" y="0"/>
                </a:lnTo>
                <a:arcTo wR="88900" hR="88900" stAng="16200000" swAng="5400000"/>
                <a:lnTo>
                  <a:pt x="5461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A313B"/>
          </a:solidFill>
          <a:ln/>
        </p:spPr>
      </p:sp>
      <p:sp>
        <p:nvSpPr>
          <p:cNvPr id="7" name="Shape 5"/>
          <p:cNvSpPr/>
          <p:nvPr/>
        </p:nvSpPr>
        <p:spPr>
          <a:xfrm>
            <a:off x="927100" y="1926704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1926704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1900" y="1926704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384300" y="1864469"/>
            <a:ext cx="160528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Eclipse workbench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154014"/>
            <a:ext cx="5461000" cy="3784600"/>
          </a:xfrm>
          <a:custGeom>
            <a:avLst/>
            <a:gdLst/>
            <a:ahLst/>
            <a:cxnLst/>
            <a:rect l="l" t="t" r="r" b="b"/>
            <a:pathLst>
              <a:path w="5461000" h="3784600">
                <a:moveTo>
                  <a:pt x="5461000" y="3695700"/>
                </a:moveTo>
                <a:arcTo wR="88900" hR="88900" stAng="0" swAng="5400000"/>
                <a:lnTo>
                  <a:pt x="88900" y="3784600"/>
                </a:lnTo>
                <a:arcTo wR="88900" hR="88900" stAng="5400000" swAng="5400000"/>
                <a:lnTo>
                  <a:pt x="0" y="0"/>
                </a:lnTo>
                <a:lnTo>
                  <a:pt x="54610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12" name="Image 0" descr="Full Eclipse window"/>
          <p:cNvPicPr>
            <a:picLocks noChangeAspect="1"/>
          </p:cNvPicPr>
          <p:nvPr/>
        </p:nvPicPr>
        <p:blipFill>
          <a:blip r:embed="rId3"/>
          <a:srcRect t="-10" b="-10"/>
          <a:stretch/>
        </p:blipFill>
        <p:spPr>
          <a:xfrm>
            <a:off x="812800" y="2154014"/>
            <a:ext cx="5461000" cy="3784600"/>
          </a:xfrm>
          <a:custGeom>
            <a:avLst/>
            <a:gdLst/>
            <a:ahLst/>
            <a:cxnLst/>
            <a:rect l="l" t="t" r="r" b="b"/>
            <a:pathLst>
              <a:path w="5461000" h="3784600">
                <a:moveTo>
                  <a:pt x="5461000" y="3695700"/>
                </a:moveTo>
                <a:arcTo wR="88900" hR="88900" stAng="0" swAng="5400000"/>
                <a:lnTo>
                  <a:pt x="88900" y="3784600"/>
                </a:lnTo>
                <a:arcTo wR="88900" hR="88900" stAng="5400000" swAng="5400000"/>
                <a:lnTo>
                  <a:pt x="0" y="0"/>
                </a:lnTo>
                <a:lnTo>
                  <a:pt x="5461000" y="0"/>
                </a:lnTo>
                <a:close/>
              </a:path>
            </a:pathLst>
          </a:custGeom>
        </p:spPr>
      </p:pic>
      <p:sp>
        <p:nvSpPr>
          <p:cNvPr id="13" name="Text 10"/>
          <p:cNvSpPr/>
          <p:nvPr/>
        </p:nvSpPr>
        <p:spPr>
          <a:xfrm>
            <a:off x="6578600" y="178826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061200" y="1788269"/>
            <a:ext cx="34010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Package Explorer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061200" y="2044799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Projects and files (left)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578600" y="2428354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061200" y="2428354"/>
            <a:ext cx="34010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Editor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061200" y="2684884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Where you write code (centre)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578600" y="3068414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061200" y="3068414"/>
            <a:ext cx="34010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Outline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061200" y="3324969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Fields and methods of the class (right)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6578600" y="3708499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2563E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061200" y="3708499"/>
            <a:ext cx="340106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Problems · Console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061200" y="3965054"/>
            <a:ext cx="340106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Errors and program output (bottom)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578600" y="4348584"/>
            <a:ext cx="3810000" cy="665480"/>
          </a:xfrm>
          <a:prstGeom prst="roundRect">
            <a:avLst>
              <a:gd name="adj" fmla="val 13359"/>
            </a:avLst>
          </a:prstGeom>
          <a:solidFill>
            <a:srgbClr val="FFD23F"/>
          </a:solidFill>
          <a:ln/>
        </p:spPr>
        <p:txBody>
          <a:bodyPr wrap="square" lIns="113662" tIns="75562" rIns="7744" bIns="5016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Turn on line numbers:</a:t>
            </a:r>
            <a:r>
              <a:rPr lang="en-US" sz="13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Preferences › General › Editors › Text Editors › Show line numbers.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584950" y="5172819"/>
            <a:ext cx="3797300" cy="678180"/>
          </a:xfrm>
          <a:prstGeom prst="roundRect">
            <a:avLst>
              <a:gd name="adj" fmla="val 12172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21872" tIns="83772" rIns="16716" bIns="58372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Panel gone?</a:t>
            </a:r>
            <a:r>
              <a:rPr lang="en-US" sz="13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Window › Perspective › Reset Perspective.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4000"/>
            <a:ext cx="5886450" cy="2565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000"/>
              </a:lnSpc>
              <a:buNone/>
            </a:pPr>
            <a:r>
              <a:rPr lang="en-US" sz="20000" b="1" dirty="0">
                <a:solidFill>
                  <a:srgbClr val="000000">
                    <a:alpha val="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 rot="240000">
            <a:off x="6858000" y="951232"/>
            <a:ext cx="4318000" cy="3390900"/>
          </a:xfrm>
          <a:prstGeom prst="roundRect">
            <a:avLst>
              <a:gd name="adj" fmla="val 2622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 rot="240000">
            <a:off x="6963410" y="954936"/>
            <a:ext cx="4318000" cy="368300"/>
          </a:xfrm>
          <a:prstGeom prst="rect">
            <a:avLst/>
          </a:prstGeom>
          <a:solidFill>
            <a:srgbClr val="2A313B"/>
          </a:solidFill>
          <a:ln/>
        </p:spPr>
      </p:sp>
      <p:sp>
        <p:nvSpPr>
          <p:cNvPr id="5" name="Shape 3"/>
          <p:cNvSpPr/>
          <p:nvPr/>
        </p:nvSpPr>
        <p:spPr>
          <a:xfrm rot="240000">
            <a:off x="7082631" y="955095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6" name="Shape 4"/>
          <p:cNvSpPr/>
          <p:nvPr/>
        </p:nvSpPr>
        <p:spPr>
          <a:xfrm rot="240000">
            <a:off x="7234608" y="965785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7" name="Shape 5"/>
          <p:cNvSpPr/>
          <p:nvPr/>
        </p:nvSpPr>
        <p:spPr>
          <a:xfrm rot="240000">
            <a:off x="7386690" y="976377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8" name="Text 6"/>
          <p:cNvSpPr/>
          <p:nvPr/>
        </p:nvSpPr>
        <p:spPr>
          <a:xfrm rot="240000">
            <a:off x="7536714" y="954031"/>
            <a:ext cx="965200" cy="2413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240000">
            <a:off x="6845247" y="1317880"/>
            <a:ext cx="4318000" cy="3022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A pull request on GitHub"/>
          <p:cNvPicPr>
            <a:picLocks noChangeAspect="1"/>
          </p:cNvPicPr>
          <p:nvPr/>
        </p:nvPicPr>
        <p:blipFill>
          <a:blip r:embed="rId3"/>
          <a:srcRect l="-108" r="-108"/>
          <a:stretch/>
        </p:blipFill>
        <p:spPr>
          <a:xfrm rot="240000">
            <a:off x="6845247" y="1317880"/>
            <a:ext cx="4318000" cy="30226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12800" y="3415035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 4 OF 4</a:t>
            </a:r>
            <a:endParaRPr lang="en-US" sz="1400" dirty="0"/>
          </a:p>
        </p:txBody>
      </p:sp>
      <p:sp>
        <p:nvSpPr>
          <p:cNvPr id="12" name="Text 9"/>
          <p:cNvSpPr>
            <a:spLocks noGrp="1"/>
          </p:cNvSpPr>
          <p:nvPr>
            <p:ph type="title"/>
          </p:nvPr>
        </p:nvSpPr>
        <p:spPr>
          <a:xfrm>
            <a:off x="812800" y="3816350"/>
            <a:ext cx="654050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6000" b="1" i="0" kern="0" spc="-1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 &amp;</a:t>
            </a:r>
            <a:endParaRPr lang="en-US" sz="6000" dirty="0"/>
          </a:p>
          <a:p>
            <a:pPr marL="0" indent="0" algn="l">
              <a:lnSpc>
                <a:spcPts val="5880"/>
              </a:lnSpc>
              <a:buNone/>
            </a:pPr>
            <a:r>
              <a:rPr lang="en-US" sz="6000" b="1" i="0" kern="0" spc="-1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GitHub</a:t>
            </a:r>
            <a:endParaRPr lang="en-US" sz="6000" dirty="0"/>
          </a:p>
        </p:txBody>
      </p:sp>
      <p:sp>
        <p:nvSpPr>
          <p:cNvPr id="13" name="Text 10"/>
          <p:cNvSpPr/>
          <p:nvPr/>
        </p:nvSpPr>
        <p:spPr>
          <a:xfrm>
            <a:off x="812800" y="5462290"/>
            <a:ext cx="5886450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F3EEE4">
                    <a:alpha val="8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work lives in a repository from week one, not in a folder on your laptop.</a:t>
            </a:r>
            <a:endParaRPr lang="en-US" sz="17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89161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Be honest. Does your folder look like this?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884660"/>
            <a:ext cx="5461000" cy="2844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/>
          <a:effectLst>
            <a:outerShdw blurRad="317500" dist="1270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2800" y="1884660"/>
            <a:ext cx="5461000" cy="365760"/>
          </a:xfrm>
          <a:custGeom>
            <a:avLst/>
            <a:gdLst/>
            <a:ahLst/>
            <a:cxnLst/>
            <a:rect l="l" t="t" r="r" b="b"/>
            <a:pathLst>
              <a:path w="5461000" h="365760">
                <a:moveTo>
                  <a:pt x="0" y="88900"/>
                </a:moveTo>
                <a:arcTo wR="88900" hR="88900" stAng="10800000" swAng="5400000"/>
                <a:lnTo>
                  <a:pt x="5372100" y="0"/>
                </a:lnTo>
                <a:arcTo wR="88900" hR="88900" stAng="16200000" swAng="5400000"/>
                <a:lnTo>
                  <a:pt x="5461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ECE8DF"/>
          </a:solidFill>
          <a:ln/>
        </p:spPr>
        <p:txBody>
          <a:bodyPr wrap="square" lIns="127000" tIns="76200" rIns="0" bIns="5080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Downloads › OOP homework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812800" y="2660428"/>
            <a:ext cx="5461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5200" y="2339330"/>
            <a:ext cx="1426464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Project.java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547995" y="2339330"/>
            <a:ext cx="5734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 Sep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12800" y="3073625"/>
            <a:ext cx="5461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5200" y="2752527"/>
            <a:ext cx="178308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Project_v2.java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41391" y="2752527"/>
            <a:ext cx="58000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14 Sep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800" y="3486772"/>
            <a:ext cx="5461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5200" y="3165673"/>
            <a:ext cx="2139696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Project_final.java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507101" y="3165673"/>
            <a:ext cx="61429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 Sep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3899968"/>
            <a:ext cx="5461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5200" y="3578870"/>
            <a:ext cx="2971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Project_final_REALLY.java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547995" y="3578870"/>
            <a:ext cx="5734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Sep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" y="4313115"/>
            <a:ext cx="5461000" cy="0"/>
          </a:xfrm>
          <a:prstGeom prst="line">
            <a:avLst/>
          </a:prstGeom>
          <a:noFill/>
          <a:ln w="6350">
            <a:solidFill>
              <a:srgbClr val="EEEEE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5200" y="3992017"/>
            <a:ext cx="302556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Project_final_fixed_Ana.java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547995" y="3992017"/>
            <a:ext cx="573405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21 Sep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2800" y="4316313"/>
            <a:ext cx="5461000" cy="413173"/>
          </a:xfrm>
          <a:custGeom>
            <a:avLst/>
            <a:gdLst/>
            <a:ahLst/>
            <a:cxnLst/>
            <a:rect l="l" t="t" r="r" b="b"/>
            <a:pathLst>
              <a:path w="5461000" h="413173">
                <a:moveTo>
                  <a:pt x="5405096" y="406823"/>
                </a:moveTo>
                <a:arcTo wR="88900" hR="88900" stAng="4092793" swAng="1307207"/>
                <a:lnTo>
                  <a:pt x="88900" y="413173"/>
                </a:lnTo>
                <a:arcTo wR="88900" hR="88900" stAng="5400000" swAng="1307207"/>
                <a:close/>
              </a:path>
            </a:pathLst>
          </a:custGeom>
          <a:solidFill>
            <a:srgbClr val="EEEEEE"/>
          </a:solidFill>
          <a:ln/>
        </p:spPr>
      </p:sp>
      <p:sp>
        <p:nvSpPr>
          <p:cNvPr id="22" name="Text 20"/>
          <p:cNvSpPr/>
          <p:nvPr/>
        </p:nvSpPr>
        <p:spPr>
          <a:xfrm>
            <a:off x="965200" y="4405213"/>
            <a:ext cx="297180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Project_USE_THIS_ONE.java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510911" y="4405213"/>
            <a:ext cx="610489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lnSpc>
                <a:spcPts val="1680"/>
              </a:lnSpc>
              <a:buNone/>
            </a:pP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22 Sep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680200" y="2423170"/>
            <a:ext cx="483997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Who changed what?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680200" y="2896890"/>
            <a:ext cx="483997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When?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6680200" y="3370560"/>
            <a:ext cx="483997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Why?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680200" y="3844280"/>
            <a:ext cx="4839970" cy="3721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Which one </a:t>
            </a:r>
            <a:r>
              <a:rPr lang="en-US" sz="26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works</a:t>
            </a:r>
            <a:r>
              <a:rPr lang="en-US" sz="2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?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 rot="20880000">
            <a:off x="4082997" y="3829672"/>
            <a:ext cx="2628900" cy="946150"/>
          </a:xfrm>
          <a:prstGeom prst="roundRect">
            <a:avLst>
              <a:gd name="adj" fmla="val 6040"/>
            </a:avLst>
          </a:prstGeom>
          <a:solidFill>
            <a:srgbClr val="F3EEE4">
              <a:alpha val="85000"/>
            </a:srgbClr>
          </a:solidFill>
          <a:ln w="38100">
            <a:solidFill>
              <a:srgbClr val="FF6B6B"/>
            </a:solidFill>
            <a:prstDash val="solid"/>
          </a:ln>
        </p:spPr>
        <p:txBody>
          <a:bodyPr wrap="square" lIns="120421" tIns="65811" rIns="120421" bIns="40411" rtlCol="0" anchor="t">
            <a:normAutofit/>
          </a:bodyPr>
          <a:lstStyle/>
          <a:p>
            <a:pPr marL="0" indent="0" algn="ctr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6B6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SOUND FAMILIAR?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56</a:t>
            </a:r>
            <a:endParaRPr lang="en-US" sz="12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8045577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 and GitHub are not the same thing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808460"/>
            <a:ext cx="52585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FF6B2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812800" y="2349500"/>
            <a:ext cx="497078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tool on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computer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Works offline, no account. Created by Linus Torvalds in 2005.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2943870"/>
            <a:ext cx="4953000" cy="2138680"/>
          </a:xfrm>
          <a:prstGeom prst="roundRect">
            <a:avLst>
              <a:gd name="adj" fmla="val 4157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12800" y="2943870"/>
            <a:ext cx="4953000" cy="365760"/>
          </a:xfrm>
          <a:custGeom>
            <a:avLst/>
            <a:gdLst/>
            <a:ahLst/>
            <a:cxnLst/>
            <a:rect l="l" t="t" r="r" b="b"/>
            <a:pathLst>
              <a:path w="4953000" h="365760">
                <a:moveTo>
                  <a:pt x="0" y="88900"/>
                </a:moveTo>
                <a:arcTo wR="88900" hR="88900" stAng="10800000" swAng="5400000"/>
                <a:lnTo>
                  <a:pt x="4864100" y="0"/>
                </a:lnTo>
                <a:arcTo wR="88900" hR="88900" stAng="16200000" swAng="5400000"/>
                <a:lnTo>
                  <a:pt x="4953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8" name="Shape 6"/>
          <p:cNvSpPr/>
          <p:nvPr/>
        </p:nvSpPr>
        <p:spPr>
          <a:xfrm>
            <a:off x="927100" y="30822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9" name="Shape 7"/>
          <p:cNvSpPr/>
          <p:nvPr/>
        </p:nvSpPr>
        <p:spPr>
          <a:xfrm>
            <a:off x="1079500" y="30822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0" name="Shape 8"/>
          <p:cNvSpPr/>
          <p:nvPr/>
        </p:nvSpPr>
        <p:spPr>
          <a:xfrm>
            <a:off x="1231900" y="30822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1" name="Text 9"/>
          <p:cNvSpPr/>
          <p:nvPr/>
        </p:nvSpPr>
        <p:spPr>
          <a:xfrm>
            <a:off x="1384300" y="3020070"/>
            <a:ext cx="2414016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Terminal · your laptop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16000" y="3487440"/>
            <a:ext cx="4682998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git log --oneline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97b6b9b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Add .gitignore for bin/ and .metadata/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e261f1f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Fix rounding in getAverage()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da184f5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Add getAverage() to Student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e81e11f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Add Student class with name and grade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51ed780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Add HelloWorld program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73800" y="1808460"/>
            <a:ext cx="525856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2800" b="1" dirty="0">
                <a:solidFill>
                  <a:srgbClr val="8AB4F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GitHub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273800" y="2349500"/>
            <a:ext cx="4970780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90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website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that hosts Git repositories, plus pull requests, issues, reviews.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73800" y="2943870"/>
            <a:ext cx="4953000" cy="1959610"/>
          </a:xfrm>
          <a:prstGeom prst="roundRect">
            <a:avLst>
              <a:gd name="adj" fmla="val 4537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73800" y="2943870"/>
            <a:ext cx="4953000" cy="365760"/>
          </a:xfrm>
          <a:custGeom>
            <a:avLst/>
            <a:gdLst/>
            <a:ahLst/>
            <a:cxnLst/>
            <a:rect l="l" t="t" r="r" b="b"/>
            <a:pathLst>
              <a:path w="4953000" h="365760">
                <a:moveTo>
                  <a:pt x="0" y="88900"/>
                </a:moveTo>
                <a:arcTo wR="88900" hR="88900" stAng="10800000" swAng="5400000"/>
                <a:lnTo>
                  <a:pt x="4864100" y="0"/>
                </a:lnTo>
                <a:arcTo wR="88900" hR="88900" stAng="16200000" swAng="5400000"/>
                <a:lnTo>
                  <a:pt x="4953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A313B"/>
          </a:solidFill>
          <a:ln/>
        </p:spPr>
      </p:sp>
      <p:sp>
        <p:nvSpPr>
          <p:cNvPr id="17" name="Shape 15"/>
          <p:cNvSpPr/>
          <p:nvPr/>
        </p:nvSpPr>
        <p:spPr>
          <a:xfrm>
            <a:off x="6388100" y="30822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8" name="Shape 16"/>
          <p:cNvSpPr/>
          <p:nvPr/>
        </p:nvSpPr>
        <p:spPr>
          <a:xfrm>
            <a:off x="6540500" y="30822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9" name="Shape 17"/>
          <p:cNvSpPr/>
          <p:nvPr/>
        </p:nvSpPr>
        <p:spPr>
          <a:xfrm>
            <a:off x="6692900" y="308228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20" name="Text 18"/>
          <p:cNvSpPr/>
          <p:nvPr/>
        </p:nvSpPr>
        <p:spPr>
          <a:xfrm>
            <a:off x="6845300" y="3020070"/>
            <a:ext cx="96520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73800" y="3309640"/>
            <a:ext cx="4953000" cy="1593850"/>
          </a:xfrm>
          <a:custGeom>
            <a:avLst/>
            <a:gdLst/>
            <a:ahLst/>
            <a:cxnLst/>
            <a:rect l="l" t="t" r="r" b="b"/>
            <a:pathLst>
              <a:path w="4953000" h="1593850">
                <a:moveTo>
                  <a:pt x="4953000" y="1504950"/>
                </a:moveTo>
                <a:arcTo wR="88900" hR="88900" stAng="0" swAng="5400000"/>
                <a:lnTo>
                  <a:pt x="88900" y="1593850"/>
                </a:lnTo>
                <a:arcTo wR="88900" hR="88900" stAng="5400000" swAng="5400000"/>
                <a:lnTo>
                  <a:pt x="0" y="0"/>
                </a:lnTo>
                <a:lnTo>
                  <a:pt x="49530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22" name="Image 0" descr="Commit history on GitHub"/>
          <p:cNvPicPr>
            <a:picLocks noChangeAspect="1"/>
          </p:cNvPicPr>
          <p:nvPr/>
        </p:nvPicPr>
        <p:blipFill>
          <a:blip r:embed="rId3"/>
          <a:srcRect t="-89" b="-89"/>
          <a:stretch/>
        </p:blipFill>
        <p:spPr>
          <a:xfrm>
            <a:off x="6273800" y="3309640"/>
            <a:ext cx="4953000" cy="1593850"/>
          </a:xfrm>
          <a:custGeom>
            <a:avLst/>
            <a:gdLst/>
            <a:ahLst/>
            <a:cxnLst/>
            <a:rect l="l" t="t" r="r" b="b"/>
            <a:pathLst>
              <a:path w="4953000" h="1593850">
                <a:moveTo>
                  <a:pt x="4953000" y="1504950"/>
                </a:moveTo>
                <a:arcTo wR="88900" hR="88900" stAng="0" swAng="5400000"/>
                <a:lnTo>
                  <a:pt x="88900" y="1593850"/>
                </a:lnTo>
                <a:arcTo wR="88900" hR="88900" stAng="5400000" swAng="5400000"/>
                <a:lnTo>
                  <a:pt x="0" y="0"/>
                </a:lnTo>
                <a:lnTo>
                  <a:pt x="4953000" y="0"/>
                </a:lnTo>
                <a:close/>
              </a:path>
            </a:pathLst>
          </a:custGeom>
        </p:spPr>
      </p:pic>
      <p:sp>
        <p:nvSpPr>
          <p:cNvPr id="23" name="Text 20"/>
          <p:cNvSpPr/>
          <p:nvPr/>
        </p:nvSpPr>
        <p:spPr>
          <a:xfrm>
            <a:off x="6273800" y="5017790"/>
            <a:ext cx="497078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 is the tool. GitHub is where you share what Git tracks.</a:t>
            </a:r>
            <a:endParaRPr lang="en-US" sz="2000" dirty="0"/>
          </a:p>
        </p:txBody>
      </p:sp>
      <p:sp>
        <p:nvSpPr>
          <p:cNvPr id="24" name="Text 21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 ·  </a:t>
            </a:r>
            <a:r>
              <a:rPr lang="en-US" sz="1200" dirty="0" smtClean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57</a:t>
            </a:r>
            <a:endParaRPr lang="en-US" sz="1200" dirty="0">
              <a:latin typeface="Inter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9160256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Six words, explained like a video game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944390"/>
            <a:ext cx="3407833" cy="1617980"/>
          </a:xfrm>
          <a:prstGeom prst="roundRect">
            <a:avLst>
              <a:gd name="adj" fmla="val 7457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5" name="Image 0" descr="Database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16000" y="2141240"/>
            <a:ext cx="304800" cy="30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849245" y="2161530"/>
            <a:ext cx="1180888" cy="264160"/>
          </a:xfrm>
          <a:custGeom>
            <a:avLst/>
            <a:gdLst/>
            <a:ahLst/>
            <a:cxnLst/>
            <a:rect l="l" t="t" r="r" b="b"/>
            <a:pathLst>
              <a:path w="1180888" h="264160">
                <a:moveTo>
                  <a:pt x="132080" y="0"/>
                </a:moveTo>
                <a:lnTo>
                  <a:pt x="1048808" y="0"/>
                </a:lnTo>
                <a:arcTo wR="132080" hR="132080" stAng="16200000" swAng="5400000"/>
                <a:lnTo>
                  <a:pt x="1180888" y="132080"/>
                </a:lnTo>
                <a:arcTo wR="132080" hR="132080" stAng="0" swAng="5400000"/>
                <a:lnTo>
                  <a:pt x="132080" y="264160"/>
                </a:lnTo>
                <a:arcTo wR="132080" hR="132080" stAng="5400000" swAng="5400000"/>
                <a:lnTo>
                  <a:pt x="0" y="132080"/>
                </a:lnTo>
                <a:arcTo wR="132080" hR="13208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save file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16000" y="2522240"/>
            <a:ext cx="3104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Repository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016000" y="2903240"/>
            <a:ext cx="310455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project folder whose whole history Git tracks.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92083" y="1944390"/>
            <a:ext cx="3407833" cy="1617980"/>
          </a:xfrm>
          <a:prstGeom prst="roundRect">
            <a:avLst>
              <a:gd name="adj" fmla="val 7457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10" name="Image 1" descr="CheckCircle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88933" y="2141240"/>
            <a:ext cx="304800" cy="3048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07268" y="2161530"/>
            <a:ext cx="1095798" cy="264160"/>
          </a:xfrm>
          <a:custGeom>
            <a:avLst/>
            <a:gdLst/>
            <a:ahLst/>
            <a:cxnLst/>
            <a:rect l="l" t="t" r="r" b="b"/>
            <a:pathLst>
              <a:path w="1095798" h="264160">
                <a:moveTo>
                  <a:pt x="132080" y="0"/>
                </a:moveTo>
                <a:lnTo>
                  <a:pt x="963718" y="0"/>
                </a:lnTo>
                <a:arcTo wR="132080" hR="132080" stAng="16200000" swAng="5400000"/>
                <a:lnTo>
                  <a:pt x="1095798" y="132080"/>
                </a:lnTo>
                <a:arcTo wR="132080" hR="132080" stAng="0" swAng="5400000"/>
                <a:lnTo>
                  <a:pt x="132080" y="264160"/>
                </a:lnTo>
                <a:arcTo wR="132080" hR="132080" stAng="5400000" swAng="5400000"/>
                <a:lnTo>
                  <a:pt x="0" y="132080"/>
                </a:lnTo>
                <a:arcTo wR="132080" hR="13208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save point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4588933" y="2522240"/>
            <a:ext cx="3104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Commit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4588933" y="2903240"/>
            <a:ext cx="310455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snapshot with a message, author and time.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7965017" y="1944390"/>
            <a:ext cx="3407833" cy="1617980"/>
          </a:xfrm>
          <a:prstGeom prst="roundRect">
            <a:avLst>
              <a:gd name="adj" fmla="val 7457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15" name="Image 2" descr="Activity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161867" y="2141240"/>
            <a:ext cx="304800" cy="3048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657080" y="2161530"/>
            <a:ext cx="1518920" cy="264160"/>
          </a:xfrm>
          <a:custGeom>
            <a:avLst/>
            <a:gdLst/>
            <a:ahLst/>
            <a:cxnLst/>
            <a:rect l="l" t="t" r="r" b="b"/>
            <a:pathLst>
              <a:path w="1518920" h="264160">
                <a:moveTo>
                  <a:pt x="132080" y="0"/>
                </a:moveTo>
                <a:lnTo>
                  <a:pt x="1386840" y="0"/>
                </a:lnTo>
                <a:arcTo wR="132080" hR="132080" stAng="16200000" swAng="5400000"/>
                <a:lnTo>
                  <a:pt x="1518920" y="132080"/>
                </a:lnTo>
                <a:arcTo wR="132080" hR="132080" stAng="0" swAng="5400000"/>
                <a:lnTo>
                  <a:pt x="132080" y="264160"/>
                </a:lnTo>
                <a:arcTo wR="132080" hR="132080" stAng="5400000" swAng="5400000"/>
                <a:lnTo>
                  <a:pt x="0" y="132080"/>
                </a:lnTo>
                <a:arcTo wR="132080" hR="13208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 alternate route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8161867" y="2522240"/>
            <a:ext cx="3104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Branch</a:t>
            </a:r>
            <a:endParaRPr lang="en-US" sz="2000" dirty="0"/>
          </a:p>
        </p:txBody>
      </p:sp>
      <p:sp>
        <p:nvSpPr>
          <p:cNvPr id="18" name="Text 13"/>
          <p:cNvSpPr/>
          <p:nvPr/>
        </p:nvSpPr>
        <p:spPr>
          <a:xfrm>
            <a:off x="8161867" y="2903240"/>
            <a:ext cx="31045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parallel line of work. Default: main.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819150" y="3727450"/>
            <a:ext cx="3407833" cy="1617980"/>
          </a:xfrm>
          <a:prstGeom prst="roundRect">
            <a:avLst>
              <a:gd name="adj" fmla="val 7457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20" name="Image 3" descr="Link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016000" y="3924300"/>
            <a:ext cx="304800" cy="3048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2879408" y="3944640"/>
            <a:ext cx="1150726" cy="264160"/>
          </a:xfrm>
          <a:custGeom>
            <a:avLst/>
            <a:gdLst/>
            <a:ahLst/>
            <a:cxnLst/>
            <a:rect l="l" t="t" r="r" b="b"/>
            <a:pathLst>
              <a:path w="1150726" h="264160">
                <a:moveTo>
                  <a:pt x="132080" y="0"/>
                </a:moveTo>
                <a:lnTo>
                  <a:pt x="1018646" y="0"/>
                </a:lnTo>
                <a:arcTo wR="132080" hR="132080" stAng="16200000" swAng="5400000"/>
                <a:lnTo>
                  <a:pt x="1150726" y="132080"/>
                </a:lnTo>
                <a:arcTo wR="132080" hR="132080" stAng="0" swAng="5400000"/>
                <a:lnTo>
                  <a:pt x="132080" y="264160"/>
                </a:lnTo>
                <a:arcTo wR="132080" hR="132080" stAng="5400000" swAng="5400000"/>
                <a:lnTo>
                  <a:pt x="0" y="132080"/>
                </a:lnTo>
                <a:arcTo wR="132080" hR="13208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Routes rejoin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016000" y="4305300"/>
            <a:ext cx="3104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Merge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1016000" y="4686300"/>
            <a:ext cx="310455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one branch's changes into another.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92083" y="3727450"/>
            <a:ext cx="3407833" cy="1617980"/>
          </a:xfrm>
          <a:prstGeom prst="roundRect">
            <a:avLst>
              <a:gd name="adj" fmla="val 7457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25" name="Image 4" descr="Cloud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4588933" y="3924300"/>
            <a:ext cx="304800" cy="30480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600190" y="3944640"/>
            <a:ext cx="1002877" cy="264160"/>
          </a:xfrm>
          <a:custGeom>
            <a:avLst/>
            <a:gdLst/>
            <a:ahLst/>
            <a:cxnLst/>
            <a:rect l="l" t="t" r="r" b="b"/>
            <a:pathLst>
              <a:path w="1002877" h="264160">
                <a:moveTo>
                  <a:pt x="132080" y="0"/>
                </a:moveTo>
                <a:lnTo>
                  <a:pt x="870797" y="0"/>
                </a:lnTo>
                <a:arcTo wR="132080" hR="132080" stAng="16200000" swAng="5400000"/>
                <a:lnTo>
                  <a:pt x="1002877" y="132080"/>
                </a:lnTo>
                <a:arcTo wR="132080" hR="132080" stAng="0" swAng="5400000"/>
                <a:lnTo>
                  <a:pt x="132080" y="264160"/>
                </a:lnTo>
                <a:arcTo wR="132080" hR="132080" stAng="5400000" swAng="5400000"/>
                <a:lnTo>
                  <a:pt x="0" y="132080"/>
                </a:lnTo>
                <a:arcTo wR="132080" hR="13208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Cloud save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4588933" y="4305300"/>
            <a:ext cx="3104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Remote</a:t>
            </a:r>
            <a:endParaRPr lang="en-US" sz="2000" dirty="0"/>
          </a:p>
        </p:txBody>
      </p:sp>
      <p:sp>
        <p:nvSpPr>
          <p:cNvPr id="28" name="Text 21"/>
          <p:cNvSpPr/>
          <p:nvPr/>
        </p:nvSpPr>
        <p:spPr>
          <a:xfrm>
            <a:off x="4588933" y="4686300"/>
            <a:ext cx="310455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copy on GitHub, usually called origin.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7965017" y="3727450"/>
            <a:ext cx="3407833" cy="1617980"/>
          </a:xfrm>
          <a:prstGeom prst="roundRect">
            <a:avLst>
              <a:gd name="adj" fmla="val 7457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30" name="Image 5" descr="Code"/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8161867" y="3924300"/>
            <a:ext cx="304800" cy="30480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942301" y="3944640"/>
            <a:ext cx="1233699" cy="264160"/>
          </a:xfrm>
          <a:custGeom>
            <a:avLst/>
            <a:gdLst/>
            <a:ahLst/>
            <a:cxnLst/>
            <a:rect l="l" t="t" r="r" b="b"/>
            <a:pathLst>
              <a:path w="1233699" h="264160">
                <a:moveTo>
                  <a:pt x="132080" y="0"/>
                </a:moveTo>
                <a:lnTo>
                  <a:pt x="1101619" y="0"/>
                </a:lnTo>
                <a:arcTo wR="132080" hR="132080" stAng="16200000" swAng="5400000"/>
                <a:lnTo>
                  <a:pt x="1233699" y="132080"/>
                </a:lnTo>
                <a:arcTo wR="132080" hR="132080" stAng="0" swAng="5400000"/>
                <a:lnTo>
                  <a:pt x="132080" y="264160"/>
                </a:lnTo>
                <a:arcTo wR="132080" hR="132080" stAng="5400000" swAng="5400000"/>
                <a:lnTo>
                  <a:pt x="0" y="132080"/>
                </a:lnTo>
                <a:arcTo wR="132080" hR="13208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Copy the save</a:t>
            </a:r>
            <a:endParaRPr lang="en-US" sz="1200" dirty="0"/>
          </a:p>
        </p:txBody>
      </p:sp>
      <p:sp>
        <p:nvSpPr>
          <p:cNvPr id="32" name="Text 24"/>
          <p:cNvSpPr/>
          <p:nvPr/>
        </p:nvSpPr>
        <p:spPr>
          <a:xfrm>
            <a:off x="8161867" y="4305300"/>
            <a:ext cx="310455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Clone</a:t>
            </a:r>
            <a:endParaRPr lang="en-US" sz="2000" dirty="0"/>
          </a:p>
        </p:txBody>
      </p:sp>
      <p:sp>
        <p:nvSpPr>
          <p:cNvPr id="33" name="Text 25"/>
          <p:cNvSpPr/>
          <p:nvPr/>
        </p:nvSpPr>
        <p:spPr>
          <a:xfrm>
            <a:off x="8161867" y="4686300"/>
            <a:ext cx="31045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Download a repo with its full history.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58</a:t>
            </a:r>
            <a:endParaRPr lang="en-US" sz="12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749896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four places your work lives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9150" y="1893590"/>
            <a:ext cx="4279900" cy="377825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5" name="Image 0" descr="Your folder, git add, staging area, git commit, your repository, git push, GitHub"/>
          <p:cNvPicPr>
            <a:picLocks noChangeAspect="1"/>
          </p:cNvPicPr>
          <p:nvPr/>
        </p:nvPicPr>
        <p:blipFill>
          <a:blip r:embed="rId3"/>
          <a:srcRect l="-9" r="-9"/>
          <a:stretch/>
        </p:blipFill>
        <p:spPr>
          <a:xfrm>
            <a:off x="927100" y="2001540"/>
            <a:ext cx="4064000" cy="35623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11800" y="2749550"/>
            <a:ext cx="6043422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860"/>
              </a:lnSpc>
              <a:buNone/>
            </a:pPr>
            <a:r>
              <a:rPr lang="en-US" sz="2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Three of the four are on </a:t>
            </a:r>
            <a:r>
              <a:rPr lang="en-US" sz="2600" b="1" dirty="0">
                <a:solidFill>
                  <a:srgbClr val="B83A0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your laptop</a:t>
            </a:r>
            <a:r>
              <a:rPr lang="en-US" sz="2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511800" y="3290590"/>
            <a:ext cx="6043422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5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Only </a:t>
            </a:r>
            <a:r>
              <a:rPr lang="en-US" sz="15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push</a:t>
            </a: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needs the internet. That's why most of git keeps working on a train.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518150" y="4027190"/>
            <a:ext cx="5854700" cy="782320"/>
          </a:xfrm>
          <a:prstGeom prst="roundRect">
            <a:avLst>
              <a:gd name="adj" fmla="val 12175"/>
            </a:avLst>
          </a:prstGeom>
          <a:solidFill>
            <a:srgbClr val="FFFAF1"/>
          </a:solidFill>
          <a:ln w="12700">
            <a:solidFill>
              <a:srgbClr val="DDD5C6"/>
            </a:solidFill>
            <a:prstDash val="solid"/>
          </a:ln>
        </p:spPr>
        <p:txBody>
          <a:bodyPr wrap="square" lIns="130852" tIns="105452" rIns="0" bIns="80052" rtlCol="0" anchor="t">
            <a:normAutofit/>
          </a:bodyPr>
          <a:lstStyle/>
          <a:p>
            <a:pPr marL="0" indent="0" algn="l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add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chooses what goes in the next snapshot. </a:t>
            </a: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commit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takes it. </a:t>
            </a:r>
            <a:r>
              <a:rPr lang="en-US" sz="1400" b="1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push</a:t>
            </a:r>
            <a:r>
              <a:rPr lang="en-US" sz="14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copies it to GitHub.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59</a:t>
            </a:r>
            <a:endParaRPr lang="en-US" sz="12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7142353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Install Git and introduce yourself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1744960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70000" y="1744960"/>
            <a:ext cx="502310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 Git with the command on the right. Accept every default: they include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Credential Manager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12800" y="2375346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70000" y="2375346"/>
            <a:ext cx="5023104" cy="27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Close PowerShell, open a new one, run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 --version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12800" y="2845246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70000" y="2845246"/>
            <a:ext cx="5023104" cy="5160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Tell git who you are, once per computer. Use the email you'll use on GitHub.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12800" y="3475583"/>
            <a:ext cx="330200" cy="330200"/>
          </a:xfrm>
          <a:custGeom>
            <a:avLst/>
            <a:gdLst/>
            <a:ahLst/>
            <a:cxnLst/>
            <a:rect l="l" t="t" r="r" b="b"/>
            <a:pathLst>
              <a:path w="330200" h="330200">
                <a:moveTo>
                  <a:pt x="165100" y="0"/>
                </a:moveTo>
                <a:lnTo>
                  <a:pt x="165100" y="0"/>
                </a:lnTo>
                <a:arcTo wR="165100" hR="165100" stAng="16200000" swAng="5400000"/>
                <a:lnTo>
                  <a:pt x="330200" y="165100"/>
                </a:lnTo>
                <a:arcTo wR="165100" hR="165100" stAng="0" swAng="5400000"/>
                <a:lnTo>
                  <a:pt x="165100" y="330200"/>
                </a:lnTo>
                <a:arcTo wR="165100" hR="165100" stAng="5400000" swAng="5400000"/>
                <a:lnTo>
                  <a:pt x="0" y="165100"/>
                </a:lnTo>
                <a:arcTo wR="165100" hR="165100" stAng="10800000" swAng="5400000"/>
                <a:close/>
              </a:path>
            </a:pathLst>
          </a:custGeom>
          <a:solidFill>
            <a:srgbClr val="6EE7A8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600"/>
              </a:lnSpc>
              <a:buNone/>
            </a:pPr>
            <a:r>
              <a:rPr lang="en-US" sz="14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70000" y="3475583"/>
            <a:ext cx="5023104" cy="2707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32"/>
              </a:lnSpc>
              <a:buNone/>
            </a:pP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Create a free account on </a:t>
            </a:r>
            <a:r>
              <a:rPr lang="en-US" sz="14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github.com</a:t>
            </a:r>
            <a:r>
              <a:rPr lang="en-US" sz="14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with that email.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51600" y="1744960"/>
            <a:ext cx="4826000" cy="1902460"/>
          </a:xfrm>
          <a:prstGeom prst="roundRect">
            <a:avLst>
              <a:gd name="adj" fmla="val 4673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51600" y="1744960"/>
            <a:ext cx="4826000" cy="365760"/>
          </a:xfrm>
          <a:custGeom>
            <a:avLst/>
            <a:gdLst/>
            <a:ahLst/>
            <a:cxnLst/>
            <a:rect l="l" t="t" r="r" b="b"/>
            <a:pathLst>
              <a:path w="4826000" h="365760">
                <a:moveTo>
                  <a:pt x="0" y="88900"/>
                </a:moveTo>
                <a:arcTo wR="88900" hR="88900" stAng="10800000" swAng="5400000"/>
                <a:lnTo>
                  <a:pt x="4737100" y="0"/>
                </a:lnTo>
                <a:arcTo wR="88900" hR="88900" stAng="16200000" swAng="5400000"/>
                <a:lnTo>
                  <a:pt x="4826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4" name="Shape 12"/>
          <p:cNvSpPr/>
          <p:nvPr/>
        </p:nvSpPr>
        <p:spPr>
          <a:xfrm>
            <a:off x="65659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5" name="Shape 13"/>
          <p:cNvSpPr/>
          <p:nvPr/>
        </p:nvSpPr>
        <p:spPr>
          <a:xfrm>
            <a:off x="67183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6" name="Shape 14"/>
          <p:cNvSpPr/>
          <p:nvPr/>
        </p:nvSpPr>
        <p:spPr>
          <a:xfrm>
            <a:off x="68707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7" name="Text 15"/>
          <p:cNvSpPr/>
          <p:nvPr/>
        </p:nvSpPr>
        <p:spPr>
          <a:xfrm>
            <a:off x="7023100" y="1821160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654800" y="2288530"/>
            <a:ext cx="4552188" cy="1206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2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winget install -e --id Git.Git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2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--version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2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config --global user.name "Ana Hoxha"</a:t>
            </a:r>
            <a:endParaRPr lang="en-US" sz="12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2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config --global user.email "ana@example.com"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51600" y="3787130"/>
            <a:ext cx="507542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Mac:</a:t>
            </a:r>
            <a:r>
              <a:rPr lang="en-US" sz="12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run git --version in Terminal. If asked, click </a:t>
            </a:r>
            <a:r>
              <a:rPr lang="en-US" sz="12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Install</a:t>
            </a:r>
            <a:r>
              <a:rPr lang="en-US" sz="12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(Command Line Tools). That gives you git.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451600" y="4353570"/>
            <a:ext cx="1564534" cy="40894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git-scm.com ↗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17734" y="4353570"/>
            <a:ext cx="1882140" cy="408940"/>
          </a:xfrm>
          <a:prstGeom prst="roundRect">
            <a:avLst>
              <a:gd name="adj" fmla="val 50000"/>
            </a:avLst>
          </a:prstGeom>
          <a:solidFill>
            <a:srgbClr val="F3EEE4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820"/>
              </a:lnSpc>
              <a:buNone/>
            </a:pPr>
            <a:r>
              <a:rPr lang="en-US" sz="1300" b="1" u="sng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4">
                  <a:extLst>
                    <a:ext uri="{A12FA001-AC4F-418D-AE19-62706E023703}">
                      <ahyp:hlinkClr xmlns="" xmlns:ahyp="http://schemas.microsoft.com/office/drawing/2018/hyperlinkcolor" val="tx"/>
                    </a:ext>
                  </a:extLst>
                </a:hlinkClick>
              </a:rPr>
              <a:t>Course page: Git ↗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60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797445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Create your repository on GitHub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86184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B83A0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270000" y="1917700"/>
            <a:ext cx="212852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+ › New repository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9150" y="2338090"/>
            <a:ext cx="3373967" cy="2628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7" name="Image 0" descr="GitHub plus menu with New repository highlighted"/>
          <p:cNvPicPr>
            <a:picLocks noChangeAspect="1"/>
          </p:cNvPicPr>
          <p:nvPr/>
        </p:nvPicPr>
        <p:blipFill>
          <a:blip r:embed="rId3"/>
          <a:srcRect l="-13757" r="-13757"/>
          <a:stretch/>
        </p:blipFill>
        <p:spPr>
          <a:xfrm>
            <a:off x="927100" y="2446040"/>
            <a:ext cx="3111500" cy="24130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402667" y="186184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B83A0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859867" y="1917700"/>
            <a:ext cx="2978023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Name: java-oop-surname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09017" y="2338090"/>
            <a:ext cx="3373967" cy="2628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11" name="Image 1" descr="Repository name field"/>
          <p:cNvPicPr>
            <a:picLocks noChangeAspect="1"/>
          </p:cNvPicPr>
          <p:nvPr/>
        </p:nvPicPr>
        <p:blipFill>
          <a:blip r:embed="rId4"/>
          <a:srcRect t="-119283" b="-119283"/>
          <a:stretch/>
        </p:blipFill>
        <p:spPr>
          <a:xfrm>
            <a:off x="4516967" y="2446040"/>
            <a:ext cx="3111500" cy="24130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992533" y="1861840"/>
            <a:ext cx="355600" cy="355600"/>
          </a:xfrm>
          <a:custGeom>
            <a:avLst/>
            <a:gdLst/>
            <a:ahLst/>
            <a:cxnLst/>
            <a:rect l="l" t="t" r="r" b="b"/>
            <a:pathLst>
              <a:path w="355600" h="355600">
                <a:moveTo>
                  <a:pt x="177800" y="0"/>
                </a:moveTo>
                <a:lnTo>
                  <a:pt x="177800" y="0"/>
                </a:lnTo>
                <a:arcTo wR="177800" hR="177800" stAng="16200000" swAng="5400000"/>
                <a:lnTo>
                  <a:pt x="355600" y="177800"/>
                </a:lnTo>
                <a:arcTo wR="177800" hR="177800" stAng="0" swAng="5400000"/>
                <a:lnTo>
                  <a:pt x="177800" y="355600"/>
                </a:lnTo>
                <a:arcTo wR="177800" hR="177800" stAng="5400000" swAng="5400000"/>
                <a:lnTo>
                  <a:pt x="0" y="177800"/>
                </a:lnTo>
                <a:arcTo wR="177800" hR="177800" stAng="10800000" swAng="5400000"/>
                <a:close/>
              </a:path>
            </a:pathLst>
          </a:custGeom>
          <a:solidFill>
            <a:srgbClr val="B83A0B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801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8449733" y="1917700"/>
            <a:ext cx="2386330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Copy the HTTPS URL</a:t>
            </a:r>
            <a:endParaRPr lang="en-US" sz="1600" dirty="0"/>
          </a:p>
        </p:txBody>
      </p:sp>
      <p:sp>
        <p:nvSpPr>
          <p:cNvPr id="14" name="Shape 10"/>
          <p:cNvSpPr/>
          <p:nvPr/>
        </p:nvSpPr>
        <p:spPr>
          <a:xfrm>
            <a:off x="7998883" y="2338090"/>
            <a:ext cx="3373967" cy="2628900"/>
          </a:xfrm>
          <a:prstGeom prst="roundRect">
            <a:avLst>
              <a:gd name="adj" fmla="val 3623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15" name="Image 2" descr="HTTPS URL of a repository"/>
          <p:cNvPicPr>
            <a:picLocks noChangeAspect="1"/>
          </p:cNvPicPr>
          <p:nvPr/>
        </p:nvPicPr>
        <p:blipFill>
          <a:blip r:embed="rId5"/>
          <a:srcRect t="-1738" b="-1738"/>
          <a:stretch/>
        </p:blipFill>
        <p:spPr>
          <a:xfrm>
            <a:off x="8106833" y="2446040"/>
            <a:ext cx="3111500" cy="2413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2800" y="5201940"/>
            <a:ext cx="10883392" cy="523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960"/>
              </a:lnSpc>
            </a:pPr>
            <a:r>
              <a:rPr lang="en-US" sz="14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</a:t>
            </a:r>
            <a:r>
              <a:rPr lang="en-US" sz="14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next page, under </a:t>
            </a:r>
            <a:r>
              <a:rPr lang="en-US" sz="1400" b="1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setup</a:t>
            </a:r>
            <a:r>
              <a:rPr lang="en-US" sz="14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make sure </a:t>
            </a:r>
            <a:r>
              <a:rPr lang="en-US" sz="1400" b="1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HTTPS</a:t>
            </a:r>
            <a:r>
              <a:rPr lang="en-US" sz="14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is selected and copy the URL. Ignore the commands below </a:t>
            </a:r>
            <a:r>
              <a:rPr lang="en-US" sz="1400" dirty="0" smtClean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it. </a:t>
            </a:r>
          </a:p>
          <a:p>
            <a:pPr>
              <a:lnSpc>
                <a:spcPts val="1960"/>
              </a:lnSpc>
            </a:pPr>
            <a:r>
              <a:rPr lang="en-US" sz="1400" b="1" dirty="0" smtClean="0">
                <a:solidFill>
                  <a:srgbClr val="C00000"/>
                </a:solidFill>
              </a:rPr>
              <a:t>Do not tick Add a README.</a:t>
            </a:r>
            <a:endParaRPr lang="en-US" sz="1400" b="1" dirty="0">
              <a:solidFill>
                <a:srgbClr val="C00000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</p:txBody>
      </p:sp>
      <p:sp>
        <p:nvSpPr>
          <p:cNvPr id="17" name="Text 1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 61</a:t>
            </a:r>
            <a:endParaRPr lang="en-US" sz="12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750760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Turn your project into a repository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44960"/>
            <a:ext cx="4826000" cy="1548130"/>
          </a:xfrm>
          <a:prstGeom prst="roundRect">
            <a:avLst>
              <a:gd name="adj" fmla="val 5742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744960"/>
            <a:ext cx="4826000" cy="365760"/>
          </a:xfrm>
          <a:custGeom>
            <a:avLst/>
            <a:gdLst/>
            <a:ahLst/>
            <a:cxnLst/>
            <a:rect l="l" t="t" r="r" b="b"/>
            <a:pathLst>
              <a:path w="4826000" h="365760">
                <a:moveTo>
                  <a:pt x="0" y="88900"/>
                </a:moveTo>
                <a:arcTo wR="88900" hR="88900" stAng="10800000" swAng="5400000"/>
                <a:lnTo>
                  <a:pt x="4737100" y="0"/>
                </a:lnTo>
                <a:arcTo wR="88900" hR="88900" stAng="16200000" swAng="5400000"/>
                <a:lnTo>
                  <a:pt x="4826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1821160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288530"/>
            <a:ext cx="4552188" cy="852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cd C:\dev\workspace\Setup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init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notepad .gitignore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92800" y="1744960"/>
            <a:ext cx="2667000" cy="2099310"/>
          </a:xfrm>
          <a:prstGeom prst="roundRect">
            <a:avLst>
              <a:gd name="adj" fmla="val 4235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892800" y="1744960"/>
            <a:ext cx="2667000" cy="365760"/>
          </a:xfrm>
          <a:custGeom>
            <a:avLst/>
            <a:gdLst/>
            <a:ahLst/>
            <a:cxnLst/>
            <a:rect l="l" t="t" r="r" b="b"/>
            <a:pathLst>
              <a:path w="2667000" h="365760">
                <a:moveTo>
                  <a:pt x="0" y="88900"/>
                </a:moveTo>
                <a:arcTo wR="88900" hR="88900" stAng="10800000" swAng="5400000"/>
                <a:lnTo>
                  <a:pt x="2578100" y="0"/>
                </a:lnTo>
                <a:arcTo wR="88900" hR="88900" stAng="16200000" swAng="5400000"/>
                <a:lnTo>
                  <a:pt x="2667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0071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1595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3119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6464300" y="1821160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.gitignore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96000" y="2288530"/>
            <a:ext cx="2328418" cy="1403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bin/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*.class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.settings/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.classpath</a:t>
            </a:r>
            <a:endParaRPr lang="en-US" sz="1400" dirty="0"/>
          </a:p>
          <a:p>
            <a:pPr marL="0" indent="0" algn="l">
              <a:lnSpc>
                <a:spcPts val="2170"/>
              </a:lnSpc>
              <a:buNone/>
            </a:pPr>
            <a:r>
              <a:rPr lang="en-US" sz="14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.project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13800" y="1744960"/>
            <a:ext cx="264236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commit bin/.</a:t>
            </a:r>
            <a:r>
              <a:rPr lang="en-US" sz="15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It is rebuilt from your code in a second and changes on every build.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813800" y="2938760"/>
            <a:ext cx="2642362" cy="802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Commit what you wrote, never what a tool produced from it.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12800" y="407288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Mac:</a:t>
            </a:r>
            <a:r>
              <a:rPr lang="en-US" sz="16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cd ~/dev/workspace/Setup, then create the file with: open -e .gitignore (after touch .gitignore)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62</a:t>
            </a:r>
            <a:endParaRPr lang="en-US" sz="12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3818001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Your first commit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44960"/>
            <a:ext cx="6731000" cy="2256790"/>
          </a:xfrm>
          <a:prstGeom prst="roundRect">
            <a:avLst>
              <a:gd name="adj" fmla="val 3939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744960"/>
            <a:ext cx="6731000" cy="365760"/>
          </a:xfrm>
          <a:custGeom>
            <a:avLst/>
            <a:gdLst/>
            <a:ahLst/>
            <a:cxnLst/>
            <a:rect l="l" t="t" r="r" b="b"/>
            <a:pathLst>
              <a:path w="6731000" h="365760">
                <a:moveTo>
                  <a:pt x="0" y="88900"/>
                </a:moveTo>
                <a:arcTo wR="88900" hR="88900" stAng="10800000" swAng="5400000"/>
                <a:lnTo>
                  <a:pt x="6642100" y="0"/>
                </a:lnTo>
                <a:arcTo wR="88900" hR="88900" stAng="16200000" swAng="5400000"/>
                <a:lnTo>
                  <a:pt x="6731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1821160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288530"/>
            <a:ext cx="6514338" cy="156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add .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status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Changes to be committed: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new file: .gitignore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new file: src/Check.java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commit -m "First Java project, verifying the setup"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848600" y="1744960"/>
            <a:ext cx="36365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git status before you commit.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848600" y="2151360"/>
            <a:ext cx="363651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See </a:t>
            </a:r>
            <a:r>
              <a:rPr lang="en-US" sz="1500" dirty="0">
                <a:solidFill>
                  <a:srgbClr val="FF6B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bin/</a:t>
            </a:r>
            <a:r>
              <a:rPr lang="en-US" sz="15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 the list? Your .gitignore is in the wrong folder or has a typo.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63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0E3B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60400"/>
            <a:ext cx="2588048" cy="314960"/>
          </a:xfrm>
          <a:prstGeom prst="roundRect">
            <a:avLst>
              <a:gd name="adj" fmla="val 50000"/>
            </a:avLst>
          </a:prstGeom>
          <a:solidFill>
            <a:srgbClr val="6EE7A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IT NOW · FOLLOW ALONG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089670"/>
            <a:ext cx="6132576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Connect to GitHub and push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2800" y="1744960"/>
            <a:ext cx="5715000" cy="1744980"/>
          </a:xfrm>
          <a:prstGeom prst="roundRect">
            <a:avLst>
              <a:gd name="adj" fmla="val 5095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744960"/>
            <a:ext cx="5715000" cy="365760"/>
          </a:xfrm>
          <a:custGeom>
            <a:avLst/>
            <a:gdLst/>
            <a:ahLst/>
            <a:cxnLst/>
            <a:rect l="l" t="t" r="r" b="b"/>
            <a:pathLst>
              <a:path w="5715000" h="365760">
                <a:moveTo>
                  <a:pt x="0" y="88900"/>
                </a:moveTo>
                <a:arcTo wR="88900" hR="88900" stAng="10800000" swAng="5400000"/>
                <a:lnTo>
                  <a:pt x="5626100" y="0"/>
                </a:lnTo>
                <a:arcTo wR="88900" hR="88900" stAng="16200000" swAng="5400000"/>
                <a:lnTo>
                  <a:pt x="5715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188342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1821160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288530"/>
            <a:ext cx="5467858" cy="1049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branch -M main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remote add origin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https://github.com/yourname/java-oop-surname.git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push -u origin main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32600" y="1744960"/>
            <a:ext cx="4682998" cy="825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5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browser window opens</a:t>
            </a:r>
            <a:r>
              <a:rPr lang="en-US" sz="15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asking you to sign in to GitHub. That's Git Credential Manager. Approve once; it won't ask again on this machine.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832600" y="2684760"/>
            <a:ext cx="53594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Refresh your repository page: </a:t>
            </a:r>
            <a:r>
              <a:rPr lang="en-US" sz="1500" b="1" dirty="0">
                <a:solidFill>
                  <a:srgbClr val="F3EEE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files are there.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12800" y="3718570"/>
            <a:ext cx="1088339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6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Mac:</a:t>
            </a:r>
            <a:r>
              <a:rPr lang="en-US" sz="16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Terminal asks for a username and password instead. The password is a </a:t>
            </a:r>
            <a:r>
              <a:rPr lang="en-US" sz="1600" b="1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personal access token</a:t>
            </a:r>
            <a:r>
              <a:rPr lang="en-US" sz="1600" dirty="0">
                <a:solidFill>
                  <a:srgbClr val="6EE7A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(GitHub › Settings › Developer settings), not your GitHub password.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·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64</a:t>
            </a:r>
            <a:endParaRPr lang="en-US" sz="12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637501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 err="1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</a:t>
            </a:r>
            <a:r>
              <a:rPr lang="en-US" sz="36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</a:t>
            </a:r>
            <a:r>
              <a:rPr lang="en-US" sz="3600" b="1" i="0" kern="0" spc="-50" dirty="0" smtClean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status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40"/>
            <a:ext cx="5156200" cy="2256790"/>
          </a:xfrm>
          <a:prstGeom prst="roundRect">
            <a:avLst>
              <a:gd name="adj" fmla="val 3939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938040"/>
            <a:ext cx="5156200" cy="365760"/>
          </a:xfrm>
          <a:custGeom>
            <a:avLst/>
            <a:gdLst/>
            <a:ahLst/>
            <a:cxnLst/>
            <a:rect l="l" t="t" r="r" b="b"/>
            <a:pathLst>
              <a:path w="5156200" h="365760">
                <a:moveTo>
                  <a:pt x="0" y="88900"/>
                </a:moveTo>
                <a:arcTo wR="88900" hR="88900" stAng="10800000" swAng="5400000"/>
                <a:lnTo>
                  <a:pt x="5067300" y="0"/>
                </a:lnTo>
                <a:arcTo wR="88900" hR="88900" stAng="16200000" swAng="5400000"/>
                <a:lnTo>
                  <a:pt x="51562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2014240"/>
            <a:ext cx="15361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Before git add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481560"/>
            <a:ext cx="4892294" cy="1560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status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 branch main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No commits yet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Untracked files: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(use "git add &lt;file&gt;..." to include)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Check.java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23000" y="1938040"/>
            <a:ext cx="5156200" cy="2256790"/>
          </a:xfrm>
          <a:prstGeom prst="roundRect">
            <a:avLst>
              <a:gd name="adj" fmla="val 3939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23000" y="1938040"/>
            <a:ext cx="5156200" cy="365760"/>
          </a:xfrm>
          <a:custGeom>
            <a:avLst/>
            <a:gdLst/>
            <a:ahLst/>
            <a:cxnLst/>
            <a:rect l="l" t="t" r="r" b="b"/>
            <a:pathLst>
              <a:path w="5156200" h="365760">
                <a:moveTo>
                  <a:pt x="0" y="88900"/>
                </a:moveTo>
                <a:arcTo wR="88900" hR="88900" stAng="10800000" swAng="5400000"/>
                <a:lnTo>
                  <a:pt x="5067300" y="0"/>
                </a:lnTo>
                <a:arcTo wR="88900" hR="88900" stAng="16200000" swAng="5400000"/>
                <a:lnTo>
                  <a:pt x="51562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3" name="Shape 11"/>
          <p:cNvSpPr/>
          <p:nvPr/>
        </p:nvSpPr>
        <p:spPr>
          <a:xfrm>
            <a:off x="63373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4" name="Shape 12"/>
          <p:cNvSpPr/>
          <p:nvPr/>
        </p:nvSpPr>
        <p:spPr>
          <a:xfrm>
            <a:off x="64897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6421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6" name="Text 14"/>
          <p:cNvSpPr/>
          <p:nvPr/>
        </p:nvSpPr>
        <p:spPr>
          <a:xfrm>
            <a:off x="6794500" y="2014240"/>
            <a:ext cx="142646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After git add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26200" y="2481560"/>
            <a:ext cx="4892294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add Check.java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status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On branch main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Changes to be committed: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        </a:t>
            </a:r>
            <a:r>
              <a:rPr lang="en-US" sz="1300" dirty="0">
                <a:solidFill>
                  <a:srgbClr val="4ADE80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new file:   Check.java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12800" y="4499620"/>
            <a:ext cx="10883392" cy="360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6B6B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Red</a:t>
            </a:r>
            <a:r>
              <a:rPr lang="en-US" sz="22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Git sees it but won't save it. </a:t>
            </a:r>
            <a:r>
              <a:rPr lang="en-US" sz="2200" b="1" dirty="0">
                <a:solidFill>
                  <a:srgbClr val="4ADE80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Green</a:t>
            </a:r>
            <a:r>
              <a:rPr lang="en-US" sz="22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 = in the next commit.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65</a:t>
            </a:r>
            <a:endParaRPr lang="en-US" sz="1200" dirty="0">
              <a:latin typeface="Inter"/>
              <a:ea typeface="Inter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815606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cheat sheet: eight commands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825500" y="1874540"/>
          <a:ext cx="10553700" cy="3954780"/>
        </p:xfrm>
        <a:graphic>
          <a:graphicData uri="http://schemas.openxmlformats.org/drawingml/2006/table">
            <a:tbl>
              <a:tblPr/>
              <a:tblGrid>
                <a:gridCol w="4854702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69899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A7AD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Command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A7AD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What it does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D2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config --global user.name "Ana"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Set your name once per computer (also user.email)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D2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init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Turn a folder into a repository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D2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status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See what changed and what is staged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D2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add &lt;file&gt; / git add .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Stage changes for the next commit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D2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commit -m "message"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Save a snapshot locally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D2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push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Upload your commits to GitHub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6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D2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pull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Download and merge new commits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7"/>
                  </a:ext>
                </a:extLst>
              </a:tr>
              <a:tr h="439420"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FD23F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log --oneline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Show the history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52400" marR="152400" marT="88900" marB="889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·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66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4808347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 log never forgets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12800" y="1938040"/>
            <a:ext cx="5156200" cy="35052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square" lIns="75668" tIns="0" rIns="0" bIns="0" rtlCol="0" anchor="t">
            <a:no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4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DON'T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2415530"/>
            <a:ext cx="5156200" cy="2512695"/>
          </a:xfrm>
          <a:prstGeom prst="roundRect">
            <a:avLst>
              <a:gd name="adj" fmla="val 3538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2415530"/>
            <a:ext cx="5156200" cy="365760"/>
          </a:xfrm>
          <a:custGeom>
            <a:avLst/>
            <a:gdLst/>
            <a:ahLst/>
            <a:cxnLst/>
            <a:rect l="l" t="t" r="r" b="b"/>
            <a:pathLst>
              <a:path w="5156200" h="365760">
                <a:moveTo>
                  <a:pt x="0" y="88900"/>
                </a:moveTo>
                <a:arcTo wR="88900" hR="88900" stAng="10800000" swAng="5400000"/>
                <a:lnTo>
                  <a:pt x="5067300" y="0"/>
                </a:lnTo>
                <a:arcTo wR="88900" hR="88900" stAng="16200000" swAng="5400000"/>
                <a:lnTo>
                  <a:pt x="51562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7" name="Shape 5"/>
          <p:cNvSpPr/>
          <p:nvPr/>
        </p:nvSpPr>
        <p:spPr>
          <a:xfrm>
            <a:off x="927100" y="255399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255399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1900" y="255399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384300" y="2491730"/>
            <a:ext cx="8778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Terminal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16000" y="2959100"/>
            <a:ext cx="4892294" cy="18167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git log --oneline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f85b523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please work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bb5ccde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final version 2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af40477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final version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b58b6d5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asdf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3a13266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fixed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1a4fc2a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stuff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23000" y="1938040"/>
            <a:ext cx="5156200" cy="350520"/>
          </a:xfrm>
          <a:prstGeom prst="roundRect">
            <a:avLst>
              <a:gd name="adj" fmla="val 50000"/>
            </a:avLst>
          </a:prstGeom>
          <a:solidFill>
            <a:srgbClr val="4ADE80"/>
          </a:solidFill>
          <a:ln/>
        </p:spPr>
        <p:txBody>
          <a:bodyPr wrap="square" lIns="75668" tIns="0" rIns="0" bIns="0" rtlCol="0" anchor="t">
            <a:noAutofit/>
          </a:bodyPr>
          <a:lstStyle/>
          <a:p>
            <a:pPr marL="0" indent="0" algn="ctr">
              <a:lnSpc>
                <a:spcPts val="1960"/>
              </a:lnSpc>
              <a:buNone/>
            </a:pPr>
            <a:r>
              <a:rPr lang="en-US" sz="16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23000" y="2415530"/>
            <a:ext cx="5156200" cy="2138680"/>
          </a:xfrm>
          <a:prstGeom prst="roundRect">
            <a:avLst>
              <a:gd name="adj" fmla="val 4157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223000" y="2415530"/>
            <a:ext cx="5156200" cy="365760"/>
          </a:xfrm>
          <a:custGeom>
            <a:avLst/>
            <a:gdLst/>
            <a:ahLst/>
            <a:cxnLst/>
            <a:rect l="l" t="t" r="r" b="b"/>
            <a:pathLst>
              <a:path w="5156200" h="365760">
                <a:moveTo>
                  <a:pt x="0" y="88900"/>
                </a:moveTo>
                <a:arcTo wR="88900" hR="88900" stAng="10800000" swAng="5400000"/>
                <a:lnTo>
                  <a:pt x="5067300" y="0"/>
                </a:lnTo>
                <a:arcTo wR="88900" hR="88900" stAng="16200000" swAng="5400000"/>
                <a:lnTo>
                  <a:pt x="51562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15" name="Shape 13"/>
          <p:cNvSpPr/>
          <p:nvPr/>
        </p:nvSpPr>
        <p:spPr>
          <a:xfrm>
            <a:off x="6337300" y="255399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6" name="Shape 14"/>
          <p:cNvSpPr/>
          <p:nvPr/>
        </p:nvSpPr>
        <p:spPr>
          <a:xfrm>
            <a:off x="6489700" y="255399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7" name="Shape 15"/>
          <p:cNvSpPr/>
          <p:nvPr/>
        </p:nvSpPr>
        <p:spPr>
          <a:xfrm>
            <a:off x="6642100" y="255399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8" name="Text 16"/>
          <p:cNvSpPr/>
          <p:nvPr/>
        </p:nvSpPr>
        <p:spPr>
          <a:xfrm>
            <a:off x="6794500" y="2491730"/>
            <a:ext cx="877824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Terminal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426200" y="2959100"/>
            <a:ext cx="4892294" cy="1442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$ git log --oneline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97b6b9b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Add .gitignore for bin/ and .metadata/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e261f1f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Fix rounding in getAverage()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da184f5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Add getAverage() to Student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e81e11f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Add Student class with name and grade</a:t>
            </a:r>
            <a:endParaRPr lang="en-US" sz="1100" dirty="0"/>
          </a:p>
          <a:p>
            <a:pPr marL="0" indent="0" algn="l">
              <a:lnSpc>
                <a:spcPts val="1860"/>
              </a:lnSpc>
              <a:buNone/>
            </a:pPr>
            <a:r>
              <a:rPr lang="en-US" sz="1100" dirty="0">
                <a:solidFill>
                  <a:srgbClr val="FFD23F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51ed780</a:t>
            </a:r>
            <a:r>
              <a:rPr lang="en-US" sz="11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Add HelloWorld program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12800" y="5233045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good message finishes the sentence: “If applied, this commit will…”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67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523963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Rejected? Don't panic.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40"/>
            <a:ext cx="10566400" cy="2000885"/>
          </a:xfrm>
          <a:prstGeom prst="roundRect">
            <a:avLst>
              <a:gd name="adj" fmla="val 4443"/>
            </a:avLst>
          </a:prstGeom>
          <a:solidFill>
            <a:srgbClr val="0B0F14"/>
          </a:solidFill>
          <a:ln/>
          <a:effectLst>
            <a:outerShdw blurRad="381000" dist="152400" dir="5400000" algn="bl" rotWithShape="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12800" y="1938040"/>
            <a:ext cx="10566400" cy="365760"/>
          </a:xfrm>
          <a:custGeom>
            <a:avLst/>
            <a:gdLst/>
            <a:ahLst/>
            <a:cxnLst/>
            <a:rect l="l" t="t" r="r" b="b"/>
            <a:pathLst>
              <a:path w="10566400" h="365760">
                <a:moveTo>
                  <a:pt x="0" y="88900"/>
                </a:moveTo>
                <a:arcTo wR="88900" hR="88900" stAng="10800000" swAng="5400000"/>
                <a:lnTo>
                  <a:pt x="10477500" y="0"/>
                </a:lnTo>
                <a:arcTo wR="88900" hR="88900" stAng="16200000" swAng="5400000"/>
                <a:lnTo>
                  <a:pt x="105664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32A33"/>
          </a:solidFill>
          <a:ln/>
        </p:spPr>
      </p:sp>
      <p:sp>
        <p:nvSpPr>
          <p:cNvPr id="6" name="Shape 4"/>
          <p:cNvSpPr/>
          <p:nvPr/>
        </p:nvSpPr>
        <p:spPr>
          <a:xfrm>
            <a:off x="9271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7" name="Shape 5"/>
          <p:cNvSpPr/>
          <p:nvPr/>
        </p:nvSpPr>
        <p:spPr>
          <a:xfrm>
            <a:off x="10795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8" name="Shape 6"/>
          <p:cNvSpPr/>
          <p:nvPr/>
        </p:nvSpPr>
        <p:spPr>
          <a:xfrm>
            <a:off x="1231900" y="2076450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9" name="Text 7"/>
          <p:cNvSpPr/>
          <p:nvPr/>
        </p:nvSpPr>
        <p:spPr>
          <a:xfrm>
            <a:off x="1384300" y="2014240"/>
            <a:ext cx="1097280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9AA3AD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PowerShell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16000" y="2481560"/>
            <a:ext cx="10464800" cy="1304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PS&gt;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 git push -u origin main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! [</a:t>
            </a:r>
            <a:r>
              <a:rPr lang="en-US" sz="13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rejected</a:t>
            </a: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]        main -&gt; main (fetch first)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FF6B6B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error: failed to push some refs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hint: Updates were rejected because the remote contains work that you do</a:t>
            </a:r>
            <a:endParaRPr lang="en-US" sz="1300" dirty="0"/>
          </a:p>
          <a:p>
            <a:pPr marL="0" indent="0" algn="l">
              <a:lnSpc>
                <a:spcPts val="2015"/>
              </a:lnSpc>
              <a:buNone/>
            </a:pPr>
            <a:r>
              <a:rPr lang="en-US" sz="1300" dirty="0">
                <a:solidFill>
                  <a:srgbClr val="E6E9EE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hint: not have locally. ... use 'git pull' before pushing again.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12800" y="4279255"/>
            <a:ext cx="1116648" cy="416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fix: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1929448" y="4243685"/>
            <a:ext cx="3865880" cy="462280"/>
          </a:xfrm>
          <a:prstGeom prst="roundRect">
            <a:avLst>
              <a:gd name="adj" fmla="val 16484"/>
            </a:avLst>
          </a:prstGeom>
          <a:solidFill>
            <a:srgbClr val="4ADE8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pull --rebase origin main</a:t>
            </a:r>
            <a:endParaRPr lang="en-US" sz="1600" dirty="0"/>
          </a:p>
        </p:txBody>
      </p:sp>
      <p:pic>
        <p:nvPicPr>
          <p:cNvPr id="13" name="Image 0" descr="arrow-right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947728" y="4360565"/>
            <a:ext cx="444500" cy="2286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6544628" y="4243685"/>
            <a:ext cx="1305560" cy="462280"/>
          </a:xfrm>
          <a:prstGeom prst="roundRect">
            <a:avLst>
              <a:gd name="adj" fmla="val 16484"/>
            </a:avLst>
          </a:prstGeom>
          <a:solidFill>
            <a:srgbClr val="4ADE8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0141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 push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68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8676640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Later, in teams: branch, then pull request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19150" y="1814810"/>
            <a:ext cx="10553700" cy="2895600"/>
          </a:xfrm>
          <a:prstGeom prst="roundRect">
            <a:avLst>
              <a:gd name="adj" fmla="val 3728"/>
            </a:avLst>
          </a:prstGeom>
          <a:solidFill>
            <a:srgbClr val="FFFFFF"/>
          </a:solidFill>
          <a:ln w="12700">
            <a:solidFill>
              <a:srgbClr val="DDD5C6"/>
            </a:solidFill>
            <a:prstDash val="solid"/>
          </a:ln>
        </p:spPr>
      </p:sp>
      <p:pic>
        <p:nvPicPr>
          <p:cNvPr id="5" name="Image 0" descr="GitHub flow diagram: a feature branch leaves main, gets commits and merges back"/>
          <p:cNvPicPr>
            <a:picLocks noChangeAspect="1"/>
          </p:cNvPicPr>
          <p:nvPr/>
        </p:nvPicPr>
        <p:blipFill>
          <a:blip r:embed="rId3"/>
          <a:srcRect t="-38" b="-38"/>
          <a:stretch/>
        </p:blipFill>
        <p:spPr>
          <a:xfrm>
            <a:off x="977900" y="1973560"/>
            <a:ext cx="10236200" cy="2578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9150" y="4951710"/>
            <a:ext cx="1684867" cy="546100"/>
          </a:xfrm>
          <a:prstGeom prst="roundRect">
            <a:avLst>
              <a:gd name="adj" fmla="val 15116"/>
            </a:avLst>
          </a:prstGeom>
          <a:solidFill>
            <a:srgbClr val="FFFAF1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52500" y="507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346200" y="5091410"/>
            <a:ext cx="80187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Branch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2592917" y="4951710"/>
            <a:ext cx="1684867" cy="546100"/>
          </a:xfrm>
          <a:prstGeom prst="roundRect">
            <a:avLst>
              <a:gd name="adj" fmla="val 15116"/>
            </a:avLst>
          </a:prstGeom>
          <a:solidFill>
            <a:srgbClr val="FFFAF1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26267" y="507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119967" y="5091410"/>
            <a:ext cx="87718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Commit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366683" y="4951710"/>
            <a:ext cx="1684867" cy="546100"/>
          </a:xfrm>
          <a:prstGeom prst="roundRect">
            <a:avLst>
              <a:gd name="adj" fmla="val 15116"/>
            </a:avLst>
          </a:prstGeom>
          <a:solidFill>
            <a:srgbClr val="FFFAF1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00033" y="507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893733" y="5091410"/>
            <a:ext cx="55549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Push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6140450" y="4951710"/>
            <a:ext cx="1684867" cy="546100"/>
          </a:xfrm>
          <a:prstGeom prst="roundRect">
            <a:avLst>
              <a:gd name="adj" fmla="val 15116"/>
            </a:avLst>
          </a:prstGeom>
          <a:solidFill>
            <a:srgbClr val="FFFAF1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73800" y="507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67500" y="5091410"/>
            <a:ext cx="9338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Open PR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914217" y="4951710"/>
            <a:ext cx="1684867" cy="546100"/>
          </a:xfrm>
          <a:prstGeom prst="roundRect">
            <a:avLst>
              <a:gd name="adj" fmla="val 15116"/>
            </a:avLst>
          </a:prstGeom>
          <a:solidFill>
            <a:srgbClr val="FFFAF1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7567" y="507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5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441267" y="5091410"/>
            <a:ext cx="80505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Review</a:t>
            </a:r>
            <a:endParaRPr lang="en-US" sz="1500" dirty="0"/>
          </a:p>
        </p:txBody>
      </p:sp>
      <p:sp>
        <p:nvSpPr>
          <p:cNvPr id="21" name="Shape 18"/>
          <p:cNvSpPr/>
          <p:nvPr/>
        </p:nvSpPr>
        <p:spPr>
          <a:xfrm>
            <a:off x="9687983" y="4951710"/>
            <a:ext cx="1684867" cy="546100"/>
          </a:xfrm>
          <a:prstGeom prst="roundRect">
            <a:avLst>
              <a:gd name="adj" fmla="val 15116"/>
            </a:avLst>
          </a:prstGeom>
          <a:solidFill>
            <a:srgbClr val="101418"/>
          </a:solidFill>
          <a:ln w="12700">
            <a:solidFill>
              <a:srgbClr val="10141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9821333" y="5072360"/>
            <a:ext cx="304800" cy="304800"/>
          </a:xfrm>
          <a:custGeom>
            <a:avLst/>
            <a:gdLst/>
            <a:ahLst/>
            <a:cxnLst/>
            <a:rect l="l" t="t" r="r" b="b"/>
            <a:pathLst>
              <a:path w="304800" h="304800">
                <a:moveTo>
                  <a:pt x="152400" y="0"/>
                </a:moveTo>
                <a:lnTo>
                  <a:pt x="152400" y="0"/>
                </a:lnTo>
                <a:arcTo wR="152400" hR="152400" stAng="16200000" swAng="5400000"/>
                <a:lnTo>
                  <a:pt x="304800" y="152400"/>
                </a:lnTo>
                <a:arcTo wR="152400" hR="152400" stAng="0" swAng="5400000"/>
                <a:lnTo>
                  <a:pt x="152400" y="304800"/>
                </a:lnTo>
                <a:arcTo wR="152400" hR="152400" stAng="5400000" swAng="5400000"/>
                <a:lnTo>
                  <a:pt x="0" y="152400"/>
                </a:lnTo>
                <a:arcTo wR="152400" hR="152400" stAng="10800000" swAng="5400000"/>
                <a:close/>
              </a:path>
            </a:pathLst>
          </a:custGeom>
          <a:solidFill>
            <a:srgbClr val="FFD23F"/>
          </a:solidFill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3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6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0215033" y="5091410"/>
            <a:ext cx="70853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Merge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· 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69</a:t>
            </a:r>
            <a:endParaRPr lang="en-US" sz="1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663488" cy="30734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22"/>
              </a:lnSpc>
              <a:buNone/>
            </a:pPr>
            <a:r>
              <a:rPr lang="en-US" sz="1159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159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45530"/>
            <a:ext cx="6114542" cy="436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266"/>
              </a:lnSpc>
              <a:buNone/>
            </a:pPr>
            <a:r>
              <a:rPr lang="en-US" sz="311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What a pull request looks like</a:t>
            </a:r>
            <a:endParaRPr lang="en-US" sz="3110" dirty="0"/>
          </a:p>
        </p:txBody>
      </p:sp>
      <p:sp>
        <p:nvSpPr>
          <p:cNvPr id="4" name="Text 2"/>
          <p:cNvSpPr/>
          <p:nvPr/>
        </p:nvSpPr>
        <p:spPr>
          <a:xfrm>
            <a:off x="812800" y="1785491"/>
            <a:ext cx="4826000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square" lIns="80876" tIns="4676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CONVERSATION: describe and discuss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812800" y="2202061"/>
            <a:ext cx="4826000" cy="3750310"/>
          </a:xfrm>
          <a:prstGeom prst="roundRect">
            <a:avLst>
              <a:gd name="adj" fmla="val 2370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2202061"/>
            <a:ext cx="4826000" cy="365760"/>
          </a:xfrm>
          <a:custGeom>
            <a:avLst/>
            <a:gdLst/>
            <a:ahLst/>
            <a:cxnLst/>
            <a:rect l="l" t="t" r="r" b="b"/>
            <a:pathLst>
              <a:path w="4826000" h="365760">
                <a:moveTo>
                  <a:pt x="0" y="88900"/>
                </a:moveTo>
                <a:arcTo wR="88900" hR="88900" stAng="10800000" swAng="5400000"/>
                <a:lnTo>
                  <a:pt x="4737100" y="0"/>
                </a:lnTo>
                <a:arcTo wR="88900" hR="88900" stAng="16200000" swAng="5400000"/>
                <a:lnTo>
                  <a:pt x="4826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A313B"/>
          </a:solidFill>
          <a:ln/>
        </p:spPr>
      </p:sp>
      <p:sp>
        <p:nvSpPr>
          <p:cNvPr id="7" name="Shape 5"/>
          <p:cNvSpPr/>
          <p:nvPr/>
        </p:nvSpPr>
        <p:spPr>
          <a:xfrm>
            <a:off x="927100" y="234052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234052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1900" y="234052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384300" y="2278261"/>
            <a:ext cx="2354580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 · pull request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567831"/>
            <a:ext cx="4826000" cy="3384550"/>
          </a:xfrm>
          <a:custGeom>
            <a:avLst/>
            <a:gdLst/>
            <a:ahLst/>
            <a:cxnLst/>
            <a:rect l="l" t="t" r="r" b="b"/>
            <a:pathLst>
              <a:path w="4826000" h="3384550">
                <a:moveTo>
                  <a:pt x="4826000" y="3295650"/>
                </a:moveTo>
                <a:arcTo wR="88900" hR="88900" stAng="0" swAng="5400000"/>
                <a:lnTo>
                  <a:pt x="88900" y="3384550"/>
                </a:lnTo>
                <a:arcTo wR="88900" hR="88900" stAng="5400000" swAng="5400000"/>
                <a:lnTo>
                  <a:pt x="0" y="0"/>
                </a:lnTo>
                <a:lnTo>
                  <a:pt x="48260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12" name="Image 0" descr="Pull request conversation tab"/>
          <p:cNvPicPr>
            <a:picLocks noChangeAspect="1"/>
          </p:cNvPicPr>
          <p:nvPr/>
        </p:nvPicPr>
        <p:blipFill>
          <a:blip r:embed="rId3"/>
          <a:srcRect l="-14" r="-14"/>
          <a:stretch/>
        </p:blipFill>
        <p:spPr>
          <a:xfrm>
            <a:off x="812800" y="2567831"/>
            <a:ext cx="4826000" cy="3384550"/>
          </a:xfrm>
          <a:custGeom>
            <a:avLst/>
            <a:gdLst/>
            <a:ahLst/>
            <a:cxnLst/>
            <a:rect l="l" t="t" r="r" b="b"/>
            <a:pathLst>
              <a:path w="4826000" h="3384550">
                <a:moveTo>
                  <a:pt x="4826000" y="3295650"/>
                </a:moveTo>
                <a:arcTo wR="88900" hR="88900" stAng="0" swAng="5400000"/>
                <a:lnTo>
                  <a:pt x="88900" y="3384550"/>
                </a:lnTo>
                <a:arcTo wR="88900" hR="88900" stAng="5400000" swAng="5400000"/>
                <a:lnTo>
                  <a:pt x="0" y="0"/>
                </a:lnTo>
                <a:lnTo>
                  <a:pt x="4826000" y="0"/>
                </a:lnTo>
                <a:close/>
              </a:path>
            </a:pathLst>
          </a:custGeom>
        </p:spPr>
      </p:pic>
      <p:sp>
        <p:nvSpPr>
          <p:cNvPr id="13" name="Text 10"/>
          <p:cNvSpPr/>
          <p:nvPr/>
        </p:nvSpPr>
        <p:spPr>
          <a:xfrm>
            <a:off x="5892800" y="1785491"/>
            <a:ext cx="5207000" cy="314960"/>
          </a:xfrm>
          <a:prstGeom prst="roundRect">
            <a:avLst>
              <a:gd name="adj" fmla="val 50000"/>
            </a:avLst>
          </a:prstGeom>
          <a:solidFill>
            <a:srgbClr val="8AB4FF"/>
          </a:solidFill>
          <a:ln/>
        </p:spPr>
        <p:txBody>
          <a:bodyPr wrap="square" lIns="80876" tIns="4676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CHANGED: review line by line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892800" y="2202061"/>
            <a:ext cx="5207000" cy="3229610"/>
          </a:xfrm>
          <a:prstGeom prst="roundRect">
            <a:avLst>
              <a:gd name="adj" fmla="val 2753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5892800" y="2202061"/>
            <a:ext cx="5207000" cy="365760"/>
          </a:xfrm>
          <a:custGeom>
            <a:avLst/>
            <a:gdLst/>
            <a:ahLst/>
            <a:cxnLst/>
            <a:rect l="l" t="t" r="r" b="b"/>
            <a:pathLst>
              <a:path w="5207000" h="365760">
                <a:moveTo>
                  <a:pt x="0" y="88900"/>
                </a:moveTo>
                <a:arcTo wR="88900" hR="88900" stAng="10800000" swAng="5400000"/>
                <a:lnTo>
                  <a:pt x="5118100" y="0"/>
                </a:lnTo>
                <a:arcTo wR="88900" hR="88900" stAng="16200000" swAng="5400000"/>
                <a:lnTo>
                  <a:pt x="5207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A313B"/>
          </a:solidFill>
          <a:ln/>
        </p:spPr>
      </p:sp>
      <p:sp>
        <p:nvSpPr>
          <p:cNvPr id="16" name="Shape 13"/>
          <p:cNvSpPr/>
          <p:nvPr/>
        </p:nvSpPr>
        <p:spPr>
          <a:xfrm>
            <a:off x="6007100" y="234052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17" name="Shape 14"/>
          <p:cNvSpPr/>
          <p:nvPr/>
        </p:nvSpPr>
        <p:spPr>
          <a:xfrm>
            <a:off x="6159500" y="2340521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18" name="Shape 15"/>
          <p:cNvSpPr/>
          <p:nvPr/>
        </p:nvSpPr>
        <p:spPr>
          <a:xfrm>
            <a:off x="6311900" y="2340521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9" name="Text 16"/>
          <p:cNvSpPr/>
          <p:nvPr/>
        </p:nvSpPr>
        <p:spPr>
          <a:xfrm>
            <a:off x="6464300" y="2278261"/>
            <a:ext cx="2448763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 · files changed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892800" y="2567831"/>
            <a:ext cx="5207000" cy="2863850"/>
          </a:xfrm>
          <a:custGeom>
            <a:avLst/>
            <a:gdLst/>
            <a:ahLst/>
            <a:cxnLst/>
            <a:rect l="l" t="t" r="r" b="b"/>
            <a:pathLst>
              <a:path w="5207000" h="2863850">
                <a:moveTo>
                  <a:pt x="5207000" y="2774950"/>
                </a:moveTo>
                <a:arcTo wR="88900" hR="88900" stAng="0" swAng="5400000"/>
                <a:lnTo>
                  <a:pt x="88900" y="2863850"/>
                </a:lnTo>
                <a:arcTo wR="88900" hR="88900" stAng="5400000" swAng="5400000"/>
                <a:lnTo>
                  <a:pt x="0" y="0"/>
                </a:lnTo>
                <a:lnTo>
                  <a:pt x="52070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21" name="Image 1" descr="Pull request files changed tab showing a diff"/>
          <p:cNvPicPr>
            <a:picLocks noChangeAspect="1"/>
          </p:cNvPicPr>
          <p:nvPr/>
        </p:nvPicPr>
        <p:blipFill>
          <a:blip r:embed="rId4"/>
          <a:srcRect t="-21" b="-21"/>
          <a:stretch/>
        </p:blipFill>
        <p:spPr>
          <a:xfrm>
            <a:off x="5892800" y="2567831"/>
            <a:ext cx="5207000" cy="2863850"/>
          </a:xfrm>
          <a:custGeom>
            <a:avLst/>
            <a:gdLst/>
            <a:ahLst/>
            <a:cxnLst/>
            <a:rect l="l" t="t" r="r" b="b"/>
            <a:pathLst>
              <a:path w="5207000" h="2863850">
                <a:moveTo>
                  <a:pt x="5207000" y="2774950"/>
                </a:moveTo>
                <a:arcTo wR="88900" hR="88900" stAng="0" swAng="5400000"/>
                <a:lnTo>
                  <a:pt x="88900" y="2863850"/>
                </a:lnTo>
                <a:arcTo wR="88900" hR="88900" stAng="5400000" swAng="5400000"/>
                <a:lnTo>
                  <a:pt x="0" y="0"/>
                </a:lnTo>
                <a:lnTo>
                  <a:pt x="5207000" y="0"/>
                </a:lnTo>
                <a:close/>
              </a:path>
            </a:pathLst>
          </a:custGeom>
        </p:spPr>
      </p:pic>
      <p:sp>
        <p:nvSpPr>
          <p:cNvPr id="22" name="Text 18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70</a:t>
            </a:r>
            <a:endParaRPr lang="en-US" sz="12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1200"/>
            <a:ext cx="1701059" cy="309245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</p:sp>
      <p:sp>
        <p:nvSpPr>
          <p:cNvPr id="3" name="Text 1"/>
          <p:cNvSpPr/>
          <p:nvPr/>
        </p:nvSpPr>
        <p:spPr>
          <a:xfrm>
            <a:off x="939800" y="762000"/>
            <a:ext cx="1497859" cy="2330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70"/>
              </a:lnSpc>
              <a:buNone/>
            </a:pPr>
            <a:r>
              <a:rPr lang="en-US" sz="1193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193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47465"/>
            <a:ext cx="5211191" cy="4925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21"/>
              </a:lnSpc>
              <a:buNone/>
            </a:pPr>
            <a:r>
              <a:rPr lang="en-US" sz="3544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 quick tour of GitHub</a:t>
            </a:r>
            <a:endParaRPr lang="en-US" sz="3544" dirty="0"/>
          </a:p>
        </p:txBody>
      </p:sp>
      <p:sp>
        <p:nvSpPr>
          <p:cNvPr id="5" name="Shape 3"/>
          <p:cNvSpPr/>
          <p:nvPr/>
        </p:nvSpPr>
        <p:spPr>
          <a:xfrm>
            <a:off x="812800" y="1868587"/>
            <a:ext cx="6096000" cy="405511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/>
          <a:effectLst>
            <a:outerShdw blurRad="381000" dist="152400" dir="5400000" algn="bl" rotWithShape="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12800" y="1868587"/>
            <a:ext cx="6096000" cy="365760"/>
          </a:xfrm>
          <a:custGeom>
            <a:avLst/>
            <a:gdLst/>
            <a:ahLst/>
            <a:cxnLst/>
            <a:rect l="l" t="t" r="r" b="b"/>
            <a:pathLst>
              <a:path w="6096000" h="365760">
                <a:moveTo>
                  <a:pt x="0" y="88900"/>
                </a:moveTo>
                <a:arcTo wR="88900" hR="88900" stAng="10800000" swAng="5400000"/>
                <a:lnTo>
                  <a:pt x="6007100" y="0"/>
                </a:lnTo>
                <a:arcTo wR="88900" hR="88900" stAng="16200000" swAng="5400000"/>
                <a:lnTo>
                  <a:pt x="6096000" y="365760"/>
                </a:lnTo>
                <a:lnTo>
                  <a:pt x="0" y="365760"/>
                </a:lnTo>
                <a:close/>
              </a:path>
            </a:pathLst>
          </a:custGeom>
          <a:solidFill>
            <a:srgbClr val="2A313B"/>
          </a:solidFill>
          <a:ln/>
        </p:spPr>
      </p:sp>
      <p:sp>
        <p:nvSpPr>
          <p:cNvPr id="7" name="Shape 5"/>
          <p:cNvSpPr/>
          <p:nvPr/>
        </p:nvSpPr>
        <p:spPr>
          <a:xfrm>
            <a:off x="927100" y="20070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F5F57"/>
          </a:solidFill>
          <a:ln/>
        </p:spPr>
      </p:sp>
      <p:sp>
        <p:nvSpPr>
          <p:cNvPr id="8" name="Shape 6"/>
          <p:cNvSpPr/>
          <p:nvPr/>
        </p:nvSpPr>
        <p:spPr>
          <a:xfrm>
            <a:off x="1079500" y="20070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FEBC2E"/>
          </a:solidFill>
          <a:ln/>
        </p:spPr>
      </p:sp>
      <p:sp>
        <p:nvSpPr>
          <p:cNvPr id="9" name="Shape 7"/>
          <p:cNvSpPr/>
          <p:nvPr/>
        </p:nvSpPr>
        <p:spPr>
          <a:xfrm>
            <a:off x="1231900" y="2007046"/>
            <a:ext cx="88900" cy="88900"/>
          </a:xfrm>
          <a:prstGeom prst="roundRect">
            <a:avLst>
              <a:gd name="adj" fmla="val 50000"/>
            </a:avLst>
          </a:prstGeom>
          <a:solidFill>
            <a:srgbClr val="28C840"/>
          </a:solidFill>
          <a:ln/>
        </p:spPr>
      </p:sp>
      <p:sp>
        <p:nvSpPr>
          <p:cNvPr id="10" name="Text 8"/>
          <p:cNvSpPr/>
          <p:nvPr/>
        </p:nvSpPr>
        <p:spPr>
          <a:xfrm>
            <a:off x="1384300" y="1944787"/>
            <a:ext cx="1883664" cy="23876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C9CFD8"/>
                </a:solidFill>
                <a:latin typeface="JetBrains Mono" pitchFamily="49" charset="0"/>
                <a:ea typeface="JetBrains Mono" pitchFamily="49" charset="-122"/>
                <a:cs typeface="JetBrains Mono" pitchFamily="49" charset="-120"/>
              </a:rPr>
              <a:t>github.com · Actions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12800" y="2234357"/>
            <a:ext cx="6096000" cy="3689350"/>
          </a:xfrm>
          <a:custGeom>
            <a:avLst/>
            <a:gdLst/>
            <a:ahLst/>
            <a:cxnLst/>
            <a:rect l="l" t="t" r="r" b="b"/>
            <a:pathLst>
              <a:path w="6096000" h="3689350">
                <a:moveTo>
                  <a:pt x="6096000" y="3600450"/>
                </a:moveTo>
                <a:arcTo wR="88900" hR="88900" stAng="0" swAng="5400000"/>
                <a:lnTo>
                  <a:pt x="88900" y="3689350"/>
                </a:lnTo>
                <a:arcTo wR="88900" hR="88900" stAng="5400000" swAng="5400000"/>
                <a:lnTo>
                  <a:pt x="0" y="0"/>
                </a:lnTo>
                <a:lnTo>
                  <a:pt x="6096000" y="0"/>
                </a:lnTo>
                <a:close/>
              </a:path>
            </a:pathLst>
          </a:custGeom>
          <a:solidFill>
            <a:srgbClr val="FFFFFF"/>
          </a:solidFill>
          <a:ln/>
        </p:spPr>
      </p:sp>
      <p:pic>
        <p:nvPicPr>
          <p:cNvPr id="12" name="Image 0" descr="GitHub Actions workflow graph"/>
          <p:cNvPicPr>
            <a:picLocks noChangeAspect="1"/>
          </p:cNvPicPr>
          <p:nvPr/>
        </p:nvPicPr>
        <p:blipFill>
          <a:blip r:embed="rId3"/>
          <a:srcRect l="-45" r="-45"/>
          <a:stretch/>
        </p:blipFill>
        <p:spPr>
          <a:xfrm>
            <a:off x="812800" y="2234357"/>
            <a:ext cx="6096000" cy="3689350"/>
          </a:xfrm>
          <a:custGeom>
            <a:avLst/>
            <a:gdLst/>
            <a:ahLst/>
            <a:cxnLst/>
            <a:rect l="l" t="t" r="r" b="b"/>
            <a:pathLst>
              <a:path w="6096000" h="3689350">
                <a:moveTo>
                  <a:pt x="6096000" y="3600450"/>
                </a:moveTo>
                <a:arcTo wR="88900" hR="88900" stAng="0" swAng="5400000"/>
                <a:lnTo>
                  <a:pt x="88900" y="3689350"/>
                </a:lnTo>
                <a:arcTo wR="88900" hR="88900" stAng="5400000" swAng="5400000"/>
                <a:lnTo>
                  <a:pt x="0" y="0"/>
                </a:lnTo>
                <a:lnTo>
                  <a:pt x="6096000" y="0"/>
                </a:lnTo>
                <a:close/>
              </a:path>
            </a:pathLst>
          </a:custGeom>
        </p:spPr>
      </p:pic>
      <p:sp>
        <p:nvSpPr>
          <p:cNvPr id="13" name="Shape 10"/>
          <p:cNvSpPr/>
          <p:nvPr/>
        </p:nvSpPr>
        <p:spPr>
          <a:xfrm>
            <a:off x="7283450" y="1868587"/>
            <a:ext cx="0" cy="469900"/>
          </a:xfrm>
          <a:prstGeom prst="line">
            <a:avLst/>
          </a:prstGeom>
          <a:noFill/>
          <a:ln w="38100">
            <a:solidFill>
              <a:srgbClr val="FFD23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429500" y="1868587"/>
            <a:ext cx="40681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README.md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7429500" y="2125117"/>
            <a:ext cx="40681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front page, in Markdown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7283450" y="2452787"/>
            <a:ext cx="0" cy="469900"/>
          </a:xfrm>
          <a:prstGeom prst="line">
            <a:avLst/>
          </a:prstGeom>
          <a:noFill/>
          <a:ln w="38100">
            <a:solidFill>
              <a:srgbClr val="FFD23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29500" y="2452787"/>
            <a:ext cx="40681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Commits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7429500" y="2709317"/>
            <a:ext cx="40681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Your history, with names and messages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7283450" y="3036987"/>
            <a:ext cx="0" cy="469900"/>
          </a:xfrm>
          <a:prstGeom prst="line">
            <a:avLst/>
          </a:prstGeom>
          <a:noFill/>
          <a:ln w="38100">
            <a:solidFill>
              <a:srgbClr val="FFD23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29500" y="3036987"/>
            <a:ext cx="40681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Issues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7429500" y="3293517"/>
            <a:ext cx="40681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Bugs, tasks and questions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7283450" y="3621187"/>
            <a:ext cx="0" cy="469900"/>
          </a:xfrm>
          <a:prstGeom prst="line">
            <a:avLst/>
          </a:prstGeom>
          <a:noFill/>
          <a:ln w="38100">
            <a:solidFill>
              <a:srgbClr val="FFD23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429500" y="3621187"/>
            <a:ext cx="40681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Pull requests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7429500" y="3877717"/>
            <a:ext cx="40681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Propose and review changes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283450" y="4205387"/>
            <a:ext cx="0" cy="469900"/>
          </a:xfrm>
          <a:prstGeom prst="line">
            <a:avLst/>
          </a:prstGeom>
          <a:noFill/>
          <a:ln w="38100">
            <a:solidFill>
              <a:srgbClr val="FF6B2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429500" y="4205387"/>
            <a:ext cx="40681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Actions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7429500" y="4461917"/>
            <a:ext cx="40681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and test on every push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7283450" y="4789587"/>
            <a:ext cx="0" cy="469900"/>
          </a:xfrm>
          <a:prstGeom prst="line">
            <a:avLst/>
          </a:prstGeom>
          <a:noFill/>
          <a:ln w="38100">
            <a:solidFill>
              <a:srgbClr val="FFD23F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429500" y="4789587"/>
            <a:ext cx="4068191" cy="269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20"/>
              </a:lnSpc>
              <a:buNone/>
            </a:pPr>
            <a:r>
              <a:rPr lang="en-US" sz="16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.gitignore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429500" y="5046117"/>
            <a:ext cx="4068191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80"/>
              </a:lnSpc>
              <a:buNone/>
            </a:pP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Files Git must never track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/>
                <a:ea typeface="Inter"/>
                <a:cs typeface="Inter" pitchFamily="34" charset="-120"/>
              </a:rPr>
              <a:t>71</a:t>
            </a:r>
            <a:endParaRPr lang="en-US" sz="1200" dirty="0">
              <a:latin typeface="Inter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709526" cy="314960"/>
          </a:xfrm>
          <a:prstGeom prst="roundRect">
            <a:avLst>
              <a:gd name="adj" fmla="val 50000"/>
            </a:avLst>
          </a:prstGeom>
          <a:solidFill>
            <a:srgbClr val="FFD23F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 · GIT &amp; GITHUB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6774434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Six Git habits for this course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12800" y="1938040"/>
            <a:ext cx="3420533" cy="1711960"/>
          </a:xfrm>
          <a:prstGeom prst="roundRect">
            <a:avLst>
              <a:gd name="adj" fmla="val 7418"/>
            </a:avLst>
          </a:prstGeom>
          <a:solidFill>
            <a:srgbClr val="1B222B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2141240"/>
            <a:ext cx="310455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016000" y="2661940"/>
            <a:ext cx="310455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Commit every seminar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16000" y="2984500"/>
            <a:ext cx="3104557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Small, focused commits, at least one per session.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85733" y="1938040"/>
            <a:ext cx="3420533" cy="1711960"/>
          </a:xfrm>
          <a:prstGeom prst="roundRect">
            <a:avLst>
              <a:gd name="adj" fmla="val 7418"/>
            </a:avLst>
          </a:prstGeom>
          <a:solidFill>
            <a:srgbClr val="1B222B"/>
          </a:solidFill>
          <a:ln/>
        </p:spPr>
      </p:sp>
      <p:sp>
        <p:nvSpPr>
          <p:cNvPr id="9" name="Text 7"/>
          <p:cNvSpPr/>
          <p:nvPr/>
        </p:nvSpPr>
        <p:spPr>
          <a:xfrm>
            <a:off x="4588933" y="2141240"/>
            <a:ext cx="310455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2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588933" y="2661940"/>
            <a:ext cx="310455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Explain the change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588933" y="2984500"/>
            <a:ext cx="3217333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“Add academicStanding()”, not “stuff”.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8667" y="1938040"/>
            <a:ext cx="3420533" cy="1711960"/>
          </a:xfrm>
          <a:prstGeom prst="roundRect">
            <a:avLst>
              <a:gd name="adj" fmla="val 7418"/>
            </a:avLst>
          </a:prstGeom>
          <a:solidFill>
            <a:srgbClr val="1B222B"/>
          </a:solidFill>
          <a:ln/>
        </p:spPr>
      </p:sp>
      <p:sp>
        <p:nvSpPr>
          <p:cNvPr id="13" name="Text 11"/>
          <p:cNvSpPr/>
          <p:nvPr/>
        </p:nvSpPr>
        <p:spPr>
          <a:xfrm>
            <a:off x="8161867" y="2141240"/>
            <a:ext cx="310455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8161867" y="2661940"/>
            <a:ext cx="310455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Pull first, push last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161867" y="2984500"/>
            <a:ext cx="31045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Start with pull; end with push.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12800" y="3802360"/>
            <a:ext cx="3420533" cy="1480820"/>
          </a:xfrm>
          <a:prstGeom prst="roundRect">
            <a:avLst>
              <a:gd name="adj" fmla="val 8576"/>
            </a:avLst>
          </a:prstGeom>
          <a:solidFill>
            <a:srgbClr val="1B222B"/>
          </a:solidFill>
          <a:ln/>
        </p:spPr>
      </p:sp>
      <p:sp>
        <p:nvSpPr>
          <p:cNvPr id="17" name="Text 15"/>
          <p:cNvSpPr/>
          <p:nvPr/>
        </p:nvSpPr>
        <p:spPr>
          <a:xfrm>
            <a:off x="1016000" y="4005560"/>
            <a:ext cx="310455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2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04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1016000" y="4526260"/>
            <a:ext cx="310455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No secrets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016000" y="4848870"/>
            <a:ext cx="31045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Never commit passwords or keys.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385733" y="3802360"/>
            <a:ext cx="3420533" cy="1480820"/>
          </a:xfrm>
          <a:prstGeom prst="roundRect">
            <a:avLst>
              <a:gd name="adj" fmla="val 8576"/>
            </a:avLst>
          </a:prstGeom>
          <a:solidFill>
            <a:srgbClr val="1B222B"/>
          </a:solidFill>
          <a:ln/>
        </p:spPr>
      </p:sp>
      <p:sp>
        <p:nvSpPr>
          <p:cNvPr id="21" name="Text 19"/>
          <p:cNvSpPr/>
          <p:nvPr/>
        </p:nvSpPr>
        <p:spPr>
          <a:xfrm>
            <a:off x="4588933" y="4005560"/>
            <a:ext cx="310455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D23F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05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588933" y="4526260"/>
            <a:ext cx="310455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Ignore build output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4588933" y="4848870"/>
            <a:ext cx="31045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bin/ stays out, always.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58667" y="3802360"/>
            <a:ext cx="3420533" cy="1480820"/>
          </a:xfrm>
          <a:prstGeom prst="roundRect">
            <a:avLst>
              <a:gd name="adj" fmla="val 8576"/>
            </a:avLst>
          </a:prstGeom>
          <a:solidFill>
            <a:srgbClr val="1B222B"/>
          </a:solidFill>
          <a:ln/>
        </p:spPr>
      </p:sp>
      <p:sp>
        <p:nvSpPr>
          <p:cNvPr id="25" name="Text 23"/>
          <p:cNvSpPr/>
          <p:nvPr/>
        </p:nvSpPr>
        <p:spPr>
          <a:xfrm>
            <a:off x="8161867" y="4005560"/>
            <a:ext cx="3104557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FF6B2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06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8161867" y="4526260"/>
            <a:ext cx="3104557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History is your portfolio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8161867" y="4848870"/>
            <a:ext cx="3104557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A7ADB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week 14 it shows how you built it.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72</a:t>
            </a:r>
            <a:endParaRPr lang="en-US" sz="1200" dirty="0">
              <a:ea typeface="Inter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6B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254000"/>
            <a:ext cx="10464800" cy="193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5000"/>
              </a:lnSpc>
              <a:buNone/>
            </a:pPr>
            <a:r>
              <a:rPr lang="en-US" sz="15000" b="1" dirty="0">
                <a:solidFill>
                  <a:srgbClr val="000000">
                    <a:alpha val="0"/>
                  </a:srgbClr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ERROR</a:t>
            </a:r>
            <a:endParaRPr lang="en-US" sz="15000" dirty="0"/>
          </a:p>
        </p:txBody>
      </p:sp>
      <p:sp>
        <p:nvSpPr>
          <p:cNvPr id="3" name="Text 1"/>
          <p:cNvSpPr/>
          <p:nvPr/>
        </p:nvSpPr>
        <p:spPr>
          <a:xfrm>
            <a:off x="812800" y="3415010"/>
            <a:ext cx="1088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960"/>
              </a:lnSpc>
              <a:buNone/>
            </a:pPr>
            <a:r>
              <a:rPr lang="en-US" sz="1400" b="1" kern="0" spc="1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THINGS BREAK</a:t>
            </a:r>
            <a:endParaRPr lang="en-US" sz="1400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3816350"/>
            <a:ext cx="9156700" cy="1518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5880"/>
              </a:lnSpc>
              <a:buNone/>
            </a:pPr>
            <a:r>
              <a:rPr lang="en-US" sz="6000" b="1" i="0" kern="0" spc="-1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Read the message. Find it. Then ask.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5462290"/>
            <a:ext cx="7848600" cy="60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295"/>
              </a:lnSpc>
              <a:buNone/>
            </a:pPr>
            <a:r>
              <a:rPr lang="en-US" sz="170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Each course setup page has a troubleshooting section with the exact errors you're likely to see.</a:t>
            </a:r>
            <a:endParaRPr lang="en-US" sz="17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878542" cy="3149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913638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825500" y="1795760"/>
          <a:ext cx="10553700" cy="2697480"/>
        </p:xfrm>
        <a:graphic>
          <a:graphicData uri="http://schemas.openxmlformats.org/drawingml/2006/table">
            <a:tbl>
              <a:tblPr/>
              <a:tblGrid>
                <a:gridCol w="401040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432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F5A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 see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F5A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DD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'java' is not recognized…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Open a new terminal. Still failing? Re-run the MSI › Change › turn on Set JAVA_HOME and Add to PATH. Check with where.exe java.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version is not 25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 older Java is found first. where.exe java and where.exe javac; remove extra ones in Settings › Apps.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java works, javac doesn't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 installed a JRE, not a JDK. Install the package ending in .JDK.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winget: package not found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winget source update, then try again, or use the MSI.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Could not find or load main class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Run java Check (no .class) from the folder that holds Check.class.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Object Oriented Programming · Seminar 1  ·</a:t>
            </a:r>
            <a:r>
              <a:rPr lang="en-US" sz="1200" dirty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/>
                <a:ea typeface="Inter"/>
                <a:cs typeface="Inter" pitchFamily="34" charset="-120"/>
              </a:rPr>
              <a:t>74</a:t>
            </a:r>
            <a:endParaRPr lang="en-US" sz="1200" dirty="0">
              <a:latin typeface="Inter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878542" cy="3149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1534922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Eclipse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825500" y="1795760"/>
          <a:ext cx="10553700" cy="2484120"/>
        </p:xfrm>
        <a:graphic>
          <a:graphicData uri="http://schemas.openxmlformats.org/drawingml/2006/table">
            <a:tbl>
              <a:tblPr/>
              <a:tblGrid>
                <a:gridCol w="401040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432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A7AD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 see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A7ADB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62A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 Java virtual machine was found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problem isn't Eclipse: java -version in a fresh terminal. Fix Java first.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52545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UnsupportedClassVersionError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Project › Properties: Java Build Path › Libraries and Java Compiler must both say 25.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One project misbehaves, others fine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Properties › Java Compiler › “Enable project specific settings” outranks the workspace.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Random errors, files reverting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Workspace is in a synced folder. Move it to C:\dev\workspace; File › Switch Workspace.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Eclipse is extremely slow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F3EEE4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Antivirus scanning every file. Exclude the workspace and Eclipse folders.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3464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75</a:t>
            </a:r>
            <a:endParaRPr lang="en-US" sz="12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878542" cy="31496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3107055" cy="452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360"/>
              </a:lnSpc>
              <a:buNone/>
            </a:pPr>
            <a:r>
              <a:rPr lang="en-US" sz="32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Git and GitHub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825500" y="1795760"/>
          <a:ext cx="10553700" cy="2484120"/>
        </p:xfrm>
        <a:graphic>
          <a:graphicData uri="http://schemas.openxmlformats.org/drawingml/2006/table">
            <a:tbl>
              <a:tblPr/>
              <a:tblGrid>
                <a:gridCol w="4010406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6543294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F5A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 see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DD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5F5A5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Fix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DDD3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59182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Password authentication is not supported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Use Git Credential Manager: where.exe git must be under C:\Program Files\Git\. Then git config --global credential.helper manager.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1A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src refspec main does not match any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Nothing committed yet. git status, then finish the first commit.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Updates were rejected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pull --rebase origin main, then git push -u origin main.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You committed bin/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 rm -r --cached bin, commit, push. Files stay on disk.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378460"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fatal: not a git repository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Wrong folder or no git init. Check with pwd.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14300" marR="114300" marT="76200" marB="762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</a:t>
            </a:r>
            <a:r>
              <a:rPr lang="en-US" sz="1200" dirty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76</a:t>
            </a:r>
            <a:endParaRPr lang="en-US" sz="12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3EE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2800" y="711200"/>
            <a:ext cx="1826260" cy="303001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/>
        </p:spPr>
      </p:sp>
      <p:sp>
        <p:nvSpPr>
          <p:cNvPr id="3" name="Text 1"/>
          <p:cNvSpPr/>
          <p:nvPr/>
        </p:nvSpPr>
        <p:spPr>
          <a:xfrm>
            <a:off x="939800" y="762000"/>
            <a:ext cx="1623060" cy="2268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622"/>
              </a:lnSpc>
              <a:buNone/>
            </a:pPr>
            <a:r>
              <a:rPr lang="en-US" sz="1159" b="1" kern="0" spc="50" dirty="0">
                <a:solidFill>
                  <a:srgbClr val="10141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TROUBLESHOOTING</a:t>
            </a:r>
            <a:endParaRPr lang="en-US" sz="1159" dirty="0"/>
          </a:p>
        </p:txBody>
      </p:sp>
      <p:sp>
        <p:nvSpPr>
          <p:cNvPr id="4" name="Text 2"/>
          <p:cNvSpPr>
            <a:spLocks noGrp="1"/>
          </p:cNvSpPr>
          <p:nvPr>
            <p:ph type="title"/>
          </p:nvPr>
        </p:nvSpPr>
        <p:spPr>
          <a:xfrm>
            <a:off x="812800" y="1141214"/>
            <a:ext cx="8364220" cy="40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973"/>
              </a:lnSpc>
              <a:buNone/>
            </a:pPr>
            <a:r>
              <a:rPr lang="en-US" sz="2831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Mac users: the same steps, different details</a:t>
            </a:r>
            <a:endParaRPr lang="en-US" sz="2831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="" xmlns:p14="http://schemas.microsoft.com/office/powerpoint/2010/main" val="1579011935"/>
              </p:ext>
            </p:extLst>
          </p:nvPr>
        </p:nvGraphicFramePr>
        <p:xfrm>
          <a:off x="825500" y="1734691"/>
          <a:ext cx="10553700" cy="4107286"/>
        </p:xfrm>
        <a:graphic>
          <a:graphicData uri="http://schemas.openxmlformats.org/drawingml/2006/table">
            <a:tbl>
              <a:tblPr/>
              <a:tblGrid>
                <a:gridCol w="527685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527685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972397"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Java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Download the .pkg from adoptium.net: aarch64 for Apple chips (M1–M4), x64 for Intel. Check with java -version in Terminal.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479002"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Folders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~/dev/workspace instead of C:\dev\workspace.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25699"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Eclipse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Installer for AArch64 or x86_64. First launch: right-click › Open. Preferences are under Eclipse › Settings…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  <a:tr h="725699"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Shortcuts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Cmd instead of Ctrl, except Ctrl+Space. Run: Cmd+Shift+F11. Quick fix: Cmd+1.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3"/>
                  </a:ext>
                </a:extLst>
              </a:tr>
              <a:tr h="478896"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Git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Type git --version and click Install (Command Line Tools).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4"/>
                  </a:ext>
                </a:extLst>
              </a:tr>
              <a:tr h="725593"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Push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ts val="1942"/>
                        </a:lnSpc>
                        <a:buNone/>
                      </a:pPr>
                      <a:r>
                        <a:rPr lang="en-US" sz="1387" dirty="0">
                          <a:solidFill>
                            <a:srgbClr val="101418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The password prompt wants a personal access token (GitHub › Settings › Developer settings), not your password.</a:t>
                      </a:r>
                      <a:endParaRPr lang="en-US" sz="1387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39700" marR="139700" marT="101600" marB="101600">
                    <a:lnL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BEB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 77</a:t>
            </a:r>
            <a:endParaRPr lang="en-US" sz="12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D2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711200"/>
            <a:ext cx="1841606" cy="314960"/>
          </a:xfrm>
          <a:prstGeom prst="roundRect">
            <a:avLst>
              <a:gd name="adj" fmla="val 50000"/>
            </a:avLst>
          </a:prstGeom>
          <a:solidFill>
            <a:srgbClr val="101418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 algn="ctr">
              <a:lnSpc>
                <a:spcPts val="1680"/>
              </a:lnSpc>
              <a:buNone/>
            </a:pPr>
            <a:r>
              <a:rPr lang="en-US" sz="1200" b="1" kern="0" spc="50" dirty="0">
                <a:solidFill>
                  <a:srgbClr val="FFD23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BEFORE YOU LEAVE</a:t>
            </a:r>
            <a:endParaRPr lang="en-US" sz="1200" dirty="0"/>
          </a:p>
        </p:txBody>
      </p:sp>
      <p:sp>
        <p:nvSpPr>
          <p:cNvPr id="3" name="Text 1"/>
          <p:cNvSpPr>
            <a:spLocks noGrp="1"/>
          </p:cNvSpPr>
          <p:nvPr>
            <p:ph type="title"/>
          </p:nvPr>
        </p:nvSpPr>
        <p:spPr>
          <a:xfrm>
            <a:off x="812800" y="1153170"/>
            <a:ext cx="3226689" cy="50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3780"/>
              </a:lnSpc>
              <a:buNone/>
            </a:pPr>
            <a:r>
              <a:rPr lang="en-US" sz="3600" b="1" i="0" kern="0" spc="-50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Check all five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325" y="1922165"/>
            <a:ext cx="10547350" cy="497417"/>
          </a:xfrm>
          <a:prstGeom prst="roundRect">
            <a:avLst>
              <a:gd name="adj" fmla="val 21064"/>
            </a:avLst>
          </a:prstGeom>
          <a:solidFill>
            <a:srgbClr val="FFFAF1"/>
          </a:solidFill>
          <a:ln w="19050">
            <a:solidFill>
              <a:srgbClr val="1014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20233" y="2043857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014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439333" y="2041327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java -version and javac -version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163733" y="2055267"/>
            <a:ext cx="51015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both report 25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325" y="2540198"/>
            <a:ext cx="10547350" cy="497417"/>
          </a:xfrm>
          <a:prstGeom prst="roundRect">
            <a:avLst>
              <a:gd name="adj" fmla="val 21064"/>
            </a:avLst>
          </a:prstGeom>
          <a:solidFill>
            <a:srgbClr val="FFFAF1"/>
          </a:solidFill>
          <a:ln w="19050">
            <a:solidFill>
              <a:srgbClr val="10141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0233" y="266194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0141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39333" y="2659360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Eclipse opens and runs Check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163733" y="2673350"/>
            <a:ext cx="51015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Console shows “running on 25”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325" y="3158282"/>
            <a:ext cx="10547350" cy="497417"/>
          </a:xfrm>
          <a:prstGeom prst="roundRect">
            <a:avLst>
              <a:gd name="adj" fmla="val 21064"/>
            </a:avLst>
          </a:prstGeom>
          <a:solidFill>
            <a:srgbClr val="FFFAF1"/>
          </a:solidFill>
          <a:ln w="19050">
            <a:solidFill>
              <a:srgbClr val="10141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20233" y="3279973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014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39333" y="3277443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Your repo java-oop-surname exists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163733" y="3291433"/>
            <a:ext cx="51015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 GitHub, with your name on it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325" y="3776365"/>
            <a:ext cx="10547350" cy="497417"/>
          </a:xfrm>
          <a:prstGeom prst="roundRect">
            <a:avLst>
              <a:gd name="adj" fmla="val 21064"/>
            </a:avLst>
          </a:prstGeom>
          <a:solidFill>
            <a:srgbClr val="FFFAF1"/>
          </a:solidFill>
          <a:ln w="19050">
            <a:solidFill>
              <a:srgbClr val="1014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20233" y="3898057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014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39333" y="3895527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The whole loop works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6163733" y="3909467"/>
            <a:ext cx="51015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a second println, commit, push, see it on GitHub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22325" y="4394398"/>
            <a:ext cx="10547350" cy="497417"/>
          </a:xfrm>
          <a:prstGeom prst="roundRect">
            <a:avLst>
              <a:gd name="adj" fmla="val 21064"/>
            </a:avLst>
          </a:prstGeom>
          <a:solidFill>
            <a:srgbClr val="FFFAF1"/>
          </a:solidFill>
          <a:ln w="19050">
            <a:solidFill>
              <a:srgbClr val="10141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20233" y="4516140"/>
            <a:ext cx="254000" cy="25400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rgbClr val="10141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439333" y="4513560"/>
            <a:ext cx="4709160" cy="284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2040"/>
              </a:lnSpc>
              <a:buNone/>
            </a:pPr>
            <a:r>
              <a:rPr lang="en-US" sz="1700" b="1" dirty="0">
                <a:solidFill>
                  <a:srgbClr val="101418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Two commits in the history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163733" y="4527550"/>
            <a:ext cx="5101590" cy="2565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1820"/>
              </a:lnSpc>
              <a:buNone/>
            </a:pPr>
            <a:r>
              <a:rPr lang="en-US" sz="1300" dirty="0">
                <a:solidFill>
                  <a:srgbClr val="5F5A5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click the commits link to check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· </a:t>
            </a:r>
            <a:r>
              <a:rPr lang="en-US" sz="1200" dirty="0" smtClean="0">
                <a:solidFill>
                  <a:srgbClr val="5F5A52"/>
                </a:solidFill>
                <a:latin typeface="Inter" pitchFamily="34" charset="0"/>
                <a:ea typeface="Inter"/>
                <a:cs typeface="Inter" pitchFamily="34" charset="-120"/>
              </a:rPr>
              <a:t> 78</a:t>
            </a:r>
            <a:endParaRPr lang="en-US" sz="12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1014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/>
          </p:nvPr>
        </p:nvSpPr>
        <p:spPr>
          <a:xfrm>
            <a:off x="812800" y="2428230"/>
            <a:ext cx="10883392" cy="1231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ts val="9500"/>
              </a:lnSpc>
              <a:buNone/>
            </a:pPr>
            <a:r>
              <a:rPr lang="en-US" sz="10000" b="1" i="0" kern="0" spc="-300" dirty="0">
                <a:solidFill>
                  <a:srgbClr val="F3EEE4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Questions</a:t>
            </a:r>
            <a:r>
              <a:rPr lang="en-US" sz="10000" b="1" i="0" kern="0" spc="-300" dirty="0">
                <a:solidFill>
                  <a:srgbClr val="FF6B2C"/>
                </a:solidFill>
                <a:latin typeface="Bricolage Grotesque" pitchFamily="34" charset="0"/>
                <a:ea typeface="Bricolage Grotesque" pitchFamily="34" charset="-122"/>
                <a:cs typeface="Bricolage Grotesque" pitchFamily="34" charset="-120"/>
              </a:rPr>
              <a:t>?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812800" y="6289030"/>
            <a:ext cx="10883392" cy="23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1680"/>
              </a:lnSpc>
            </a:pP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Object Oriented Programming · Seminar 1  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·</a:t>
            </a:r>
            <a:r>
              <a:rPr lang="en-US" sz="1200" dirty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  </a:t>
            </a:r>
            <a:r>
              <a:rPr lang="en-US" sz="1200" dirty="0" smtClean="0">
                <a:solidFill>
                  <a:srgbClr val="A7ADB8"/>
                </a:solidFill>
                <a:latin typeface="Inter" pitchFamily="34" charset="0"/>
                <a:ea typeface="Inter"/>
                <a:cs typeface="Inter" pitchFamily="34" charset="-120"/>
              </a:rPr>
              <a:t>79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OP Lab 1 — Java, Eclipse &amp; GitHub">
  <a:themeElements>
    <a:clrScheme name="OOP Lab 1 — Java, Eclipse &amp; GitHub">
      <a:dk1>
        <a:srgbClr val="101418"/>
      </a:dk1>
      <a:lt1>
        <a:srgbClr val="F3EEE4"/>
      </a:lt1>
      <a:dk2>
        <a:srgbClr val="494B4B"/>
      </a:dk2>
      <a:lt2>
        <a:srgbClr val="DCD8D0"/>
      </a:lt2>
      <a:accent1>
        <a:srgbClr val="FFD23F"/>
      </a:accent1>
      <a:accent2>
        <a:srgbClr val="FF6B2C"/>
      </a:accent2>
      <a:accent3>
        <a:srgbClr val="FF5F57"/>
      </a:accent3>
      <a:accent4>
        <a:srgbClr val="FEBC2E"/>
      </a:accent4>
      <a:accent5>
        <a:srgbClr val="28C840"/>
      </a:accent5>
      <a:accent6>
        <a:srgbClr val="6EE7A8"/>
      </a:accent6>
      <a:hlink>
        <a:srgbClr val="0563C1"/>
      </a:hlink>
      <a:folHlink>
        <a:srgbClr val="954F72"/>
      </a:folHlink>
    </a:clrScheme>
    <a:fontScheme name="OOP Lab 1 — Java, Eclipse &amp; GitHub">
      <a:majorFont>
        <a:latin typeface="Bricolage Grotesque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5817</Words>
  <Application>Microsoft Office PowerPoint</Application>
  <PresentationFormat>Custom</PresentationFormat>
  <Paragraphs>1178</Paragraphs>
  <Slides>79</Slides>
  <Notes>79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0" baseType="lpstr">
      <vt:lpstr>OOP Lab 1 — Java, Eclipse &amp; GitHub</vt:lpstr>
      <vt:lpstr>Java, Eclipse &amp; GitHub</vt:lpstr>
      <vt:lpstr>Four stops, one goal: your first push</vt:lpstr>
      <vt:lpstr>Slide 3</vt:lpstr>
      <vt:lpstr>Following an example teaches syntax. Building teaches the skill.</vt:lpstr>
      <vt:lpstr>Slide 5</vt:lpstr>
      <vt:lpstr>Slide 6</vt:lpstr>
      <vt:lpstr>Three tools, in this order</vt:lpstr>
      <vt:lpstr>Object-oriented languages</vt:lpstr>
      <vt:lpstr>Slide 9</vt:lpstr>
      <vt:lpstr>One blueprint, many objects</vt:lpstr>
      <vt:lpstr>The four pillars of OOP</vt:lpstr>
      <vt:lpstr>Slide 12</vt:lpstr>
      <vt:lpstr>OOP is an idea. Many languages use it.</vt:lpstr>
      <vt:lpstr>Java</vt:lpstr>
      <vt:lpstr>In Java, all code belongs to a class.</vt:lpstr>
      <vt:lpstr>Java Characteristics</vt:lpstr>
      <vt:lpstr>Characteristics of Java</vt:lpstr>
      <vt:lpstr>Characteristics of Java</vt:lpstr>
      <vt:lpstr>Characteristics of Java</vt:lpstr>
      <vt:lpstr>Characteristics of Java</vt:lpstr>
      <vt:lpstr>Characteristics of Java</vt:lpstr>
      <vt:lpstr>Characteristics of Java</vt:lpstr>
      <vt:lpstr>Characteristics of Java</vt:lpstr>
      <vt:lpstr>Characteristics of Java</vt:lpstr>
      <vt:lpstr>Characteristics of Java</vt:lpstr>
      <vt:lpstr>Characteristics of Java</vt:lpstr>
      <vt:lpstr>Java, web and beyond</vt:lpstr>
      <vt:lpstr>One first-level concept: the class</vt:lpstr>
      <vt:lpstr>No functions, only methods</vt:lpstr>
      <vt:lpstr>Example: source code</vt:lpstr>
      <vt:lpstr>Creating and editing using Notepad</vt:lpstr>
      <vt:lpstr>Build and run</vt:lpstr>
      <vt:lpstr>Slide 33</vt:lpstr>
      <vt:lpstr>What happens when you type java First</vt:lpstr>
      <vt:lpstr>What you actually install: the JDK</vt:lpstr>
      <vt:lpstr>Which Java? This course: 25</vt:lpstr>
      <vt:lpstr>Install Java 25 (Temurin JDK)</vt:lpstr>
      <vt:lpstr>Prove it: no editor needed</vt:lpstr>
      <vt:lpstr>Reading the program</vt:lpstr>
      <vt:lpstr>Slide 40</vt:lpstr>
      <vt:lpstr>Java cares about names. A lot.</vt:lpstr>
      <vt:lpstr>“Java can’t find my class”</vt:lpstr>
      <vt:lpstr>Coding conventions</vt:lpstr>
      <vt:lpstr>Coding conventions: example</vt:lpstr>
      <vt:lpstr>Deployment: jar files</vt:lpstr>
      <vt:lpstr>Java in one slide</vt:lpstr>
      <vt:lpstr>Eclipse</vt:lpstr>
      <vt:lpstr>Shortcuts worth learning today</vt:lpstr>
      <vt:lpstr>All good tools. We pick one.</vt:lpstr>
      <vt:lpstr>Why we use Eclipse</vt:lpstr>
      <vt:lpstr>Install Eclipse</vt:lpstr>
      <vt:lpstr>Point Eclipse at your JDK 25</vt:lpstr>
      <vt:lpstr>Build something, then run it without Eclipse</vt:lpstr>
      <vt:lpstr>Finding your way around Eclipse</vt:lpstr>
      <vt:lpstr>Git &amp; GitHub</vt:lpstr>
      <vt:lpstr>Be honest. Does your folder look like this?</vt:lpstr>
      <vt:lpstr>Git and GitHub are not the same thing</vt:lpstr>
      <vt:lpstr>Six words, explained like a video game</vt:lpstr>
      <vt:lpstr>The four places your work lives</vt:lpstr>
      <vt:lpstr>Install Git and introduce yourself</vt:lpstr>
      <vt:lpstr>Create your repository on GitHub</vt:lpstr>
      <vt:lpstr>Turn your project into a repository</vt:lpstr>
      <vt:lpstr>Your first commit</vt:lpstr>
      <vt:lpstr>Connect to GitHub and push</vt:lpstr>
      <vt:lpstr>git status</vt:lpstr>
      <vt:lpstr>The cheat sheet: eight commands</vt:lpstr>
      <vt:lpstr>git log never forgets</vt:lpstr>
      <vt:lpstr>Rejected? Don't panic.</vt:lpstr>
      <vt:lpstr>Later, in teams: branch, then pull request</vt:lpstr>
      <vt:lpstr>What a pull request looks like</vt:lpstr>
      <vt:lpstr>A quick tour of GitHub</vt:lpstr>
      <vt:lpstr>Six Git habits for this course</vt:lpstr>
      <vt:lpstr>Read the message. Find it. Then ask.</vt:lpstr>
      <vt:lpstr>Java</vt:lpstr>
      <vt:lpstr>Eclipse</vt:lpstr>
      <vt:lpstr>Git and GitHub</vt:lpstr>
      <vt:lpstr>Mac users: the same steps, different details</vt:lpstr>
      <vt:lpstr>Check all five</vt:lpstr>
      <vt:lpstr>Questions?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OOP Lab 1 — Java, Eclipse &amp; GitHub</dc:title>
  <dc:creator>alba meca</dc:creator>
  <cp:lastModifiedBy>Alba Meca</cp:lastModifiedBy>
  <cp:revision>104</cp:revision>
  <dcterms:created xsi:type="dcterms:W3CDTF">2026-10-05T08:09:53Z</dcterms:created>
  <dcterms:modified xsi:type="dcterms:W3CDTF">2026-10-11T22:55:00Z</dcterms:modified>
</cp:coreProperties>
</file>