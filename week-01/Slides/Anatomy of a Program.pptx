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0E7330-58E7-C5E9-2D0B-9E00042C13AE}" v="32" dt="2026-10-05T12:16:53.9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11"/>
    <p:restoredTop sz="94578" autoAdjust="0"/>
  </p:normalViewPr>
  <p:slideViewPr>
    <p:cSldViewPr snapToGrid="0" snapToObjects="1">
      <p:cViewPr varScale="1">
        <p:scale>
          <a:sx n="92" d="100"/>
          <a:sy n="92" d="100"/>
        </p:scale>
        <p:origin x="-664" y="-7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execution enters the main method.</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statement runs.</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the message appears in the console.</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names start with an uppercase letter.</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is executed from main.</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statement is one action.</a:t>
            </a:r>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statement ends with a semicolon.</a:t>
            </a:r>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Reserved words: public, class, static, void.</a:t>
            </a:r>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block and method block.</a:t>
            </a:r>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slides highlight each symbol in the Welcome program.</a:t>
            </a:r>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Braces: blocks.</a:t>
            </a:r>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Parentheses: used with methods.</a:t>
            </a:r>
          </a:p>
        </p:txBody>
      </p:sp>
      <p:sp>
        <p:nvSpPr>
          <p:cNvPr id="4" name="Slide Number Placeholder 3"/>
          <p:cNvSpPr>
            <a:spLocks noGrp="1"/>
          </p:cNvSpPr>
          <p:nvPr>
            <p:ph type="sldNum" sz="quarter" idx="10"/>
          </p:nvPr>
        </p:nvSpPr>
        <p:spPr/>
        <p:txBody>
          <a:bodyPr/>
          <a:lstStyle/>
          <a:p>
            <a:fld id="{F7021451-1387-4CA6-816F-3879F97B5CBC}" type="slidenum">
              <a:rPr lang="en-US"/>
              <a:pPr/>
              <a:t>16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Semicolon: end of statement.</a:t>
            </a:r>
          </a:p>
        </p:txBody>
      </p:sp>
      <p:sp>
        <p:nvSpPr>
          <p:cNvPr id="4" name="Slide Number Placeholder 3"/>
          <p:cNvSpPr>
            <a:spLocks noGrp="1"/>
          </p:cNvSpPr>
          <p:nvPr>
            <p:ph type="sldNum" sz="quarter" idx="10"/>
          </p:nvPr>
        </p:nvSpPr>
        <p:spPr/>
        <p:txBody>
          <a:bodyPr/>
          <a:lstStyle/>
          <a:p>
            <a:fld id="{F7021451-1387-4CA6-816F-3879F97B5CBC}" type="slidenum">
              <a:rPr lang="en-US"/>
              <a:pPr/>
              <a:t>17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slash: a comment line. </a:t>
            </a:r>
          </a:p>
        </p:txBody>
      </p:sp>
      <p:sp>
        <p:nvSpPr>
          <p:cNvPr id="4" name="Slide Number Placeholder 3"/>
          <p:cNvSpPr>
            <a:spLocks noGrp="1"/>
          </p:cNvSpPr>
          <p:nvPr>
            <p:ph type="sldNum" sz="quarter" idx="10"/>
          </p:nvPr>
        </p:nvSpPr>
        <p:spPr/>
        <p:txBody>
          <a:bodyPr/>
          <a:lstStyle/>
          <a:p>
            <a:fld id="{F7021451-1387-4CA6-816F-3879F97B5CBC}" type="slidenum">
              <a:rPr lang="en-US"/>
              <a:pPr/>
              <a:t>18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the why, not the what.</a:t>
            </a:r>
          </a:p>
        </p:txBody>
      </p:sp>
      <p:sp>
        <p:nvSpPr>
          <p:cNvPr id="4" name="Slide Number Placeholder 3"/>
          <p:cNvSpPr>
            <a:spLocks noGrp="1"/>
          </p:cNvSpPr>
          <p:nvPr>
            <p:ph type="sldNum" sz="quarter" idx="10"/>
          </p:nvPr>
        </p:nvSpPr>
        <p:spPr/>
        <p:txBody>
          <a:bodyPr/>
          <a:lstStyle/>
          <a:p>
            <a:fld id="{F7021451-1387-4CA6-816F-3879F97B5CBC}" type="slidenum">
              <a:rPr lang="en-US"/>
              <a:pPr/>
              <a:t>20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and variables: lowerCamelCase; constants UPPER_CASE.</a:t>
            </a:r>
          </a:p>
        </p:txBody>
      </p:sp>
      <p:sp>
        <p:nvSpPr>
          <p:cNvPr id="4" name="Slide Number Placeholder 3"/>
          <p:cNvSpPr>
            <a:spLocks noGrp="1"/>
          </p:cNvSpPr>
          <p:nvPr>
            <p:ph type="sldNum" sz="quarter" idx="10"/>
          </p:nvPr>
        </p:nvSpPr>
        <p:spPr/>
        <p:txBody>
          <a:bodyPr/>
          <a:lstStyle/>
          <a:p>
            <a:fld id="{F7021451-1387-4CA6-816F-3879F97B5CBC}" type="slidenum">
              <a:rPr lang="en-US"/>
              <a:pPr/>
              <a:t>21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compile; use end-of-line. Ctrl+Shift+F formats in Eclipse.</a:t>
            </a:r>
          </a:p>
        </p:txBody>
      </p:sp>
      <p:sp>
        <p:nvSpPr>
          <p:cNvPr id="4" name="Slide Number Placeholder 3"/>
          <p:cNvSpPr>
            <a:spLocks noGrp="1"/>
          </p:cNvSpPr>
          <p:nvPr>
            <p:ph type="sldNum" sz="quarter" idx="10"/>
          </p:nvPr>
        </p:nvSpPr>
        <p:spPr/>
        <p:txBody>
          <a:bodyPr/>
          <a:lstStyle/>
          <a:p>
            <a:fld id="{F7021451-1387-4CA6-816F-3879F97B5CBC}" type="slidenum">
              <a:rPr lang="en-US"/>
              <a:pPr/>
              <a:t>22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variable points to an object; a primitive holds the value.</a:t>
            </a:r>
          </a:p>
        </p:txBody>
      </p:sp>
      <p:sp>
        <p:nvSpPr>
          <p:cNvPr id="4" name="Slide Number Placeholder 3"/>
          <p:cNvSpPr>
            <a:spLocks noGrp="1"/>
          </p:cNvSpPr>
          <p:nvPr>
            <p:ph type="sldNum" sz="quarter" idx="10"/>
          </p:nvPr>
        </p:nvSpPr>
        <p:spPr/>
        <p:txBody>
          <a:bodyPr/>
          <a:lstStyle/>
          <a:p>
            <a:fld id="{F7021451-1387-4CA6-816F-3879F97B5CBC}" type="slidenum">
              <a:rPr lang="en-US"/>
              <a:pPr/>
              <a:t>23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dirty="0"/>
              <a:t>between two ints drops the </a:t>
            </a:r>
            <a:r>
              <a:rPr lang="en-US" dirty="0" smtClean="0"/>
              <a:t>floating</a:t>
            </a:r>
            <a:r>
              <a:rPr lang="en-US" baseline="0" dirty="0" smtClean="0"/>
              <a: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(x = 0) does not compile </a:t>
            </a:r>
          </a:p>
        </p:txBody>
      </p:sp>
      <p:sp>
        <p:nvSpPr>
          <p:cNvPr id="4" name="Slide Number Placeholder 3"/>
          <p:cNvSpPr>
            <a:spLocks noGrp="1"/>
          </p:cNvSpPr>
          <p:nvPr>
            <p:ph type="sldNum" sz="quarter" idx="10"/>
          </p:nvPr>
        </p:nvSpPr>
        <p:spPr/>
        <p:txBody>
          <a:bodyPr/>
          <a:lstStyle/>
          <a:p>
            <a:fld id="{F7021451-1387-4CA6-816F-3879F97B5CBC}" type="slidenum">
              <a:rPr lang="en-US"/>
              <a:pPr/>
              <a:t>25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as </a:t>
            </a:r>
            <a:r>
              <a:rPr lang="en-US" dirty="0" smtClean="0"/>
              <a: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pPr/>
              <a:t>27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Variables disappear when their block </a:t>
            </a:r>
            <a:r>
              <a:rPr lang="en-US" dirty="0" smtClean="0"/>
              <a:t>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pPr/>
              <a:t>29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Which kind is the most dangerous? Logic errors, because nothing tells you, not even LLMs.</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pPr/>
              <a:t>30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pPr/>
              <a:t>31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pPr/>
              <a:t>32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pPr/>
              <a:t>33</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355600"/>
            <a:ext cx="10566400" cy="481965"/>
          </a:xfrm>
          <a:prstGeom prst="rect">
            <a:avLst/>
          </a:prstGeom>
          <a:noFill/>
          <a:ln/>
        </p:spPr>
        <p:txBody>
          <a:bodyPr wrap="square" lIns="0" tIns="0" rIns="0" bIns="0" rtlCol="0" anchor="t"/>
          <a:lstStyle>
            <a:lvl1pPr marL="0" indent="0" algn="l">
              <a:lnSpc>
                <a:spcPct val="115000"/>
              </a:lnSpc>
              <a:buNone/>
              <a:defRPr lang="en-US" sz="3300" dirty="0">
                <a:solidFill>
                  <a:srgbClr val="111111"/>
                </a:solidFill>
                <a:latin typeface="Times New Roman" pitchFamily="34" charset="0"/>
                <a:ea typeface="Times New Roman" pitchFamily="34" charset="-122"/>
                <a:cs typeface="Times New Roman" pitchFamily="34" charset="-120"/>
              </a:defRPr>
            </a:lvl1pPr>
          </a:lstStyle>
          <a:p>
            <a:pPr marL="0" indent="0" algn="l">
              <a:lnSpc>
                <a:spcPct val="115000"/>
              </a:lnSpc>
              <a:buNone/>
            </a:pPr>
            <a:endParaRPr lang="en-US" sz="3300" dirty="0"/>
          </a:p>
        </p:txBody>
      </p:sp>
      <p:sp>
        <p:nvSpPr>
          <p:cNvPr id="3" name="Text Placeholder 2"/>
          <p:cNvSpPr>
            <a:spLocks noGrp="1"/>
          </p:cNvSpPr>
          <p:nvPr>
            <p:ph type="body" idx="101"/>
          </p:nvPr>
        </p:nvSpPr>
        <p:spPr>
          <a:xfrm>
            <a:off x="812800" y="1142365"/>
            <a:ext cx="10566400" cy="4902835"/>
          </a:xfrm>
          <a:prstGeom prst="rect">
            <a:avLst/>
          </a:prstGeom>
          <a:noFill/>
          <a:ln/>
        </p:spPr>
        <p:txBody>
          <a:bodyPr wrap="square" lIns="0" tIns="0" rIns="0" bIns="0" rtlCol="0" anchor="t"/>
          <a:lstStyle>
            <a:lvl1pPr marL="0" indent="0" algn="l">
              <a:lnSpc>
                <a:spcPct val="140000"/>
              </a:lnSpc>
              <a:buNone/>
              <a:defRPr lang="en-US" sz="1600" dirty="0">
                <a:solidFill>
                  <a:srgbClr val="111111"/>
                </a:solidFill>
                <a:latin typeface="Courier New" pitchFamily="34" charset="0"/>
                <a:ea typeface="Courier New" pitchFamily="34" charset="-122"/>
                <a:cs typeface="Courier New"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355600"/>
            <a:ext cx="10566400" cy="481965"/>
          </a:xfrm>
          <a:prstGeom prst="rect">
            <a:avLst/>
          </a:prstGeom>
          <a:noFill/>
          <a:ln/>
        </p:spPr>
        <p:txBody>
          <a:bodyPr wrap="square" lIns="0" tIns="0" rIns="0" bIns="0" rtlCol="0" anchor="t"/>
          <a:lstStyle>
            <a:lvl1pPr marL="0" indent="0" algn="l">
              <a:lnSpc>
                <a:spcPct val="115000"/>
              </a:lnSpc>
              <a:buNone/>
              <a:defRPr lang="en-US" sz="3300" dirty="0">
                <a:solidFill>
                  <a:srgbClr val="111111"/>
                </a:solidFill>
                <a:latin typeface="Times New Roman" pitchFamily="34" charset="0"/>
                <a:ea typeface="Times New Roman" pitchFamily="34" charset="-122"/>
                <a:cs typeface="Times New Roman" pitchFamily="34" charset="-120"/>
              </a:defRPr>
            </a:lvl1pPr>
          </a:lstStyle>
          <a:p>
            <a:pPr marL="0" indent="0" algn="l">
              <a:lnSpc>
                <a:spcPct val="115000"/>
              </a:lnSpc>
              <a:buNone/>
            </a:pPr>
            <a:endParaRPr lang="en-US" sz="3300" dirty="0"/>
          </a:p>
        </p:txBody>
      </p:sp>
      <p:sp>
        <p:nvSpPr>
          <p:cNvPr id="3" name="Text Placeholder 2"/>
          <p:cNvSpPr>
            <a:spLocks noGrp="1"/>
          </p:cNvSpPr>
          <p:nvPr>
            <p:ph type="body" idx="101"/>
          </p:nvPr>
        </p:nvSpPr>
        <p:spPr>
          <a:xfrm>
            <a:off x="812800" y="1142365"/>
            <a:ext cx="10566400" cy="4902835"/>
          </a:xfrm>
          <a:prstGeom prst="rect">
            <a:avLst/>
          </a:prstGeom>
          <a:noFill/>
          <a:ln/>
        </p:spPr>
        <p:txBody>
          <a:bodyPr wrap="square" lIns="0" tIns="0" rIns="0" bIns="0" rtlCol="0" anchor="t"/>
          <a:lstStyle>
            <a:lvl1pPr marL="0" indent="0" algn="l">
              <a:lnSpc>
                <a:spcPct val="140000"/>
              </a:lnSpc>
              <a:buNone/>
              <a:defRPr lang="en-US" sz="1600" dirty="0">
                <a:solidFill>
                  <a:srgbClr val="111111"/>
                </a:solidFill>
                <a:latin typeface="Courier New" pitchFamily="34" charset="0"/>
                <a:ea typeface="Courier New" pitchFamily="34" charset="-122"/>
                <a:cs typeface="Courier New"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ShowSyntaxErrors&amp;programHeight=431&amp;username=slide&amp;header=on"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ShowRuntimeErrors&amp;programHeight=431&amp;username=slide&amp;header=on"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ShowLogicErrors&amp;programHeight=431&amp;username=slide&amp;header=on"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evisp.github.io/java-oop-cours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2456498"/>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smtClean="0">
                <a:solidFill>
                  <a:srgbClr val="B5500F"/>
                </a:solidFill>
                <a:latin typeface="Source Sans 3" pitchFamily="34" charset="0"/>
                <a:ea typeface="Source Sans 3" pitchFamily="34" charset="-122"/>
                <a:cs typeface="Source Sans 3" pitchFamily="34" charset="-120"/>
              </a:rPr>
              <a:t>Seminar</a:t>
            </a:r>
            <a:r>
              <a:rPr lang="en-US" sz="1500" b="1" dirty="0" smtClean="0">
                <a:solidFill>
                  <a:srgbClr val="B5500F"/>
                </a:solidFill>
                <a:latin typeface="Source Sans 3" pitchFamily="34" charset="0"/>
                <a:ea typeface="Source Sans 3" pitchFamily="34" charset="-122"/>
                <a:cs typeface="Source Sans 3" pitchFamily="34" charset="-120"/>
              </a:rPr>
              <a:t> </a:t>
            </a:r>
            <a:r>
              <a:rPr lang="en-US" sz="1500" b="1" dirty="0">
                <a:solidFill>
                  <a:srgbClr val="B5500F"/>
                </a:solidFill>
                <a:latin typeface="Source Sans 3" pitchFamily="34" charset="0"/>
                <a:ea typeface="Source Sans 3" pitchFamily="34" charset="-122"/>
                <a:cs typeface="Source Sans 3" pitchFamily="34" charset="-120"/>
              </a:rPr>
              <a:t>1 · Java basics</a:t>
            </a:r>
            <a:endParaRPr lang="en-US" sz="1500" dirty="0"/>
          </a:p>
        </p:txBody>
      </p:sp>
      <p:sp>
        <p:nvSpPr>
          <p:cNvPr id="3" name="Text 1"/>
          <p:cNvSpPr>
            <a:spLocks noGrp="1"/>
          </p:cNvSpPr>
          <p:nvPr>
            <p:ph type="title"/>
          </p:nvPr>
        </p:nvSpPr>
        <p:spPr>
          <a:xfrm>
            <a:off x="812800" y="2900998"/>
            <a:ext cx="10883392" cy="758825"/>
          </a:xfrm>
          <a:prstGeom prst="rect">
            <a:avLst/>
          </a:prstGeom>
          <a:noFill/>
          <a:ln/>
        </p:spPr>
        <p:txBody>
          <a:bodyPr wrap="square" lIns="0" tIns="0" rIns="0" bIns="0" rtlCol="0" anchor="t">
            <a:normAutofit/>
          </a:bodyPr>
          <a:lstStyle/>
          <a:p>
            <a:pPr marL="0" indent="0" algn="l">
              <a:lnSpc>
                <a:spcPts val="5775"/>
              </a:lnSpc>
              <a:buNone/>
            </a:pPr>
            <a:r>
              <a:rPr lang="en-US" sz="5500" b="0" i="0" dirty="0">
                <a:solidFill>
                  <a:srgbClr val="222222"/>
                </a:solidFill>
                <a:latin typeface="Times New Roman" pitchFamily="18" charset="0"/>
                <a:ea typeface="Times New Roman" pitchFamily="18" charset="-122"/>
                <a:cs typeface="Times New Roman" pitchFamily="18" charset="-120"/>
              </a:rPr>
              <a:t>Anatomy of a Java program</a:t>
            </a:r>
            <a:endParaRPr lang="en-US" sz="5500" dirty="0"/>
          </a:p>
        </p:txBody>
      </p:sp>
      <p:sp>
        <p:nvSpPr>
          <p:cNvPr id="4" name="Shape 2"/>
          <p:cNvSpPr/>
          <p:nvPr/>
        </p:nvSpPr>
        <p:spPr>
          <a:xfrm>
            <a:off x="812800" y="3812222"/>
            <a:ext cx="1524000" cy="38100"/>
          </a:xfrm>
          <a:prstGeom prst="rect">
            <a:avLst/>
          </a:prstGeom>
          <a:solidFill>
            <a:srgbClr val="E8742C"/>
          </a:solidFill>
          <a:ln/>
        </p:spPr>
      </p:sp>
      <p:sp>
        <p:nvSpPr>
          <p:cNvPr id="5" name="Text 3"/>
          <p:cNvSpPr/>
          <p:nvPr/>
        </p:nvSpPr>
        <p:spPr>
          <a:xfrm>
            <a:off x="812800" y="4028122"/>
            <a:ext cx="10883392" cy="398780"/>
          </a:xfrm>
          <a:prstGeom prst="rect">
            <a:avLst/>
          </a:prstGeom>
          <a:noFill/>
          <a:ln/>
        </p:spPr>
        <p:txBody>
          <a:bodyPr wrap="square" lIns="0" tIns="0" rIns="0" bIns="0" rtlCol="0" anchor="t">
            <a:normAutofit/>
          </a:bodyPr>
          <a:lstStyle/>
          <a:p>
            <a:pPr marL="0" indent="0" algn="l">
              <a:lnSpc>
                <a:spcPts val="2940"/>
              </a:lnSpc>
              <a:buNone/>
            </a:pPr>
            <a:r>
              <a:rPr lang="en-US" sz="2100" dirty="0">
                <a:solidFill>
                  <a:srgbClr val="6B6B6B"/>
                </a:solidFill>
                <a:latin typeface="Times New Roman" pitchFamily="18" charset="0"/>
                <a:ea typeface="Times New Roman" pitchFamily="18" charset="-122"/>
                <a:cs typeface="Times New Roman" pitchFamily="18" charset="-120"/>
              </a:rPr>
              <a:t>Tracing Welcome.java, the language basics, and the three kinds of errors</a:t>
            </a:r>
            <a:endParaRPr lang="en-US" sz="2100" dirty="0"/>
          </a:p>
        </p:txBody>
      </p:sp>
      <p:sp>
        <p:nvSpPr>
          <p:cNvPr id="6" name="Text 4"/>
          <p:cNvSpPr/>
          <p:nvPr/>
        </p:nvSpPr>
        <p:spPr>
          <a:xfrm>
            <a:off x="812800" y="63906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Object-Oriented Programming · Alba </a:t>
            </a:r>
            <a:r>
              <a:rPr lang="en-US" sz="1200" dirty="0" err="1">
                <a:solidFill>
                  <a:srgbClr val="6B6B6B"/>
                </a:solidFill>
                <a:latin typeface="Source Sans 3" pitchFamily="34" charset="0"/>
                <a:ea typeface="Source Sans 3" pitchFamily="34" charset="-122"/>
                <a:cs typeface="Source Sans 3" pitchFamily="34" charset="-120"/>
              </a:rPr>
              <a:t>Meca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Trace a Program Execution</a:t>
            </a:r>
            <a:endParaRPr lang="en-US" sz="3300" dirty="0"/>
          </a:p>
        </p:txBody>
      </p:sp>
      <p:sp>
        <p:nvSpPr>
          <p:cNvPr id="3" name="Shape 1"/>
          <p:cNvSpPr/>
          <p:nvPr/>
        </p:nvSpPr>
        <p:spPr>
          <a:xfrm>
            <a:off x="1123950" y="2647950"/>
            <a:ext cx="6845300" cy="2451100"/>
          </a:xfrm>
          <a:prstGeom prst="rect">
            <a:avLst/>
          </a:prstGeom>
          <a:solidFill>
            <a:srgbClr val="FFFFFF"/>
          </a:solidFill>
          <a:ln w="12700">
            <a:solidFill>
              <a:srgbClr val="9A9A9A"/>
            </a:solidFill>
            <a:prstDash val="solid"/>
          </a:ln>
        </p:spPr>
      </p:sp>
      <p:sp>
        <p:nvSpPr>
          <p:cNvPr id="4" name="Shape 2"/>
          <p:cNvSpPr/>
          <p:nvPr/>
        </p:nvSpPr>
        <p:spPr>
          <a:xfrm>
            <a:off x="1549400" y="3524250"/>
            <a:ext cx="5842000" cy="317500"/>
          </a:xfrm>
          <a:prstGeom prst="rect">
            <a:avLst/>
          </a:prstGeom>
          <a:solidFill>
            <a:srgbClr val="E6E6E6"/>
          </a:solidFill>
          <a:ln w="12700">
            <a:solidFill>
              <a:srgbClr val="8A8A8A"/>
            </a:solidFill>
            <a:prstDash val="solid"/>
          </a:ln>
        </p:spPr>
      </p:sp>
      <p:sp>
        <p:nvSpPr>
          <p:cNvPr id="5" name="Text 3"/>
          <p:cNvSpPr/>
          <p:nvPr/>
        </p:nvSpPr>
        <p:spPr>
          <a:xfrm>
            <a:off x="1270000" y="2730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6" name="Text 4"/>
          <p:cNvSpPr/>
          <p:nvPr/>
        </p:nvSpPr>
        <p:spPr>
          <a:xfrm>
            <a:off x="1270000" y="3111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7" name="Text 5"/>
          <p:cNvSpPr/>
          <p:nvPr/>
        </p:nvSpPr>
        <p:spPr>
          <a:xfrm>
            <a:off x="1270000" y="3492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8" name="Text 6"/>
          <p:cNvSpPr/>
          <p:nvPr/>
        </p:nvSpPr>
        <p:spPr>
          <a:xfrm>
            <a:off x="1270000" y="3873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9" name="Text 7"/>
          <p:cNvSpPr/>
          <p:nvPr/>
        </p:nvSpPr>
        <p:spPr>
          <a:xfrm>
            <a:off x="1270000" y="4254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10" name="Text 8"/>
          <p:cNvSpPr/>
          <p:nvPr/>
        </p:nvSpPr>
        <p:spPr>
          <a:xfrm>
            <a:off x="1270000" y="4635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1" name="Text 9"/>
          <p:cNvSpPr/>
          <p:nvPr/>
        </p:nvSpPr>
        <p:spPr>
          <a:xfrm>
            <a:off x="7499350" y="1212850"/>
            <a:ext cx="3289300" cy="561340"/>
          </a:xfrm>
          <a:prstGeom prst="roundRect">
            <a:avLst>
              <a:gd name="adj" fmla="val 16968"/>
            </a:avLst>
          </a:prstGeom>
          <a:solidFill>
            <a:srgbClr val="D9D9D9"/>
          </a:solidFill>
          <a:ln w="12700">
            <a:solidFill>
              <a:srgbClr val="7F7F7F"/>
            </a:solidFill>
            <a:prstDash val="solid"/>
          </a:ln>
        </p:spPr>
        <p:txBody>
          <a:bodyPr wrap="square" lIns="60113" tIns="92752" rIns="60113" bIns="67352" rtlCol="0" anchor="t">
            <a:normAutofit/>
          </a:bodyPr>
          <a:lstStyle/>
          <a:p>
            <a:pPr marL="0" indent="0" algn="ctr">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Enter main method</a:t>
            </a:r>
            <a:endParaRPr lang="en-US" sz="1800" dirty="0"/>
          </a:p>
        </p:txBody>
      </p:sp>
      <p:pic>
        <p:nvPicPr>
          <p:cNvPr id="12" name="Image 0" descr="connector"/>
          <p:cNvPicPr>
            <a:picLocks noChangeAspect="1"/>
          </p:cNvPicPr>
          <p:nvPr/>
        </p:nvPicPr>
        <p:blipFill>
          <a:blip r:embed="rId3"/>
          <a:srcRect/>
          <a:stretch/>
        </p:blipFill>
        <p:spPr>
          <a:xfrm>
            <a:off x="4419600" y="1676400"/>
            <a:ext cx="4267200" cy="1892300"/>
          </a:xfrm>
          <a:prstGeom prst="rect">
            <a:avLst/>
          </a:prstGeom>
        </p:spPr>
      </p:pic>
      <p:sp>
        <p:nvSpPr>
          <p:cNvPr id="13" name="Text 10"/>
          <p:cNvSpPr/>
          <p:nvPr/>
        </p:nvSpPr>
        <p:spPr>
          <a:xfrm>
            <a:off x="812800" y="63906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Trace a Program Execution</a:t>
            </a:r>
            <a:endParaRPr lang="en-US" sz="3300" dirty="0"/>
          </a:p>
        </p:txBody>
      </p:sp>
      <p:sp>
        <p:nvSpPr>
          <p:cNvPr id="3" name="Shape 1"/>
          <p:cNvSpPr/>
          <p:nvPr/>
        </p:nvSpPr>
        <p:spPr>
          <a:xfrm>
            <a:off x="1123950" y="2647950"/>
            <a:ext cx="6845300" cy="2451100"/>
          </a:xfrm>
          <a:prstGeom prst="rect">
            <a:avLst/>
          </a:prstGeom>
          <a:solidFill>
            <a:srgbClr val="FFFFFF"/>
          </a:solidFill>
          <a:ln w="12700">
            <a:solidFill>
              <a:srgbClr val="9A9A9A"/>
            </a:solidFill>
            <a:prstDash val="solid"/>
          </a:ln>
        </p:spPr>
      </p:sp>
      <p:sp>
        <p:nvSpPr>
          <p:cNvPr id="4" name="Shape 2"/>
          <p:cNvSpPr/>
          <p:nvPr/>
        </p:nvSpPr>
        <p:spPr>
          <a:xfrm>
            <a:off x="1854200" y="3905250"/>
            <a:ext cx="5994400" cy="317500"/>
          </a:xfrm>
          <a:prstGeom prst="rect">
            <a:avLst/>
          </a:prstGeom>
          <a:solidFill>
            <a:srgbClr val="E6E6E6"/>
          </a:solidFill>
          <a:ln w="12700">
            <a:solidFill>
              <a:srgbClr val="8A8A8A"/>
            </a:solidFill>
            <a:prstDash val="solid"/>
          </a:ln>
        </p:spPr>
      </p:sp>
      <p:sp>
        <p:nvSpPr>
          <p:cNvPr id="5" name="Text 3"/>
          <p:cNvSpPr/>
          <p:nvPr/>
        </p:nvSpPr>
        <p:spPr>
          <a:xfrm>
            <a:off x="1270000" y="2730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6" name="Text 4"/>
          <p:cNvSpPr/>
          <p:nvPr/>
        </p:nvSpPr>
        <p:spPr>
          <a:xfrm>
            <a:off x="1270000" y="3111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7" name="Text 5"/>
          <p:cNvSpPr/>
          <p:nvPr/>
        </p:nvSpPr>
        <p:spPr>
          <a:xfrm>
            <a:off x="1270000" y="3492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8" name="Text 6"/>
          <p:cNvSpPr/>
          <p:nvPr/>
        </p:nvSpPr>
        <p:spPr>
          <a:xfrm>
            <a:off x="1270000" y="3873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9" name="Text 7"/>
          <p:cNvSpPr/>
          <p:nvPr/>
        </p:nvSpPr>
        <p:spPr>
          <a:xfrm>
            <a:off x="1270000" y="4254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10" name="Text 8"/>
          <p:cNvSpPr/>
          <p:nvPr/>
        </p:nvSpPr>
        <p:spPr>
          <a:xfrm>
            <a:off x="1270000" y="4635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1" name="Text 9"/>
          <p:cNvSpPr/>
          <p:nvPr/>
        </p:nvSpPr>
        <p:spPr>
          <a:xfrm>
            <a:off x="7499350" y="1212850"/>
            <a:ext cx="3289300" cy="561340"/>
          </a:xfrm>
          <a:prstGeom prst="roundRect">
            <a:avLst>
              <a:gd name="adj" fmla="val 16968"/>
            </a:avLst>
          </a:prstGeom>
          <a:solidFill>
            <a:srgbClr val="D9D9D9"/>
          </a:solidFill>
          <a:ln w="12700">
            <a:solidFill>
              <a:srgbClr val="7F7F7F"/>
            </a:solidFill>
            <a:prstDash val="solid"/>
          </a:ln>
        </p:spPr>
        <p:txBody>
          <a:bodyPr wrap="square" lIns="60113" tIns="92752" rIns="60113" bIns="67352" rtlCol="0" anchor="t">
            <a:normAutofit/>
          </a:bodyPr>
          <a:lstStyle/>
          <a:p>
            <a:pPr marL="0" indent="0" algn="ctr">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Execute statement</a:t>
            </a:r>
            <a:endParaRPr lang="en-US" sz="1800" dirty="0"/>
          </a:p>
        </p:txBody>
      </p:sp>
      <p:pic>
        <p:nvPicPr>
          <p:cNvPr id="12" name="Image 0" descr="connector"/>
          <p:cNvPicPr>
            <a:picLocks noChangeAspect="1"/>
          </p:cNvPicPr>
          <p:nvPr/>
        </p:nvPicPr>
        <p:blipFill>
          <a:blip r:embed="rId3"/>
          <a:srcRect/>
          <a:stretch/>
        </p:blipFill>
        <p:spPr>
          <a:xfrm>
            <a:off x="4800600" y="1676400"/>
            <a:ext cx="3886200" cy="2273300"/>
          </a:xfrm>
          <a:prstGeom prst="rect">
            <a:avLst/>
          </a:prstGeom>
        </p:spPr>
      </p:pic>
      <p:sp>
        <p:nvSpPr>
          <p:cNvPr id="13" name="Text 10"/>
          <p:cNvSpPr/>
          <p:nvPr/>
        </p:nvSpPr>
        <p:spPr>
          <a:xfrm>
            <a:off x="812800" y="63906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23950" y="869950"/>
            <a:ext cx="6845300" cy="2451100"/>
          </a:xfrm>
          <a:prstGeom prst="rect">
            <a:avLst/>
          </a:prstGeom>
          <a:solidFill>
            <a:srgbClr val="FFFFFF"/>
          </a:solidFill>
          <a:ln w="12700">
            <a:solidFill>
              <a:srgbClr val="9A9A9A"/>
            </a:solidFill>
            <a:prstDash val="solid"/>
          </a:ln>
        </p:spPr>
      </p:sp>
      <p:sp>
        <p:nvSpPr>
          <p:cNvPr id="3" name="Shape 1"/>
          <p:cNvSpPr/>
          <p:nvPr/>
        </p:nvSpPr>
        <p:spPr>
          <a:xfrm>
            <a:off x="1854200" y="2127250"/>
            <a:ext cx="5994400" cy="317500"/>
          </a:xfrm>
          <a:prstGeom prst="rect">
            <a:avLst/>
          </a:prstGeom>
          <a:solidFill>
            <a:srgbClr val="E6E6E6"/>
          </a:solidFill>
          <a:ln w="12700">
            <a:solidFill>
              <a:srgbClr val="8A8A8A"/>
            </a:solidFill>
            <a:prstDash val="solid"/>
          </a:ln>
        </p:spPr>
      </p:sp>
      <p:sp>
        <p:nvSpPr>
          <p:cNvPr id="4" name="Text 2"/>
          <p:cNvSpPr/>
          <p:nvPr/>
        </p:nvSpPr>
        <p:spPr>
          <a:xfrm>
            <a:off x="1270000" y="952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5" name="Text 3"/>
          <p:cNvSpPr/>
          <p:nvPr/>
        </p:nvSpPr>
        <p:spPr>
          <a:xfrm>
            <a:off x="1270000" y="1333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6" name="Text 4"/>
          <p:cNvSpPr/>
          <p:nvPr/>
        </p:nvSpPr>
        <p:spPr>
          <a:xfrm>
            <a:off x="1270000" y="1714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7" name="Text 5"/>
          <p:cNvSpPr/>
          <p:nvPr/>
        </p:nvSpPr>
        <p:spPr>
          <a:xfrm>
            <a:off x="1270000" y="2095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8" name="Text 6"/>
          <p:cNvSpPr/>
          <p:nvPr/>
        </p:nvSpPr>
        <p:spPr>
          <a:xfrm>
            <a:off x="1270000" y="2476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9" name="Text 7"/>
          <p:cNvSpPr/>
          <p:nvPr/>
        </p:nvSpPr>
        <p:spPr>
          <a:xfrm>
            <a:off x="1270000" y="2857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0" name="Shape 8"/>
          <p:cNvSpPr/>
          <p:nvPr/>
        </p:nvSpPr>
        <p:spPr>
          <a:xfrm>
            <a:off x="3562350" y="4070350"/>
            <a:ext cx="3797300" cy="1404620"/>
          </a:xfrm>
          <a:prstGeom prst="rect">
            <a:avLst/>
          </a:prstGeom>
          <a:noFill/>
          <a:ln w="12700">
            <a:solidFill>
              <a:srgbClr val="5A5A5A"/>
            </a:solidFill>
            <a:prstDash val="solid"/>
          </a:ln>
        </p:spPr>
      </p:sp>
      <p:sp>
        <p:nvSpPr>
          <p:cNvPr id="11" name="Text 9"/>
          <p:cNvSpPr/>
          <p:nvPr/>
        </p:nvSpPr>
        <p:spPr>
          <a:xfrm>
            <a:off x="3568700" y="4076700"/>
            <a:ext cx="3784600" cy="289560"/>
          </a:xfrm>
          <a:prstGeom prst="rect">
            <a:avLst/>
          </a:prstGeom>
          <a:solidFill>
            <a:srgbClr val="2B4F8C"/>
          </a:solidFill>
          <a:ln/>
        </p:spPr>
        <p:txBody>
          <a:bodyPr wrap="square" lIns="88900" tIns="38100" rIns="0" bIns="12700" rtlCol="0" anchor="t">
            <a:normAutofit/>
          </a:bodyPr>
          <a:lstStyle/>
          <a:p>
            <a:pPr marL="0" indent="0" algn="l">
              <a:lnSpc>
                <a:spcPts val="1680"/>
              </a:lnSpc>
              <a:buNone/>
            </a:pPr>
            <a:r>
              <a:rPr lang="en-US" sz="1200" dirty="0">
                <a:solidFill>
                  <a:srgbClr val="FFFFFF"/>
                </a:solidFill>
                <a:latin typeface="Source Sans 3" pitchFamily="34" charset="0"/>
                <a:ea typeface="Source Sans 3" pitchFamily="34" charset="-122"/>
                <a:cs typeface="Source Sans 3" pitchFamily="34" charset="-120"/>
              </a:rPr>
              <a:t>Command Prompt</a:t>
            </a:r>
            <a:endParaRPr lang="en-US" sz="1200" dirty="0"/>
          </a:p>
        </p:txBody>
      </p:sp>
      <p:sp>
        <p:nvSpPr>
          <p:cNvPr id="12" name="Text 10"/>
          <p:cNvSpPr/>
          <p:nvPr/>
        </p:nvSpPr>
        <p:spPr>
          <a:xfrm>
            <a:off x="3568700" y="4366261"/>
            <a:ext cx="3784600" cy="1102360"/>
          </a:xfrm>
          <a:prstGeom prst="rect">
            <a:avLst/>
          </a:prstGeom>
          <a:solidFill>
            <a:srgbClr val="000000"/>
          </a:solidFill>
          <a:ln/>
        </p:spPr>
        <p:txBody>
          <a:bodyPr wrap="square" lIns="114300" tIns="88900" rIns="7620" bIns="63500" rtlCol="0" anchor="t">
            <a:normAutofit/>
          </a:bodyPr>
          <a:lstStyle/>
          <a:p>
            <a:pPr marL="0" indent="0" algn="l">
              <a:lnSpc>
                <a:spcPts val="1820"/>
              </a:lnSpc>
              <a:buNone/>
            </a:pPr>
            <a:r>
              <a:rPr lang="en-US" sz="1300" dirty="0">
                <a:solidFill>
                  <a:srgbClr val="FFFFFF"/>
                </a:solidFill>
                <a:latin typeface="Courier New" pitchFamily="49" charset="0"/>
                <a:ea typeface="Courier New" pitchFamily="49" charset="-122"/>
                <a:cs typeface="Courier New" pitchFamily="49" charset="-120"/>
              </a:rPr>
              <a:t>C:\book&gt;java Welcome</a:t>
            </a:r>
            <a:endParaRPr lang="en-US" sz="1300" dirty="0"/>
          </a:p>
          <a:p>
            <a:pPr marL="0" indent="0" algn="l">
              <a:lnSpc>
                <a:spcPts val="1820"/>
              </a:lnSpc>
              <a:buNone/>
            </a:pPr>
            <a:r>
              <a:rPr lang="en-US" sz="1300" dirty="0">
                <a:solidFill>
                  <a:srgbClr val="FFFFFF"/>
                </a:solidFill>
                <a:latin typeface="Courier New" pitchFamily="49" charset="0"/>
                <a:ea typeface="Courier New" pitchFamily="49" charset="-122"/>
                <a:cs typeface="Courier New" pitchFamily="49" charset="-120"/>
              </a:rPr>
              <a:t>Welcome to Java!</a:t>
            </a:r>
            <a:endParaRPr lang="en-US" sz="1300" dirty="0"/>
          </a:p>
          <a:p>
            <a:pPr marL="0" indent="0" algn="l">
              <a:lnSpc>
                <a:spcPts val="1820"/>
              </a:lnSpc>
              <a:buNone/>
            </a:pPr>
            <a:endParaRPr lang="en-US" sz="1300" dirty="0"/>
          </a:p>
          <a:p>
            <a:pPr marL="0" indent="0" algn="l">
              <a:lnSpc>
                <a:spcPts val="1820"/>
              </a:lnSpc>
              <a:buNone/>
            </a:pPr>
            <a:r>
              <a:rPr lang="en-US" sz="1300" dirty="0">
                <a:solidFill>
                  <a:srgbClr val="FFFFFF"/>
                </a:solidFill>
                <a:latin typeface="Courier New" pitchFamily="49" charset="0"/>
                <a:ea typeface="Courier New" pitchFamily="49" charset="-122"/>
                <a:cs typeface="Courier New" pitchFamily="49" charset="-120"/>
              </a:rPr>
              <a:t>C:\book&gt;</a:t>
            </a:r>
            <a:endParaRPr lang="en-US" sz="1300" dirty="0"/>
          </a:p>
        </p:txBody>
      </p:sp>
      <p:sp>
        <p:nvSpPr>
          <p:cNvPr id="13" name="Text 11"/>
          <p:cNvSpPr/>
          <p:nvPr/>
        </p:nvSpPr>
        <p:spPr>
          <a:xfrm>
            <a:off x="7753350" y="4451350"/>
            <a:ext cx="3289300" cy="561340"/>
          </a:xfrm>
          <a:prstGeom prst="roundRect">
            <a:avLst>
              <a:gd name="adj" fmla="val 16968"/>
            </a:avLst>
          </a:prstGeom>
          <a:solidFill>
            <a:srgbClr val="D9D9D9"/>
          </a:solidFill>
          <a:ln w="12700">
            <a:solidFill>
              <a:srgbClr val="7F7F7F"/>
            </a:solidFill>
            <a:prstDash val="solid"/>
          </a:ln>
        </p:spPr>
        <p:txBody>
          <a:bodyPr wrap="square" lIns="60113" tIns="92752" rIns="60113" bIns="67352" rtlCol="0" anchor="t">
            <a:normAutofit/>
          </a:bodyPr>
          <a:lstStyle/>
          <a:p>
            <a:pPr marL="0" indent="0" algn="ctr">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print a message to the console</a:t>
            </a:r>
            <a:endParaRPr lang="en-US" sz="1800" dirty="0"/>
          </a:p>
        </p:txBody>
      </p:sp>
      <p:pic>
        <p:nvPicPr>
          <p:cNvPr id="14" name="Image 0" descr="connector"/>
          <p:cNvPicPr>
            <a:picLocks noChangeAspect="1"/>
          </p:cNvPicPr>
          <p:nvPr/>
        </p:nvPicPr>
        <p:blipFill>
          <a:blip r:embed="rId3"/>
          <a:srcRect/>
          <a:stretch/>
        </p:blipFill>
        <p:spPr>
          <a:xfrm>
            <a:off x="4800600" y="2400300"/>
            <a:ext cx="457200" cy="1701800"/>
          </a:xfrm>
          <a:prstGeom prst="rect">
            <a:avLst/>
          </a:prstGeom>
        </p:spPr>
      </p:pic>
      <p:sp>
        <p:nvSpPr>
          <p:cNvPr id="15" name="Text 12"/>
          <p:cNvSpPr/>
          <p:nvPr/>
        </p:nvSpPr>
        <p:spPr>
          <a:xfrm>
            <a:off x="812800" y="63906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Class Name</a:t>
            </a:r>
            <a:endParaRPr lang="en-US" sz="3300" dirty="0"/>
          </a:p>
        </p:txBody>
      </p:sp>
      <p:sp>
        <p:nvSpPr>
          <p:cNvPr id="3" name="Text 1"/>
          <p:cNvSpPr/>
          <p:nvPr/>
        </p:nvSpPr>
        <p:spPr>
          <a:xfrm>
            <a:off x="952500" y="1079500"/>
            <a:ext cx="10595610"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11111"/>
                </a:solidFill>
                <a:latin typeface="Times New Roman" pitchFamily="18" charset="0"/>
                <a:ea typeface="Times New Roman" pitchFamily="18" charset="-122"/>
                <a:cs typeface="Times New Roman" pitchFamily="18" charset="-120"/>
              </a:rPr>
              <a:t>Every Java program must have at least one class. Each class has a name. By convention, class names start with an uppercase letter. In this example, the class name is Welcome.</a:t>
            </a:r>
            <a:endParaRPr lang="en-US" sz="2200" dirty="0"/>
          </a:p>
        </p:txBody>
      </p:sp>
      <p:sp>
        <p:nvSpPr>
          <p:cNvPr id="4" name="Shape 2"/>
          <p:cNvSpPr/>
          <p:nvPr/>
        </p:nvSpPr>
        <p:spPr>
          <a:xfrm>
            <a:off x="1314450" y="2901950"/>
            <a:ext cx="6515100" cy="2298700"/>
          </a:xfrm>
          <a:prstGeom prst="rect">
            <a:avLst/>
          </a:prstGeom>
          <a:solidFill>
            <a:srgbClr val="FFFFFF"/>
          </a:solidFill>
          <a:ln w="12700">
            <a:solidFill>
              <a:srgbClr val="9A9A9A"/>
            </a:solidFill>
            <a:prstDash val="solid"/>
          </a:ln>
        </p:spPr>
      </p:sp>
      <p:sp>
        <p:nvSpPr>
          <p:cNvPr id="5" name="Shape 3"/>
          <p:cNvSpPr/>
          <p:nvPr/>
        </p:nvSpPr>
        <p:spPr>
          <a:xfrm>
            <a:off x="3314700" y="3371850"/>
            <a:ext cx="1066800" cy="292100"/>
          </a:xfrm>
          <a:prstGeom prst="rect">
            <a:avLst/>
          </a:prstGeom>
          <a:solidFill>
            <a:srgbClr val="E6E6E6"/>
          </a:solidFill>
          <a:ln w="12700">
            <a:solidFill>
              <a:srgbClr val="8A8A8A"/>
            </a:solidFill>
            <a:prstDash val="solid"/>
          </a:ln>
        </p:spPr>
      </p:sp>
      <p:sp>
        <p:nvSpPr>
          <p:cNvPr id="6" name="Text 4"/>
          <p:cNvSpPr/>
          <p:nvPr/>
        </p:nvSpPr>
        <p:spPr>
          <a:xfrm>
            <a:off x="1460500" y="2984500"/>
            <a:ext cx="6932930" cy="380153"/>
          </a:xfrm>
          <a:prstGeom prst="rect">
            <a:avLst/>
          </a:prstGeom>
          <a:noFill/>
          <a:ln/>
        </p:spPr>
        <p:txBody>
          <a:bodyPr wrap="square" lIns="0" tIns="0" rIns="0" bIns="0" rtlCol="0" anchor="t">
            <a:normAutofit/>
          </a:bodyPr>
          <a:lstStyle/>
          <a:p>
            <a:pPr marL="0" indent="0" algn="l">
              <a:lnSpc>
                <a:spcPts val="2793"/>
              </a:lnSpc>
              <a:buNone/>
            </a:pPr>
            <a:r>
              <a:rPr lang="en-US" sz="1900" dirty="0">
                <a:solidFill>
                  <a:srgbClr val="222222"/>
                </a:solidFill>
                <a:latin typeface="Courier New" pitchFamily="49" charset="0"/>
                <a:ea typeface="Courier New" pitchFamily="49" charset="-122"/>
                <a:cs typeface="Courier New" pitchFamily="49" charset="-120"/>
              </a:rPr>
              <a:t>// This program prints Welcome to Java!</a:t>
            </a:r>
            <a:endParaRPr lang="en-US" sz="1900" dirty="0"/>
          </a:p>
        </p:txBody>
      </p:sp>
      <p:sp>
        <p:nvSpPr>
          <p:cNvPr id="7" name="Text 5"/>
          <p:cNvSpPr/>
          <p:nvPr/>
        </p:nvSpPr>
        <p:spPr>
          <a:xfrm>
            <a:off x="1460500" y="3340100"/>
            <a:ext cx="6932930" cy="380153"/>
          </a:xfrm>
          <a:prstGeom prst="rect">
            <a:avLst/>
          </a:prstGeom>
          <a:noFill/>
          <a:ln/>
        </p:spPr>
        <p:txBody>
          <a:bodyPr wrap="square" lIns="0" tIns="0" rIns="0" bIns="0" rtlCol="0" anchor="t">
            <a:normAutofit/>
          </a:bodyPr>
          <a:lstStyle/>
          <a:p>
            <a:pPr marL="0" indent="0" algn="l">
              <a:lnSpc>
                <a:spcPts val="2793"/>
              </a:lnSpc>
              <a:buNone/>
            </a:pPr>
            <a:r>
              <a:rPr lang="en-US" sz="1900" dirty="0">
                <a:solidFill>
                  <a:srgbClr val="222222"/>
                </a:solidFill>
                <a:latin typeface="Courier New" pitchFamily="49" charset="0"/>
                <a:ea typeface="Courier New" pitchFamily="49" charset="-122"/>
                <a:cs typeface="Courier New" pitchFamily="49" charset="-120"/>
              </a:rPr>
              <a:t>public class Welcome {</a:t>
            </a:r>
            <a:endParaRPr lang="en-US" sz="1900" dirty="0"/>
          </a:p>
        </p:txBody>
      </p:sp>
      <p:sp>
        <p:nvSpPr>
          <p:cNvPr id="8" name="Text 6"/>
          <p:cNvSpPr/>
          <p:nvPr/>
        </p:nvSpPr>
        <p:spPr>
          <a:xfrm>
            <a:off x="1460500" y="3695700"/>
            <a:ext cx="6932930" cy="380153"/>
          </a:xfrm>
          <a:prstGeom prst="rect">
            <a:avLst/>
          </a:prstGeom>
          <a:noFill/>
          <a:ln/>
        </p:spPr>
        <p:txBody>
          <a:bodyPr wrap="square" lIns="0" tIns="0" rIns="0" bIns="0" rtlCol="0" anchor="t">
            <a:normAutofit/>
          </a:bodyPr>
          <a:lstStyle/>
          <a:p>
            <a:pPr marL="0" indent="0" algn="l">
              <a:lnSpc>
                <a:spcPts val="2793"/>
              </a:lnSpc>
              <a:buNone/>
            </a:pPr>
            <a:r>
              <a:rPr lang="en-US" sz="1900" dirty="0">
                <a:solidFill>
                  <a:srgbClr val="222222"/>
                </a:solidFill>
                <a:latin typeface="Courier New" pitchFamily="49" charset="0"/>
                <a:ea typeface="Courier New" pitchFamily="49" charset="-122"/>
                <a:cs typeface="Courier New" pitchFamily="49" charset="-120"/>
              </a:rPr>
              <a:t>  public static void main(String[] args) {</a:t>
            </a:r>
            <a:endParaRPr lang="en-US" sz="1900" dirty="0"/>
          </a:p>
        </p:txBody>
      </p:sp>
      <p:sp>
        <p:nvSpPr>
          <p:cNvPr id="9" name="Text 7"/>
          <p:cNvSpPr/>
          <p:nvPr/>
        </p:nvSpPr>
        <p:spPr>
          <a:xfrm>
            <a:off x="1460500" y="4051300"/>
            <a:ext cx="6932930" cy="380153"/>
          </a:xfrm>
          <a:prstGeom prst="rect">
            <a:avLst/>
          </a:prstGeom>
          <a:noFill/>
          <a:ln/>
        </p:spPr>
        <p:txBody>
          <a:bodyPr wrap="square" lIns="0" tIns="0" rIns="0" bIns="0" rtlCol="0" anchor="t">
            <a:normAutofit/>
          </a:bodyPr>
          <a:lstStyle/>
          <a:p>
            <a:pPr marL="0" indent="0" algn="l">
              <a:lnSpc>
                <a:spcPts val="2793"/>
              </a:lnSpc>
              <a:buNone/>
            </a:pPr>
            <a:r>
              <a:rPr lang="en-US" sz="1900" dirty="0">
                <a:solidFill>
                  <a:srgbClr val="222222"/>
                </a:solidFill>
                <a:latin typeface="Courier New" pitchFamily="49" charset="0"/>
                <a:ea typeface="Courier New" pitchFamily="49" charset="-122"/>
                <a:cs typeface="Courier New" pitchFamily="49" charset="-120"/>
              </a:rPr>
              <a:t>    System.out.println("Welcome to Java!");</a:t>
            </a:r>
            <a:endParaRPr lang="en-US" sz="1900" dirty="0"/>
          </a:p>
        </p:txBody>
      </p:sp>
      <p:sp>
        <p:nvSpPr>
          <p:cNvPr id="10" name="Text 8"/>
          <p:cNvSpPr/>
          <p:nvPr/>
        </p:nvSpPr>
        <p:spPr>
          <a:xfrm>
            <a:off x="1460500" y="4406900"/>
            <a:ext cx="6932930" cy="380153"/>
          </a:xfrm>
          <a:prstGeom prst="rect">
            <a:avLst/>
          </a:prstGeom>
          <a:noFill/>
          <a:ln/>
        </p:spPr>
        <p:txBody>
          <a:bodyPr wrap="square" lIns="0" tIns="0" rIns="0" bIns="0" rtlCol="0" anchor="t">
            <a:normAutofit/>
          </a:bodyPr>
          <a:lstStyle/>
          <a:p>
            <a:pPr marL="0" indent="0" algn="l">
              <a:lnSpc>
                <a:spcPts val="2793"/>
              </a:lnSpc>
              <a:buNone/>
            </a:pPr>
            <a:r>
              <a:rPr lang="en-US" sz="1900" dirty="0">
                <a:solidFill>
                  <a:srgbClr val="222222"/>
                </a:solidFill>
                <a:latin typeface="Courier New" pitchFamily="49" charset="0"/>
                <a:ea typeface="Courier New" pitchFamily="49" charset="-122"/>
                <a:cs typeface="Courier New" pitchFamily="49" charset="-120"/>
              </a:rPr>
              <a:t>  }</a:t>
            </a:r>
            <a:endParaRPr lang="en-US" sz="1900" dirty="0"/>
          </a:p>
        </p:txBody>
      </p:sp>
      <p:sp>
        <p:nvSpPr>
          <p:cNvPr id="11" name="Text 9"/>
          <p:cNvSpPr/>
          <p:nvPr/>
        </p:nvSpPr>
        <p:spPr>
          <a:xfrm>
            <a:off x="1460500" y="4762500"/>
            <a:ext cx="6932930" cy="380153"/>
          </a:xfrm>
          <a:prstGeom prst="rect">
            <a:avLst/>
          </a:prstGeom>
          <a:noFill/>
          <a:ln/>
        </p:spPr>
        <p:txBody>
          <a:bodyPr wrap="square" lIns="0" tIns="0" rIns="0" bIns="0" rtlCol="0" anchor="t">
            <a:normAutofit/>
          </a:bodyPr>
          <a:lstStyle/>
          <a:p>
            <a:pPr marL="0" indent="0" algn="l">
              <a:lnSpc>
                <a:spcPts val="2793"/>
              </a:lnSpc>
              <a:buNone/>
            </a:pPr>
            <a:r>
              <a:rPr lang="en-US" sz="1900" dirty="0">
                <a:solidFill>
                  <a:srgbClr val="222222"/>
                </a:solidFill>
                <a:latin typeface="Courier New" pitchFamily="49" charset="0"/>
                <a:ea typeface="Courier New" pitchFamily="49" charset="-122"/>
                <a:cs typeface="Courier New" pitchFamily="49" charset="-120"/>
              </a:rPr>
              <a:t>}</a:t>
            </a:r>
            <a:endParaRPr lang="en-US" sz="1900" dirty="0"/>
          </a:p>
        </p:txBody>
      </p:sp>
      <p:sp>
        <p:nvSpPr>
          <p:cNvPr id="12" name="Text 10"/>
          <p:cNvSpPr/>
          <p:nvPr/>
        </p:nvSpPr>
        <p:spPr>
          <a:xfrm>
            <a:off x="812800" y="63906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Main Method</a:t>
            </a:r>
            <a:endParaRPr lang="en-US" sz="3300" dirty="0"/>
          </a:p>
        </p:txBody>
      </p:sp>
      <p:sp>
        <p:nvSpPr>
          <p:cNvPr id="3" name="Text 1"/>
          <p:cNvSpPr/>
          <p:nvPr/>
        </p:nvSpPr>
        <p:spPr>
          <a:xfrm>
            <a:off x="952500" y="1079500"/>
            <a:ext cx="10595610"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11111"/>
                </a:solidFill>
                <a:latin typeface="Times New Roman" pitchFamily="18" charset="0"/>
                <a:ea typeface="Times New Roman" pitchFamily="18" charset="-122"/>
                <a:cs typeface="Times New Roman" pitchFamily="18" charset="-120"/>
              </a:rPr>
              <a:t>Line 2 defines the main method. In order to run a class, the class must contain a method named main. The program is executed from the main method.</a:t>
            </a:r>
            <a:endParaRPr lang="en-US" sz="2200" dirty="0"/>
          </a:p>
        </p:txBody>
      </p:sp>
      <p:sp>
        <p:nvSpPr>
          <p:cNvPr id="4" name="Shape 2"/>
          <p:cNvSpPr/>
          <p:nvPr/>
        </p:nvSpPr>
        <p:spPr>
          <a:xfrm>
            <a:off x="1123950" y="2901950"/>
            <a:ext cx="6845300" cy="2451100"/>
          </a:xfrm>
          <a:prstGeom prst="rect">
            <a:avLst/>
          </a:prstGeom>
          <a:solidFill>
            <a:srgbClr val="FFFFFF"/>
          </a:solidFill>
          <a:ln w="12700">
            <a:solidFill>
              <a:srgbClr val="9A9A9A"/>
            </a:solidFill>
            <a:prstDash val="solid"/>
          </a:ln>
        </p:spPr>
      </p:sp>
      <p:sp>
        <p:nvSpPr>
          <p:cNvPr id="5" name="Shape 3"/>
          <p:cNvSpPr/>
          <p:nvPr/>
        </p:nvSpPr>
        <p:spPr>
          <a:xfrm>
            <a:off x="1549400" y="3778250"/>
            <a:ext cx="5842000" cy="317500"/>
          </a:xfrm>
          <a:prstGeom prst="rect">
            <a:avLst/>
          </a:prstGeom>
          <a:solidFill>
            <a:srgbClr val="E6E6E6"/>
          </a:solidFill>
          <a:ln w="12700">
            <a:solidFill>
              <a:srgbClr val="8A8A8A"/>
            </a:solidFill>
            <a:prstDash val="solid"/>
          </a:ln>
        </p:spPr>
      </p:sp>
      <p:sp>
        <p:nvSpPr>
          <p:cNvPr id="6" name="Text 4"/>
          <p:cNvSpPr/>
          <p:nvPr/>
        </p:nvSpPr>
        <p:spPr>
          <a:xfrm>
            <a:off x="1270000" y="2984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7" name="Text 5"/>
          <p:cNvSpPr/>
          <p:nvPr/>
        </p:nvSpPr>
        <p:spPr>
          <a:xfrm>
            <a:off x="1270000" y="3365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8" name="Text 6"/>
          <p:cNvSpPr/>
          <p:nvPr/>
        </p:nvSpPr>
        <p:spPr>
          <a:xfrm>
            <a:off x="1270000" y="3746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9" name="Text 7"/>
          <p:cNvSpPr/>
          <p:nvPr/>
        </p:nvSpPr>
        <p:spPr>
          <a:xfrm>
            <a:off x="1270000" y="4127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10" name="Text 8"/>
          <p:cNvSpPr/>
          <p:nvPr/>
        </p:nvSpPr>
        <p:spPr>
          <a:xfrm>
            <a:off x="1270000" y="4508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11" name="Text 9"/>
          <p:cNvSpPr/>
          <p:nvPr/>
        </p:nvSpPr>
        <p:spPr>
          <a:xfrm>
            <a:off x="1270000" y="48895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2" name="Text 10"/>
          <p:cNvSpPr/>
          <p:nvPr/>
        </p:nvSpPr>
        <p:spPr>
          <a:xfrm>
            <a:off x="812800" y="63906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49400" y="1657350"/>
            <a:ext cx="5537200" cy="292100"/>
          </a:xfrm>
          <a:prstGeom prst="rect">
            <a:avLst/>
          </a:prstGeom>
          <a:solidFill>
            <a:srgbClr val="E6E6E6"/>
          </a:solidFill>
          <a:ln w="12700">
            <a:solidFill>
              <a:srgbClr val="8A8A8A"/>
            </a:solidFill>
            <a:prstDash val="solid"/>
          </a:ln>
        </p:spPr>
      </p:sp>
      <p:sp>
        <p:nvSpPr>
          <p:cNvPr id="3" name="Text 1"/>
          <p:cNvSpPr/>
          <p:nvPr/>
        </p:nvSpPr>
        <p:spPr>
          <a:xfrm>
            <a:off x="889000" y="12700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1  public class Welcome {</a:t>
            </a:r>
            <a:endParaRPr lang="en-US" sz="1800" dirty="0"/>
          </a:p>
        </p:txBody>
      </p:sp>
      <p:sp>
        <p:nvSpPr>
          <p:cNvPr id="4" name="Text 2"/>
          <p:cNvSpPr/>
          <p:nvPr/>
        </p:nvSpPr>
        <p:spPr>
          <a:xfrm>
            <a:off x="889000" y="16256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2    public static void main(String[] args) {</a:t>
            </a:r>
            <a:endParaRPr lang="en-US" sz="1800" dirty="0"/>
          </a:p>
        </p:txBody>
      </p:sp>
      <p:sp>
        <p:nvSpPr>
          <p:cNvPr id="5" name="Text 3"/>
          <p:cNvSpPr/>
          <p:nvPr/>
        </p:nvSpPr>
        <p:spPr>
          <a:xfrm>
            <a:off x="889000" y="19812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i="1" dirty="0">
                <a:solidFill>
                  <a:srgbClr val="7A7A7A"/>
                </a:solidFill>
                <a:latin typeface="Courier New" pitchFamily="49" charset="0"/>
                <a:ea typeface="Courier New" pitchFamily="49" charset="-122"/>
                <a:cs typeface="Courier New" pitchFamily="49" charset="-120"/>
              </a:rPr>
              <a:t>3      // Display message Welcome to Java! on the console</a:t>
            </a:r>
            <a:endParaRPr lang="en-US" sz="1800" dirty="0"/>
          </a:p>
        </p:txBody>
      </p:sp>
      <p:sp>
        <p:nvSpPr>
          <p:cNvPr id="6" name="Text 4"/>
          <p:cNvSpPr/>
          <p:nvPr/>
        </p:nvSpPr>
        <p:spPr>
          <a:xfrm>
            <a:off x="889000" y="23368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4      System.out.println("Welcome to Java!");</a:t>
            </a:r>
            <a:endParaRPr lang="en-US" sz="1800" dirty="0"/>
          </a:p>
        </p:txBody>
      </p:sp>
      <p:sp>
        <p:nvSpPr>
          <p:cNvPr id="7" name="Text 5"/>
          <p:cNvSpPr/>
          <p:nvPr/>
        </p:nvSpPr>
        <p:spPr>
          <a:xfrm>
            <a:off x="889000" y="26924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5    }</a:t>
            </a:r>
            <a:endParaRPr lang="en-US" sz="1800" dirty="0"/>
          </a:p>
        </p:txBody>
      </p:sp>
      <p:sp>
        <p:nvSpPr>
          <p:cNvPr id="8" name="Text 6"/>
          <p:cNvSpPr/>
          <p:nvPr/>
        </p:nvSpPr>
        <p:spPr>
          <a:xfrm>
            <a:off x="889000" y="30480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6  }</a:t>
            </a:r>
            <a:endParaRPr lang="en-US" sz="1800" dirty="0"/>
          </a:p>
        </p:txBody>
      </p:sp>
      <p:sp>
        <p:nvSpPr>
          <p:cNvPr id="9" name="Text 7"/>
          <p:cNvSpPr/>
          <p:nvPr/>
        </p:nvSpPr>
        <p:spPr>
          <a:xfrm>
            <a:off x="9144000" y="1143000"/>
            <a:ext cx="2877820" cy="930275"/>
          </a:xfrm>
          <a:prstGeom prst="rect">
            <a:avLst/>
          </a:prstGeom>
          <a:noFill/>
          <a:ln/>
        </p:spPr>
        <p:txBody>
          <a:bodyPr wrap="square" lIns="0" tIns="0" rIns="0" bIns="0" rtlCol="0" anchor="t">
            <a:normAutofit/>
          </a:bodyPr>
          <a:lstStyle/>
          <a:p>
            <a:pPr marL="0" indent="0" algn="l">
              <a:lnSpc>
                <a:spcPts val="2375"/>
              </a:lnSpc>
              <a:buNone/>
            </a:pPr>
            <a:r>
              <a:rPr lang="en-US" sz="1900" dirty="0">
                <a:solidFill>
                  <a:srgbClr val="C00000"/>
                </a:solidFill>
                <a:latin typeface="Times New Roman" pitchFamily="18" charset="0"/>
                <a:ea typeface="Times New Roman" pitchFamily="18" charset="-122"/>
                <a:cs typeface="Times New Roman" pitchFamily="18" charset="-120"/>
              </a:rPr>
              <a:t>The program starts the execution from the main method.</a:t>
            </a:r>
            <a:endParaRPr lang="en-US" sz="1900" dirty="0"/>
          </a:p>
        </p:txBody>
      </p:sp>
      <p:sp>
        <p:nvSpPr>
          <p:cNvPr id="10" name="Text 8"/>
          <p:cNvSpPr/>
          <p:nvPr/>
        </p:nvSpPr>
        <p:spPr>
          <a:xfrm>
            <a:off x="812800" y="63906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2450" y="2368550"/>
            <a:ext cx="5397500" cy="292100"/>
          </a:xfrm>
          <a:prstGeom prst="rect">
            <a:avLst/>
          </a:prstGeom>
          <a:solidFill>
            <a:srgbClr val="E6E6E6"/>
          </a:solidFill>
          <a:ln w="12700">
            <a:solidFill>
              <a:srgbClr val="8A8A8A"/>
            </a:solidFill>
            <a:prstDash val="solid"/>
          </a:ln>
        </p:spPr>
      </p:sp>
      <p:sp>
        <p:nvSpPr>
          <p:cNvPr id="3" name="Text 1"/>
          <p:cNvSpPr/>
          <p:nvPr/>
        </p:nvSpPr>
        <p:spPr>
          <a:xfrm>
            <a:off x="889000" y="12700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1  public class Welcome {</a:t>
            </a:r>
            <a:endParaRPr lang="en-US" sz="1800" dirty="0"/>
          </a:p>
        </p:txBody>
      </p:sp>
      <p:sp>
        <p:nvSpPr>
          <p:cNvPr id="4" name="Text 2"/>
          <p:cNvSpPr/>
          <p:nvPr/>
        </p:nvSpPr>
        <p:spPr>
          <a:xfrm>
            <a:off x="889000" y="16256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2    public static void main(String[] args) {</a:t>
            </a:r>
            <a:endParaRPr lang="en-US" sz="1800" dirty="0"/>
          </a:p>
        </p:txBody>
      </p:sp>
      <p:sp>
        <p:nvSpPr>
          <p:cNvPr id="5" name="Text 3"/>
          <p:cNvSpPr/>
          <p:nvPr/>
        </p:nvSpPr>
        <p:spPr>
          <a:xfrm>
            <a:off x="889000" y="19812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i="1" dirty="0">
                <a:solidFill>
                  <a:srgbClr val="7A7A7A"/>
                </a:solidFill>
                <a:latin typeface="Courier New" pitchFamily="49" charset="0"/>
                <a:ea typeface="Courier New" pitchFamily="49" charset="-122"/>
                <a:cs typeface="Courier New" pitchFamily="49" charset="-120"/>
              </a:rPr>
              <a:t>3      // Display message Welcome to Java! on the console</a:t>
            </a:r>
            <a:endParaRPr lang="en-US" sz="1800" dirty="0"/>
          </a:p>
        </p:txBody>
      </p:sp>
      <p:sp>
        <p:nvSpPr>
          <p:cNvPr id="6" name="Text 4"/>
          <p:cNvSpPr/>
          <p:nvPr/>
        </p:nvSpPr>
        <p:spPr>
          <a:xfrm>
            <a:off x="889000" y="23368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4      System.out.println("Welcome to Java!");</a:t>
            </a:r>
            <a:endParaRPr lang="en-US" sz="1800" dirty="0"/>
          </a:p>
        </p:txBody>
      </p:sp>
      <p:sp>
        <p:nvSpPr>
          <p:cNvPr id="7" name="Text 5"/>
          <p:cNvSpPr/>
          <p:nvPr/>
        </p:nvSpPr>
        <p:spPr>
          <a:xfrm>
            <a:off x="889000" y="26924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5    }</a:t>
            </a:r>
            <a:endParaRPr lang="en-US" sz="1800" dirty="0"/>
          </a:p>
        </p:txBody>
      </p:sp>
      <p:sp>
        <p:nvSpPr>
          <p:cNvPr id="8" name="Text 6"/>
          <p:cNvSpPr/>
          <p:nvPr/>
        </p:nvSpPr>
        <p:spPr>
          <a:xfrm>
            <a:off x="889000" y="30480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6  }</a:t>
            </a:r>
            <a:endParaRPr lang="en-US" sz="1800" dirty="0"/>
          </a:p>
        </p:txBody>
      </p:sp>
      <p:sp>
        <p:nvSpPr>
          <p:cNvPr id="9" name="Text 7"/>
          <p:cNvSpPr/>
          <p:nvPr/>
        </p:nvSpPr>
        <p:spPr>
          <a:xfrm>
            <a:off x="1651000" y="3556000"/>
            <a:ext cx="4970780" cy="628650"/>
          </a:xfrm>
          <a:prstGeom prst="rect">
            <a:avLst/>
          </a:prstGeom>
          <a:noFill/>
          <a:ln/>
        </p:spPr>
        <p:txBody>
          <a:bodyPr wrap="square" lIns="0" tIns="0" rIns="0" bIns="0" rtlCol="0" anchor="t">
            <a:normAutofit/>
          </a:bodyPr>
          <a:lstStyle/>
          <a:p>
            <a:pPr marL="0" indent="0" algn="l">
              <a:lnSpc>
                <a:spcPts val="2375"/>
              </a:lnSpc>
              <a:buNone/>
            </a:pPr>
            <a:r>
              <a:rPr lang="en-US" sz="1900" dirty="0">
                <a:solidFill>
                  <a:srgbClr val="C00000"/>
                </a:solidFill>
                <a:latin typeface="Times New Roman" pitchFamily="18" charset="0"/>
                <a:ea typeface="Times New Roman" pitchFamily="18" charset="-122"/>
                <a:cs typeface="Times New Roman" pitchFamily="18" charset="-120"/>
              </a:rPr>
              <a:t>The statement displays Welcome to Java! to the console.</a:t>
            </a:r>
            <a:endParaRPr lang="en-US" sz="1900" dirty="0"/>
          </a:p>
        </p:txBody>
      </p:sp>
      <p:sp>
        <p:nvSpPr>
          <p:cNvPr id="10" name="Shape 8"/>
          <p:cNvSpPr/>
          <p:nvPr/>
        </p:nvSpPr>
        <p:spPr>
          <a:xfrm>
            <a:off x="7121525" y="3565525"/>
            <a:ext cx="3790950" cy="817457"/>
          </a:xfrm>
          <a:prstGeom prst="rect">
            <a:avLst/>
          </a:prstGeom>
          <a:noFill/>
          <a:ln w="19050">
            <a:solidFill>
              <a:srgbClr val="E0C000"/>
            </a:solidFill>
            <a:prstDash val="solid"/>
          </a:ln>
        </p:spPr>
      </p:sp>
      <p:sp>
        <p:nvSpPr>
          <p:cNvPr id="11" name="Text 9"/>
          <p:cNvSpPr/>
          <p:nvPr/>
        </p:nvSpPr>
        <p:spPr>
          <a:xfrm>
            <a:off x="7128933" y="3572932"/>
            <a:ext cx="3776133" cy="307340"/>
          </a:xfrm>
          <a:prstGeom prst="rect">
            <a:avLst/>
          </a:prstGeom>
          <a:solidFill>
            <a:srgbClr val="000080"/>
          </a:solidFill>
          <a:ln/>
        </p:spPr>
        <p:txBody>
          <a:bodyPr wrap="square" lIns="0" tIns="38100" rIns="0" bIns="12700" rtlCol="0" anchor="t">
            <a:normAutofit/>
          </a:bodyPr>
          <a:lstStyle/>
          <a:p>
            <a:pPr marL="0" indent="0" algn="ctr">
              <a:lnSpc>
                <a:spcPts val="1820"/>
              </a:lnSpc>
              <a:buNone/>
            </a:pPr>
            <a:r>
              <a:rPr lang="en-US" sz="1300" b="1" dirty="0">
                <a:solidFill>
                  <a:srgbClr val="FFFFFF"/>
                </a:solidFill>
                <a:latin typeface="Source Sans 3" pitchFamily="34" charset="0"/>
                <a:ea typeface="Source Sans 3" pitchFamily="34" charset="-122"/>
                <a:cs typeface="Source Sans 3" pitchFamily="34" charset="-120"/>
              </a:rPr>
              <a:t>Output</a:t>
            </a:r>
            <a:endParaRPr lang="en-US" sz="1300" dirty="0"/>
          </a:p>
        </p:txBody>
      </p:sp>
      <p:sp>
        <p:nvSpPr>
          <p:cNvPr id="12" name="Text 10"/>
          <p:cNvSpPr/>
          <p:nvPr/>
        </p:nvSpPr>
        <p:spPr>
          <a:xfrm>
            <a:off x="7128933" y="3880275"/>
            <a:ext cx="3776133" cy="495300"/>
          </a:xfrm>
          <a:prstGeom prst="rect">
            <a:avLst/>
          </a:prstGeom>
          <a:solidFill>
            <a:srgbClr val="FFFFFF"/>
          </a:solidFill>
          <a:ln/>
        </p:spPr>
        <p:txBody>
          <a:bodyPr wrap="square" lIns="127000" tIns="114300" rIns="21336" bIns="88900" rtlCol="0" anchor="t">
            <a:normAutofit/>
          </a:bodyPr>
          <a:lstStyle/>
          <a:p>
            <a:pPr marL="0" indent="0" algn="l">
              <a:lnSpc>
                <a:spcPts val="2100"/>
              </a:lnSpc>
              <a:buNone/>
            </a:pPr>
            <a:r>
              <a:rPr lang="en-US" sz="1500" dirty="0">
                <a:solidFill>
                  <a:srgbClr val="111111"/>
                </a:solidFill>
                <a:latin typeface="Courier New" pitchFamily="49" charset="0"/>
                <a:ea typeface="Courier New" pitchFamily="49" charset="-122"/>
                <a:cs typeface="Courier New" pitchFamily="49" charset="-120"/>
              </a:rPr>
              <a:t>Welcome to Java!</a:t>
            </a:r>
            <a:endParaRPr lang="en-US" sz="1500" dirty="0"/>
          </a:p>
        </p:txBody>
      </p:sp>
      <p:sp>
        <p:nvSpPr>
          <p:cNvPr id="13" name="Text 11"/>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549400" y="2724150"/>
            <a:ext cx="190500" cy="292100"/>
          </a:xfrm>
          <a:prstGeom prst="rect">
            <a:avLst/>
          </a:prstGeom>
          <a:solidFill>
            <a:srgbClr val="E6E6E6"/>
          </a:solidFill>
          <a:ln w="12700">
            <a:solidFill>
              <a:srgbClr val="8A8A8A"/>
            </a:solidFill>
            <a:prstDash val="solid"/>
          </a:ln>
        </p:spPr>
      </p:sp>
      <p:sp>
        <p:nvSpPr>
          <p:cNvPr id="3" name="Text 1"/>
          <p:cNvSpPr/>
          <p:nvPr/>
        </p:nvSpPr>
        <p:spPr>
          <a:xfrm>
            <a:off x="889000" y="12700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1  public class Welcome {</a:t>
            </a:r>
            <a:endParaRPr lang="en-US" sz="1800" dirty="0"/>
          </a:p>
        </p:txBody>
      </p:sp>
      <p:sp>
        <p:nvSpPr>
          <p:cNvPr id="4" name="Text 2"/>
          <p:cNvSpPr/>
          <p:nvPr/>
        </p:nvSpPr>
        <p:spPr>
          <a:xfrm>
            <a:off x="889000" y="16256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2    public static void main(String[] args) {</a:t>
            </a:r>
            <a:endParaRPr lang="en-US" sz="1800" dirty="0"/>
          </a:p>
        </p:txBody>
      </p:sp>
      <p:sp>
        <p:nvSpPr>
          <p:cNvPr id="5" name="Text 3"/>
          <p:cNvSpPr/>
          <p:nvPr/>
        </p:nvSpPr>
        <p:spPr>
          <a:xfrm>
            <a:off x="889000" y="19812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i="1" dirty="0">
                <a:solidFill>
                  <a:srgbClr val="7A7A7A"/>
                </a:solidFill>
                <a:latin typeface="Courier New" pitchFamily="49" charset="0"/>
                <a:ea typeface="Courier New" pitchFamily="49" charset="-122"/>
                <a:cs typeface="Courier New" pitchFamily="49" charset="-120"/>
              </a:rPr>
              <a:t>3      // Display message Welcome to Java! on the console</a:t>
            </a:r>
            <a:endParaRPr lang="en-US" sz="1800" dirty="0"/>
          </a:p>
        </p:txBody>
      </p:sp>
      <p:sp>
        <p:nvSpPr>
          <p:cNvPr id="6" name="Text 4"/>
          <p:cNvSpPr/>
          <p:nvPr/>
        </p:nvSpPr>
        <p:spPr>
          <a:xfrm>
            <a:off x="889000" y="23368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4      System.out.println("Welcome to Java!");</a:t>
            </a:r>
            <a:endParaRPr lang="en-US" sz="1800" dirty="0"/>
          </a:p>
        </p:txBody>
      </p:sp>
      <p:sp>
        <p:nvSpPr>
          <p:cNvPr id="7" name="Text 5"/>
          <p:cNvSpPr/>
          <p:nvPr/>
        </p:nvSpPr>
        <p:spPr>
          <a:xfrm>
            <a:off x="889000" y="26924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5    }</a:t>
            </a:r>
            <a:endParaRPr lang="en-US" sz="1800" dirty="0"/>
          </a:p>
        </p:txBody>
      </p:sp>
      <p:sp>
        <p:nvSpPr>
          <p:cNvPr id="8" name="Text 6"/>
          <p:cNvSpPr/>
          <p:nvPr/>
        </p:nvSpPr>
        <p:spPr>
          <a:xfrm>
            <a:off x="889000" y="3048000"/>
            <a:ext cx="8574596" cy="382058"/>
          </a:xfrm>
          <a:prstGeom prst="rect">
            <a:avLst/>
          </a:prstGeom>
          <a:noFill/>
          <a:ln/>
        </p:spPr>
        <p:txBody>
          <a:bodyPr wrap="square" lIns="0" tIns="0" rIns="0" bIns="0" rtlCol="0" anchor="t">
            <a:normAutofit/>
          </a:bodyPr>
          <a:lstStyle/>
          <a:p>
            <a:pPr marL="0" indent="0" algn="l">
              <a:lnSpc>
                <a:spcPts val="2808"/>
              </a:lnSpc>
              <a:buNone/>
            </a:pPr>
            <a:r>
              <a:rPr lang="en-US" sz="1800" dirty="0">
                <a:solidFill>
                  <a:srgbClr val="000000"/>
                </a:solidFill>
                <a:latin typeface="Courier New" pitchFamily="49" charset="0"/>
                <a:ea typeface="Courier New" pitchFamily="49" charset="-122"/>
                <a:cs typeface="Courier New" pitchFamily="49" charset="-120"/>
              </a:rPr>
              <a:t>6  }</a:t>
            </a:r>
            <a:endParaRPr lang="en-US" sz="1800" dirty="0"/>
          </a:p>
        </p:txBody>
      </p:sp>
      <p:sp>
        <p:nvSpPr>
          <p:cNvPr id="9" name="Text 7"/>
          <p:cNvSpPr/>
          <p:nvPr/>
        </p:nvSpPr>
        <p:spPr>
          <a:xfrm>
            <a:off x="1905000" y="3556000"/>
            <a:ext cx="5886450" cy="327025"/>
          </a:xfrm>
          <a:prstGeom prst="rect">
            <a:avLst/>
          </a:prstGeom>
          <a:noFill/>
          <a:ln/>
        </p:spPr>
        <p:txBody>
          <a:bodyPr wrap="square" lIns="0" tIns="0" rIns="0" bIns="0" rtlCol="0" anchor="t">
            <a:normAutofit/>
          </a:bodyPr>
          <a:lstStyle/>
          <a:p>
            <a:pPr marL="0" indent="0" algn="l">
              <a:lnSpc>
                <a:spcPts val="2375"/>
              </a:lnSpc>
              <a:buNone/>
            </a:pPr>
            <a:r>
              <a:rPr lang="en-US" sz="1900" dirty="0">
                <a:solidFill>
                  <a:srgbClr val="C00000"/>
                </a:solidFill>
                <a:latin typeface="Times New Roman" pitchFamily="18" charset="0"/>
                <a:ea typeface="Times New Roman" pitchFamily="18" charset="-122"/>
                <a:cs typeface="Times New Roman" pitchFamily="18" charset="-120"/>
              </a:rPr>
              <a:t>The main method exits. The program is finished.</a:t>
            </a:r>
            <a:endParaRPr lang="en-US" sz="1900" dirty="0"/>
          </a:p>
        </p:txBody>
      </p:sp>
      <p:sp>
        <p:nvSpPr>
          <p:cNvPr id="10" name="Text 8"/>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Statement</a:t>
            </a:r>
            <a:endParaRPr lang="en-US" sz="3300" dirty="0"/>
          </a:p>
        </p:txBody>
      </p:sp>
      <p:sp>
        <p:nvSpPr>
          <p:cNvPr id="3" name="Text 1"/>
          <p:cNvSpPr/>
          <p:nvPr/>
        </p:nvSpPr>
        <p:spPr>
          <a:xfrm>
            <a:off x="952500" y="1079500"/>
            <a:ext cx="10595610" cy="111506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11111"/>
                </a:solidFill>
                <a:latin typeface="Times New Roman" pitchFamily="18" charset="0"/>
                <a:ea typeface="Times New Roman" pitchFamily="18" charset="-122"/>
                <a:cs typeface="Times New Roman" pitchFamily="18" charset="-120"/>
              </a:rPr>
              <a:t>A statement represents an action or a sequence of actions. The statement System.out.println("Welcome to Java!") in the program in Listing 1.1 is a statement to display the greeting "Welcome to Java!".</a:t>
            </a:r>
            <a:endParaRPr lang="en-US" sz="2200" dirty="0"/>
          </a:p>
        </p:txBody>
      </p:sp>
      <p:sp>
        <p:nvSpPr>
          <p:cNvPr id="4" name="Shape 2"/>
          <p:cNvSpPr/>
          <p:nvPr/>
        </p:nvSpPr>
        <p:spPr>
          <a:xfrm>
            <a:off x="1123950" y="3092450"/>
            <a:ext cx="6845300" cy="2451100"/>
          </a:xfrm>
          <a:prstGeom prst="rect">
            <a:avLst/>
          </a:prstGeom>
          <a:solidFill>
            <a:srgbClr val="FFFFFF"/>
          </a:solidFill>
          <a:ln w="12700">
            <a:solidFill>
              <a:srgbClr val="9A9A9A"/>
            </a:solidFill>
            <a:prstDash val="solid"/>
          </a:ln>
        </p:spPr>
      </p:sp>
      <p:sp>
        <p:nvSpPr>
          <p:cNvPr id="5" name="Shape 3"/>
          <p:cNvSpPr/>
          <p:nvPr/>
        </p:nvSpPr>
        <p:spPr>
          <a:xfrm>
            <a:off x="1854200" y="4349750"/>
            <a:ext cx="5994400" cy="317500"/>
          </a:xfrm>
          <a:prstGeom prst="rect">
            <a:avLst/>
          </a:prstGeom>
          <a:solidFill>
            <a:srgbClr val="E6E6E6"/>
          </a:solidFill>
          <a:ln w="12700">
            <a:solidFill>
              <a:srgbClr val="8A8A8A"/>
            </a:solidFill>
            <a:prstDash val="solid"/>
          </a:ln>
        </p:spPr>
      </p:sp>
      <p:sp>
        <p:nvSpPr>
          <p:cNvPr id="6" name="Text 4"/>
          <p:cNvSpPr/>
          <p:nvPr/>
        </p:nvSpPr>
        <p:spPr>
          <a:xfrm>
            <a:off x="1270000" y="3175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7" name="Text 5"/>
          <p:cNvSpPr/>
          <p:nvPr/>
        </p:nvSpPr>
        <p:spPr>
          <a:xfrm>
            <a:off x="1270000" y="3556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8" name="Text 6"/>
          <p:cNvSpPr/>
          <p:nvPr/>
        </p:nvSpPr>
        <p:spPr>
          <a:xfrm>
            <a:off x="1270000" y="3937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9" name="Text 7"/>
          <p:cNvSpPr/>
          <p:nvPr/>
        </p:nvSpPr>
        <p:spPr>
          <a:xfrm>
            <a:off x="1270000" y="4318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10" name="Text 8"/>
          <p:cNvSpPr/>
          <p:nvPr/>
        </p:nvSpPr>
        <p:spPr>
          <a:xfrm>
            <a:off x="1270000" y="4699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11" name="Text 9"/>
          <p:cNvSpPr/>
          <p:nvPr/>
        </p:nvSpPr>
        <p:spPr>
          <a:xfrm>
            <a:off x="1270000" y="5080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2" name="Text 10"/>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Statement Terminator</a:t>
            </a:r>
            <a:endParaRPr lang="en-US" sz="3300" dirty="0"/>
          </a:p>
        </p:txBody>
      </p:sp>
      <p:sp>
        <p:nvSpPr>
          <p:cNvPr id="3" name="Text 1"/>
          <p:cNvSpPr/>
          <p:nvPr/>
        </p:nvSpPr>
        <p:spPr>
          <a:xfrm>
            <a:off x="952500" y="1333500"/>
            <a:ext cx="10595610"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11111"/>
                </a:solidFill>
                <a:latin typeface="Times New Roman" pitchFamily="18" charset="0"/>
                <a:ea typeface="Times New Roman" pitchFamily="18" charset="-122"/>
                <a:cs typeface="Times New Roman" pitchFamily="18" charset="-120"/>
              </a:rPr>
              <a:t>Every statement in Java ends with a semicolon (;).</a:t>
            </a:r>
            <a:endParaRPr lang="en-US" sz="2200" dirty="0"/>
          </a:p>
        </p:txBody>
      </p:sp>
      <p:sp>
        <p:nvSpPr>
          <p:cNvPr id="4" name="Shape 2"/>
          <p:cNvSpPr/>
          <p:nvPr/>
        </p:nvSpPr>
        <p:spPr>
          <a:xfrm>
            <a:off x="1123950" y="2584450"/>
            <a:ext cx="6845300" cy="2451100"/>
          </a:xfrm>
          <a:prstGeom prst="rect">
            <a:avLst/>
          </a:prstGeom>
          <a:solidFill>
            <a:srgbClr val="FFFFFF"/>
          </a:solidFill>
          <a:ln w="12700">
            <a:solidFill>
              <a:srgbClr val="9A9A9A"/>
            </a:solidFill>
            <a:prstDash val="solid"/>
          </a:ln>
        </p:spPr>
      </p:sp>
      <p:sp>
        <p:nvSpPr>
          <p:cNvPr id="5" name="Shape 3"/>
          <p:cNvSpPr/>
          <p:nvPr/>
        </p:nvSpPr>
        <p:spPr>
          <a:xfrm>
            <a:off x="7645400" y="3841750"/>
            <a:ext cx="203200" cy="317500"/>
          </a:xfrm>
          <a:prstGeom prst="rect">
            <a:avLst/>
          </a:prstGeom>
          <a:solidFill>
            <a:srgbClr val="E6E6E6"/>
          </a:solidFill>
          <a:ln w="12700">
            <a:solidFill>
              <a:srgbClr val="8A8A8A"/>
            </a:solidFill>
            <a:prstDash val="solid"/>
          </a:ln>
        </p:spPr>
      </p:sp>
      <p:sp>
        <p:nvSpPr>
          <p:cNvPr id="6" name="Text 4"/>
          <p:cNvSpPr/>
          <p:nvPr/>
        </p:nvSpPr>
        <p:spPr>
          <a:xfrm>
            <a:off x="1270000" y="2667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7" name="Text 5"/>
          <p:cNvSpPr/>
          <p:nvPr/>
        </p:nvSpPr>
        <p:spPr>
          <a:xfrm>
            <a:off x="1270000" y="3048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8" name="Text 6"/>
          <p:cNvSpPr/>
          <p:nvPr/>
        </p:nvSpPr>
        <p:spPr>
          <a:xfrm>
            <a:off x="1270000" y="3429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9" name="Text 7"/>
          <p:cNvSpPr/>
          <p:nvPr/>
        </p:nvSpPr>
        <p:spPr>
          <a:xfrm>
            <a:off x="1270000" y="3810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10" name="Text 8"/>
          <p:cNvSpPr/>
          <p:nvPr/>
        </p:nvSpPr>
        <p:spPr>
          <a:xfrm>
            <a:off x="1270000" y="4191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11" name="Text 9"/>
          <p:cNvSpPr/>
          <p:nvPr/>
        </p:nvSpPr>
        <p:spPr>
          <a:xfrm>
            <a:off x="1270000" y="4572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2" name="Text 10"/>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Reserved words</a:t>
            </a:r>
            <a:endParaRPr lang="en-US" sz="3300" dirty="0"/>
          </a:p>
        </p:txBody>
      </p:sp>
      <p:sp>
        <p:nvSpPr>
          <p:cNvPr id="3" name="Text 1"/>
          <p:cNvSpPr/>
          <p:nvPr/>
        </p:nvSpPr>
        <p:spPr>
          <a:xfrm>
            <a:off x="952500" y="1079500"/>
            <a:ext cx="10595610" cy="111506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11111"/>
                </a:solidFill>
                <a:latin typeface="Times New Roman" pitchFamily="18" charset="0"/>
                <a:ea typeface="Times New Roman" pitchFamily="18" charset="-122"/>
                <a:cs typeface="Times New Roman" pitchFamily="18" charset="-120"/>
              </a:rPr>
              <a:t>Reserved words or keywords are words that have a specific meaning to the compiler and cannot be used for other purposes in the program. For example, when the compiler sees the word class, it understands that the word after class is the name for the class.</a:t>
            </a:r>
            <a:endParaRPr lang="en-US" sz="2200" dirty="0"/>
          </a:p>
        </p:txBody>
      </p:sp>
      <p:sp>
        <p:nvSpPr>
          <p:cNvPr id="4" name="Shape 2"/>
          <p:cNvSpPr/>
          <p:nvPr/>
        </p:nvSpPr>
        <p:spPr>
          <a:xfrm>
            <a:off x="1123950" y="3219450"/>
            <a:ext cx="6845300" cy="2451100"/>
          </a:xfrm>
          <a:prstGeom prst="rect">
            <a:avLst/>
          </a:prstGeom>
          <a:solidFill>
            <a:srgbClr val="FFFFFF"/>
          </a:solidFill>
          <a:ln w="12700">
            <a:solidFill>
              <a:srgbClr val="9A9A9A"/>
            </a:solidFill>
            <a:prstDash val="solid"/>
          </a:ln>
        </p:spPr>
      </p:sp>
      <p:sp>
        <p:nvSpPr>
          <p:cNvPr id="5" name="Shape 3"/>
          <p:cNvSpPr/>
          <p:nvPr/>
        </p:nvSpPr>
        <p:spPr>
          <a:xfrm>
            <a:off x="1244600" y="3714750"/>
            <a:ext cx="1879600" cy="317500"/>
          </a:xfrm>
          <a:prstGeom prst="rect">
            <a:avLst/>
          </a:prstGeom>
          <a:solidFill>
            <a:srgbClr val="E6E6E6"/>
          </a:solidFill>
          <a:ln w="12700">
            <a:solidFill>
              <a:srgbClr val="8A8A8A"/>
            </a:solidFill>
            <a:prstDash val="solid"/>
          </a:ln>
        </p:spPr>
      </p:sp>
      <p:sp>
        <p:nvSpPr>
          <p:cNvPr id="6" name="Shape 4"/>
          <p:cNvSpPr/>
          <p:nvPr/>
        </p:nvSpPr>
        <p:spPr>
          <a:xfrm>
            <a:off x="1549400" y="4095750"/>
            <a:ext cx="2794000" cy="317500"/>
          </a:xfrm>
          <a:prstGeom prst="rect">
            <a:avLst/>
          </a:prstGeom>
          <a:solidFill>
            <a:srgbClr val="E6E6E6"/>
          </a:solidFill>
          <a:ln w="12700">
            <a:solidFill>
              <a:srgbClr val="8A8A8A"/>
            </a:solidFill>
            <a:prstDash val="solid"/>
          </a:ln>
        </p:spPr>
      </p:sp>
      <p:sp>
        <p:nvSpPr>
          <p:cNvPr id="7" name="Text 5"/>
          <p:cNvSpPr/>
          <p:nvPr/>
        </p:nvSpPr>
        <p:spPr>
          <a:xfrm>
            <a:off x="1270000" y="3302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8" name="Text 6"/>
          <p:cNvSpPr/>
          <p:nvPr/>
        </p:nvSpPr>
        <p:spPr>
          <a:xfrm>
            <a:off x="1270000" y="3683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9" name="Text 7"/>
          <p:cNvSpPr/>
          <p:nvPr/>
        </p:nvSpPr>
        <p:spPr>
          <a:xfrm>
            <a:off x="1270000" y="4064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10" name="Text 8"/>
          <p:cNvSpPr/>
          <p:nvPr/>
        </p:nvSpPr>
        <p:spPr>
          <a:xfrm>
            <a:off x="1270000" y="4445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11" name="Text 9"/>
          <p:cNvSpPr/>
          <p:nvPr/>
        </p:nvSpPr>
        <p:spPr>
          <a:xfrm>
            <a:off x="1270000" y="4826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12" name="Text 10"/>
          <p:cNvSpPr/>
          <p:nvPr/>
        </p:nvSpPr>
        <p:spPr>
          <a:xfrm>
            <a:off x="1270000" y="5207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3" name="Text 11"/>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Blocks</a:t>
            </a:r>
            <a:endParaRPr lang="en-US" sz="3300" dirty="0"/>
          </a:p>
        </p:txBody>
      </p:sp>
      <p:sp>
        <p:nvSpPr>
          <p:cNvPr id="3" name="Text 1"/>
          <p:cNvSpPr/>
          <p:nvPr/>
        </p:nvSpPr>
        <p:spPr>
          <a:xfrm>
            <a:off x="952500" y="1079500"/>
            <a:ext cx="10595610"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11111"/>
                </a:solidFill>
                <a:latin typeface="Times New Roman" pitchFamily="18" charset="0"/>
                <a:ea typeface="Times New Roman" pitchFamily="18" charset="-122"/>
                <a:cs typeface="Times New Roman" pitchFamily="18" charset="-120"/>
              </a:rPr>
              <a:t>A pair of braces in a program forms a block that groups components of a program.</a:t>
            </a:r>
            <a:endParaRPr lang="en-US" sz="2200" dirty="0"/>
          </a:p>
        </p:txBody>
      </p:sp>
      <p:sp>
        <p:nvSpPr>
          <p:cNvPr id="4" name="Text 2"/>
          <p:cNvSpPr/>
          <p:nvPr/>
        </p:nvSpPr>
        <p:spPr>
          <a:xfrm>
            <a:off x="1270000" y="2667000"/>
            <a:ext cx="6599365" cy="393488"/>
          </a:xfrm>
          <a:prstGeom prst="rect">
            <a:avLst/>
          </a:prstGeom>
          <a:noFill/>
          <a:ln/>
        </p:spPr>
        <p:txBody>
          <a:bodyPr wrap="square" lIns="0" tIns="0" rIns="0" bIns="0" rtlCol="0" anchor="t">
            <a:normAutofit/>
          </a:bodyPr>
          <a:lstStyle/>
          <a:p>
            <a:pPr marL="0" indent="0" algn="l">
              <a:lnSpc>
                <a:spcPts val="2898"/>
              </a:lnSpc>
              <a:buNone/>
            </a:pPr>
            <a:r>
              <a:rPr lang="en-US" sz="1800" dirty="0">
                <a:solidFill>
                  <a:srgbClr val="000000"/>
                </a:solidFill>
                <a:latin typeface="Courier New" pitchFamily="49" charset="0"/>
                <a:ea typeface="Courier New" pitchFamily="49" charset="-122"/>
                <a:cs typeface="Courier New" pitchFamily="49" charset="-120"/>
              </a:rPr>
              <a:t>public class Test {</a:t>
            </a:r>
            <a:endParaRPr lang="en-US" sz="1800" dirty="0"/>
          </a:p>
        </p:txBody>
      </p:sp>
      <p:sp>
        <p:nvSpPr>
          <p:cNvPr id="5" name="Text 3"/>
          <p:cNvSpPr/>
          <p:nvPr/>
        </p:nvSpPr>
        <p:spPr>
          <a:xfrm>
            <a:off x="1270000" y="3035300"/>
            <a:ext cx="6599365" cy="393488"/>
          </a:xfrm>
          <a:prstGeom prst="rect">
            <a:avLst/>
          </a:prstGeom>
          <a:noFill/>
          <a:ln/>
        </p:spPr>
        <p:txBody>
          <a:bodyPr wrap="square" lIns="0" tIns="0" rIns="0" bIns="0" rtlCol="0" anchor="t">
            <a:normAutofit/>
          </a:bodyPr>
          <a:lstStyle/>
          <a:p>
            <a:pPr marL="0" indent="0" algn="l">
              <a:lnSpc>
                <a:spcPts val="2898"/>
              </a:lnSpc>
              <a:buNone/>
            </a:pPr>
            <a:r>
              <a:rPr lang="en-US" sz="1800" dirty="0">
                <a:solidFill>
                  <a:srgbClr val="000000"/>
                </a:solidFill>
                <a:latin typeface="Courier New" pitchFamily="49" charset="0"/>
                <a:ea typeface="Courier New" pitchFamily="49" charset="-122"/>
                <a:cs typeface="Courier New" pitchFamily="49" charset="-120"/>
              </a:rPr>
              <a:t>  public static void main(String[] args) {</a:t>
            </a:r>
            <a:endParaRPr lang="en-US" sz="1800" dirty="0"/>
          </a:p>
        </p:txBody>
      </p:sp>
      <p:sp>
        <p:nvSpPr>
          <p:cNvPr id="6" name="Text 4"/>
          <p:cNvSpPr/>
          <p:nvPr/>
        </p:nvSpPr>
        <p:spPr>
          <a:xfrm>
            <a:off x="1270000" y="3403600"/>
            <a:ext cx="6599365" cy="393488"/>
          </a:xfrm>
          <a:prstGeom prst="rect">
            <a:avLst/>
          </a:prstGeom>
          <a:noFill/>
          <a:ln/>
        </p:spPr>
        <p:txBody>
          <a:bodyPr wrap="square" lIns="0" tIns="0" rIns="0" bIns="0" rtlCol="0" anchor="t">
            <a:normAutofit/>
          </a:bodyPr>
          <a:lstStyle/>
          <a:p>
            <a:pPr marL="0" indent="0" algn="l">
              <a:lnSpc>
                <a:spcPts val="2898"/>
              </a:lnSpc>
              <a:buNone/>
            </a:pPr>
            <a:r>
              <a:rPr lang="en-US" sz="1800" dirty="0">
                <a:solidFill>
                  <a:srgbClr val="000000"/>
                </a:solidFill>
                <a:latin typeface="Courier New" pitchFamily="49" charset="0"/>
                <a:ea typeface="Courier New" pitchFamily="49" charset="-122"/>
                <a:cs typeface="Courier New" pitchFamily="49" charset="-120"/>
              </a:rPr>
              <a:t>    System.out.println("Welcome to Java!");</a:t>
            </a:r>
            <a:endParaRPr lang="en-US" sz="1800" dirty="0"/>
          </a:p>
        </p:txBody>
      </p:sp>
      <p:sp>
        <p:nvSpPr>
          <p:cNvPr id="7" name="Text 5"/>
          <p:cNvSpPr/>
          <p:nvPr/>
        </p:nvSpPr>
        <p:spPr>
          <a:xfrm>
            <a:off x="1270000" y="3771900"/>
            <a:ext cx="6599365" cy="393488"/>
          </a:xfrm>
          <a:prstGeom prst="rect">
            <a:avLst/>
          </a:prstGeom>
          <a:noFill/>
          <a:ln/>
        </p:spPr>
        <p:txBody>
          <a:bodyPr wrap="square" lIns="0" tIns="0" rIns="0" bIns="0" rtlCol="0" anchor="t">
            <a:normAutofit/>
          </a:bodyPr>
          <a:lstStyle/>
          <a:p>
            <a:pPr marL="0" indent="0" algn="l">
              <a:lnSpc>
                <a:spcPts val="2898"/>
              </a:lnSpc>
              <a:buNone/>
            </a:pPr>
            <a:r>
              <a:rPr lang="en-US" sz="1800" dirty="0">
                <a:solidFill>
                  <a:srgbClr val="000000"/>
                </a:solidFill>
                <a:latin typeface="Courier New" pitchFamily="49" charset="0"/>
                <a:ea typeface="Courier New" pitchFamily="49" charset="-122"/>
                <a:cs typeface="Courier New" pitchFamily="49" charset="-120"/>
              </a:rPr>
              <a:t>  }</a:t>
            </a:r>
            <a:endParaRPr lang="en-US" sz="1800" dirty="0"/>
          </a:p>
        </p:txBody>
      </p:sp>
      <p:sp>
        <p:nvSpPr>
          <p:cNvPr id="8" name="Text 6"/>
          <p:cNvSpPr/>
          <p:nvPr/>
        </p:nvSpPr>
        <p:spPr>
          <a:xfrm>
            <a:off x="1270000" y="4140200"/>
            <a:ext cx="6599365" cy="393488"/>
          </a:xfrm>
          <a:prstGeom prst="rect">
            <a:avLst/>
          </a:prstGeom>
          <a:noFill/>
          <a:ln/>
        </p:spPr>
        <p:txBody>
          <a:bodyPr wrap="square" lIns="0" tIns="0" rIns="0" bIns="0" rtlCol="0" anchor="t">
            <a:normAutofit/>
          </a:bodyPr>
          <a:lstStyle/>
          <a:p>
            <a:pPr marL="0" indent="0" algn="l">
              <a:lnSpc>
                <a:spcPts val="2898"/>
              </a:lnSpc>
              <a:buNone/>
            </a:pPr>
            <a:r>
              <a:rPr lang="en-US" sz="1800" dirty="0">
                <a:solidFill>
                  <a:srgbClr val="000000"/>
                </a:solidFill>
                <a:latin typeface="Courier New" pitchFamily="49" charset="0"/>
                <a:ea typeface="Courier New" pitchFamily="49" charset="-122"/>
                <a:cs typeface="Courier New" pitchFamily="49" charset="-120"/>
              </a:rPr>
              <a:t>}</a:t>
            </a:r>
            <a:endParaRPr lang="en-US" sz="1800" dirty="0"/>
          </a:p>
        </p:txBody>
      </p:sp>
      <p:pic>
        <p:nvPicPr>
          <p:cNvPr id="9" name="Image 0" descr="connector"/>
          <p:cNvPicPr>
            <a:picLocks noChangeAspect="1"/>
          </p:cNvPicPr>
          <p:nvPr/>
        </p:nvPicPr>
        <p:blipFill>
          <a:blip r:embed="rId3"/>
          <a:srcRect/>
          <a:stretch/>
        </p:blipFill>
        <p:spPr>
          <a:xfrm>
            <a:off x="3873500" y="2800350"/>
            <a:ext cx="6083300" cy="101600"/>
          </a:xfrm>
          <a:prstGeom prst="rect">
            <a:avLst/>
          </a:prstGeom>
        </p:spPr>
      </p:pic>
      <p:pic>
        <p:nvPicPr>
          <p:cNvPr id="10" name="Image 1" descr="connector"/>
          <p:cNvPicPr>
            <a:picLocks noChangeAspect="1"/>
          </p:cNvPicPr>
          <p:nvPr/>
        </p:nvPicPr>
        <p:blipFill>
          <a:blip r:embed="rId4"/>
          <a:srcRect/>
          <a:stretch/>
        </p:blipFill>
        <p:spPr>
          <a:xfrm>
            <a:off x="1403350" y="4273550"/>
            <a:ext cx="8553450" cy="101600"/>
          </a:xfrm>
          <a:prstGeom prst="rect">
            <a:avLst/>
          </a:prstGeom>
        </p:spPr>
      </p:pic>
      <p:pic>
        <p:nvPicPr>
          <p:cNvPr id="11" name="Image 2" descr="connector"/>
          <p:cNvPicPr>
            <a:picLocks noChangeAspect="1"/>
          </p:cNvPicPr>
          <p:nvPr/>
        </p:nvPicPr>
        <p:blipFill>
          <a:blip r:embed="rId5"/>
          <a:srcRect/>
          <a:stretch/>
        </p:blipFill>
        <p:spPr>
          <a:xfrm>
            <a:off x="9855200" y="2800350"/>
            <a:ext cx="101600" cy="1574800"/>
          </a:xfrm>
          <a:prstGeom prst="rect">
            <a:avLst/>
          </a:prstGeom>
        </p:spPr>
      </p:pic>
      <p:pic>
        <p:nvPicPr>
          <p:cNvPr id="12" name="Image 3" descr="connector"/>
          <p:cNvPicPr>
            <a:picLocks noChangeAspect="1"/>
          </p:cNvPicPr>
          <p:nvPr/>
        </p:nvPicPr>
        <p:blipFill>
          <a:blip r:embed="rId6"/>
          <a:srcRect/>
          <a:stretch/>
        </p:blipFill>
        <p:spPr>
          <a:xfrm>
            <a:off x="7029450" y="3168650"/>
            <a:ext cx="1530350" cy="101600"/>
          </a:xfrm>
          <a:prstGeom prst="rect">
            <a:avLst/>
          </a:prstGeom>
        </p:spPr>
      </p:pic>
      <p:pic>
        <p:nvPicPr>
          <p:cNvPr id="13" name="Image 4" descr="connector"/>
          <p:cNvPicPr>
            <a:picLocks noChangeAspect="1"/>
          </p:cNvPicPr>
          <p:nvPr/>
        </p:nvPicPr>
        <p:blipFill>
          <a:blip r:embed="rId7"/>
          <a:srcRect/>
          <a:stretch/>
        </p:blipFill>
        <p:spPr>
          <a:xfrm>
            <a:off x="1676400" y="3905250"/>
            <a:ext cx="6883400" cy="101600"/>
          </a:xfrm>
          <a:prstGeom prst="rect">
            <a:avLst/>
          </a:prstGeom>
        </p:spPr>
      </p:pic>
      <p:pic>
        <p:nvPicPr>
          <p:cNvPr id="14" name="Image 5" descr="connector"/>
          <p:cNvPicPr>
            <a:picLocks noChangeAspect="1"/>
          </p:cNvPicPr>
          <p:nvPr/>
        </p:nvPicPr>
        <p:blipFill>
          <a:blip r:embed="rId8"/>
          <a:srcRect/>
          <a:stretch/>
        </p:blipFill>
        <p:spPr>
          <a:xfrm>
            <a:off x="8458200" y="3168650"/>
            <a:ext cx="101600" cy="838200"/>
          </a:xfrm>
          <a:prstGeom prst="rect">
            <a:avLst/>
          </a:prstGeom>
        </p:spPr>
      </p:pic>
      <p:sp>
        <p:nvSpPr>
          <p:cNvPr id="15" name="Text 7"/>
          <p:cNvSpPr/>
          <p:nvPr/>
        </p:nvSpPr>
        <p:spPr>
          <a:xfrm>
            <a:off x="10020300" y="3460750"/>
            <a:ext cx="1447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11111"/>
                </a:solidFill>
                <a:latin typeface="Times New Roman" pitchFamily="18" charset="0"/>
                <a:ea typeface="Times New Roman" pitchFamily="18" charset="-122"/>
                <a:cs typeface="Times New Roman" pitchFamily="18" charset="-120"/>
              </a:rPr>
              <a:t>Class block</a:t>
            </a:r>
            <a:endParaRPr lang="en-US" sz="1600" dirty="0"/>
          </a:p>
        </p:txBody>
      </p:sp>
      <p:sp>
        <p:nvSpPr>
          <p:cNvPr id="16" name="Text 8"/>
          <p:cNvSpPr/>
          <p:nvPr/>
        </p:nvSpPr>
        <p:spPr>
          <a:xfrm>
            <a:off x="8604250" y="3206750"/>
            <a:ext cx="1447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11111"/>
                </a:solidFill>
                <a:latin typeface="Times New Roman" pitchFamily="18" charset="0"/>
                <a:ea typeface="Times New Roman" pitchFamily="18" charset="-122"/>
                <a:cs typeface="Times New Roman" pitchFamily="18" charset="-120"/>
              </a:rPr>
              <a:t>Method block</a:t>
            </a:r>
            <a:endParaRPr lang="en-US" sz="1600" dirty="0"/>
          </a:p>
        </p:txBody>
      </p:sp>
      <p:sp>
        <p:nvSpPr>
          <p:cNvPr id="17" name="Text 9"/>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Special Symbols</a:t>
            </a:r>
            <a:endParaRPr lang="en-US" sz="3300" dirty="0"/>
          </a:p>
        </p:txBody>
      </p:sp>
      <p:graphicFrame>
        <p:nvGraphicFramePr>
          <p:cNvPr id="3" name="Table 0"/>
          <p:cNvGraphicFramePr>
            <a:graphicFrameLocks noGrp="1"/>
          </p:cNvGraphicFramePr>
          <p:nvPr>
            <p:extLst>
              <p:ext uri="{D42A27DB-BD31-4B8C-83A1-F6EECF244321}">
                <p14:modId xmlns:p14="http://schemas.microsoft.com/office/powerpoint/2010/main" xmlns="" val="1579011935"/>
              </p:ext>
            </p:extLst>
          </p:nvPr>
        </p:nvGraphicFramePr>
        <p:xfrm>
          <a:off x="825500" y="1409700"/>
          <a:ext cx="10553700" cy="3733800"/>
        </p:xfrm>
        <a:graphic>
          <a:graphicData uri="http://schemas.openxmlformats.org/drawingml/2006/table">
            <a:tbl>
              <a:tblPr/>
              <a:tblGrid>
                <a:gridCol w="1688592">
                  <a:extLst>
                    <a:ext uri="{9D8B030D-6E8A-4147-A177-3AD203B41FA5}">
                      <a16:colId xmlns:a16="http://schemas.microsoft.com/office/drawing/2014/main" xmlns="" val="20000"/>
                    </a:ext>
                  </a:extLst>
                </a:gridCol>
                <a:gridCol w="3588258">
                  <a:extLst>
                    <a:ext uri="{9D8B030D-6E8A-4147-A177-3AD203B41FA5}">
                      <a16:colId xmlns:a16="http://schemas.microsoft.com/office/drawing/2014/main" xmlns="" val="20001"/>
                    </a:ext>
                  </a:extLst>
                </a:gridCol>
                <a:gridCol w="5276850">
                  <a:extLst>
                    <a:ext uri="{9D8B030D-6E8A-4147-A177-3AD203B41FA5}">
                      <a16:colId xmlns:a16="http://schemas.microsoft.com/office/drawing/2014/main" xmlns="" val="20002"/>
                    </a:ext>
                  </a:extLst>
                </a:gridCol>
              </a:tblGrid>
              <a:tr h="457200">
                <a:tc>
                  <a:txBody>
                    <a:bodyPr/>
                    <a:lstStyle/>
                    <a:p>
                      <a:pPr marL="0" indent="0">
                        <a:lnSpc>
                          <a:spcPts val="2100"/>
                        </a:lnSpc>
                        <a:buNone/>
                      </a:pPr>
                      <a:r>
                        <a:rPr lang="en-US" sz="1500" b="1" dirty="0">
                          <a:solidFill>
                            <a:srgbClr val="111111"/>
                          </a:solidFill>
                          <a:latin typeface="Courier New" pitchFamily="49" charset="0"/>
                          <a:ea typeface="Courier New" pitchFamily="49" charset="-122"/>
                          <a:cs typeface="Courier New" pitchFamily="49" charset="-120"/>
                        </a:rPr>
                        <a:t>Character</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100"/>
                        </a:lnSpc>
                        <a:buNone/>
                      </a:pPr>
                      <a:r>
                        <a:rPr lang="en-US" sz="1500" b="1" dirty="0">
                          <a:solidFill>
                            <a:srgbClr val="111111"/>
                          </a:solidFill>
                          <a:latin typeface="Courier New" pitchFamily="49" charset="0"/>
                          <a:ea typeface="Courier New" pitchFamily="49" charset="-122"/>
                          <a:cs typeface="Courier New" pitchFamily="49" charset="-120"/>
                        </a:rPr>
                        <a:t>Name</a:t>
                      </a:r>
                      <a:endParaRPr lang="en-US" sz="1500" dirty="0">
                        <a:latin typeface="Courier New" charset="0"/>
                        <a:ea typeface="Courier New" charset="0"/>
                        <a:cs typeface="Courier New" charset="0"/>
                      </a:endParaRPr>
                    </a:p>
                  </a:txBody>
                  <a:tcPr marL="101600" marR="101600" marT="88900" marB="889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100"/>
                        </a:lnSpc>
                        <a:buNone/>
                      </a:pPr>
                      <a:r>
                        <a:rPr lang="en-US" sz="1500" b="1" dirty="0">
                          <a:solidFill>
                            <a:srgbClr val="111111"/>
                          </a:solidFill>
                          <a:latin typeface="Courier New" pitchFamily="49" charset="0"/>
                          <a:ea typeface="Courier New" pitchFamily="49" charset="-122"/>
                          <a:cs typeface="Courier New" pitchFamily="49" charset="-120"/>
                        </a:rPr>
                        <a:t>Description</a:t>
                      </a:r>
                      <a:endParaRPr lang="en-US" sz="1500" dirty="0">
                        <a:latin typeface="Courier New" charset="0"/>
                        <a:ea typeface="Courier New" charset="0"/>
                        <a:cs typeface="Courier New" charset="0"/>
                      </a:endParaRPr>
                    </a:p>
                  </a:txBody>
                  <a:tcPr marL="101600" marR="101600" marT="88900" marB="889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xmlns="" val="10000"/>
                  </a:ext>
                </a:extLst>
              </a:tr>
              <a:tr h="457200">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Opening and closing braces</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Denotes a block to enclose statements.</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xmlns="" val="10001"/>
                  </a:ext>
                </a:extLst>
              </a:tr>
              <a:tr h="723900">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Opening and closing parentheses</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Used with methods.</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xmlns="" val="10002"/>
                  </a:ext>
                </a:extLst>
              </a:tr>
              <a:tr h="457200">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Opening and closing brackets</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Denotes an array.</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xmlns="" val="10003"/>
                  </a:ext>
                </a:extLst>
              </a:tr>
              <a:tr h="457200">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Double slashes</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Precedes a comment line.</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xmlns="" val="10004"/>
                  </a:ext>
                </a:extLst>
              </a:tr>
              <a:tr h="723900">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 "</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Opening and closing quotation marks</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Enclosing a string (i.e., sequence of characters).</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xmlns="" val="10005"/>
                  </a:ext>
                </a:extLst>
              </a:tr>
              <a:tr h="457200">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Semicolon</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11111"/>
                          </a:solidFill>
                          <a:latin typeface="Courier New" pitchFamily="49" charset="0"/>
                          <a:ea typeface="Courier New" pitchFamily="49" charset="-122"/>
                          <a:cs typeface="Courier New" pitchFamily="49" charset="-120"/>
                        </a:rPr>
                        <a:t>Marks the end of a statement.</a:t>
                      </a:r>
                      <a:endParaRPr lang="en-US" sz="1500" dirty="0">
                        <a:latin typeface="Courier New" charset="0"/>
                        <a:ea typeface="Courier New" charset="0"/>
                        <a:cs typeface="Courier New" charset="0"/>
                      </a:endParaRPr>
                    </a:p>
                  </a:txBody>
                  <a:tcPr marL="101600" marR="1016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xmlns="" val="10006"/>
                  </a:ext>
                </a:extLst>
              </a:tr>
            </a:tbl>
          </a:graphicData>
        </a:graphic>
      </p:graphicFrame>
      <p:sp>
        <p:nvSpPr>
          <p:cNvPr id="4" name="Text 1"/>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4304" y="355600"/>
            <a:ext cx="10883392" cy="638810"/>
          </a:xfrm>
          <a:prstGeom prst="rect">
            <a:avLst/>
          </a:prstGeom>
          <a:noFill/>
          <a:ln/>
        </p:spPr>
        <p:txBody>
          <a:bodyPr wrap="square" lIns="0" tIns="0" rIns="0" bIns="0" rtlCol="0" anchor="t">
            <a:normAutofit/>
          </a:bodyPr>
          <a:lstStyle/>
          <a:p>
            <a:pPr marL="0" indent="0" algn="ctr">
              <a:lnSpc>
                <a:spcPts val="4830"/>
              </a:lnSpc>
              <a:buNone/>
            </a:pPr>
            <a:r>
              <a:rPr lang="en-US" sz="4200" dirty="0">
                <a:solidFill>
                  <a:srgbClr val="111111"/>
                </a:solidFill>
                <a:latin typeface="Times New Roman" pitchFamily="18" charset="0"/>
                <a:ea typeface="Times New Roman" pitchFamily="18" charset="-122"/>
                <a:cs typeface="Times New Roman" pitchFamily="18" charset="-120"/>
              </a:rPr>
              <a:t>{ … }</a:t>
            </a:r>
            <a:endParaRPr lang="en-US" sz="4200" dirty="0"/>
          </a:p>
        </p:txBody>
      </p:sp>
      <p:sp>
        <p:nvSpPr>
          <p:cNvPr id="3" name="Shape 1"/>
          <p:cNvSpPr/>
          <p:nvPr/>
        </p:nvSpPr>
        <p:spPr>
          <a:xfrm>
            <a:off x="1123950" y="2457450"/>
            <a:ext cx="6845300" cy="2451100"/>
          </a:xfrm>
          <a:prstGeom prst="rect">
            <a:avLst/>
          </a:prstGeom>
          <a:solidFill>
            <a:srgbClr val="FFFFFF"/>
          </a:solidFill>
          <a:ln w="12700">
            <a:solidFill>
              <a:srgbClr val="9A9A9A"/>
            </a:solidFill>
            <a:prstDash val="solid"/>
          </a:ln>
        </p:spPr>
      </p:sp>
      <p:sp>
        <p:nvSpPr>
          <p:cNvPr id="4" name="Shape 2"/>
          <p:cNvSpPr/>
          <p:nvPr/>
        </p:nvSpPr>
        <p:spPr>
          <a:xfrm>
            <a:off x="4445000" y="2952750"/>
            <a:ext cx="203200" cy="317500"/>
          </a:xfrm>
          <a:prstGeom prst="rect">
            <a:avLst/>
          </a:prstGeom>
          <a:solidFill>
            <a:srgbClr val="E6E6E6"/>
          </a:solidFill>
          <a:ln w="12700">
            <a:solidFill>
              <a:srgbClr val="8A8A8A"/>
            </a:solidFill>
            <a:prstDash val="solid"/>
          </a:ln>
        </p:spPr>
      </p:sp>
      <p:sp>
        <p:nvSpPr>
          <p:cNvPr id="5" name="Shape 3"/>
          <p:cNvSpPr/>
          <p:nvPr/>
        </p:nvSpPr>
        <p:spPr>
          <a:xfrm>
            <a:off x="7493000" y="3333750"/>
            <a:ext cx="203200" cy="317500"/>
          </a:xfrm>
          <a:prstGeom prst="rect">
            <a:avLst/>
          </a:prstGeom>
          <a:solidFill>
            <a:srgbClr val="E6E6E6"/>
          </a:solidFill>
          <a:ln w="12700">
            <a:solidFill>
              <a:srgbClr val="8A8A8A"/>
            </a:solidFill>
            <a:prstDash val="solid"/>
          </a:ln>
        </p:spPr>
      </p:sp>
      <p:sp>
        <p:nvSpPr>
          <p:cNvPr id="6" name="Shape 4"/>
          <p:cNvSpPr/>
          <p:nvPr/>
        </p:nvSpPr>
        <p:spPr>
          <a:xfrm>
            <a:off x="1549400" y="4095750"/>
            <a:ext cx="203200" cy="317500"/>
          </a:xfrm>
          <a:prstGeom prst="rect">
            <a:avLst/>
          </a:prstGeom>
          <a:solidFill>
            <a:srgbClr val="E6E6E6"/>
          </a:solidFill>
          <a:ln w="12700">
            <a:solidFill>
              <a:srgbClr val="8A8A8A"/>
            </a:solidFill>
            <a:prstDash val="solid"/>
          </a:ln>
        </p:spPr>
      </p:sp>
      <p:sp>
        <p:nvSpPr>
          <p:cNvPr id="7" name="Shape 5"/>
          <p:cNvSpPr/>
          <p:nvPr/>
        </p:nvSpPr>
        <p:spPr>
          <a:xfrm>
            <a:off x="1244600" y="4476750"/>
            <a:ext cx="203200" cy="317500"/>
          </a:xfrm>
          <a:prstGeom prst="rect">
            <a:avLst/>
          </a:prstGeom>
          <a:solidFill>
            <a:srgbClr val="E6E6E6"/>
          </a:solidFill>
          <a:ln w="12700">
            <a:solidFill>
              <a:srgbClr val="8A8A8A"/>
            </a:solidFill>
            <a:prstDash val="solid"/>
          </a:ln>
        </p:spPr>
      </p:sp>
      <p:sp>
        <p:nvSpPr>
          <p:cNvPr id="8" name="Text 6"/>
          <p:cNvSpPr/>
          <p:nvPr/>
        </p:nvSpPr>
        <p:spPr>
          <a:xfrm>
            <a:off x="1270000" y="2540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9" name="Text 7"/>
          <p:cNvSpPr/>
          <p:nvPr/>
        </p:nvSpPr>
        <p:spPr>
          <a:xfrm>
            <a:off x="1270000" y="2921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10" name="Text 8"/>
          <p:cNvSpPr/>
          <p:nvPr/>
        </p:nvSpPr>
        <p:spPr>
          <a:xfrm>
            <a:off x="1270000" y="3302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11" name="Text 9"/>
          <p:cNvSpPr/>
          <p:nvPr/>
        </p:nvSpPr>
        <p:spPr>
          <a:xfrm>
            <a:off x="1270000" y="3683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12" name="Text 10"/>
          <p:cNvSpPr/>
          <p:nvPr/>
        </p:nvSpPr>
        <p:spPr>
          <a:xfrm>
            <a:off x="1270000" y="4064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13" name="Text 11"/>
          <p:cNvSpPr/>
          <p:nvPr/>
        </p:nvSpPr>
        <p:spPr>
          <a:xfrm>
            <a:off x="1270000" y="4445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4" name="Text 12"/>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4304" y="355600"/>
            <a:ext cx="10883392" cy="638810"/>
          </a:xfrm>
          <a:prstGeom prst="rect">
            <a:avLst/>
          </a:prstGeom>
          <a:noFill/>
          <a:ln/>
        </p:spPr>
        <p:txBody>
          <a:bodyPr wrap="square" lIns="0" tIns="0" rIns="0" bIns="0" rtlCol="0" anchor="t">
            <a:normAutofit/>
          </a:bodyPr>
          <a:lstStyle/>
          <a:p>
            <a:pPr marL="0" indent="0" algn="ctr">
              <a:lnSpc>
                <a:spcPts val="4830"/>
              </a:lnSpc>
              <a:buNone/>
            </a:pPr>
            <a:r>
              <a:rPr lang="en-US" sz="4200" dirty="0">
                <a:solidFill>
                  <a:srgbClr val="111111"/>
                </a:solidFill>
                <a:latin typeface="Times New Roman" pitchFamily="18" charset="0"/>
                <a:ea typeface="Times New Roman" pitchFamily="18" charset="-122"/>
                <a:cs typeface="Times New Roman" pitchFamily="18" charset="-120"/>
              </a:rPr>
              <a:t>( … )</a:t>
            </a:r>
            <a:endParaRPr lang="en-US" sz="4200" dirty="0"/>
          </a:p>
        </p:txBody>
      </p:sp>
      <p:sp>
        <p:nvSpPr>
          <p:cNvPr id="3" name="Shape 1"/>
          <p:cNvSpPr/>
          <p:nvPr/>
        </p:nvSpPr>
        <p:spPr>
          <a:xfrm>
            <a:off x="1123950" y="2457450"/>
            <a:ext cx="6845300" cy="2451100"/>
          </a:xfrm>
          <a:prstGeom prst="rect">
            <a:avLst/>
          </a:prstGeom>
          <a:solidFill>
            <a:srgbClr val="FFFFFF"/>
          </a:solidFill>
          <a:ln w="12700">
            <a:solidFill>
              <a:srgbClr val="9A9A9A"/>
            </a:solidFill>
            <a:prstDash val="solid"/>
          </a:ln>
        </p:spPr>
      </p:sp>
      <p:sp>
        <p:nvSpPr>
          <p:cNvPr id="4" name="Shape 2"/>
          <p:cNvSpPr/>
          <p:nvPr/>
        </p:nvSpPr>
        <p:spPr>
          <a:xfrm>
            <a:off x="5054600" y="3333750"/>
            <a:ext cx="203200" cy="317500"/>
          </a:xfrm>
          <a:prstGeom prst="rect">
            <a:avLst/>
          </a:prstGeom>
          <a:solidFill>
            <a:srgbClr val="E6E6E6"/>
          </a:solidFill>
          <a:ln w="12700">
            <a:solidFill>
              <a:srgbClr val="8A8A8A"/>
            </a:solidFill>
            <a:prstDash val="solid"/>
          </a:ln>
        </p:spPr>
      </p:sp>
      <p:sp>
        <p:nvSpPr>
          <p:cNvPr id="5" name="Shape 3"/>
          <p:cNvSpPr/>
          <p:nvPr/>
        </p:nvSpPr>
        <p:spPr>
          <a:xfrm>
            <a:off x="7188200" y="3333750"/>
            <a:ext cx="203200" cy="317500"/>
          </a:xfrm>
          <a:prstGeom prst="rect">
            <a:avLst/>
          </a:prstGeom>
          <a:solidFill>
            <a:srgbClr val="E6E6E6"/>
          </a:solidFill>
          <a:ln w="12700">
            <a:solidFill>
              <a:srgbClr val="8A8A8A"/>
            </a:solidFill>
            <a:prstDash val="solid"/>
          </a:ln>
        </p:spPr>
      </p:sp>
      <p:sp>
        <p:nvSpPr>
          <p:cNvPr id="6" name="Shape 4"/>
          <p:cNvSpPr/>
          <p:nvPr/>
        </p:nvSpPr>
        <p:spPr>
          <a:xfrm>
            <a:off x="4597400" y="3714750"/>
            <a:ext cx="203200" cy="317500"/>
          </a:xfrm>
          <a:prstGeom prst="rect">
            <a:avLst/>
          </a:prstGeom>
          <a:solidFill>
            <a:srgbClr val="E6E6E6"/>
          </a:solidFill>
          <a:ln w="12700">
            <a:solidFill>
              <a:srgbClr val="8A8A8A"/>
            </a:solidFill>
            <a:prstDash val="solid"/>
          </a:ln>
        </p:spPr>
      </p:sp>
      <p:sp>
        <p:nvSpPr>
          <p:cNvPr id="7" name="Shape 5"/>
          <p:cNvSpPr/>
          <p:nvPr/>
        </p:nvSpPr>
        <p:spPr>
          <a:xfrm>
            <a:off x="7493000" y="3714750"/>
            <a:ext cx="203200" cy="317500"/>
          </a:xfrm>
          <a:prstGeom prst="rect">
            <a:avLst/>
          </a:prstGeom>
          <a:solidFill>
            <a:srgbClr val="E6E6E6"/>
          </a:solidFill>
          <a:ln w="12700">
            <a:solidFill>
              <a:srgbClr val="8A8A8A"/>
            </a:solidFill>
            <a:prstDash val="solid"/>
          </a:ln>
        </p:spPr>
      </p:sp>
      <p:sp>
        <p:nvSpPr>
          <p:cNvPr id="8" name="Text 6"/>
          <p:cNvSpPr/>
          <p:nvPr/>
        </p:nvSpPr>
        <p:spPr>
          <a:xfrm>
            <a:off x="1270000" y="2540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9" name="Text 7"/>
          <p:cNvSpPr/>
          <p:nvPr/>
        </p:nvSpPr>
        <p:spPr>
          <a:xfrm>
            <a:off x="1270000" y="2921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10" name="Text 8"/>
          <p:cNvSpPr/>
          <p:nvPr/>
        </p:nvSpPr>
        <p:spPr>
          <a:xfrm>
            <a:off x="1270000" y="3302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11" name="Text 9"/>
          <p:cNvSpPr/>
          <p:nvPr/>
        </p:nvSpPr>
        <p:spPr>
          <a:xfrm>
            <a:off x="1270000" y="3683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12" name="Text 10"/>
          <p:cNvSpPr/>
          <p:nvPr/>
        </p:nvSpPr>
        <p:spPr>
          <a:xfrm>
            <a:off x="1270000" y="4064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13" name="Text 11"/>
          <p:cNvSpPr/>
          <p:nvPr/>
        </p:nvSpPr>
        <p:spPr>
          <a:xfrm>
            <a:off x="1270000" y="4445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4" name="Text 12"/>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4304" y="355600"/>
            <a:ext cx="10883392" cy="638810"/>
          </a:xfrm>
          <a:prstGeom prst="rect">
            <a:avLst/>
          </a:prstGeom>
          <a:noFill/>
          <a:ln/>
        </p:spPr>
        <p:txBody>
          <a:bodyPr wrap="square" lIns="0" tIns="0" rIns="0" bIns="0" rtlCol="0" anchor="t">
            <a:normAutofit/>
          </a:bodyPr>
          <a:lstStyle/>
          <a:p>
            <a:pPr marL="0" indent="0" algn="ctr">
              <a:lnSpc>
                <a:spcPts val="4830"/>
              </a:lnSpc>
              <a:buNone/>
            </a:pPr>
            <a:r>
              <a:rPr lang="en-US" sz="4200" dirty="0">
                <a:solidFill>
                  <a:srgbClr val="111111"/>
                </a:solidFill>
                <a:latin typeface="Times New Roman" pitchFamily="18" charset="0"/>
                <a:ea typeface="Times New Roman" pitchFamily="18" charset="-122"/>
                <a:cs typeface="Times New Roman" pitchFamily="18" charset="-120"/>
              </a:rPr>
              <a:t>;</a:t>
            </a:r>
            <a:endParaRPr lang="en-US" sz="4200" dirty="0"/>
          </a:p>
        </p:txBody>
      </p:sp>
      <p:sp>
        <p:nvSpPr>
          <p:cNvPr id="3" name="Shape 1"/>
          <p:cNvSpPr/>
          <p:nvPr/>
        </p:nvSpPr>
        <p:spPr>
          <a:xfrm>
            <a:off x="1123950" y="2457450"/>
            <a:ext cx="6845300" cy="2451100"/>
          </a:xfrm>
          <a:prstGeom prst="rect">
            <a:avLst/>
          </a:prstGeom>
          <a:solidFill>
            <a:srgbClr val="FFFFFF"/>
          </a:solidFill>
          <a:ln w="12700">
            <a:solidFill>
              <a:srgbClr val="9A9A9A"/>
            </a:solidFill>
            <a:prstDash val="solid"/>
          </a:ln>
        </p:spPr>
      </p:sp>
      <p:sp>
        <p:nvSpPr>
          <p:cNvPr id="4" name="Shape 2"/>
          <p:cNvSpPr/>
          <p:nvPr/>
        </p:nvSpPr>
        <p:spPr>
          <a:xfrm>
            <a:off x="7645400" y="3714750"/>
            <a:ext cx="203200" cy="317500"/>
          </a:xfrm>
          <a:prstGeom prst="rect">
            <a:avLst/>
          </a:prstGeom>
          <a:solidFill>
            <a:srgbClr val="E6E6E6"/>
          </a:solidFill>
          <a:ln w="12700">
            <a:solidFill>
              <a:srgbClr val="8A8A8A"/>
            </a:solidFill>
            <a:prstDash val="solid"/>
          </a:ln>
        </p:spPr>
      </p:sp>
      <p:sp>
        <p:nvSpPr>
          <p:cNvPr id="5" name="Text 3"/>
          <p:cNvSpPr/>
          <p:nvPr/>
        </p:nvSpPr>
        <p:spPr>
          <a:xfrm>
            <a:off x="1270000" y="2540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6" name="Text 4"/>
          <p:cNvSpPr/>
          <p:nvPr/>
        </p:nvSpPr>
        <p:spPr>
          <a:xfrm>
            <a:off x="1270000" y="2921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7" name="Text 5"/>
          <p:cNvSpPr/>
          <p:nvPr/>
        </p:nvSpPr>
        <p:spPr>
          <a:xfrm>
            <a:off x="1270000" y="3302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8" name="Text 6"/>
          <p:cNvSpPr/>
          <p:nvPr/>
        </p:nvSpPr>
        <p:spPr>
          <a:xfrm>
            <a:off x="1270000" y="3683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9" name="Text 7"/>
          <p:cNvSpPr/>
          <p:nvPr/>
        </p:nvSpPr>
        <p:spPr>
          <a:xfrm>
            <a:off x="1270000" y="4064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10" name="Text 8"/>
          <p:cNvSpPr/>
          <p:nvPr/>
        </p:nvSpPr>
        <p:spPr>
          <a:xfrm>
            <a:off x="1270000" y="4445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1" name="Text 9"/>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4304" y="355600"/>
            <a:ext cx="10883392" cy="638810"/>
          </a:xfrm>
          <a:prstGeom prst="rect">
            <a:avLst/>
          </a:prstGeom>
          <a:noFill/>
          <a:ln/>
        </p:spPr>
        <p:txBody>
          <a:bodyPr wrap="square" lIns="0" tIns="0" rIns="0" bIns="0" rtlCol="0" anchor="t">
            <a:normAutofit/>
          </a:bodyPr>
          <a:lstStyle/>
          <a:p>
            <a:pPr marL="0" indent="0" algn="ctr">
              <a:lnSpc>
                <a:spcPts val="4830"/>
              </a:lnSpc>
              <a:buNone/>
            </a:pPr>
            <a:r>
              <a:rPr lang="en-US" sz="4200" dirty="0">
                <a:solidFill>
                  <a:srgbClr val="111111"/>
                </a:solidFill>
                <a:latin typeface="Times New Roman" pitchFamily="18" charset="0"/>
                <a:ea typeface="Times New Roman" pitchFamily="18" charset="-122"/>
                <a:cs typeface="Times New Roman" pitchFamily="18" charset="-120"/>
              </a:rPr>
              <a:t>// …</a:t>
            </a:r>
            <a:endParaRPr lang="en-US" sz="4200" dirty="0"/>
          </a:p>
        </p:txBody>
      </p:sp>
      <p:sp>
        <p:nvSpPr>
          <p:cNvPr id="3" name="Shape 1"/>
          <p:cNvSpPr/>
          <p:nvPr/>
        </p:nvSpPr>
        <p:spPr>
          <a:xfrm>
            <a:off x="1123950" y="2457450"/>
            <a:ext cx="6845300" cy="2451100"/>
          </a:xfrm>
          <a:prstGeom prst="rect">
            <a:avLst/>
          </a:prstGeom>
          <a:solidFill>
            <a:srgbClr val="FFFFFF"/>
          </a:solidFill>
          <a:ln w="12700">
            <a:solidFill>
              <a:srgbClr val="9A9A9A"/>
            </a:solidFill>
            <a:prstDash val="solid"/>
          </a:ln>
        </p:spPr>
      </p:sp>
      <p:sp>
        <p:nvSpPr>
          <p:cNvPr id="4" name="Shape 2"/>
          <p:cNvSpPr/>
          <p:nvPr/>
        </p:nvSpPr>
        <p:spPr>
          <a:xfrm>
            <a:off x="1244600" y="2571750"/>
            <a:ext cx="355600" cy="317500"/>
          </a:xfrm>
          <a:prstGeom prst="rect">
            <a:avLst/>
          </a:prstGeom>
          <a:solidFill>
            <a:srgbClr val="E6E6E6"/>
          </a:solidFill>
          <a:ln w="12700">
            <a:solidFill>
              <a:srgbClr val="8A8A8A"/>
            </a:solidFill>
            <a:prstDash val="solid"/>
          </a:ln>
        </p:spPr>
      </p:sp>
      <p:sp>
        <p:nvSpPr>
          <p:cNvPr id="5" name="Text 3"/>
          <p:cNvSpPr/>
          <p:nvPr/>
        </p:nvSpPr>
        <p:spPr>
          <a:xfrm>
            <a:off x="1270000" y="2540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This program prints Welcome to Java!</a:t>
            </a:r>
            <a:endParaRPr lang="en-US" sz="2000" dirty="0"/>
          </a:p>
        </p:txBody>
      </p:sp>
      <p:sp>
        <p:nvSpPr>
          <p:cNvPr id="6" name="Text 4"/>
          <p:cNvSpPr/>
          <p:nvPr/>
        </p:nvSpPr>
        <p:spPr>
          <a:xfrm>
            <a:off x="1270000" y="2921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public class Welcome {</a:t>
            </a:r>
            <a:endParaRPr lang="en-US" sz="2000" dirty="0"/>
          </a:p>
        </p:txBody>
      </p:sp>
      <p:sp>
        <p:nvSpPr>
          <p:cNvPr id="7" name="Text 5"/>
          <p:cNvSpPr/>
          <p:nvPr/>
        </p:nvSpPr>
        <p:spPr>
          <a:xfrm>
            <a:off x="1270000" y="3302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public static void main(String[] args) {</a:t>
            </a:r>
            <a:endParaRPr lang="en-US" sz="2000" dirty="0"/>
          </a:p>
        </p:txBody>
      </p:sp>
      <p:sp>
        <p:nvSpPr>
          <p:cNvPr id="8" name="Text 6"/>
          <p:cNvSpPr/>
          <p:nvPr/>
        </p:nvSpPr>
        <p:spPr>
          <a:xfrm>
            <a:off x="1270000" y="3683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System.out.println("Welcome to Java!");</a:t>
            </a:r>
            <a:endParaRPr lang="en-US" sz="2000" dirty="0"/>
          </a:p>
        </p:txBody>
      </p:sp>
      <p:sp>
        <p:nvSpPr>
          <p:cNvPr id="9" name="Text 7"/>
          <p:cNvSpPr/>
          <p:nvPr/>
        </p:nvSpPr>
        <p:spPr>
          <a:xfrm>
            <a:off x="1270000" y="4064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  }</a:t>
            </a:r>
            <a:endParaRPr lang="en-US" sz="2000" dirty="0"/>
          </a:p>
        </p:txBody>
      </p:sp>
      <p:sp>
        <p:nvSpPr>
          <p:cNvPr id="10" name="Text 8"/>
          <p:cNvSpPr/>
          <p:nvPr/>
        </p:nvSpPr>
        <p:spPr>
          <a:xfrm>
            <a:off x="1270000" y="4445000"/>
            <a:ext cx="7273036" cy="406400"/>
          </a:xfrm>
          <a:prstGeom prst="rect">
            <a:avLst/>
          </a:prstGeom>
          <a:noFill/>
          <a:ln/>
        </p:spPr>
        <p:txBody>
          <a:bodyPr wrap="square" lIns="0" tIns="0" rIns="0" bIns="0" rtlCol="0" anchor="t">
            <a:normAutofit/>
          </a:bodyPr>
          <a:lstStyle/>
          <a:p>
            <a:pPr marL="0" indent="0" algn="l">
              <a:lnSpc>
                <a:spcPts val="3000"/>
              </a:lnSpc>
              <a:buNone/>
            </a:pPr>
            <a:r>
              <a:rPr lang="en-US" sz="2000" b="1" dirty="0">
                <a:solidFill>
                  <a:srgbClr val="000000"/>
                </a:solidFill>
                <a:latin typeface="Courier New" pitchFamily="49" charset="0"/>
                <a:ea typeface="Courier New" pitchFamily="49" charset="-122"/>
                <a:cs typeface="Courier New" pitchFamily="49" charset="-120"/>
              </a:rPr>
              <a:t>}</a:t>
            </a:r>
            <a:endParaRPr lang="en-US" sz="2000" dirty="0"/>
          </a:p>
        </p:txBody>
      </p:sp>
      <p:sp>
        <p:nvSpPr>
          <p:cNvPr id="12" name="Text 10"/>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Comments</a:t>
            </a:r>
            <a:endParaRPr lang="en-US" sz="3300" dirty="0"/>
          </a:p>
        </p:txBody>
      </p:sp>
      <p:sp>
        <p:nvSpPr>
          <p:cNvPr id="3" name="Text 1"/>
          <p:cNvSpPr/>
          <p:nvPr/>
        </p:nvSpPr>
        <p:spPr>
          <a:xfrm>
            <a:off x="952500" y="12700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C-style comments (multi-lines)</a:t>
            </a:r>
            <a:endParaRPr lang="en-US" sz="2400" dirty="0"/>
          </a:p>
        </p:txBody>
      </p:sp>
      <p:sp>
        <p:nvSpPr>
          <p:cNvPr id="4" name="Text 2"/>
          <p:cNvSpPr/>
          <p:nvPr/>
        </p:nvSpPr>
        <p:spPr>
          <a:xfrm>
            <a:off x="1409700" y="1841500"/>
            <a:ext cx="10124694" cy="725170"/>
          </a:xfrm>
          <a:prstGeom prst="rect">
            <a:avLst/>
          </a:prstGeom>
          <a:noFill/>
          <a:ln/>
        </p:spPr>
        <p:txBody>
          <a:bodyPr wrap="square" lIns="0" tIns="0" rIns="0" bIns="0" rtlCol="0" anchor="t">
            <a:normAutofit/>
          </a:bodyPr>
          <a:lstStyle/>
          <a:p>
            <a:pPr marL="0" indent="0" algn="l">
              <a:lnSpc>
                <a:spcPts val="2755"/>
              </a:lnSpc>
              <a:buNone/>
            </a:pPr>
            <a:r>
              <a:rPr lang="en-US" sz="1900" b="1" dirty="0">
                <a:solidFill>
                  <a:srgbClr val="111111"/>
                </a:solidFill>
                <a:latin typeface="Courier New" pitchFamily="49" charset="0"/>
                <a:ea typeface="Courier New" pitchFamily="49" charset="-122"/>
                <a:cs typeface="Courier New" pitchFamily="49" charset="-120"/>
              </a:rPr>
              <a:t>/* this comment is so long</a:t>
            </a:r>
            <a:endParaRPr lang="en-US" sz="1900" dirty="0"/>
          </a:p>
          <a:p>
            <a:pPr marL="0" indent="0" algn="l">
              <a:lnSpc>
                <a:spcPts val="2755"/>
              </a:lnSpc>
              <a:buNone/>
            </a:pPr>
            <a:r>
              <a:rPr lang="en-US" sz="1900" b="1" dirty="0">
                <a:solidFill>
                  <a:srgbClr val="111111"/>
                </a:solidFill>
                <a:latin typeface="Courier New" pitchFamily="49" charset="0"/>
                <a:ea typeface="Courier New" pitchFamily="49" charset="-122"/>
                <a:cs typeface="Courier New" pitchFamily="49" charset="-120"/>
              </a:rPr>
              <a:t>   that it needs two lines */</a:t>
            </a:r>
            <a:endParaRPr lang="en-US" sz="1900" dirty="0"/>
          </a:p>
        </p:txBody>
      </p:sp>
      <p:sp>
        <p:nvSpPr>
          <p:cNvPr id="5" name="Text 3"/>
          <p:cNvSpPr/>
          <p:nvPr/>
        </p:nvSpPr>
        <p:spPr>
          <a:xfrm>
            <a:off x="952500" y="2731765"/>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Comments on a single line</a:t>
            </a:r>
            <a:endParaRPr lang="en-US" sz="2400" dirty="0"/>
          </a:p>
        </p:txBody>
      </p:sp>
      <p:sp>
        <p:nvSpPr>
          <p:cNvPr id="6" name="Text 4"/>
          <p:cNvSpPr/>
          <p:nvPr/>
        </p:nvSpPr>
        <p:spPr>
          <a:xfrm>
            <a:off x="1409700" y="3303265"/>
            <a:ext cx="10124694" cy="375285"/>
          </a:xfrm>
          <a:prstGeom prst="rect">
            <a:avLst/>
          </a:prstGeom>
          <a:noFill/>
          <a:ln/>
        </p:spPr>
        <p:txBody>
          <a:bodyPr wrap="square" lIns="0" tIns="0" rIns="0" bIns="0" rtlCol="0" anchor="t">
            <a:normAutofit/>
          </a:bodyPr>
          <a:lstStyle/>
          <a:p>
            <a:pPr marL="0" indent="0" algn="l">
              <a:lnSpc>
                <a:spcPts val="2755"/>
              </a:lnSpc>
              <a:buNone/>
            </a:pPr>
            <a:r>
              <a:rPr lang="en-US" sz="1900" b="1" dirty="0">
                <a:solidFill>
                  <a:srgbClr val="111111"/>
                </a:solidFill>
                <a:latin typeface="Courier New" pitchFamily="49" charset="0"/>
                <a:ea typeface="Courier New" pitchFamily="49" charset="-122"/>
                <a:cs typeface="Courier New" pitchFamily="49" charset="-120"/>
              </a:rPr>
              <a:t>// comment on one line</a:t>
            </a:r>
            <a:endParaRPr lang="en-US" sz="1900" dirty="0"/>
          </a:p>
        </p:txBody>
      </p:sp>
      <p:sp>
        <p:nvSpPr>
          <p:cNvPr id="7" name="Text 5"/>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Appropriate Comments</a:t>
            </a:r>
            <a:endParaRPr lang="en-US" sz="3300" dirty="0"/>
          </a:p>
        </p:txBody>
      </p:sp>
      <p:sp>
        <p:nvSpPr>
          <p:cNvPr id="3" name="Text 1"/>
          <p:cNvSpPr/>
          <p:nvPr/>
        </p:nvSpPr>
        <p:spPr>
          <a:xfrm>
            <a:off x="952500" y="1333500"/>
            <a:ext cx="10595610" cy="1263650"/>
          </a:xfrm>
          <a:prstGeom prst="rect">
            <a:avLst/>
          </a:prstGeom>
          <a:noFill/>
          <a:ln/>
        </p:spPr>
        <p:txBody>
          <a:bodyPr wrap="square" lIns="0" tIns="0" rIns="0" bIns="0" rtlCol="0" anchor="t">
            <a:normAutofit/>
          </a:bodyPr>
          <a:lstStyle/>
          <a:p>
            <a:pPr marL="0" indent="0" algn="l">
              <a:lnSpc>
                <a:spcPts val="3250"/>
              </a:lnSpc>
              <a:buNone/>
            </a:pPr>
            <a:r>
              <a:rPr lang="en-US" sz="2500" dirty="0">
                <a:solidFill>
                  <a:srgbClr val="111111"/>
                </a:solidFill>
                <a:latin typeface="Times New Roman" pitchFamily="18" charset="0"/>
                <a:ea typeface="Times New Roman" pitchFamily="18" charset="-122"/>
                <a:cs typeface="Times New Roman" pitchFamily="18" charset="-120"/>
              </a:rPr>
              <a:t>Include a summary at the beginning of the program to explain what the program does, its key features, its supporting data structures, and any unique techniques it uses.</a:t>
            </a:r>
            <a:endParaRPr lang="en-US" sz="2500" dirty="0"/>
          </a:p>
        </p:txBody>
      </p:sp>
      <p:sp>
        <p:nvSpPr>
          <p:cNvPr id="4" name="Text 2"/>
          <p:cNvSpPr/>
          <p:nvPr/>
        </p:nvSpPr>
        <p:spPr>
          <a:xfrm>
            <a:off x="952500" y="3556000"/>
            <a:ext cx="10595610" cy="850900"/>
          </a:xfrm>
          <a:prstGeom prst="rect">
            <a:avLst/>
          </a:prstGeom>
          <a:noFill/>
          <a:ln/>
        </p:spPr>
        <p:txBody>
          <a:bodyPr wrap="square" lIns="0" tIns="0" rIns="0" bIns="0" rtlCol="0" anchor="t">
            <a:normAutofit/>
          </a:bodyPr>
          <a:lstStyle/>
          <a:p>
            <a:pPr marL="0" indent="0" algn="l">
              <a:lnSpc>
                <a:spcPts val="3250"/>
              </a:lnSpc>
              <a:buNone/>
            </a:pPr>
            <a:r>
              <a:rPr lang="en-US" sz="2500" dirty="0">
                <a:solidFill>
                  <a:srgbClr val="111111"/>
                </a:solidFill>
                <a:latin typeface="Times New Roman" pitchFamily="18" charset="0"/>
                <a:ea typeface="Times New Roman" pitchFamily="18" charset="-122"/>
                <a:cs typeface="Times New Roman" pitchFamily="18" charset="-120"/>
              </a:rPr>
              <a:t>Include your name, class section, instructor, date, and a brief description at the beginning of the program.</a:t>
            </a:r>
            <a:endParaRPr lang="en-US" sz="2500" dirty="0"/>
          </a:p>
        </p:txBody>
      </p:sp>
      <p:sp>
        <p:nvSpPr>
          <p:cNvPr id="5" name="Text 3"/>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Naming Conventions</a:t>
            </a:r>
            <a:endParaRPr lang="en-US" sz="3300" dirty="0"/>
          </a:p>
        </p:txBody>
      </p:sp>
      <p:sp>
        <p:nvSpPr>
          <p:cNvPr id="3" name="Text 1"/>
          <p:cNvSpPr/>
          <p:nvPr/>
        </p:nvSpPr>
        <p:spPr>
          <a:xfrm>
            <a:off x="952500" y="1397000"/>
            <a:ext cx="10595610" cy="471170"/>
          </a:xfrm>
          <a:prstGeom prst="rect">
            <a:avLst/>
          </a:prstGeom>
          <a:noFill/>
          <a:ln/>
        </p:spPr>
        <p:txBody>
          <a:bodyPr wrap="square" lIns="0" tIns="0" rIns="0" bIns="0" rtlCol="0" anchor="t">
            <a:normAutofit/>
          </a:bodyPr>
          <a:lstStyle/>
          <a:p>
            <a:pPr marL="0" indent="0" algn="l">
              <a:lnSpc>
                <a:spcPts val="3510"/>
              </a:lnSpc>
              <a:buNone/>
            </a:pPr>
            <a:r>
              <a:rPr lang="en-US" sz="2700" dirty="0">
                <a:solidFill>
                  <a:srgbClr val="111111"/>
                </a:solidFill>
                <a:latin typeface="Times New Roman" pitchFamily="18" charset="0"/>
                <a:ea typeface="Times New Roman" pitchFamily="18" charset="-122"/>
                <a:cs typeface="Times New Roman" pitchFamily="18" charset="-120"/>
              </a:rPr>
              <a:t>▫  Choose meaningful and descriptive names.</a:t>
            </a:r>
            <a:endParaRPr lang="en-US" sz="2700" dirty="0"/>
          </a:p>
        </p:txBody>
      </p:sp>
      <p:sp>
        <p:nvSpPr>
          <p:cNvPr id="4" name="Text 2"/>
          <p:cNvSpPr/>
          <p:nvPr/>
        </p:nvSpPr>
        <p:spPr>
          <a:xfrm>
            <a:off x="952500" y="2095500"/>
            <a:ext cx="10595610" cy="471170"/>
          </a:xfrm>
          <a:prstGeom prst="rect">
            <a:avLst/>
          </a:prstGeom>
          <a:noFill/>
          <a:ln/>
        </p:spPr>
        <p:txBody>
          <a:bodyPr wrap="square" lIns="0" tIns="0" rIns="0" bIns="0" rtlCol="0" anchor="t">
            <a:normAutofit/>
          </a:bodyPr>
          <a:lstStyle/>
          <a:p>
            <a:pPr marL="0" indent="0" algn="l">
              <a:lnSpc>
                <a:spcPts val="3510"/>
              </a:lnSpc>
              <a:buNone/>
            </a:pPr>
            <a:r>
              <a:rPr lang="en-US" sz="2700" dirty="0">
                <a:solidFill>
                  <a:srgbClr val="111111"/>
                </a:solidFill>
                <a:latin typeface="Times New Roman" pitchFamily="18" charset="0"/>
                <a:ea typeface="Times New Roman" pitchFamily="18" charset="-122"/>
                <a:cs typeface="Times New Roman" pitchFamily="18" charset="-120"/>
              </a:rPr>
              <a:t>▫  Class names:</a:t>
            </a:r>
            <a:endParaRPr lang="en-US" sz="2700" dirty="0"/>
          </a:p>
        </p:txBody>
      </p:sp>
      <p:sp>
        <p:nvSpPr>
          <p:cNvPr id="5" name="Text 3"/>
          <p:cNvSpPr/>
          <p:nvPr/>
        </p:nvSpPr>
        <p:spPr>
          <a:xfrm>
            <a:off x="952500" y="2794000"/>
            <a:ext cx="10595610" cy="784860"/>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111111"/>
                </a:solidFill>
                <a:latin typeface="Times New Roman" pitchFamily="18" charset="0"/>
                <a:ea typeface="Times New Roman" pitchFamily="18" charset="-122"/>
                <a:cs typeface="Times New Roman" pitchFamily="18" charset="-120"/>
              </a:rPr>
              <a:t>– Capitalize the first letter of each word in the name. For example, the class name ComputeExpression.</a:t>
            </a:r>
            <a:endParaRPr lang="en-US" sz="2300" dirty="0"/>
          </a:p>
        </p:txBody>
      </p:sp>
      <p:sp>
        <p:nvSpPr>
          <p:cNvPr id="6" name="Text 4"/>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Block Styles</a:t>
            </a:r>
            <a:endParaRPr lang="en-US" sz="3300" dirty="0"/>
          </a:p>
        </p:txBody>
      </p:sp>
      <p:sp>
        <p:nvSpPr>
          <p:cNvPr id="3" name="Text 1"/>
          <p:cNvSpPr/>
          <p:nvPr/>
        </p:nvSpPr>
        <p:spPr>
          <a:xfrm>
            <a:off x="952500" y="1079500"/>
            <a:ext cx="10595610"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11111"/>
                </a:solidFill>
                <a:latin typeface="Times New Roman" pitchFamily="18" charset="0"/>
                <a:ea typeface="Times New Roman" pitchFamily="18" charset="-122"/>
                <a:cs typeface="Times New Roman" pitchFamily="18" charset="-120"/>
              </a:rPr>
              <a:t>Use end-of-line style for braces.</a:t>
            </a:r>
            <a:endParaRPr lang="en-US" sz="2200" dirty="0"/>
          </a:p>
        </p:txBody>
      </p:sp>
      <p:sp>
        <p:nvSpPr>
          <p:cNvPr id="4" name="Shape 2"/>
          <p:cNvSpPr/>
          <p:nvPr/>
        </p:nvSpPr>
        <p:spPr>
          <a:xfrm>
            <a:off x="3409950" y="1695450"/>
            <a:ext cx="4864100" cy="1943100"/>
          </a:xfrm>
          <a:prstGeom prst="rect">
            <a:avLst/>
          </a:prstGeom>
          <a:solidFill>
            <a:srgbClr val="FFFFFF"/>
          </a:solidFill>
          <a:ln w="12700">
            <a:solidFill>
              <a:srgbClr val="9A9A9A"/>
            </a:solidFill>
            <a:prstDash val="solid"/>
          </a:ln>
        </p:spPr>
      </p:sp>
      <p:sp>
        <p:nvSpPr>
          <p:cNvPr id="5" name="Text 3"/>
          <p:cNvSpPr/>
          <p:nvPr/>
        </p:nvSpPr>
        <p:spPr>
          <a:xfrm>
            <a:off x="3556000" y="1778000"/>
            <a:ext cx="5232400"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public class Test</a:t>
            </a:r>
            <a:endParaRPr lang="en-US" sz="1500" dirty="0"/>
          </a:p>
        </p:txBody>
      </p:sp>
      <p:sp>
        <p:nvSpPr>
          <p:cNvPr id="6" name="Text 4"/>
          <p:cNvSpPr/>
          <p:nvPr/>
        </p:nvSpPr>
        <p:spPr>
          <a:xfrm>
            <a:off x="3556000" y="2032000"/>
            <a:ext cx="5232400"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a:t>
            </a:r>
            <a:endParaRPr lang="en-US" sz="1500" dirty="0"/>
          </a:p>
        </p:txBody>
      </p:sp>
      <p:sp>
        <p:nvSpPr>
          <p:cNvPr id="7" name="Text 5"/>
          <p:cNvSpPr/>
          <p:nvPr/>
        </p:nvSpPr>
        <p:spPr>
          <a:xfrm>
            <a:off x="3556000" y="2286000"/>
            <a:ext cx="5232400"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  public static void main(String[] args)</a:t>
            </a:r>
            <a:endParaRPr lang="en-US" sz="1500" dirty="0"/>
          </a:p>
        </p:txBody>
      </p:sp>
      <p:sp>
        <p:nvSpPr>
          <p:cNvPr id="8" name="Text 6"/>
          <p:cNvSpPr/>
          <p:nvPr/>
        </p:nvSpPr>
        <p:spPr>
          <a:xfrm>
            <a:off x="3556000" y="2540000"/>
            <a:ext cx="5232400"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  {</a:t>
            </a:r>
            <a:endParaRPr lang="en-US" sz="1500" dirty="0"/>
          </a:p>
        </p:txBody>
      </p:sp>
      <p:sp>
        <p:nvSpPr>
          <p:cNvPr id="9" name="Text 7"/>
          <p:cNvSpPr/>
          <p:nvPr/>
        </p:nvSpPr>
        <p:spPr>
          <a:xfrm>
            <a:off x="3556000" y="2794000"/>
            <a:ext cx="5232400"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    System.out.println("Block Styles");</a:t>
            </a:r>
            <a:endParaRPr lang="en-US" sz="1500" dirty="0"/>
          </a:p>
        </p:txBody>
      </p:sp>
      <p:sp>
        <p:nvSpPr>
          <p:cNvPr id="10" name="Text 8"/>
          <p:cNvSpPr/>
          <p:nvPr/>
        </p:nvSpPr>
        <p:spPr>
          <a:xfrm>
            <a:off x="3556000" y="3048000"/>
            <a:ext cx="5232400"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  }</a:t>
            </a:r>
            <a:endParaRPr lang="en-US" sz="1500" dirty="0"/>
          </a:p>
        </p:txBody>
      </p:sp>
      <p:sp>
        <p:nvSpPr>
          <p:cNvPr id="11" name="Text 9"/>
          <p:cNvSpPr/>
          <p:nvPr/>
        </p:nvSpPr>
        <p:spPr>
          <a:xfrm>
            <a:off x="3556000" y="3302000"/>
            <a:ext cx="5232400"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a:t>
            </a:r>
            <a:endParaRPr lang="en-US" sz="1500" dirty="0"/>
          </a:p>
        </p:txBody>
      </p:sp>
      <p:sp>
        <p:nvSpPr>
          <p:cNvPr id="12" name="Shape 10"/>
          <p:cNvSpPr/>
          <p:nvPr/>
        </p:nvSpPr>
        <p:spPr>
          <a:xfrm>
            <a:off x="3409950" y="3981450"/>
            <a:ext cx="5092700" cy="1435100"/>
          </a:xfrm>
          <a:prstGeom prst="rect">
            <a:avLst/>
          </a:prstGeom>
          <a:solidFill>
            <a:srgbClr val="FFFFFF"/>
          </a:solidFill>
          <a:ln w="12700">
            <a:solidFill>
              <a:srgbClr val="9A9A9A"/>
            </a:solidFill>
            <a:prstDash val="solid"/>
          </a:ln>
        </p:spPr>
      </p:sp>
      <p:sp>
        <p:nvSpPr>
          <p:cNvPr id="13" name="Text 11"/>
          <p:cNvSpPr/>
          <p:nvPr/>
        </p:nvSpPr>
        <p:spPr>
          <a:xfrm>
            <a:off x="3556000" y="4064000"/>
            <a:ext cx="5467858"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public class Test {</a:t>
            </a:r>
            <a:endParaRPr lang="en-US" sz="1500" dirty="0"/>
          </a:p>
        </p:txBody>
      </p:sp>
      <p:sp>
        <p:nvSpPr>
          <p:cNvPr id="14" name="Text 12"/>
          <p:cNvSpPr/>
          <p:nvPr/>
        </p:nvSpPr>
        <p:spPr>
          <a:xfrm>
            <a:off x="3556000" y="4318000"/>
            <a:ext cx="5467858"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  public static void main(String[] args) {</a:t>
            </a:r>
            <a:endParaRPr lang="en-US" sz="1500" dirty="0"/>
          </a:p>
        </p:txBody>
      </p:sp>
      <p:sp>
        <p:nvSpPr>
          <p:cNvPr id="15" name="Text 13"/>
          <p:cNvSpPr/>
          <p:nvPr/>
        </p:nvSpPr>
        <p:spPr>
          <a:xfrm>
            <a:off x="3556000" y="4572000"/>
            <a:ext cx="5467858"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    System.out.println("Block Styles");</a:t>
            </a:r>
            <a:endParaRPr lang="en-US" sz="1500" dirty="0"/>
          </a:p>
        </p:txBody>
      </p:sp>
      <p:sp>
        <p:nvSpPr>
          <p:cNvPr id="16" name="Text 14"/>
          <p:cNvSpPr/>
          <p:nvPr/>
        </p:nvSpPr>
        <p:spPr>
          <a:xfrm>
            <a:off x="3556000" y="4826000"/>
            <a:ext cx="5467858"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  }</a:t>
            </a:r>
            <a:endParaRPr lang="en-US" sz="1500" dirty="0"/>
          </a:p>
        </p:txBody>
      </p:sp>
      <p:sp>
        <p:nvSpPr>
          <p:cNvPr id="17" name="Text 15"/>
          <p:cNvSpPr/>
          <p:nvPr/>
        </p:nvSpPr>
        <p:spPr>
          <a:xfrm>
            <a:off x="3556000" y="5080000"/>
            <a:ext cx="5467858" cy="278765"/>
          </a:xfrm>
          <a:prstGeom prst="rect">
            <a:avLst/>
          </a:prstGeom>
          <a:noFill/>
          <a:ln/>
        </p:spPr>
        <p:txBody>
          <a:bodyPr wrap="square" lIns="0" tIns="0" rIns="0" bIns="0" rtlCol="0" anchor="t">
            <a:normAutofit/>
          </a:bodyPr>
          <a:lstStyle/>
          <a:p>
            <a:pPr marL="0" indent="0" algn="l">
              <a:lnSpc>
                <a:spcPts val="1995"/>
              </a:lnSpc>
              <a:buNone/>
            </a:pPr>
            <a:r>
              <a:rPr lang="en-US" sz="1500" dirty="0">
                <a:solidFill>
                  <a:srgbClr val="000000"/>
                </a:solidFill>
                <a:latin typeface="Courier New" pitchFamily="49" charset="0"/>
                <a:ea typeface="Courier New" pitchFamily="49" charset="-122"/>
                <a:cs typeface="Courier New" pitchFamily="49" charset="-120"/>
              </a:rPr>
              <a:t>}</a:t>
            </a:r>
            <a:endParaRPr lang="en-US" sz="1500" dirty="0"/>
          </a:p>
        </p:txBody>
      </p:sp>
      <p:sp>
        <p:nvSpPr>
          <p:cNvPr id="18" name="Text 16"/>
          <p:cNvSpPr/>
          <p:nvPr/>
        </p:nvSpPr>
        <p:spPr>
          <a:xfrm>
            <a:off x="952500" y="1587500"/>
            <a:ext cx="1962150" cy="665480"/>
          </a:xfrm>
          <a:prstGeom prst="rect">
            <a:avLst/>
          </a:prstGeom>
          <a:noFill/>
          <a:ln/>
        </p:spPr>
        <p:txBody>
          <a:bodyPr wrap="square" lIns="0" tIns="0" rIns="0" bIns="0" rtlCol="0" anchor="t">
            <a:normAutofit/>
          </a:bodyPr>
          <a:lstStyle/>
          <a:p>
            <a:pPr marL="0" indent="0" algn="l">
              <a:lnSpc>
                <a:spcPts val="2520"/>
              </a:lnSpc>
              <a:buNone/>
            </a:pPr>
            <a:r>
              <a:rPr lang="en-US" sz="1800" i="1" dirty="0">
                <a:solidFill>
                  <a:srgbClr val="111111"/>
                </a:solidFill>
                <a:latin typeface="Times New Roman" pitchFamily="18" charset="0"/>
                <a:ea typeface="Times New Roman" pitchFamily="18" charset="-122"/>
                <a:cs typeface="Times New Roman" pitchFamily="18" charset="-120"/>
              </a:rPr>
              <a:t>Next-line</a:t>
            </a:r>
            <a:endParaRPr lang="en-US" sz="1800" dirty="0"/>
          </a:p>
          <a:p>
            <a:pPr marL="0" indent="0" algn="l">
              <a:lnSpc>
                <a:spcPts val="2520"/>
              </a:lnSpc>
              <a:buNone/>
            </a:pPr>
            <a:r>
              <a:rPr lang="en-US" sz="1800" i="1" dirty="0">
                <a:solidFill>
                  <a:srgbClr val="111111"/>
                </a:solidFill>
                <a:latin typeface="Times New Roman" pitchFamily="18" charset="0"/>
                <a:ea typeface="Times New Roman" pitchFamily="18" charset="-122"/>
                <a:cs typeface="Times New Roman" pitchFamily="18" charset="-120"/>
              </a:rPr>
              <a:t>style</a:t>
            </a:r>
            <a:endParaRPr lang="en-US" sz="1800" dirty="0"/>
          </a:p>
        </p:txBody>
      </p:sp>
      <p:pic>
        <p:nvPicPr>
          <p:cNvPr id="19" name="Image 0" descr="connector"/>
          <p:cNvPicPr>
            <a:picLocks noChangeAspect="1"/>
          </p:cNvPicPr>
          <p:nvPr/>
        </p:nvPicPr>
        <p:blipFill>
          <a:blip r:embed="rId3"/>
          <a:srcRect/>
          <a:stretch/>
        </p:blipFill>
        <p:spPr>
          <a:xfrm>
            <a:off x="2362200" y="1854200"/>
            <a:ext cx="1206500" cy="355600"/>
          </a:xfrm>
          <a:prstGeom prst="rect">
            <a:avLst/>
          </a:prstGeom>
        </p:spPr>
      </p:pic>
      <p:sp>
        <p:nvSpPr>
          <p:cNvPr id="20" name="Text 17"/>
          <p:cNvSpPr/>
          <p:nvPr/>
        </p:nvSpPr>
        <p:spPr>
          <a:xfrm>
            <a:off x="9017000" y="3302000"/>
            <a:ext cx="2092960" cy="665480"/>
          </a:xfrm>
          <a:prstGeom prst="rect">
            <a:avLst/>
          </a:prstGeom>
          <a:noFill/>
          <a:ln/>
        </p:spPr>
        <p:txBody>
          <a:bodyPr wrap="square" lIns="0" tIns="0" rIns="0" bIns="0" rtlCol="0" anchor="t">
            <a:normAutofit/>
          </a:bodyPr>
          <a:lstStyle/>
          <a:p>
            <a:pPr marL="0" indent="0" algn="l">
              <a:lnSpc>
                <a:spcPts val="2520"/>
              </a:lnSpc>
              <a:buNone/>
            </a:pPr>
            <a:r>
              <a:rPr lang="en-US" sz="1800" i="1" dirty="0">
                <a:solidFill>
                  <a:srgbClr val="111111"/>
                </a:solidFill>
                <a:latin typeface="Times New Roman" pitchFamily="18" charset="0"/>
                <a:ea typeface="Times New Roman" pitchFamily="18" charset="-122"/>
                <a:cs typeface="Times New Roman" pitchFamily="18" charset="-120"/>
              </a:rPr>
              <a:t>End-of-line</a:t>
            </a:r>
            <a:endParaRPr lang="en-US" sz="1800" dirty="0"/>
          </a:p>
          <a:p>
            <a:pPr marL="0" indent="0" algn="l">
              <a:lnSpc>
                <a:spcPts val="2520"/>
              </a:lnSpc>
              <a:buNone/>
            </a:pPr>
            <a:r>
              <a:rPr lang="en-US" sz="1800" i="1" dirty="0">
                <a:solidFill>
                  <a:srgbClr val="111111"/>
                </a:solidFill>
                <a:latin typeface="Times New Roman" pitchFamily="18" charset="0"/>
                <a:ea typeface="Times New Roman" pitchFamily="18" charset="-122"/>
                <a:cs typeface="Times New Roman" pitchFamily="18" charset="-120"/>
              </a:rPr>
              <a:t>style</a:t>
            </a:r>
            <a:endParaRPr lang="en-US" sz="1800" dirty="0"/>
          </a:p>
        </p:txBody>
      </p:sp>
      <p:pic>
        <p:nvPicPr>
          <p:cNvPr id="21" name="Image 1" descr="connector"/>
          <p:cNvPicPr>
            <a:picLocks noChangeAspect="1"/>
          </p:cNvPicPr>
          <p:nvPr/>
        </p:nvPicPr>
        <p:blipFill>
          <a:blip r:embed="rId4"/>
          <a:srcRect/>
          <a:stretch/>
        </p:blipFill>
        <p:spPr>
          <a:xfrm>
            <a:off x="5727700" y="3759200"/>
            <a:ext cx="3467100" cy="482600"/>
          </a:xfrm>
          <a:prstGeom prst="rect">
            <a:avLst/>
          </a:prstGeom>
        </p:spPr>
      </p:pic>
      <p:pic>
        <p:nvPicPr>
          <p:cNvPr id="22" name="Image 2" descr="connector"/>
          <p:cNvPicPr>
            <a:picLocks noChangeAspect="1"/>
          </p:cNvPicPr>
          <p:nvPr/>
        </p:nvPicPr>
        <p:blipFill>
          <a:blip r:embed="rId5"/>
          <a:srcRect/>
          <a:stretch/>
        </p:blipFill>
        <p:spPr>
          <a:xfrm>
            <a:off x="8356600" y="3822700"/>
            <a:ext cx="1092200" cy="673100"/>
          </a:xfrm>
          <a:prstGeom prst="rect">
            <a:avLst/>
          </a:prstGeom>
        </p:spPr>
      </p:pic>
      <p:sp>
        <p:nvSpPr>
          <p:cNvPr id="23" name="Text 18"/>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Classes and Primitive Types</a:t>
            </a:r>
            <a:endParaRPr lang="en-US" sz="3300" dirty="0"/>
          </a:p>
        </p:txBody>
      </p:sp>
      <p:sp>
        <p:nvSpPr>
          <p:cNvPr id="3" name="Text 1"/>
          <p:cNvSpPr/>
          <p:nvPr/>
        </p:nvSpPr>
        <p:spPr>
          <a:xfrm>
            <a:off x="952500" y="1270000"/>
            <a:ext cx="5036185" cy="381000"/>
          </a:xfrm>
          <a:prstGeom prst="rect">
            <a:avLst/>
          </a:prstGeom>
          <a:noFill/>
          <a:ln/>
        </p:spPr>
        <p:txBody>
          <a:bodyPr wrap="square" lIns="0" tIns="0" rIns="0" bIns="0" rtlCol="0" anchor="t">
            <a:normAutofit/>
          </a:bodyPr>
          <a:lstStyle/>
          <a:p>
            <a:pPr marL="0" indent="0" algn="l">
              <a:lnSpc>
                <a:spcPts val="2800"/>
              </a:lnSpc>
              <a:buNone/>
            </a:pPr>
            <a:r>
              <a:rPr lang="en-US" sz="2000" i="1" dirty="0">
                <a:solidFill>
                  <a:srgbClr val="555555"/>
                </a:solidFill>
                <a:latin typeface="Times New Roman" pitchFamily="18" charset="0"/>
                <a:ea typeface="Times New Roman" pitchFamily="18" charset="-122"/>
                <a:cs typeface="Times New Roman" pitchFamily="18" charset="-120"/>
              </a:rPr>
              <a:t>Type</a:t>
            </a:r>
            <a:endParaRPr lang="en-US" sz="2000" dirty="0"/>
          </a:p>
        </p:txBody>
      </p:sp>
      <p:sp>
        <p:nvSpPr>
          <p:cNvPr id="4" name="Text 2"/>
          <p:cNvSpPr/>
          <p:nvPr/>
        </p:nvSpPr>
        <p:spPr>
          <a:xfrm>
            <a:off x="952500" y="17145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Class</a:t>
            </a:r>
            <a:endParaRPr lang="en-US" sz="2400" dirty="0"/>
          </a:p>
        </p:txBody>
      </p:sp>
      <p:sp>
        <p:nvSpPr>
          <p:cNvPr id="5" name="Text 3"/>
          <p:cNvSpPr/>
          <p:nvPr/>
        </p:nvSpPr>
        <p:spPr>
          <a:xfrm>
            <a:off x="1409700" y="2184400"/>
            <a:ext cx="10124694" cy="375285"/>
          </a:xfrm>
          <a:prstGeom prst="rect">
            <a:avLst/>
          </a:prstGeom>
          <a:noFill/>
          <a:ln/>
        </p:spPr>
        <p:txBody>
          <a:bodyPr wrap="square" lIns="0" tIns="0" rIns="0" bIns="0" rtlCol="0" anchor="t">
            <a:normAutofit/>
          </a:bodyPr>
          <a:lstStyle/>
          <a:p>
            <a:pPr marL="0" indent="0" algn="l">
              <a:lnSpc>
                <a:spcPts val="2755"/>
              </a:lnSpc>
              <a:buNone/>
            </a:pPr>
            <a:r>
              <a:rPr lang="en-US" sz="1900" b="1" dirty="0">
                <a:solidFill>
                  <a:srgbClr val="111111"/>
                </a:solidFill>
                <a:latin typeface="Courier New" pitchFamily="49" charset="0"/>
                <a:ea typeface="Courier New" pitchFamily="49" charset="-122"/>
                <a:cs typeface="Courier New" pitchFamily="49" charset="-120"/>
              </a:rPr>
              <a:t>class Exam {}</a:t>
            </a:r>
            <a:endParaRPr lang="en-US" sz="1900" dirty="0"/>
          </a:p>
        </p:txBody>
      </p:sp>
      <p:sp>
        <p:nvSpPr>
          <p:cNvPr id="6" name="Text 4"/>
          <p:cNvSpPr/>
          <p:nvPr/>
        </p:nvSpPr>
        <p:spPr>
          <a:xfrm>
            <a:off x="952500" y="2813683"/>
            <a:ext cx="5036185" cy="381000"/>
          </a:xfrm>
          <a:prstGeom prst="rect">
            <a:avLst/>
          </a:prstGeom>
          <a:noFill/>
          <a:ln/>
        </p:spPr>
        <p:txBody>
          <a:bodyPr wrap="square" lIns="0" tIns="0" rIns="0" bIns="0" rtlCol="0" anchor="t">
            <a:normAutofit/>
          </a:bodyPr>
          <a:lstStyle/>
          <a:p>
            <a:pPr marL="0" indent="0" algn="l">
              <a:lnSpc>
                <a:spcPts val="2800"/>
              </a:lnSpc>
              <a:buNone/>
            </a:pPr>
            <a:r>
              <a:rPr lang="en-US" sz="2000" i="1" dirty="0">
                <a:solidFill>
                  <a:srgbClr val="555555"/>
                </a:solidFill>
                <a:latin typeface="Times New Roman" pitchFamily="18" charset="0"/>
                <a:ea typeface="Times New Roman" pitchFamily="18" charset="-122"/>
                <a:cs typeface="Times New Roman" pitchFamily="18" charset="-120"/>
              </a:rPr>
              <a:t>Instance</a:t>
            </a:r>
            <a:endParaRPr lang="en-US" sz="2000" dirty="0"/>
          </a:p>
        </p:txBody>
      </p:sp>
      <p:sp>
        <p:nvSpPr>
          <p:cNvPr id="7" name="Text 5"/>
          <p:cNvSpPr/>
          <p:nvPr/>
        </p:nvSpPr>
        <p:spPr>
          <a:xfrm>
            <a:off x="952500" y="3258183"/>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Variable of type reference</a:t>
            </a:r>
            <a:endParaRPr lang="en-US" sz="2400" dirty="0"/>
          </a:p>
        </p:txBody>
      </p:sp>
      <p:sp>
        <p:nvSpPr>
          <p:cNvPr id="8" name="Text 6"/>
          <p:cNvSpPr/>
          <p:nvPr/>
        </p:nvSpPr>
        <p:spPr>
          <a:xfrm>
            <a:off x="1409700" y="3728083"/>
            <a:ext cx="10124694" cy="725170"/>
          </a:xfrm>
          <a:prstGeom prst="rect">
            <a:avLst/>
          </a:prstGeom>
          <a:noFill/>
          <a:ln/>
        </p:spPr>
        <p:txBody>
          <a:bodyPr wrap="square" lIns="0" tIns="0" rIns="0" bIns="0" rtlCol="0" anchor="t">
            <a:normAutofit/>
          </a:bodyPr>
          <a:lstStyle/>
          <a:p>
            <a:pPr marL="0" indent="0" algn="l">
              <a:lnSpc>
                <a:spcPts val="2755"/>
              </a:lnSpc>
              <a:buNone/>
            </a:pPr>
            <a:r>
              <a:rPr lang="en-US" sz="1900" b="1" dirty="0">
                <a:solidFill>
                  <a:srgbClr val="111111"/>
                </a:solidFill>
                <a:latin typeface="Courier New" pitchFamily="49" charset="0"/>
                <a:ea typeface="Courier New" pitchFamily="49" charset="-122"/>
                <a:cs typeface="Courier New" pitchFamily="49" charset="-120"/>
              </a:rPr>
              <a:t>Exam e;</a:t>
            </a:r>
            <a:endParaRPr lang="en-US" sz="1900" dirty="0"/>
          </a:p>
          <a:p>
            <a:pPr marL="0" indent="0" algn="l">
              <a:lnSpc>
                <a:spcPts val="2755"/>
              </a:lnSpc>
              <a:buNone/>
            </a:pPr>
            <a:r>
              <a:rPr lang="en-US" sz="1900" b="1" dirty="0">
                <a:solidFill>
                  <a:srgbClr val="111111"/>
                </a:solidFill>
                <a:latin typeface="Courier New" pitchFamily="49" charset="0"/>
                <a:ea typeface="Courier New" pitchFamily="49" charset="-122"/>
                <a:cs typeface="Courier New" pitchFamily="49" charset="-120"/>
              </a:rPr>
              <a:t>e = new Exam();</a:t>
            </a:r>
            <a:endParaRPr lang="en-US" sz="1900" dirty="0"/>
          </a:p>
        </p:txBody>
      </p:sp>
      <p:sp>
        <p:nvSpPr>
          <p:cNvPr id="9" name="Text 7"/>
          <p:cNvSpPr/>
          <p:nvPr/>
        </p:nvSpPr>
        <p:spPr>
          <a:xfrm>
            <a:off x="6350000" y="17145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Primitive type</a:t>
            </a:r>
            <a:endParaRPr lang="en-US" sz="2400" dirty="0"/>
          </a:p>
        </p:txBody>
      </p:sp>
      <p:sp>
        <p:nvSpPr>
          <p:cNvPr id="10" name="Text 8"/>
          <p:cNvSpPr/>
          <p:nvPr/>
        </p:nvSpPr>
        <p:spPr>
          <a:xfrm>
            <a:off x="6807200" y="2184400"/>
            <a:ext cx="10124694" cy="375285"/>
          </a:xfrm>
          <a:prstGeom prst="rect">
            <a:avLst/>
          </a:prstGeom>
          <a:noFill/>
          <a:ln/>
        </p:spPr>
        <p:txBody>
          <a:bodyPr wrap="square" lIns="0" tIns="0" rIns="0" bIns="0" rtlCol="0" anchor="t">
            <a:normAutofit/>
          </a:bodyPr>
          <a:lstStyle/>
          <a:p>
            <a:pPr marL="0" indent="0" algn="l">
              <a:lnSpc>
                <a:spcPts val="2755"/>
              </a:lnSpc>
              <a:buNone/>
            </a:pPr>
            <a:r>
              <a:rPr lang="en-US" sz="1900" b="1" dirty="0">
                <a:solidFill>
                  <a:srgbClr val="111111"/>
                </a:solidFill>
                <a:latin typeface="Courier New" pitchFamily="49" charset="0"/>
                <a:ea typeface="Courier New" pitchFamily="49" charset="-122"/>
                <a:cs typeface="Courier New" pitchFamily="49" charset="-120"/>
              </a:rPr>
              <a:t>int, char, float</a:t>
            </a:r>
            <a:endParaRPr lang="en-US" sz="1900" dirty="0"/>
          </a:p>
        </p:txBody>
      </p:sp>
      <p:sp>
        <p:nvSpPr>
          <p:cNvPr id="11" name="Text 9"/>
          <p:cNvSpPr/>
          <p:nvPr/>
        </p:nvSpPr>
        <p:spPr>
          <a:xfrm>
            <a:off x="6350000" y="3258183"/>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Variable of type primitive</a:t>
            </a:r>
            <a:endParaRPr lang="en-US" sz="2400" dirty="0"/>
          </a:p>
        </p:txBody>
      </p:sp>
      <p:sp>
        <p:nvSpPr>
          <p:cNvPr id="12" name="Text 10"/>
          <p:cNvSpPr/>
          <p:nvPr/>
        </p:nvSpPr>
        <p:spPr>
          <a:xfrm>
            <a:off x="6807200" y="3728083"/>
            <a:ext cx="10124694" cy="375285"/>
          </a:xfrm>
          <a:prstGeom prst="rect">
            <a:avLst/>
          </a:prstGeom>
          <a:noFill/>
          <a:ln/>
        </p:spPr>
        <p:txBody>
          <a:bodyPr wrap="square" lIns="0" tIns="0" rIns="0" bIns="0" rtlCol="0" anchor="t">
            <a:normAutofit/>
          </a:bodyPr>
          <a:lstStyle/>
          <a:p>
            <a:pPr marL="0" indent="0" algn="l">
              <a:lnSpc>
                <a:spcPts val="2755"/>
              </a:lnSpc>
              <a:buNone/>
            </a:pPr>
            <a:r>
              <a:rPr lang="en-US" sz="1900" b="1" dirty="0">
                <a:solidFill>
                  <a:srgbClr val="111111"/>
                </a:solidFill>
                <a:latin typeface="Courier New" pitchFamily="49" charset="0"/>
                <a:ea typeface="Courier New" pitchFamily="49" charset="-122"/>
                <a:cs typeface="Courier New" pitchFamily="49" charset="-120"/>
              </a:rPr>
              <a:t>int i;</a:t>
            </a:r>
            <a:endParaRPr lang="en-US" sz="1900" dirty="0"/>
          </a:p>
        </p:txBody>
      </p:sp>
      <p:sp>
        <p:nvSpPr>
          <p:cNvPr id="13" name="Text 11"/>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Operators</a:t>
            </a:r>
            <a:endParaRPr lang="en-US" sz="3300" dirty="0"/>
          </a:p>
        </p:txBody>
      </p:sp>
      <p:sp>
        <p:nvSpPr>
          <p:cNvPr id="3" name="Text 1"/>
          <p:cNvSpPr/>
          <p:nvPr/>
        </p:nvSpPr>
        <p:spPr>
          <a:xfrm>
            <a:off x="952500" y="12700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Operators follow C syntax:</a:t>
            </a:r>
            <a:endParaRPr lang="en-US" sz="2400" dirty="0"/>
          </a:p>
        </p:txBody>
      </p:sp>
      <p:sp>
        <p:nvSpPr>
          <p:cNvPr id="4" name="Text 2"/>
          <p:cNvSpPr/>
          <p:nvPr/>
        </p:nvSpPr>
        <p:spPr>
          <a:xfrm>
            <a:off x="1409700" y="1816100"/>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arithmetical  </a:t>
            </a:r>
            <a:r>
              <a:rPr lang="en-US" sz="2100" b="1" dirty="0">
                <a:solidFill>
                  <a:srgbClr val="111111"/>
                </a:solidFill>
                <a:latin typeface="Times New Roman" pitchFamily="18" charset="0"/>
                <a:ea typeface="Times New Roman" pitchFamily="18" charset="-122"/>
                <a:cs typeface="Times New Roman" pitchFamily="18" charset="-120"/>
              </a:rPr>
              <a:t>+  -  *  /  %</a:t>
            </a:r>
            <a:endParaRPr lang="en-US" sz="2100" dirty="0"/>
          </a:p>
        </p:txBody>
      </p:sp>
      <p:sp>
        <p:nvSpPr>
          <p:cNvPr id="5" name="Text 3"/>
          <p:cNvSpPr/>
          <p:nvPr/>
        </p:nvSpPr>
        <p:spPr>
          <a:xfrm>
            <a:off x="1409700" y="2314575"/>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relational  </a:t>
            </a:r>
            <a:r>
              <a:rPr lang="en-US" sz="2100" b="1" dirty="0">
                <a:solidFill>
                  <a:srgbClr val="111111"/>
                </a:solidFill>
                <a:latin typeface="Times New Roman" pitchFamily="18" charset="0"/>
                <a:ea typeface="Times New Roman" pitchFamily="18" charset="-122"/>
                <a:cs typeface="Times New Roman" pitchFamily="18" charset="-120"/>
              </a:rPr>
              <a:t>==  !=  &gt;  &lt;  &gt;=  &lt;=</a:t>
            </a:r>
            <a:endParaRPr lang="en-US" sz="2100" dirty="0"/>
          </a:p>
        </p:txBody>
      </p:sp>
      <p:sp>
        <p:nvSpPr>
          <p:cNvPr id="6" name="Text 4"/>
          <p:cNvSpPr/>
          <p:nvPr/>
        </p:nvSpPr>
        <p:spPr>
          <a:xfrm>
            <a:off x="1409700" y="2813050"/>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bitwise (int)  </a:t>
            </a:r>
            <a:r>
              <a:rPr lang="en-US" sz="2100" b="1" dirty="0">
                <a:solidFill>
                  <a:srgbClr val="111111"/>
                </a:solidFill>
                <a:latin typeface="Times New Roman" pitchFamily="18" charset="0"/>
                <a:ea typeface="Times New Roman" pitchFamily="18" charset="-122"/>
                <a:cs typeface="Times New Roman" pitchFamily="18" charset="-120"/>
              </a:rPr>
              <a:t>&amp;  |  ^  &lt;&lt;  &gt;&gt;  ~</a:t>
            </a:r>
            <a:endParaRPr lang="en-US" sz="2100" dirty="0"/>
          </a:p>
        </p:txBody>
      </p:sp>
      <p:sp>
        <p:nvSpPr>
          <p:cNvPr id="7" name="Text 5"/>
          <p:cNvSpPr/>
          <p:nvPr/>
        </p:nvSpPr>
        <p:spPr>
          <a:xfrm>
            <a:off x="1409700" y="3311525"/>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assignment  </a:t>
            </a:r>
            <a:r>
              <a:rPr lang="en-US" sz="2100" b="1" dirty="0">
                <a:solidFill>
                  <a:srgbClr val="111111"/>
                </a:solidFill>
                <a:latin typeface="Times New Roman" pitchFamily="18" charset="0"/>
                <a:ea typeface="Times New Roman" pitchFamily="18" charset="-122"/>
                <a:cs typeface="Times New Roman" pitchFamily="18" charset="-120"/>
              </a:rPr>
              <a:t>=  +=  -=  *=  /=  %=  &amp;=  |=  ^=</a:t>
            </a:r>
            <a:endParaRPr lang="en-US" sz="2100" dirty="0"/>
          </a:p>
        </p:txBody>
      </p:sp>
      <p:sp>
        <p:nvSpPr>
          <p:cNvPr id="8" name="Text 6"/>
          <p:cNvSpPr/>
          <p:nvPr/>
        </p:nvSpPr>
        <p:spPr>
          <a:xfrm>
            <a:off x="1409700" y="3810000"/>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increment  </a:t>
            </a:r>
            <a:r>
              <a:rPr lang="en-US" sz="2100" b="1" dirty="0">
                <a:solidFill>
                  <a:srgbClr val="111111"/>
                </a:solidFill>
                <a:latin typeface="Times New Roman" pitchFamily="18" charset="0"/>
                <a:ea typeface="Times New Roman" pitchFamily="18" charset="-122"/>
                <a:cs typeface="Times New Roman" pitchFamily="18" charset="-120"/>
              </a:rPr>
              <a:t>++  --</a:t>
            </a:r>
            <a:endParaRPr lang="en-US" sz="2100" dirty="0"/>
          </a:p>
        </p:txBody>
      </p:sp>
      <p:sp>
        <p:nvSpPr>
          <p:cNvPr id="9" name="Text 7"/>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Boolean</a:t>
            </a:r>
            <a:endParaRPr lang="en-US" sz="3300" dirty="0"/>
          </a:p>
        </p:txBody>
      </p:sp>
      <p:sp>
        <p:nvSpPr>
          <p:cNvPr id="3" name="Text 1"/>
          <p:cNvSpPr/>
          <p:nvPr/>
        </p:nvSpPr>
        <p:spPr>
          <a:xfrm>
            <a:off x="952500" y="12700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Java has an explicit type (</a:t>
            </a:r>
            <a:r>
              <a:rPr lang="en-US" sz="2400" b="1" dirty="0">
                <a:solidFill>
                  <a:srgbClr val="111111"/>
                </a:solidFill>
                <a:latin typeface="Times New Roman" pitchFamily="18" charset="0"/>
                <a:ea typeface="Times New Roman" pitchFamily="18" charset="-122"/>
                <a:cs typeface="Times New Roman" pitchFamily="18" charset="-120"/>
              </a:rPr>
              <a:t>boolean</a:t>
            </a:r>
            <a:r>
              <a:rPr lang="en-US" sz="2400" dirty="0">
                <a:solidFill>
                  <a:srgbClr val="111111"/>
                </a:solidFill>
                <a:latin typeface="Times New Roman" pitchFamily="18" charset="0"/>
                <a:ea typeface="Times New Roman" pitchFamily="18" charset="-122"/>
                <a:cs typeface="Times New Roman" pitchFamily="18" charset="-120"/>
              </a:rPr>
              <a:t>) to represent logical values (</a:t>
            </a:r>
            <a:r>
              <a:rPr lang="en-US" sz="2400" b="1" dirty="0">
                <a:solidFill>
                  <a:srgbClr val="111111"/>
                </a:solidFill>
                <a:latin typeface="Times New Roman" pitchFamily="18" charset="0"/>
                <a:ea typeface="Times New Roman" pitchFamily="18" charset="-122"/>
                <a:cs typeface="Times New Roman" pitchFamily="18" charset="-120"/>
              </a:rPr>
              <a:t>true</a:t>
            </a:r>
            <a:r>
              <a:rPr lang="en-US" sz="2400" dirty="0">
                <a:solidFill>
                  <a:srgbClr val="111111"/>
                </a:solidFill>
                <a:latin typeface="Times New Roman" pitchFamily="18" charset="0"/>
                <a:ea typeface="Times New Roman" pitchFamily="18" charset="-122"/>
                <a:cs typeface="Times New Roman" pitchFamily="18" charset="-120"/>
              </a:rPr>
              <a:t>, </a:t>
            </a:r>
            <a:r>
              <a:rPr lang="en-US" sz="2400" b="1" dirty="0">
                <a:solidFill>
                  <a:srgbClr val="111111"/>
                </a:solidFill>
                <a:latin typeface="Times New Roman" pitchFamily="18" charset="0"/>
                <a:ea typeface="Times New Roman" pitchFamily="18" charset="-122"/>
                <a:cs typeface="Times New Roman" pitchFamily="18" charset="-120"/>
              </a:rPr>
              <a:t>false</a:t>
            </a:r>
            <a:r>
              <a:rPr lang="en-US" sz="2400" dirty="0">
                <a:solidFill>
                  <a:srgbClr val="111111"/>
                </a:solidFill>
                <a:latin typeface="Times New Roman" pitchFamily="18" charset="0"/>
                <a:ea typeface="Times New Roman" pitchFamily="18" charset="-122"/>
                <a:cs typeface="Times New Roman" pitchFamily="18" charset="-120"/>
              </a:rPr>
              <a:t>)</a:t>
            </a:r>
            <a:endParaRPr lang="en-US" sz="2400" dirty="0"/>
          </a:p>
        </p:txBody>
      </p:sp>
      <p:sp>
        <p:nvSpPr>
          <p:cNvPr id="4" name="Text 2"/>
          <p:cNvSpPr/>
          <p:nvPr/>
        </p:nvSpPr>
        <p:spPr>
          <a:xfrm>
            <a:off x="952500" y="18161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Conditional constructs require boolean conditions</a:t>
            </a:r>
            <a:endParaRPr lang="en-US" sz="2400" dirty="0"/>
          </a:p>
        </p:txBody>
      </p:sp>
      <p:sp>
        <p:nvSpPr>
          <p:cNvPr id="5" name="Text 3"/>
          <p:cNvSpPr/>
          <p:nvPr/>
        </p:nvSpPr>
        <p:spPr>
          <a:xfrm>
            <a:off x="1409700" y="2362200"/>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Illegal to evaluate an integer condition</a:t>
            </a:r>
            <a:endParaRPr lang="en-US" sz="2100" dirty="0"/>
          </a:p>
        </p:txBody>
      </p:sp>
      <p:sp>
        <p:nvSpPr>
          <p:cNvPr id="6" name="Text 4"/>
          <p:cNvSpPr/>
          <p:nvPr/>
        </p:nvSpPr>
        <p:spPr>
          <a:xfrm>
            <a:off x="1409700" y="2860675"/>
            <a:ext cx="10124694" cy="375285"/>
          </a:xfrm>
          <a:prstGeom prst="rect">
            <a:avLst/>
          </a:prstGeom>
          <a:noFill/>
          <a:ln/>
        </p:spPr>
        <p:txBody>
          <a:bodyPr wrap="square" lIns="0" tIns="0" rIns="0" bIns="0" rtlCol="0" anchor="t">
            <a:normAutofit/>
          </a:bodyPr>
          <a:lstStyle/>
          <a:p>
            <a:pPr marL="0" indent="0" algn="l">
              <a:lnSpc>
                <a:spcPts val="2755"/>
              </a:lnSpc>
              <a:buNone/>
            </a:pPr>
            <a:r>
              <a:rPr lang="en-US" sz="1900" b="1" dirty="0">
                <a:solidFill>
                  <a:srgbClr val="111111"/>
                </a:solidFill>
                <a:latin typeface="Courier New" pitchFamily="49" charset="0"/>
                <a:ea typeface="Courier New" pitchFamily="49" charset="-122"/>
                <a:cs typeface="Courier New" pitchFamily="49" charset="-120"/>
              </a:rPr>
              <a:t>int x = 7; if (x) {…}  // NO</a:t>
            </a:r>
            <a:endParaRPr lang="en-US" sz="1900" dirty="0"/>
          </a:p>
        </p:txBody>
      </p:sp>
      <p:sp>
        <p:nvSpPr>
          <p:cNvPr id="7" name="Text 5"/>
          <p:cNvSpPr/>
          <p:nvPr/>
        </p:nvSpPr>
        <p:spPr>
          <a:xfrm>
            <a:off x="1409700" y="3375658"/>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Use relational operators: </a:t>
            </a:r>
            <a:r>
              <a:rPr lang="en-US" sz="2100" b="1" dirty="0">
                <a:solidFill>
                  <a:srgbClr val="111111"/>
                </a:solidFill>
                <a:latin typeface="Times New Roman" pitchFamily="18" charset="0"/>
                <a:ea typeface="Times New Roman" pitchFamily="18" charset="-122"/>
                <a:cs typeface="Times New Roman" pitchFamily="18" charset="-120"/>
              </a:rPr>
              <a:t>if (x != 0)</a:t>
            </a:r>
            <a:endParaRPr lang="en-US" sz="2100" dirty="0"/>
          </a:p>
        </p:txBody>
      </p:sp>
      <p:sp>
        <p:nvSpPr>
          <p:cNvPr id="8" name="Text 6"/>
          <p:cNvSpPr/>
          <p:nvPr/>
        </p:nvSpPr>
        <p:spPr>
          <a:xfrm>
            <a:off x="1409700" y="3874133"/>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Avoids common mistakes, e.g. </a:t>
            </a:r>
            <a:r>
              <a:rPr lang="en-US" sz="2100" b="1" dirty="0">
                <a:solidFill>
                  <a:srgbClr val="111111"/>
                </a:solidFill>
                <a:latin typeface="Times New Roman" pitchFamily="18" charset="0"/>
                <a:ea typeface="Times New Roman" pitchFamily="18" charset="-122"/>
                <a:cs typeface="Times New Roman" pitchFamily="18" charset="-120"/>
              </a:rPr>
              <a:t>if (x = 0)</a:t>
            </a:r>
            <a:endParaRPr lang="en-US" sz="2100" dirty="0"/>
          </a:p>
        </p:txBody>
      </p:sp>
      <p:sp>
        <p:nvSpPr>
          <p:cNvPr id="9" name="Text 7"/>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Control Statements</a:t>
            </a:r>
            <a:endParaRPr lang="en-US" sz="3300" dirty="0"/>
          </a:p>
        </p:txBody>
      </p:sp>
      <p:sp>
        <p:nvSpPr>
          <p:cNvPr id="3" name="Text 1"/>
          <p:cNvSpPr/>
          <p:nvPr/>
        </p:nvSpPr>
        <p:spPr>
          <a:xfrm>
            <a:off x="952500" y="12700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Similar to C</a:t>
            </a:r>
            <a:endParaRPr lang="en-US" sz="2400" dirty="0"/>
          </a:p>
        </p:txBody>
      </p:sp>
      <p:sp>
        <p:nvSpPr>
          <p:cNvPr id="4" name="Text 2"/>
          <p:cNvSpPr/>
          <p:nvPr/>
        </p:nvSpPr>
        <p:spPr>
          <a:xfrm>
            <a:off x="1409700" y="1765300"/>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if-else</a:t>
            </a:r>
            <a:endParaRPr lang="en-US" sz="2100" dirty="0"/>
          </a:p>
        </p:txBody>
      </p:sp>
      <p:sp>
        <p:nvSpPr>
          <p:cNvPr id="5" name="Text 3"/>
          <p:cNvSpPr/>
          <p:nvPr/>
        </p:nvSpPr>
        <p:spPr>
          <a:xfrm>
            <a:off x="1409700" y="2212975"/>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switch</a:t>
            </a:r>
            <a:endParaRPr lang="en-US" sz="2100" dirty="0"/>
          </a:p>
        </p:txBody>
      </p:sp>
      <p:sp>
        <p:nvSpPr>
          <p:cNvPr id="6" name="Text 4"/>
          <p:cNvSpPr/>
          <p:nvPr/>
        </p:nvSpPr>
        <p:spPr>
          <a:xfrm>
            <a:off x="1409700" y="2660650"/>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while</a:t>
            </a:r>
            <a:endParaRPr lang="en-US" sz="2100" dirty="0"/>
          </a:p>
        </p:txBody>
      </p:sp>
      <p:sp>
        <p:nvSpPr>
          <p:cNvPr id="7" name="Text 5"/>
          <p:cNvSpPr/>
          <p:nvPr/>
        </p:nvSpPr>
        <p:spPr>
          <a:xfrm>
            <a:off x="1409700" y="3108325"/>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do-while</a:t>
            </a:r>
            <a:endParaRPr lang="en-US" sz="2100" dirty="0"/>
          </a:p>
        </p:txBody>
      </p:sp>
      <p:sp>
        <p:nvSpPr>
          <p:cNvPr id="8" name="Text 6"/>
          <p:cNvSpPr/>
          <p:nvPr/>
        </p:nvSpPr>
        <p:spPr>
          <a:xfrm>
            <a:off x="1409700" y="3556000"/>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for</a:t>
            </a:r>
            <a:endParaRPr lang="en-US" sz="2100" dirty="0"/>
          </a:p>
        </p:txBody>
      </p:sp>
      <p:sp>
        <p:nvSpPr>
          <p:cNvPr id="9" name="Text 7"/>
          <p:cNvSpPr/>
          <p:nvPr/>
        </p:nvSpPr>
        <p:spPr>
          <a:xfrm>
            <a:off x="1409700" y="4003675"/>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break</a:t>
            </a:r>
            <a:endParaRPr lang="en-US" sz="2100" dirty="0"/>
          </a:p>
        </p:txBody>
      </p:sp>
      <p:sp>
        <p:nvSpPr>
          <p:cNvPr id="10" name="Text 8"/>
          <p:cNvSpPr/>
          <p:nvPr/>
        </p:nvSpPr>
        <p:spPr>
          <a:xfrm>
            <a:off x="1409700" y="4451350"/>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continue</a:t>
            </a:r>
            <a:endParaRPr lang="en-US" sz="2100" dirty="0"/>
          </a:p>
        </p:txBody>
      </p:sp>
      <p:sp>
        <p:nvSpPr>
          <p:cNvPr id="11" name="Text 9"/>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Switch Statements with Strings</a:t>
            </a:r>
            <a:endParaRPr lang="en-US" sz="3300" dirty="0"/>
          </a:p>
        </p:txBody>
      </p:sp>
      <p:sp>
        <p:nvSpPr>
          <p:cNvPr id="3" name="Text 1"/>
          <p:cNvSpPr/>
          <p:nvPr/>
        </p:nvSpPr>
        <p:spPr>
          <a:xfrm>
            <a:off x="952500" y="12700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Strings can be used as case values</a:t>
            </a:r>
            <a:endParaRPr lang="en-US" sz="2400" dirty="0"/>
          </a:p>
        </p:txBody>
      </p:sp>
      <p:sp>
        <p:nvSpPr>
          <p:cNvPr id="4" name="Text 2"/>
          <p:cNvSpPr/>
          <p:nvPr/>
        </p:nvSpPr>
        <p:spPr>
          <a:xfrm>
            <a:off x="1409700" y="1816100"/>
            <a:ext cx="10124694" cy="1774825"/>
          </a:xfrm>
          <a:prstGeom prst="rect">
            <a:avLst/>
          </a:prstGeom>
          <a:noFill/>
          <a:ln/>
        </p:spPr>
        <p:txBody>
          <a:bodyPr wrap="square" lIns="0" tIns="0" rIns="0" bIns="0" rtlCol="0" anchor="t">
            <a:noAutofit/>
          </a:bodyPr>
          <a:lstStyle/>
          <a:p>
            <a:pPr marL="0" indent="0" algn="l">
              <a:lnSpc>
                <a:spcPts val="2755"/>
              </a:lnSpc>
              <a:buNone/>
            </a:pPr>
            <a:r>
              <a:rPr lang="en-US" sz="2000" b="1" dirty="0">
                <a:solidFill>
                  <a:srgbClr val="111111"/>
                </a:solidFill>
                <a:latin typeface="Courier New"/>
                <a:ea typeface="Courier New" pitchFamily="49" charset="-122"/>
                <a:cs typeface="Courier New"/>
              </a:rPr>
              <a:t>switch (season) {</a:t>
            </a:r>
            <a:endParaRPr lang="en-US" sz="2000">
              <a:latin typeface="Courier New"/>
              <a:cs typeface="Courier New"/>
            </a:endParaRPr>
          </a:p>
          <a:p>
            <a:pPr marL="0" indent="0" algn="l">
              <a:lnSpc>
                <a:spcPts val="2755"/>
              </a:lnSpc>
              <a:buNone/>
            </a:pPr>
            <a:r>
              <a:rPr lang="en-US" sz="2000" b="1" dirty="0">
                <a:solidFill>
                  <a:srgbClr val="111111"/>
                </a:solidFill>
                <a:latin typeface="Courier New"/>
                <a:ea typeface="Courier New" pitchFamily="49" charset="-122"/>
                <a:cs typeface="Courier New"/>
              </a:rPr>
              <a:t>  case "summer":</a:t>
            </a:r>
            <a:endParaRPr lang="en-US" sz="2000">
              <a:latin typeface="Courier New"/>
              <a:cs typeface="Courier New"/>
            </a:endParaRPr>
          </a:p>
          <a:p>
            <a:pPr marL="0" indent="0" algn="l">
              <a:lnSpc>
                <a:spcPts val="2755"/>
              </a:lnSpc>
              <a:buNone/>
            </a:pPr>
            <a:r>
              <a:rPr lang="en-US" sz="2000" b="1" dirty="0">
                <a:solidFill>
                  <a:srgbClr val="111111"/>
                </a:solidFill>
                <a:latin typeface="Courier New"/>
                <a:ea typeface="Courier New" pitchFamily="49" charset="-122"/>
                <a:cs typeface="Courier New"/>
              </a:rPr>
              <a:t>  case "spring": temp = "hot";</a:t>
            </a:r>
            <a:endParaRPr lang="en-US" sz="2000">
              <a:latin typeface="Courier New"/>
              <a:cs typeface="Courier New"/>
            </a:endParaRPr>
          </a:p>
          <a:p>
            <a:pPr marL="0" indent="0" algn="l">
              <a:lnSpc>
                <a:spcPts val="2755"/>
              </a:lnSpc>
              <a:buNone/>
            </a:pPr>
            <a:r>
              <a:rPr lang="en-US" sz="2000" b="1" dirty="0">
                <a:solidFill>
                  <a:srgbClr val="111111"/>
                </a:solidFill>
                <a:latin typeface="Courier New"/>
                <a:ea typeface="Courier New" pitchFamily="49" charset="-122"/>
                <a:cs typeface="Courier New"/>
              </a:rPr>
              <a:t>                break;</a:t>
            </a:r>
            <a:endParaRPr lang="en-US" sz="2000">
              <a:latin typeface="Courier New"/>
              <a:cs typeface="Courier New"/>
            </a:endParaRPr>
          </a:p>
          <a:p>
            <a:pPr marL="0" indent="0" algn="l">
              <a:lnSpc>
                <a:spcPts val="2755"/>
              </a:lnSpc>
              <a:buNone/>
            </a:pPr>
            <a:r>
              <a:rPr lang="en-US" sz="2000" b="1" dirty="0">
                <a:solidFill>
                  <a:srgbClr val="111111"/>
                </a:solidFill>
                <a:latin typeface="Courier New"/>
                <a:ea typeface="Courier New" pitchFamily="49" charset="-122"/>
                <a:cs typeface="Courier New"/>
              </a:rPr>
              <a:t>}</a:t>
            </a:r>
            <a:endParaRPr lang="en-US" sz="2000">
              <a:latin typeface="Courier New"/>
              <a:cs typeface="Courier New"/>
            </a:endParaRPr>
          </a:p>
        </p:txBody>
      </p:sp>
      <p:sp>
        <p:nvSpPr>
          <p:cNvPr id="5" name="Text 3"/>
          <p:cNvSpPr/>
          <p:nvPr/>
        </p:nvSpPr>
        <p:spPr>
          <a:xfrm>
            <a:off x="1409700" y="3730625"/>
            <a:ext cx="10124694" cy="692150"/>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The compiler generates more efficient bytecode from a switch on Strings than from chained if-then-else statements</a:t>
            </a:r>
            <a:endParaRPr lang="en-US" sz="2100" dirty="0"/>
          </a:p>
        </p:txBody>
      </p:sp>
      <p:sp>
        <p:nvSpPr>
          <p:cNvPr id="6" name="Text 4"/>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Code Blocks and Scope</a:t>
            </a:r>
            <a:endParaRPr lang="en-US" sz="3300" dirty="0"/>
          </a:p>
        </p:txBody>
      </p:sp>
      <p:sp>
        <p:nvSpPr>
          <p:cNvPr id="3" name="Text 1"/>
          <p:cNvSpPr/>
          <p:nvPr/>
        </p:nvSpPr>
        <p:spPr>
          <a:xfrm>
            <a:off x="952500" y="12700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Java code blocks are the same as in C</a:t>
            </a:r>
            <a:endParaRPr lang="en-US" sz="2400" dirty="0"/>
          </a:p>
        </p:txBody>
      </p:sp>
      <p:sp>
        <p:nvSpPr>
          <p:cNvPr id="4" name="Text 2"/>
          <p:cNvSpPr/>
          <p:nvPr/>
        </p:nvSpPr>
        <p:spPr>
          <a:xfrm>
            <a:off x="952500" y="17780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Each block is enclosed by braces </a:t>
            </a:r>
            <a:r>
              <a:rPr lang="en-US" sz="2400" b="1" dirty="0">
                <a:solidFill>
                  <a:srgbClr val="111111"/>
                </a:solidFill>
                <a:latin typeface="Times New Roman" pitchFamily="18" charset="0"/>
                <a:ea typeface="Times New Roman" pitchFamily="18" charset="-122"/>
                <a:cs typeface="Times New Roman" pitchFamily="18" charset="-120"/>
              </a:rPr>
              <a:t>{ }</a:t>
            </a:r>
            <a:r>
              <a:rPr lang="en-US" sz="2400" dirty="0">
                <a:solidFill>
                  <a:srgbClr val="111111"/>
                </a:solidFill>
                <a:latin typeface="Times New Roman" pitchFamily="18" charset="0"/>
                <a:ea typeface="Times New Roman" pitchFamily="18" charset="-122"/>
                <a:cs typeface="Times New Roman" pitchFamily="18" charset="-120"/>
              </a:rPr>
              <a:t> and starts a new scope for the variables</a:t>
            </a:r>
            <a:endParaRPr lang="en-US" sz="2400" dirty="0"/>
          </a:p>
        </p:txBody>
      </p:sp>
      <p:sp>
        <p:nvSpPr>
          <p:cNvPr id="5" name="Text 3"/>
          <p:cNvSpPr/>
          <p:nvPr/>
        </p:nvSpPr>
        <p:spPr>
          <a:xfrm>
            <a:off x="952500" y="22860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Variables can be declared both at the beginning and in the middle of a block</a:t>
            </a:r>
            <a:endParaRPr lang="en-US" sz="2400" dirty="0"/>
          </a:p>
        </p:txBody>
      </p:sp>
      <p:sp>
        <p:nvSpPr>
          <p:cNvPr id="6" name="Text 4"/>
          <p:cNvSpPr/>
          <p:nvPr/>
        </p:nvSpPr>
        <p:spPr>
          <a:xfrm>
            <a:off x="1409700" y="2794000"/>
            <a:ext cx="10124694" cy="2124710"/>
          </a:xfrm>
          <a:prstGeom prst="rect">
            <a:avLst/>
          </a:prstGeom>
          <a:noFill/>
          <a:ln/>
        </p:spPr>
        <p:txBody>
          <a:bodyPr wrap="square" lIns="0" tIns="0" rIns="0" bIns="0" rtlCol="0" anchor="t">
            <a:noAutofit/>
          </a:bodyPr>
          <a:lstStyle/>
          <a:p>
            <a:pPr marL="0" indent="0" algn="l">
              <a:lnSpc>
                <a:spcPts val="2755"/>
              </a:lnSpc>
              <a:buNone/>
            </a:pPr>
            <a:r>
              <a:rPr lang="en-US" sz="2400" b="1" dirty="0">
                <a:solidFill>
                  <a:srgbClr val="111111"/>
                </a:solidFill>
                <a:latin typeface="Courier New"/>
                <a:ea typeface="Courier New" pitchFamily="49" charset="-122"/>
                <a:cs typeface="Courier New"/>
              </a:rPr>
              <a:t>for (int i=0; i&lt;10; i++) {</a:t>
            </a:r>
            <a:endParaRPr lang="en-US" sz="2400">
              <a:latin typeface="Courier New"/>
              <a:cs typeface="Courier New"/>
            </a:endParaRPr>
          </a:p>
          <a:p>
            <a:pPr marL="0" indent="0" algn="l">
              <a:lnSpc>
                <a:spcPts val="2755"/>
              </a:lnSpc>
              <a:buNone/>
            </a:pPr>
            <a:r>
              <a:rPr lang="en-US" sz="2400" b="1" dirty="0">
                <a:solidFill>
                  <a:srgbClr val="111111"/>
                </a:solidFill>
                <a:latin typeface="Courier New"/>
                <a:ea typeface="Courier New" pitchFamily="49" charset="-122"/>
                <a:cs typeface="Courier New"/>
              </a:rPr>
              <a:t>  int x = 12;</a:t>
            </a:r>
            <a:endParaRPr lang="en-US" sz="2400">
              <a:latin typeface="Courier New"/>
              <a:cs typeface="Courier New"/>
            </a:endParaRPr>
          </a:p>
          <a:p>
            <a:pPr marL="0" indent="0" algn="l">
              <a:lnSpc>
                <a:spcPts val="2755"/>
              </a:lnSpc>
              <a:buNone/>
            </a:pPr>
            <a:r>
              <a:rPr lang="en-US" sz="2400" b="1" dirty="0">
                <a:solidFill>
                  <a:srgbClr val="111111"/>
                </a:solidFill>
                <a:latin typeface="Courier New"/>
                <a:ea typeface="Courier New" pitchFamily="49" charset="-122"/>
                <a:cs typeface="Courier New"/>
              </a:rPr>
              <a:t>  ...</a:t>
            </a:r>
            <a:endParaRPr lang="en-US" sz="2400">
              <a:latin typeface="Courier New"/>
              <a:cs typeface="Courier New"/>
            </a:endParaRPr>
          </a:p>
          <a:p>
            <a:pPr marL="0" indent="0" algn="l">
              <a:lnSpc>
                <a:spcPts val="2755"/>
              </a:lnSpc>
              <a:buNone/>
            </a:pPr>
            <a:r>
              <a:rPr lang="en-US" sz="2400" b="1" dirty="0">
                <a:solidFill>
                  <a:srgbClr val="111111"/>
                </a:solidFill>
                <a:latin typeface="Courier New"/>
                <a:ea typeface="Courier New" pitchFamily="49" charset="-122"/>
                <a:cs typeface="Courier New"/>
              </a:rPr>
              <a:t>  int y;</a:t>
            </a:r>
            <a:endParaRPr lang="en-US" sz="2400">
              <a:latin typeface="Courier New"/>
              <a:cs typeface="Courier New"/>
            </a:endParaRPr>
          </a:p>
          <a:p>
            <a:pPr marL="0" indent="0" algn="l">
              <a:lnSpc>
                <a:spcPts val="2755"/>
              </a:lnSpc>
              <a:buNone/>
            </a:pPr>
            <a:r>
              <a:rPr lang="en-US" sz="2400" b="1" dirty="0">
                <a:solidFill>
                  <a:srgbClr val="111111"/>
                </a:solidFill>
                <a:latin typeface="Courier New"/>
                <a:ea typeface="Courier New" pitchFamily="49" charset="-122"/>
                <a:cs typeface="Courier New"/>
              </a:rPr>
              <a:t>  ...</a:t>
            </a:r>
            <a:endParaRPr lang="en-US" sz="2400">
              <a:latin typeface="Courier New"/>
              <a:cs typeface="Courier New"/>
            </a:endParaRPr>
          </a:p>
          <a:p>
            <a:pPr marL="0" indent="0" algn="l">
              <a:lnSpc>
                <a:spcPts val="2755"/>
              </a:lnSpc>
              <a:buNone/>
            </a:pPr>
            <a:r>
              <a:rPr lang="en-US" sz="2400" b="1" dirty="0">
                <a:solidFill>
                  <a:srgbClr val="111111"/>
                </a:solidFill>
                <a:latin typeface="Courier New"/>
                <a:ea typeface="Courier New" pitchFamily="49" charset="-122"/>
                <a:cs typeface="Courier New"/>
              </a:rPr>
              <a:t>}</a:t>
            </a:r>
            <a:endParaRPr lang="en-US" sz="2400">
              <a:latin typeface="Courier New"/>
              <a:cs typeface="Courier New"/>
            </a:endParaRPr>
          </a:p>
        </p:txBody>
      </p:sp>
      <p:sp>
        <p:nvSpPr>
          <p:cNvPr id="7" name="Text 5"/>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Passing Parameters</a:t>
            </a:r>
            <a:endParaRPr lang="en-US" sz="3300" dirty="0"/>
          </a:p>
        </p:txBody>
      </p:sp>
      <p:sp>
        <p:nvSpPr>
          <p:cNvPr id="3" name="Text 1"/>
          <p:cNvSpPr/>
          <p:nvPr/>
        </p:nvSpPr>
        <p:spPr>
          <a:xfrm>
            <a:off x="952500" y="12700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Parameters are always passed </a:t>
            </a:r>
            <a:r>
              <a:rPr lang="en-US" sz="2400" i="1" dirty="0">
                <a:solidFill>
                  <a:srgbClr val="111111"/>
                </a:solidFill>
                <a:latin typeface="Times New Roman" pitchFamily="18" charset="0"/>
                <a:ea typeface="Times New Roman" pitchFamily="18" charset="-122"/>
                <a:cs typeface="Times New Roman" pitchFamily="18" charset="-120"/>
              </a:rPr>
              <a:t>by value</a:t>
            </a:r>
            <a:endParaRPr lang="en-US" sz="2400" dirty="0"/>
          </a:p>
        </p:txBody>
      </p:sp>
      <p:sp>
        <p:nvSpPr>
          <p:cNvPr id="4" name="Text 2"/>
          <p:cNvSpPr/>
          <p:nvPr/>
        </p:nvSpPr>
        <p:spPr>
          <a:xfrm>
            <a:off x="952500" y="1841500"/>
            <a:ext cx="10595610" cy="406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111111"/>
                </a:solidFill>
                <a:latin typeface="Times New Roman" pitchFamily="18" charset="0"/>
                <a:ea typeface="Times New Roman" pitchFamily="18" charset="-122"/>
                <a:cs typeface="Times New Roman" pitchFamily="18" charset="-120"/>
              </a:rPr>
              <a:t>▫  ...they can be primitive types or object </a:t>
            </a:r>
            <a:r>
              <a:rPr lang="en-US" sz="2400" i="1" dirty="0">
                <a:solidFill>
                  <a:srgbClr val="111111"/>
                </a:solidFill>
                <a:latin typeface="Times New Roman" pitchFamily="18" charset="0"/>
                <a:ea typeface="Times New Roman" pitchFamily="18" charset="-122"/>
                <a:cs typeface="Times New Roman" pitchFamily="18" charset="-120"/>
              </a:rPr>
              <a:t>references</a:t>
            </a:r>
            <a:endParaRPr lang="en-US" sz="2400" dirty="0"/>
          </a:p>
        </p:txBody>
      </p:sp>
      <p:sp>
        <p:nvSpPr>
          <p:cNvPr id="5" name="Text 3"/>
          <p:cNvSpPr/>
          <p:nvPr/>
        </p:nvSpPr>
        <p:spPr>
          <a:xfrm>
            <a:off x="1409700" y="2413000"/>
            <a:ext cx="10124694" cy="358775"/>
          </a:xfrm>
          <a:prstGeom prst="rect">
            <a:avLst/>
          </a:prstGeom>
          <a:noFill/>
          <a:ln/>
        </p:spPr>
        <p:txBody>
          <a:bodyPr wrap="square" lIns="0" tIns="0" rIns="0" bIns="0" rtlCol="0" anchor="t">
            <a:normAutofit/>
          </a:bodyPr>
          <a:lstStyle/>
          <a:p>
            <a:pPr marL="0" indent="0" algn="l">
              <a:lnSpc>
                <a:spcPts val="2625"/>
              </a:lnSpc>
              <a:buNone/>
            </a:pPr>
            <a:r>
              <a:rPr lang="en-US" sz="2100" dirty="0">
                <a:solidFill>
                  <a:srgbClr val="111111"/>
                </a:solidFill>
                <a:latin typeface="Times New Roman" pitchFamily="18" charset="0"/>
                <a:ea typeface="Times New Roman" pitchFamily="18" charset="-122"/>
                <a:cs typeface="Times New Roman" pitchFamily="18" charset="-120"/>
              </a:rPr>
              <a:t>– Note: only the object reference is copied, not the whole object</a:t>
            </a:r>
            <a:endParaRPr lang="en-US" sz="2100" dirty="0"/>
          </a:p>
        </p:txBody>
      </p:sp>
      <p:sp>
        <p:nvSpPr>
          <p:cNvPr id="6" name="Text 4"/>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Programming Errors</a:t>
            </a:r>
            <a:endParaRPr lang="en-US" sz="3300" dirty="0"/>
          </a:p>
        </p:txBody>
      </p:sp>
      <p:sp>
        <p:nvSpPr>
          <p:cNvPr id="3" name="Text 1"/>
          <p:cNvSpPr/>
          <p:nvPr/>
        </p:nvSpPr>
        <p:spPr>
          <a:xfrm>
            <a:off x="952500" y="1270000"/>
            <a:ext cx="10595610" cy="487680"/>
          </a:xfrm>
          <a:prstGeom prst="rect">
            <a:avLst/>
          </a:prstGeom>
          <a:noFill/>
          <a:ln/>
        </p:spPr>
        <p:txBody>
          <a:bodyPr wrap="square" lIns="0" tIns="0" rIns="0" bIns="0" rtlCol="0" anchor="t">
            <a:normAutofit/>
          </a:bodyPr>
          <a:lstStyle/>
          <a:p>
            <a:pPr marL="0" indent="0" algn="l">
              <a:lnSpc>
                <a:spcPts val="3640"/>
              </a:lnSpc>
              <a:buNone/>
            </a:pPr>
            <a:r>
              <a:rPr lang="en-US" sz="2800" dirty="0">
                <a:solidFill>
                  <a:srgbClr val="111111"/>
                </a:solidFill>
                <a:latin typeface="Times New Roman" pitchFamily="18" charset="0"/>
                <a:ea typeface="Times New Roman" pitchFamily="18" charset="-122"/>
                <a:cs typeface="Times New Roman" pitchFamily="18" charset="-120"/>
              </a:rPr>
              <a:t>▫  Syntax Errors</a:t>
            </a:r>
            <a:endParaRPr lang="en-US" sz="2800" dirty="0"/>
          </a:p>
        </p:txBody>
      </p:sp>
      <p:sp>
        <p:nvSpPr>
          <p:cNvPr id="4" name="Text 2"/>
          <p:cNvSpPr/>
          <p:nvPr/>
        </p:nvSpPr>
        <p:spPr>
          <a:xfrm>
            <a:off x="952500" y="1778000"/>
            <a:ext cx="10595610" cy="405130"/>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111111"/>
                </a:solidFill>
                <a:latin typeface="Times New Roman" pitchFamily="18" charset="0"/>
                <a:ea typeface="Times New Roman" pitchFamily="18" charset="-122"/>
                <a:cs typeface="Times New Roman" pitchFamily="18" charset="-120"/>
              </a:rPr>
              <a:t>    – Detected by the compiler</a:t>
            </a:r>
            <a:endParaRPr lang="en-US" sz="2300" dirty="0"/>
          </a:p>
        </p:txBody>
      </p:sp>
      <p:sp>
        <p:nvSpPr>
          <p:cNvPr id="5" name="Text 3"/>
          <p:cNvSpPr/>
          <p:nvPr/>
        </p:nvSpPr>
        <p:spPr>
          <a:xfrm>
            <a:off x="952500" y="2413000"/>
            <a:ext cx="10595610" cy="487680"/>
          </a:xfrm>
          <a:prstGeom prst="rect">
            <a:avLst/>
          </a:prstGeom>
          <a:noFill/>
          <a:ln/>
        </p:spPr>
        <p:txBody>
          <a:bodyPr wrap="square" lIns="0" tIns="0" rIns="0" bIns="0" rtlCol="0" anchor="t">
            <a:normAutofit/>
          </a:bodyPr>
          <a:lstStyle/>
          <a:p>
            <a:pPr marL="0" indent="0" algn="l">
              <a:lnSpc>
                <a:spcPts val="3640"/>
              </a:lnSpc>
              <a:buNone/>
            </a:pPr>
            <a:r>
              <a:rPr lang="en-US" sz="2800" dirty="0">
                <a:solidFill>
                  <a:srgbClr val="111111"/>
                </a:solidFill>
                <a:latin typeface="Times New Roman" pitchFamily="18" charset="0"/>
                <a:ea typeface="Times New Roman" pitchFamily="18" charset="-122"/>
                <a:cs typeface="Times New Roman" pitchFamily="18" charset="-120"/>
              </a:rPr>
              <a:t>▫  Runtime Errors</a:t>
            </a:r>
            <a:endParaRPr lang="en-US" sz="2800" dirty="0"/>
          </a:p>
        </p:txBody>
      </p:sp>
      <p:sp>
        <p:nvSpPr>
          <p:cNvPr id="6" name="Text 4"/>
          <p:cNvSpPr/>
          <p:nvPr/>
        </p:nvSpPr>
        <p:spPr>
          <a:xfrm>
            <a:off x="952500" y="2921000"/>
            <a:ext cx="10595610" cy="405130"/>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111111"/>
                </a:solidFill>
                <a:latin typeface="Times New Roman" pitchFamily="18" charset="0"/>
                <a:ea typeface="Times New Roman" pitchFamily="18" charset="-122"/>
                <a:cs typeface="Times New Roman" pitchFamily="18" charset="-120"/>
              </a:rPr>
              <a:t>    – Causes the program to abort</a:t>
            </a:r>
            <a:endParaRPr lang="en-US" sz="2300" dirty="0"/>
          </a:p>
        </p:txBody>
      </p:sp>
      <p:sp>
        <p:nvSpPr>
          <p:cNvPr id="7" name="Text 5"/>
          <p:cNvSpPr/>
          <p:nvPr/>
        </p:nvSpPr>
        <p:spPr>
          <a:xfrm>
            <a:off x="952500" y="3556000"/>
            <a:ext cx="10595610" cy="487680"/>
          </a:xfrm>
          <a:prstGeom prst="rect">
            <a:avLst/>
          </a:prstGeom>
          <a:noFill/>
          <a:ln/>
        </p:spPr>
        <p:txBody>
          <a:bodyPr wrap="square" lIns="0" tIns="0" rIns="0" bIns="0" rtlCol="0" anchor="t">
            <a:normAutofit/>
          </a:bodyPr>
          <a:lstStyle/>
          <a:p>
            <a:pPr marL="0" indent="0" algn="l">
              <a:lnSpc>
                <a:spcPts val="3640"/>
              </a:lnSpc>
              <a:buNone/>
            </a:pPr>
            <a:r>
              <a:rPr lang="en-US" sz="2800" dirty="0">
                <a:solidFill>
                  <a:srgbClr val="111111"/>
                </a:solidFill>
                <a:latin typeface="Times New Roman" pitchFamily="18" charset="0"/>
                <a:ea typeface="Times New Roman" pitchFamily="18" charset="-122"/>
                <a:cs typeface="Times New Roman" pitchFamily="18" charset="-120"/>
              </a:rPr>
              <a:t>▫  Logic Errors</a:t>
            </a:r>
            <a:endParaRPr lang="en-US" sz="2800" dirty="0"/>
          </a:p>
        </p:txBody>
      </p:sp>
      <p:sp>
        <p:nvSpPr>
          <p:cNvPr id="8" name="Text 6"/>
          <p:cNvSpPr/>
          <p:nvPr/>
        </p:nvSpPr>
        <p:spPr>
          <a:xfrm>
            <a:off x="952500" y="4064000"/>
            <a:ext cx="10595610" cy="405130"/>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111111"/>
                </a:solidFill>
                <a:latin typeface="Times New Roman" pitchFamily="18" charset="0"/>
                <a:ea typeface="Times New Roman" pitchFamily="18" charset="-122"/>
                <a:cs typeface="Times New Roman" pitchFamily="18" charset="-120"/>
              </a:rPr>
              <a:t>    – Produces incorrect result</a:t>
            </a:r>
            <a:endParaRPr lang="en-US" sz="2300" dirty="0"/>
          </a:p>
        </p:txBody>
      </p:sp>
      <p:sp>
        <p:nvSpPr>
          <p:cNvPr id="9" name="Text 7"/>
          <p:cNvSpPr/>
          <p:nvPr/>
        </p:nvSpPr>
        <p:spPr>
          <a:xfrm>
            <a:off x="812800" y="63906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Syntax Errors</a:t>
            </a:r>
            <a:endParaRPr lang="en-US" sz="3300" dirty="0"/>
          </a:p>
        </p:txBody>
      </p:sp>
      <p:sp>
        <p:nvSpPr>
          <p:cNvPr id="3" name="Text 1"/>
          <p:cNvSpPr/>
          <p:nvPr/>
        </p:nvSpPr>
        <p:spPr>
          <a:xfrm>
            <a:off x="889000" y="1587500"/>
            <a:ext cx="7600061" cy="444500"/>
          </a:xfrm>
          <a:prstGeom prst="rect">
            <a:avLst/>
          </a:prstGeom>
          <a:noFill/>
          <a:ln/>
        </p:spPr>
        <p:txBody>
          <a:bodyPr wrap="square" lIns="0" tIns="0" rIns="0" bIns="0" rtlCol="0" anchor="t">
            <a:normAutofit/>
          </a:bodyPr>
          <a:lstStyle/>
          <a:p>
            <a:pPr marL="0" indent="0" algn="l">
              <a:lnSpc>
                <a:spcPts val="3300"/>
              </a:lnSpc>
              <a:buNone/>
            </a:pPr>
            <a:r>
              <a:rPr lang="en-US" sz="2200" b="1" dirty="0">
                <a:solidFill>
                  <a:srgbClr val="000000"/>
                </a:solidFill>
                <a:latin typeface="Courier New" pitchFamily="49" charset="0"/>
                <a:ea typeface="Courier New" pitchFamily="49" charset="-122"/>
                <a:cs typeface="Courier New" pitchFamily="49" charset="-120"/>
              </a:rPr>
              <a:t>public class ShowSyntaxErrors {</a:t>
            </a:r>
            <a:endParaRPr lang="en-US" sz="2200" dirty="0"/>
          </a:p>
        </p:txBody>
      </p:sp>
      <p:sp>
        <p:nvSpPr>
          <p:cNvPr id="4" name="Text 2"/>
          <p:cNvSpPr/>
          <p:nvPr/>
        </p:nvSpPr>
        <p:spPr>
          <a:xfrm>
            <a:off x="889000" y="2006600"/>
            <a:ext cx="7600061" cy="444500"/>
          </a:xfrm>
          <a:prstGeom prst="rect">
            <a:avLst/>
          </a:prstGeom>
          <a:noFill/>
          <a:ln/>
        </p:spPr>
        <p:txBody>
          <a:bodyPr wrap="square" lIns="0" tIns="0" rIns="0" bIns="0" rtlCol="0" anchor="t">
            <a:normAutofit/>
          </a:bodyPr>
          <a:lstStyle/>
          <a:p>
            <a:pPr marL="0" indent="0" algn="l">
              <a:lnSpc>
                <a:spcPts val="3300"/>
              </a:lnSpc>
              <a:buNone/>
            </a:pPr>
            <a:r>
              <a:rPr lang="en-US" sz="2200" b="1" dirty="0">
                <a:solidFill>
                  <a:srgbClr val="000000"/>
                </a:solidFill>
                <a:latin typeface="Courier New" pitchFamily="49" charset="0"/>
                <a:ea typeface="Courier New" pitchFamily="49" charset="-122"/>
                <a:cs typeface="Courier New" pitchFamily="49" charset="-120"/>
              </a:rPr>
              <a:t>  public static main(String[] args) {</a:t>
            </a:r>
            <a:endParaRPr lang="en-US" sz="2200" dirty="0"/>
          </a:p>
        </p:txBody>
      </p:sp>
      <p:sp>
        <p:nvSpPr>
          <p:cNvPr id="5" name="Text 3"/>
          <p:cNvSpPr/>
          <p:nvPr/>
        </p:nvSpPr>
        <p:spPr>
          <a:xfrm>
            <a:off x="889000" y="2425700"/>
            <a:ext cx="7600061" cy="444500"/>
          </a:xfrm>
          <a:prstGeom prst="rect">
            <a:avLst/>
          </a:prstGeom>
          <a:noFill/>
          <a:ln/>
        </p:spPr>
        <p:txBody>
          <a:bodyPr wrap="square" lIns="0" tIns="0" rIns="0" bIns="0" rtlCol="0" anchor="t">
            <a:normAutofit/>
          </a:bodyPr>
          <a:lstStyle/>
          <a:p>
            <a:pPr marL="0" indent="0" algn="l">
              <a:lnSpc>
                <a:spcPts val="3300"/>
              </a:lnSpc>
              <a:buNone/>
            </a:pPr>
            <a:r>
              <a:rPr lang="en-US" sz="2200" b="1" dirty="0">
                <a:solidFill>
                  <a:srgbClr val="000000"/>
                </a:solidFill>
                <a:latin typeface="Courier New" pitchFamily="49" charset="0"/>
                <a:ea typeface="Courier New" pitchFamily="49" charset="-122"/>
                <a:cs typeface="Courier New" pitchFamily="49" charset="-120"/>
              </a:rPr>
              <a:t>    System.out.println("Welcome to Java);</a:t>
            </a:r>
            <a:endParaRPr lang="en-US" sz="2200" dirty="0"/>
          </a:p>
        </p:txBody>
      </p:sp>
      <p:sp>
        <p:nvSpPr>
          <p:cNvPr id="6" name="Text 4"/>
          <p:cNvSpPr/>
          <p:nvPr/>
        </p:nvSpPr>
        <p:spPr>
          <a:xfrm>
            <a:off x="889000" y="2844800"/>
            <a:ext cx="7600061" cy="444500"/>
          </a:xfrm>
          <a:prstGeom prst="rect">
            <a:avLst/>
          </a:prstGeom>
          <a:noFill/>
          <a:ln/>
        </p:spPr>
        <p:txBody>
          <a:bodyPr wrap="square" lIns="0" tIns="0" rIns="0" bIns="0" rtlCol="0" anchor="t">
            <a:normAutofit/>
          </a:bodyPr>
          <a:lstStyle/>
          <a:p>
            <a:pPr marL="0" indent="0" algn="l">
              <a:lnSpc>
                <a:spcPts val="3300"/>
              </a:lnSpc>
              <a:buNone/>
            </a:pPr>
            <a:r>
              <a:rPr lang="en-US" sz="2200" b="1" dirty="0">
                <a:solidFill>
                  <a:srgbClr val="000000"/>
                </a:solidFill>
                <a:latin typeface="Courier New" pitchFamily="49" charset="0"/>
                <a:ea typeface="Courier New" pitchFamily="49" charset="-122"/>
                <a:cs typeface="Courier New" pitchFamily="49" charset="-120"/>
              </a:rPr>
              <a:t>  }</a:t>
            </a:r>
            <a:endParaRPr lang="en-US" sz="2200" dirty="0"/>
          </a:p>
        </p:txBody>
      </p:sp>
      <p:sp>
        <p:nvSpPr>
          <p:cNvPr id="7" name="Text 5"/>
          <p:cNvSpPr/>
          <p:nvPr/>
        </p:nvSpPr>
        <p:spPr>
          <a:xfrm>
            <a:off x="889000" y="3263900"/>
            <a:ext cx="7600061" cy="444500"/>
          </a:xfrm>
          <a:prstGeom prst="rect">
            <a:avLst/>
          </a:prstGeom>
          <a:noFill/>
          <a:ln/>
        </p:spPr>
        <p:txBody>
          <a:bodyPr wrap="square" lIns="0" tIns="0" rIns="0" bIns="0" rtlCol="0" anchor="t">
            <a:normAutofit/>
          </a:bodyPr>
          <a:lstStyle/>
          <a:p>
            <a:pPr marL="0" indent="0" algn="l">
              <a:lnSpc>
                <a:spcPts val="3300"/>
              </a:lnSpc>
              <a:buNone/>
            </a:pPr>
            <a:r>
              <a:rPr lang="en-US" sz="2200" b="1" dirty="0">
                <a:solidFill>
                  <a:srgbClr val="000000"/>
                </a:solidFill>
                <a:latin typeface="Courier New" pitchFamily="49" charset="0"/>
                <a:ea typeface="Courier New" pitchFamily="49" charset="-122"/>
                <a:cs typeface="Courier New" pitchFamily="49" charset="-120"/>
              </a:rPr>
              <a:t>}</a:t>
            </a:r>
            <a:endParaRPr lang="en-US" sz="2200" dirty="0"/>
          </a:p>
        </p:txBody>
      </p:sp>
      <p:sp>
        <p:nvSpPr>
          <p:cNvPr id="8" name="Text 6"/>
          <p:cNvSpPr/>
          <p:nvPr/>
        </p:nvSpPr>
        <p:spPr>
          <a:xfrm>
            <a:off x="9908752" y="5732785"/>
            <a:ext cx="1470448" cy="426720"/>
          </a:xfrm>
          <a:prstGeom prst="roundRect">
            <a:avLst>
              <a:gd name="adj" fmla="val 50000"/>
            </a:avLst>
          </a:prstGeom>
          <a:solidFill>
            <a:srgbClr val="E8742C"/>
          </a:solidFill>
          <a:ln/>
        </p:spPr>
        <p:txBody>
          <a:bodyPr wrap="none" lIns="0" tIns="0" rIns="0" bIns="0" rtlCol="0" anchor="ctr">
            <a:normAutofit/>
          </a:bodyPr>
          <a:lstStyle/>
          <a:p>
            <a:pPr marL="0" indent="0" algn="ctr">
              <a:lnSpc>
                <a:spcPts val="1960"/>
              </a:lnSpc>
              <a:buNone/>
            </a:pPr>
            <a:r>
              <a:rPr lang="en-US" sz="1400" b="1" u="sng" dirty="0">
                <a:solidFill>
                  <a:srgbClr val="222222"/>
                </a:solidFill>
                <a:latin typeface="Source Sans 3" pitchFamily="34" charset="0"/>
                <a:ea typeface="Source Sans 3" pitchFamily="34" charset="-122"/>
                <a:cs typeface="Source Sans 3" pitchFamily="34" charset="-120"/>
                <a:hlinkClick r:id="rId3">
                  <a:extLst>
                    <a:ext uri="{A12FA001-AC4F-418D-AE19-62706E023703}">
                      <ahyp:hlinkClr xmlns:ahyp="http://schemas.microsoft.com/office/drawing/2018/hyperlinkcolor" xmlns="" val="tx"/>
                    </a:ext>
                  </a:extLst>
                </a:hlinkClick>
              </a:rPr>
              <a:t>▶ </a:t>
            </a:r>
            <a:r>
              <a:rPr lang="en-US" sz="1400" b="1" u="sng" dirty="0">
                <a:solidFill>
                  <a:srgbClr val="222222"/>
                </a:solidFill>
                <a:latin typeface="Source Sans 3" pitchFamily="34" charset="0"/>
                <a:ea typeface="Source Sans 3" pitchFamily="34" charset="-122"/>
                <a:cs typeface="Source Sans 3" pitchFamily="34" charset="-120"/>
                <a:hlinkClick r:id="rId3"/>
              </a:rPr>
              <a:t>Try it live ↗</a:t>
            </a:r>
            <a:endParaRPr lang="en-US" sz="1400" dirty="0"/>
          </a:p>
        </p:txBody>
      </p:sp>
      <p:sp>
        <p:nvSpPr>
          <p:cNvPr id="9" name="Text 7"/>
          <p:cNvSpPr/>
          <p:nvPr/>
        </p:nvSpPr>
        <p:spPr>
          <a:xfrm>
            <a:off x="812800" y="639063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Runtime Errors</a:t>
            </a:r>
            <a:endParaRPr lang="en-US" sz="3300" dirty="0"/>
          </a:p>
        </p:txBody>
      </p:sp>
      <p:sp>
        <p:nvSpPr>
          <p:cNvPr id="3" name="Text 1"/>
          <p:cNvSpPr/>
          <p:nvPr/>
        </p:nvSpPr>
        <p:spPr>
          <a:xfrm>
            <a:off x="889000" y="1587500"/>
            <a:ext cx="7776655" cy="444500"/>
          </a:xfrm>
          <a:prstGeom prst="rect">
            <a:avLst/>
          </a:prstGeom>
          <a:noFill/>
          <a:ln/>
        </p:spPr>
        <p:txBody>
          <a:bodyPr wrap="square" lIns="0" tIns="0" rIns="0" bIns="0" rtlCol="0" anchor="t">
            <a:normAutofit/>
          </a:bodyPr>
          <a:lstStyle/>
          <a:p>
            <a:pPr marL="0" indent="0" algn="l">
              <a:lnSpc>
                <a:spcPts val="3300"/>
              </a:lnSpc>
              <a:buNone/>
            </a:pPr>
            <a:r>
              <a:rPr lang="en-US" sz="2200" b="1" dirty="0">
                <a:solidFill>
                  <a:srgbClr val="000000"/>
                </a:solidFill>
                <a:latin typeface="Courier New" pitchFamily="49" charset="0"/>
                <a:ea typeface="Courier New" pitchFamily="49" charset="-122"/>
                <a:cs typeface="Courier New" pitchFamily="49" charset="-120"/>
              </a:rPr>
              <a:t>public class ShowRuntimeErrors {</a:t>
            </a:r>
            <a:endParaRPr lang="en-US" sz="2200" dirty="0"/>
          </a:p>
        </p:txBody>
      </p:sp>
      <p:sp>
        <p:nvSpPr>
          <p:cNvPr id="4" name="Text 2"/>
          <p:cNvSpPr/>
          <p:nvPr/>
        </p:nvSpPr>
        <p:spPr>
          <a:xfrm>
            <a:off x="889000" y="2006600"/>
            <a:ext cx="7776655" cy="444500"/>
          </a:xfrm>
          <a:prstGeom prst="rect">
            <a:avLst/>
          </a:prstGeom>
          <a:noFill/>
          <a:ln/>
        </p:spPr>
        <p:txBody>
          <a:bodyPr wrap="square" lIns="0" tIns="0" rIns="0" bIns="0" rtlCol="0" anchor="t">
            <a:normAutofit/>
          </a:bodyPr>
          <a:lstStyle/>
          <a:p>
            <a:pPr marL="0" indent="0" algn="l">
              <a:lnSpc>
                <a:spcPts val="3300"/>
              </a:lnSpc>
              <a:buNone/>
            </a:pPr>
            <a:r>
              <a:rPr lang="en-US" sz="2200" b="1" dirty="0">
                <a:solidFill>
                  <a:srgbClr val="000000"/>
                </a:solidFill>
                <a:latin typeface="Courier New" pitchFamily="49" charset="0"/>
                <a:ea typeface="Courier New" pitchFamily="49" charset="-122"/>
                <a:cs typeface="Courier New" pitchFamily="49" charset="-120"/>
              </a:rPr>
              <a:t>  public static void main(String[] args) {</a:t>
            </a:r>
            <a:endParaRPr lang="en-US" sz="2200" dirty="0"/>
          </a:p>
        </p:txBody>
      </p:sp>
      <p:sp>
        <p:nvSpPr>
          <p:cNvPr id="5" name="Text 3"/>
          <p:cNvSpPr/>
          <p:nvPr/>
        </p:nvSpPr>
        <p:spPr>
          <a:xfrm>
            <a:off x="889000" y="2425700"/>
            <a:ext cx="7776655" cy="444500"/>
          </a:xfrm>
          <a:prstGeom prst="rect">
            <a:avLst/>
          </a:prstGeom>
          <a:noFill/>
          <a:ln/>
        </p:spPr>
        <p:txBody>
          <a:bodyPr wrap="square" lIns="0" tIns="0" rIns="0" bIns="0" rtlCol="0" anchor="t">
            <a:normAutofit/>
          </a:bodyPr>
          <a:lstStyle/>
          <a:p>
            <a:pPr marL="0" indent="0" algn="l">
              <a:lnSpc>
                <a:spcPts val="3300"/>
              </a:lnSpc>
              <a:buNone/>
            </a:pPr>
            <a:r>
              <a:rPr lang="en-US" sz="2200" b="1" dirty="0">
                <a:solidFill>
                  <a:srgbClr val="000000"/>
                </a:solidFill>
                <a:latin typeface="Courier New" pitchFamily="49" charset="0"/>
                <a:ea typeface="Courier New" pitchFamily="49" charset="-122"/>
                <a:cs typeface="Courier New" pitchFamily="49" charset="-120"/>
              </a:rPr>
              <a:t>    System.out.println(1 / 0);</a:t>
            </a:r>
            <a:endParaRPr lang="en-US" sz="2200" dirty="0"/>
          </a:p>
        </p:txBody>
      </p:sp>
      <p:sp>
        <p:nvSpPr>
          <p:cNvPr id="6" name="Text 4"/>
          <p:cNvSpPr/>
          <p:nvPr/>
        </p:nvSpPr>
        <p:spPr>
          <a:xfrm>
            <a:off x="889000" y="2844800"/>
            <a:ext cx="7776655" cy="444500"/>
          </a:xfrm>
          <a:prstGeom prst="rect">
            <a:avLst/>
          </a:prstGeom>
          <a:noFill/>
          <a:ln/>
        </p:spPr>
        <p:txBody>
          <a:bodyPr wrap="square" lIns="0" tIns="0" rIns="0" bIns="0" rtlCol="0" anchor="t">
            <a:normAutofit/>
          </a:bodyPr>
          <a:lstStyle/>
          <a:p>
            <a:pPr marL="0" indent="0" algn="l">
              <a:lnSpc>
                <a:spcPts val="3300"/>
              </a:lnSpc>
              <a:buNone/>
            </a:pPr>
            <a:r>
              <a:rPr lang="en-US" sz="2200" b="1" dirty="0">
                <a:solidFill>
                  <a:srgbClr val="000000"/>
                </a:solidFill>
                <a:latin typeface="Courier New" pitchFamily="49" charset="0"/>
                <a:ea typeface="Courier New" pitchFamily="49" charset="-122"/>
                <a:cs typeface="Courier New" pitchFamily="49" charset="-120"/>
              </a:rPr>
              <a:t>  }</a:t>
            </a:r>
            <a:endParaRPr lang="en-US" sz="2200" dirty="0"/>
          </a:p>
        </p:txBody>
      </p:sp>
      <p:sp>
        <p:nvSpPr>
          <p:cNvPr id="7" name="Text 5"/>
          <p:cNvSpPr/>
          <p:nvPr/>
        </p:nvSpPr>
        <p:spPr>
          <a:xfrm>
            <a:off x="889000" y="3263900"/>
            <a:ext cx="7776655" cy="444500"/>
          </a:xfrm>
          <a:prstGeom prst="rect">
            <a:avLst/>
          </a:prstGeom>
          <a:noFill/>
          <a:ln/>
        </p:spPr>
        <p:txBody>
          <a:bodyPr wrap="square" lIns="0" tIns="0" rIns="0" bIns="0" rtlCol="0" anchor="t">
            <a:normAutofit/>
          </a:bodyPr>
          <a:lstStyle/>
          <a:p>
            <a:pPr marL="0" indent="0" algn="l">
              <a:lnSpc>
                <a:spcPts val="3300"/>
              </a:lnSpc>
              <a:buNone/>
            </a:pPr>
            <a:r>
              <a:rPr lang="en-US" sz="2200" b="1" dirty="0">
                <a:solidFill>
                  <a:srgbClr val="000000"/>
                </a:solidFill>
                <a:latin typeface="Courier New" pitchFamily="49" charset="0"/>
                <a:ea typeface="Courier New" pitchFamily="49" charset="-122"/>
                <a:cs typeface="Courier New" pitchFamily="49" charset="-120"/>
              </a:rPr>
              <a:t>}</a:t>
            </a:r>
            <a:endParaRPr lang="en-US" sz="2200" dirty="0"/>
          </a:p>
        </p:txBody>
      </p:sp>
      <p:sp>
        <p:nvSpPr>
          <p:cNvPr id="8" name="Text 6"/>
          <p:cNvSpPr/>
          <p:nvPr/>
        </p:nvSpPr>
        <p:spPr>
          <a:xfrm>
            <a:off x="9908752" y="5732785"/>
            <a:ext cx="1470448" cy="426720"/>
          </a:xfrm>
          <a:prstGeom prst="roundRect">
            <a:avLst>
              <a:gd name="adj" fmla="val 50000"/>
            </a:avLst>
          </a:prstGeom>
          <a:solidFill>
            <a:srgbClr val="E8742C"/>
          </a:solidFill>
          <a:ln/>
        </p:spPr>
        <p:txBody>
          <a:bodyPr wrap="none" lIns="0" tIns="0" rIns="0" bIns="0" rtlCol="0" anchor="ctr">
            <a:normAutofit/>
          </a:bodyPr>
          <a:lstStyle/>
          <a:p>
            <a:pPr marL="0" indent="0" algn="ctr">
              <a:lnSpc>
                <a:spcPts val="1960"/>
              </a:lnSpc>
              <a:buNone/>
            </a:pPr>
            <a:r>
              <a:rPr lang="en-US" sz="1400" b="1" u="sng" dirty="0">
                <a:solidFill>
                  <a:srgbClr val="222222"/>
                </a:solidFill>
                <a:latin typeface="Source Sans 3" pitchFamily="34" charset="0"/>
                <a:ea typeface="Source Sans 3" pitchFamily="34" charset="-122"/>
                <a:cs typeface="Source Sans 3" pitchFamily="34" charset="-120"/>
                <a:hlinkClick r:id="rId3">
                  <a:extLst>
                    <a:ext uri="{A12FA001-AC4F-418D-AE19-62706E023703}">
                      <ahyp:hlinkClr xmlns:ahyp="http://schemas.microsoft.com/office/drawing/2018/hyperlinkcolor" xmlns="" val="tx"/>
                    </a:ext>
                  </a:extLst>
                </a:hlinkClick>
              </a:rPr>
              <a:t>▶ Try it live ↗</a:t>
            </a:r>
            <a:endParaRPr lang="en-US" sz="1400" dirty="0"/>
          </a:p>
        </p:txBody>
      </p:sp>
      <p:sp>
        <p:nvSpPr>
          <p:cNvPr id="9" name="Text 7"/>
          <p:cNvSpPr/>
          <p:nvPr/>
        </p:nvSpPr>
        <p:spPr>
          <a:xfrm>
            <a:off x="812800" y="639063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54304" y="355600"/>
            <a:ext cx="10883392" cy="507365"/>
          </a:xfrm>
          <a:prstGeom prst="rect">
            <a:avLst/>
          </a:prstGeom>
          <a:noFill/>
          <a:ln/>
        </p:spPr>
        <p:txBody>
          <a:bodyPr wrap="square" lIns="0" tIns="0" rIns="0" bIns="0" rtlCol="0" anchor="t">
            <a:normAutofit/>
          </a:bodyPr>
          <a:lstStyle/>
          <a:p>
            <a:pPr marL="0" indent="0" algn="ctr">
              <a:lnSpc>
                <a:spcPts val="3795"/>
              </a:lnSpc>
              <a:buNone/>
            </a:pPr>
            <a:r>
              <a:rPr lang="en-US" sz="3300" b="0" i="0" dirty="0">
                <a:solidFill>
                  <a:srgbClr val="111111"/>
                </a:solidFill>
                <a:latin typeface="Times New Roman" pitchFamily="18" charset="0"/>
                <a:ea typeface="Times New Roman" pitchFamily="18" charset="-122"/>
                <a:cs typeface="Times New Roman" pitchFamily="18" charset="-120"/>
              </a:rPr>
              <a:t>Logic Errors</a:t>
            </a:r>
            <a:endParaRPr lang="en-US" sz="3300" dirty="0"/>
          </a:p>
        </p:txBody>
      </p:sp>
      <p:sp>
        <p:nvSpPr>
          <p:cNvPr id="3" name="Text 1"/>
          <p:cNvSpPr/>
          <p:nvPr/>
        </p:nvSpPr>
        <p:spPr>
          <a:xfrm>
            <a:off x="889000" y="1397000"/>
            <a:ext cx="8398002" cy="368723"/>
          </a:xfrm>
          <a:prstGeom prst="rect">
            <a:avLst/>
          </a:prstGeom>
          <a:noFill/>
          <a:ln/>
        </p:spPr>
        <p:txBody>
          <a:bodyPr wrap="square" lIns="0" tIns="0" rIns="0" bIns="0" rtlCol="0" anchor="t">
            <a:normAutofit/>
          </a:bodyPr>
          <a:lstStyle/>
          <a:p>
            <a:pPr marL="0" indent="0" algn="l">
              <a:lnSpc>
                <a:spcPts val="2703"/>
              </a:lnSpc>
              <a:buNone/>
            </a:pPr>
            <a:r>
              <a:rPr lang="en-US" sz="1700" b="1" dirty="0">
                <a:solidFill>
                  <a:srgbClr val="000000"/>
                </a:solidFill>
                <a:latin typeface="Courier New" pitchFamily="49" charset="0"/>
                <a:ea typeface="Courier New" pitchFamily="49" charset="-122"/>
                <a:cs typeface="Courier New" pitchFamily="49" charset="-120"/>
              </a:rPr>
              <a:t>public class ShowLogicErrors {</a:t>
            </a:r>
            <a:endParaRPr lang="en-US" sz="1700" dirty="0"/>
          </a:p>
        </p:txBody>
      </p:sp>
      <p:sp>
        <p:nvSpPr>
          <p:cNvPr id="4" name="Text 2"/>
          <p:cNvSpPr/>
          <p:nvPr/>
        </p:nvSpPr>
        <p:spPr>
          <a:xfrm>
            <a:off x="889000" y="1739900"/>
            <a:ext cx="8398002" cy="368723"/>
          </a:xfrm>
          <a:prstGeom prst="rect">
            <a:avLst/>
          </a:prstGeom>
          <a:noFill/>
          <a:ln/>
        </p:spPr>
        <p:txBody>
          <a:bodyPr wrap="square" lIns="0" tIns="0" rIns="0" bIns="0" rtlCol="0" anchor="t">
            <a:normAutofit/>
          </a:bodyPr>
          <a:lstStyle/>
          <a:p>
            <a:pPr marL="0" indent="0" algn="l">
              <a:lnSpc>
                <a:spcPts val="2703"/>
              </a:lnSpc>
              <a:buNone/>
            </a:pPr>
            <a:r>
              <a:rPr lang="en-US" sz="1700" b="1" dirty="0">
                <a:solidFill>
                  <a:srgbClr val="000000"/>
                </a:solidFill>
                <a:latin typeface="Courier New" pitchFamily="49" charset="0"/>
                <a:ea typeface="Courier New" pitchFamily="49" charset="-122"/>
                <a:cs typeface="Courier New" pitchFamily="49" charset="-120"/>
              </a:rPr>
              <a:t>  public static void main(String[] args) {</a:t>
            </a:r>
            <a:endParaRPr lang="en-US" sz="1700" dirty="0"/>
          </a:p>
        </p:txBody>
      </p:sp>
      <p:sp>
        <p:nvSpPr>
          <p:cNvPr id="5" name="Text 3"/>
          <p:cNvSpPr/>
          <p:nvPr/>
        </p:nvSpPr>
        <p:spPr>
          <a:xfrm>
            <a:off x="889000" y="2082800"/>
            <a:ext cx="8398002" cy="368723"/>
          </a:xfrm>
          <a:prstGeom prst="rect">
            <a:avLst/>
          </a:prstGeom>
          <a:noFill/>
          <a:ln/>
        </p:spPr>
        <p:txBody>
          <a:bodyPr wrap="square" lIns="0" tIns="0" rIns="0" bIns="0" rtlCol="0" anchor="t">
            <a:normAutofit/>
          </a:bodyPr>
          <a:lstStyle/>
          <a:p>
            <a:pPr marL="0" indent="0" algn="l">
              <a:lnSpc>
                <a:spcPts val="2703"/>
              </a:lnSpc>
              <a:buNone/>
            </a:pPr>
            <a:r>
              <a:rPr lang="en-US" sz="1700" b="1" dirty="0">
                <a:solidFill>
                  <a:srgbClr val="000000"/>
                </a:solidFill>
                <a:latin typeface="Courier New" pitchFamily="49" charset="0"/>
                <a:ea typeface="Courier New" pitchFamily="49" charset="-122"/>
                <a:cs typeface="Courier New" pitchFamily="49" charset="-120"/>
              </a:rPr>
              <a:t>    System.out.println("Celsius 35 is Fahrenheit degree ");</a:t>
            </a:r>
            <a:endParaRPr lang="en-US" sz="1700" dirty="0"/>
          </a:p>
        </p:txBody>
      </p:sp>
      <p:sp>
        <p:nvSpPr>
          <p:cNvPr id="6" name="Text 4"/>
          <p:cNvSpPr/>
          <p:nvPr/>
        </p:nvSpPr>
        <p:spPr>
          <a:xfrm>
            <a:off x="889000" y="2425700"/>
            <a:ext cx="8398002" cy="368723"/>
          </a:xfrm>
          <a:prstGeom prst="rect">
            <a:avLst/>
          </a:prstGeom>
          <a:noFill/>
          <a:ln/>
        </p:spPr>
        <p:txBody>
          <a:bodyPr wrap="square" lIns="0" tIns="0" rIns="0" bIns="0" rtlCol="0" anchor="t">
            <a:normAutofit/>
          </a:bodyPr>
          <a:lstStyle/>
          <a:p>
            <a:pPr marL="0" indent="0" algn="l">
              <a:lnSpc>
                <a:spcPts val="2703"/>
              </a:lnSpc>
              <a:buNone/>
            </a:pPr>
            <a:r>
              <a:rPr lang="en-US" sz="1700" b="1" dirty="0">
                <a:solidFill>
                  <a:srgbClr val="000000"/>
                </a:solidFill>
                <a:latin typeface="Courier New" pitchFamily="49" charset="0"/>
                <a:ea typeface="Courier New" pitchFamily="49" charset="-122"/>
                <a:cs typeface="Courier New" pitchFamily="49" charset="-120"/>
              </a:rPr>
              <a:t>    System.out.println((9 / 5) * 35 + 32);</a:t>
            </a:r>
            <a:endParaRPr lang="en-US" sz="1700" dirty="0"/>
          </a:p>
        </p:txBody>
      </p:sp>
      <p:sp>
        <p:nvSpPr>
          <p:cNvPr id="7" name="Text 5"/>
          <p:cNvSpPr/>
          <p:nvPr/>
        </p:nvSpPr>
        <p:spPr>
          <a:xfrm>
            <a:off x="889000" y="2768600"/>
            <a:ext cx="8398002" cy="368723"/>
          </a:xfrm>
          <a:prstGeom prst="rect">
            <a:avLst/>
          </a:prstGeom>
          <a:noFill/>
          <a:ln/>
        </p:spPr>
        <p:txBody>
          <a:bodyPr wrap="square" lIns="0" tIns="0" rIns="0" bIns="0" rtlCol="0" anchor="t">
            <a:normAutofit/>
          </a:bodyPr>
          <a:lstStyle/>
          <a:p>
            <a:pPr marL="0" indent="0" algn="l">
              <a:lnSpc>
                <a:spcPts val="2703"/>
              </a:lnSpc>
              <a:buNone/>
            </a:pPr>
            <a:r>
              <a:rPr lang="en-US" sz="1700" b="1" dirty="0">
                <a:solidFill>
                  <a:srgbClr val="000000"/>
                </a:solidFill>
                <a:latin typeface="Courier New" pitchFamily="49" charset="0"/>
                <a:ea typeface="Courier New" pitchFamily="49" charset="-122"/>
                <a:cs typeface="Courier New" pitchFamily="49" charset="-120"/>
              </a:rPr>
              <a:t>  }</a:t>
            </a:r>
            <a:endParaRPr lang="en-US" sz="1700" dirty="0"/>
          </a:p>
        </p:txBody>
      </p:sp>
      <p:sp>
        <p:nvSpPr>
          <p:cNvPr id="8" name="Text 6"/>
          <p:cNvSpPr/>
          <p:nvPr/>
        </p:nvSpPr>
        <p:spPr>
          <a:xfrm>
            <a:off x="889000" y="3111500"/>
            <a:ext cx="8398002" cy="368723"/>
          </a:xfrm>
          <a:prstGeom prst="rect">
            <a:avLst/>
          </a:prstGeom>
          <a:noFill/>
          <a:ln/>
        </p:spPr>
        <p:txBody>
          <a:bodyPr wrap="square" lIns="0" tIns="0" rIns="0" bIns="0" rtlCol="0" anchor="t">
            <a:normAutofit/>
          </a:bodyPr>
          <a:lstStyle/>
          <a:p>
            <a:pPr marL="0" indent="0" algn="l">
              <a:lnSpc>
                <a:spcPts val="2703"/>
              </a:lnSpc>
              <a:buNone/>
            </a:pPr>
            <a:r>
              <a:rPr lang="en-US" sz="1700" b="1" dirty="0">
                <a:solidFill>
                  <a:srgbClr val="000000"/>
                </a:solidFill>
                <a:latin typeface="Courier New" pitchFamily="49" charset="0"/>
                <a:ea typeface="Courier New" pitchFamily="49" charset="-122"/>
                <a:cs typeface="Courier New" pitchFamily="49" charset="-120"/>
              </a:rPr>
              <a:t>}</a:t>
            </a:r>
            <a:endParaRPr lang="en-US" sz="1700" dirty="0"/>
          </a:p>
        </p:txBody>
      </p:sp>
      <p:sp>
        <p:nvSpPr>
          <p:cNvPr id="9" name="Text 7"/>
          <p:cNvSpPr/>
          <p:nvPr/>
        </p:nvSpPr>
        <p:spPr>
          <a:xfrm>
            <a:off x="2540000" y="3937000"/>
            <a:ext cx="5886450" cy="434340"/>
          </a:xfrm>
          <a:prstGeom prst="rect">
            <a:avLst/>
          </a:prstGeom>
          <a:noFill/>
          <a:ln/>
        </p:spPr>
        <p:txBody>
          <a:bodyPr wrap="square" lIns="0" tIns="0" rIns="0" bIns="0" rtlCol="0" anchor="t">
            <a:normAutofit/>
          </a:bodyPr>
          <a:lstStyle/>
          <a:p>
            <a:pPr marL="0" indent="0" algn="l">
              <a:lnSpc>
                <a:spcPts val="3220"/>
              </a:lnSpc>
              <a:buNone/>
            </a:pPr>
            <a:r>
              <a:rPr lang="en-US" sz="2300" i="1" dirty="0">
                <a:solidFill>
                  <a:srgbClr val="111111"/>
                </a:solidFill>
                <a:latin typeface="Times New Roman" pitchFamily="18" charset="0"/>
                <a:ea typeface="Times New Roman" pitchFamily="18" charset="-122"/>
                <a:cs typeface="Times New Roman" pitchFamily="18" charset="-120"/>
              </a:rPr>
              <a:t>T(°C) = (T(°F) − 32) / (9/5)</a:t>
            </a:r>
            <a:endParaRPr lang="en-US" sz="2300" dirty="0"/>
          </a:p>
        </p:txBody>
      </p:sp>
      <p:sp>
        <p:nvSpPr>
          <p:cNvPr id="10" name="Text 8"/>
          <p:cNvSpPr/>
          <p:nvPr/>
        </p:nvSpPr>
        <p:spPr>
          <a:xfrm>
            <a:off x="9908752" y="5732785"/>
            <a:ext cx="1470448" cy="426720"/>
          </a:xfrm>
          <a:prstGeom prst="roundRect">
            <a:avLst>
              <a:gd name="adj" fmla="val 50000"/>
            </a:avLst>
          </a:prstGeom>
          <a:solidFill>
            <a:srgbClr val="E8742C"/>
          </a:solidFill>
          <a:ln/>
        </p:spPr>
        <p:txBody>
          <a:bodyPr wrap="none" lIns="0" tIns="0" rIns="0" bIns="0" rtlCol="0" anchor="ctr">
            <a:normAutofit/>
          </a:bodyPr>
          <a:lstStyle/>
          <a:p>
            <a:pPr marL="0" indent="0" algn="ctr">
              <a:lnSpc>
                <a:spcPts val="1960"/>
              </a:lnSpc>
              <a:buNone/>
            </a:pPr>
            <a:r>
              <a:rPr lang="en-US" sz="1400" b="1" u="sng" dirty="0">
                <a:solidFill>
                  <a:srgbClr val="222222"/>
                </a:solidFill>
                <a:latin typeface="Source Sans 3" pitchFamily="34" charset="0"/>
                <a:ea typeface="Source Sans 3" pitchFamily="34" charset="-122"/>
                <a:cs typeface="Source Sans 3" pitchFamily="34" charset="-120"/>
                <a:hlinkClick r:id="rId3">
                  <a:extLst>
                    <a:ext uri="{A12FA001-AC4F-418D-AE19-62706E023703}">
                      <ahyp:hlinkClr xmlns:ahyp="http://schemas.microsoft.com/office/drawing/2018/hyperlinkcolor" xmlns="" val="tx"/>
                    </a:ext>
                  </a:extLst>
                </a:hlinkClick>
              </a:rPr>
              <a:t>▶ Try it live ↗</a:t>
            </a:r>
            <a:endParaRPr lang="en-US" sz="1400" dirty="0"/>
          </a:p>
        </p:txBody>
      </p:sp>
      <p:sp>
        <p:nvSpPr>
          <p:cNvPr id="11" name="Text 9"/>
          <p:cNvSpPr/>
          <p:nvPr/>
        </p:nvSpPr>
        <p:spPr>
          <a:xfrm>
            <a:off x="812800" y="639063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6B"/>
                </a:solidFill>
                <a:latin typeface="Source Sans 3" pitchFamily="34" charset="0"/>
                <a:ea typeface="Source Sans 3" pitchFamily="34" charset="-122"/>
                <a:cs typeface="Source Sans 3" pitchFamily="34" charset="-120"/>
              </a:rPr>
              <a:t>OOP · Lab 1 · Java basics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1"/>
          </p:nvPr>
        </p:nvSpPr>
        <p:spPr>
          <a:xfrm>
            <a:off x="812800" y="552430"/>
            <a:ext cx="10566400" cy="5492770"/>
          </a:xfrm>
        </p:spPr>
        <p:txBody>
          <a:bodyPr/>
          <a:lstStyle/>
          <a:p>
            <a:r>
              <a:rPr lang="en-GB" dirty="0">
                <a:latin typeface="Courier New"/>
                <a:cs typeface="Courier New"/>
                <a:hlinkClick r:id="rId2"/>
              </a:rPr>
              <a:t>https://evisp.github.io/java-oop-course/</a:t>
            </a:r>
            <a:endParaRPr lang="en-GB" dirty="0">
              <a:latin typeface="Courier New"/>
              <a:cs typeface="Courier New"/>
            </a:endParaRPr>
          </a:p>
          <a:p>
            <a:endParaRPr lang="en-GB" dirty="0"/>
          </a:p>
        </p:txBody>
      </p:sp>
      <p:pic>
        <p:nvPicPr>
          <p:cNvPr id="4" name="Picture 3">
            <a:extLst>
              <a:ext uri="{FF2B5EF4-FFF2-40B4-BE49-F238E27FC236}">
                <a16:creationId xmlns:a16="http://schemas.microsoft.com/office/drawing/2014/main" xmlns="" id="{93A7DB79-C06F-991A-7396-258EDC7C355F}"/>
              </a:ext>
            </a:extLst>
          </p:cNvPr>
          <p:cNvPicPr>
            <a:picLocks noChangeAspect="1"/>
          </p:cNvPicPr>
          <p:nvPr/>
        </p:nvPicPr>
        <p:blipFill>
          <a:blip r:embed="rId3"/>
          <a:stretch>
            <a:fillRect/>
          </a:stretch>
        </p:blipFill>
        <p:spPr>
          <a:xfrm>
            <a:off x="4043" y="1143002"/>
            <a:ext cx="12183912" cy="5714998"/>
          </a:xfrm>
          <a:prstGeom prst="rect">
            <a:avLst/>
          </a:prstGeom>
        </p:spPr>
      </p:pic>
    </p:spTree>
  </p:cSld>
  <p:clrMapOvr>
    <a:masterClrMapping/>
  </p:clrMapOvr>
</p:sld>
</file>

<file path=ppt/theme/theme1.xml><?xml version="1.0" encoding="utf-8"?>
<a:theme xmlns:a="http://schemas.openxmlformats.org/drawingml/2006/main" name="OOP Lab 1 — Java Basics: Anatomy of a Program">
  <a:themeElements>
    <a:clrScheme name="OOP Lab 1 — Java Basics: Anatomy of a Program">
      <a:dk1>
        <a:srgbClr val="111111"/>
      </a:dk1>
      <a:lt1>
        <a:srgbClr val="FFFFFF"/>
      </a:lt1>
      <a:dk2>
        <a:srgbClr val="4D4D4D"/>
      </a:dk2>
      <a:lt2>
        <a:srgbClr val="E7E7E7"/>
      </a:lt2>
      <a:accent1>
        <a:srgbClr val="E8742C"/>
      </a:accent1>
      <a:accent2>
        <a:srgbClr val="C00000"/>
      </a:accent2>
      <a:accent3>
        <a:srgbClr val="2B4F8C"/>
      </a:accent3>
      <a:accent4>
        <a:srgbClr val="000080"/>
      </a:accent4>
      <a:accent5>
        <a:srgbClr val="B5500F"/>
      </a:accent5>
      <a:accent6>
        <a:srgbClr val="6B6B6B"/>
      </a:accent6>
      <a:hlink>
        <a:srgbClr val="0563C1"/>
      </a:hlink>
      <a:folHlink>
        <a:srgbClr val="954F72"/>
      </a:folHlink>
    </a:clrScheme>
    <a:fontScheme name="OOP Lab 1 — Java Basics: Anatomy of a Program">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urier Ne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1207</Words>
  <Application>Microsoft Office PowerPoint</Application>
  <PresentationFormat>Custom</PresentationFormat>
  <Paragraphs>361</Paragraphs>
  <Slides>34</Slides>
  <Notes>33</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OOP Lab 1 — Java Basics: Anatomy of a Program</vt:lpstr>
      <vt:lpstr>Anatomy of a Java program</vt:lpstr>
      <vt:lpstr>Trace a Program Execution</vt:lpstr>
      <vt:lpstr>Trace a Program Execution</vt:lpstr>
      <vt:lpstr>Slide 4</vt:lpstr>
      <vt:lpstr>Class Name</vt:lpstr>
      <vt:lpstr>Main Method</vt:lpstr>
      <vt:lpstr>Slide 7</vt:lpstr>
      <vt:lpstr>Slide 8</vt:lpstr>
      <vt:lpstr>Slide 9</vt:lpstr>
      <vt:lpstr>Statement</vt:lpstr>
      <vt:lpstr>Statement Terminator</vt:lpstr>
      <vt:lpstr>Reserved words</vt:lpstr>
      <vt:lpstr>Blocks</vt:lpstr>
      <vt:lpstr>Special Symbols</vt:lpstr>
      <vt:lpstr>Slide 15</vt:lpstr>
      <vt:lpstr>Slide 16</vt:lpstr>
      <vt:lpstr>Slide 17</vt:lpstr>
      <vt:lpstr>Slide 18</vt:lpstr>
      <vt:lpstr>Comments</vt:lpstr>
      <vt:lpstr>Appropriate Comments</vt:lpstr>
      <vt:lpstr>Naming Conventions</vt:lpstr>
      <vt:lpstr>Block Styles</vt:lpstr>
      <vt:lpstr>Classes and Primitive Types</vt:lpstr>
      <vt:lpstr>Operators</vt:lpstr>
      <vt:lpstr>Boolean</vt:lpstr>
      <vt:lpstr>Control Statements</vt:lpstr>
      <vt:lpstr>Switch Statements with Strings</vt:lpstr>
      <vt:lpstr>Code Blocks and Scope</vt:lpstr>
      <vt:lpstr>Passing Parameters</vt:lpstr>
      <vt:lpstr>Programming Errors</vt:lpstr>
      <vt:lpstr>Syntax Errors</vt:lpstr>
      <vt:lpstr>Runtime Errors</vt:lpstr>
      <vt:lpstr>Logic Errors</vt:lpstr>
      <vt:lpstr>Slide 34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 Lab 1 — Java Basics: Anatomy of a Program</dc:title>
  <dc:creator>alba meca</dc:creator>
  <cp:lastModifiedBy>Alba Meca</cp:lastModifiedBy>
  <cp:revision>32</cp:revision>
  <dcterms:created xsi:type="dcterms:W3CDTF">2026-10-05T08:24:51Z</dcterms:created>
  <dcterms:modified xsi:type="dcterms:W3CDTF">2026-10-11T13:02:13Z</dcterms:modified>
</cp:coreProperties>
</file>