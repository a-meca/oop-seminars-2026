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69.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176.xml" ContentType="application/vnd.openxmlformats-officedocument.presentationml.slide+xml"/>
  <Override PartName="/ppt/slides/slide194.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165.xml" ContentType="application/vnd.openxmlformats-officedocument.presentationml.slide+xml"/>
  <Override PartName="/ppt/slides/slide183.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slides/slide172.xml" ContentType="application/vnd.openxmlformats-officedocument.presentationml.slide+xml"/>
  <Override PartName="/ppt/slides/slide190.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slides/slide199.xml" ContentType="application/vnd.openxmlformats-officedocument.presentationml.slide+xml"/>
  <Override PartName="/ppt/slides/slide204.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88.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s/slide177.xml" ContentType="application/vnd.openxmlformats-officedocument.presentationml.slide+xml"/>
  <Override PartName="/ppt/slides/slide195.xml" ContentType="application/vnd.openxmlformats-officedocument.presentationml.slide+xml"/>
  <Override PartName="/ppt/slides/slide200.xml" ContentType="application/vnd.openxmlformats-officedocument.presentationml.slide+xml"/>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173.xml" ContentType="application/vnd.openxmlformats-officedocument.presentationml.slide+xml"/>
  <Override PartName="/ppt/slides/slide184.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ppt/slides/slide191.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s/slide180.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89.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s/slide178.xml" ContentType="application/vnd.openxmlformats-officedocument.presentationml.slide+xml"/>
  <Override PartName="/ppt/slides/slide196.xml" ContentType="application/vnd.openxmlformats-officedocument.presentationml.slide+xml"/>
  <Override PartName="/ppt/slides/slide138.xml" ContentType="application/vnd.openxmlformats-officedocument.presentationml.slide+xml"/>
  <Override PartName="/ppt/slides/slide167.xml" ContentType="application/vnd.openxmlformats-officedocument.presentationml.slide+xml"/>
  <Override PartName="/ppt/slides/slide185.xml" ContentType="application/vnd.openxmlformats-officedocument.presentationml.slide+xml"/>
  <Override PartName="/ppt/slides/slide201.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174.xml" ContentType="application/vnd.openxmlformats-officedocument.presentationml.slide+xml"/>
  <Override PartName="/ppt/slides/slide192.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s/slide181.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slides/slide170.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79.xml" ContentType="application/vnd.openxmlformats-officedocument.presentationml.slide+xml"/>
  <Override PartName="/ppt/slides/slide197.xml" ContentType="application/vnd.openxmlformats-officedocument.presentationml.slide+xml"/>
  <Override PartName="/ppt/slides/slide202.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186.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175.xml" ContentType="application/vnd.openxmlformats-officedocument.presentationml.slide+xml"/>
  <Override PartName="/ppt/slides/slide193.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171.xml" ContentType="application/vnd.openxmlformats-officedocument.presentationml.slide+xml"/>
  <Override PartName="/ppt/slides/slide182.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s/slide32.xml" ContentType="application/vnd.openxmlformats-officedocument.presentationml.slide+xml"/>
  <Override PartName="/ppt/slides/slide10.xml" ContentType="application/vnd.openxmlformats-officedocument.presentationml.slide+xml"/>
  <Override PartName="/ppt/slides/slide21.xml" ContentType="application/vnd.openxmlformats-officedocument.presentationml.slide+xml"/>
  <Override PartName="/ppt/slides/slide187.xml" ContentType="application/vnd.openxmlformats-officedocument.presentationml.slide+xml"/>
  <Override PartName="/ppt/slides/slide198.xml" ContentType="application/vnd.openxmlformats-officedocument.presentationml.slide+xml"/>
  <Override PartName="/ppt/slides/slide203.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59" r:id="rId103"/>
    <p:sldId id="360" r:id="rId104"/>
    <p:sldId id="361" r:id="rId105"/>
    <p:sldId id="362" r:id="rId106"/>
    <p:sldId id="363" r:id="rId107"/>
    <p:sldId id="364" r:id="rId108"/>
    <p:sldId id="365" r:id="rId109"/>
    <p:sldId id="366"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 id="382" r:id="rId125"/>
    <p:sldId id="383" r:id="rId126"/>
    <p:sldId id="384" r:id="rId127"/>
    <p:sldId id="385" r:id="rId128"/>
    <p:sldId id="386" r:id="rId129"/>
    <p:sldId id="387" r:id="rId130"/>
    <p:sldId id="389" r:id="rId131"/>
    <p:sldId id="390" r:id="rId132"/>
    <p:sldId id="391" r:id="rId133"/>
    <p:sldId id="392" r:id="rId134"/>
    <p:sldId id="393" r:id="rId135"/>
    <p:sldId id="394" r:id="rId136"/>
    <p:sldId id="395" r:id="rId137"/>
    <p:sldId id="396" r:id="rId138"/>
    <p:sldId id="397" r:id="rId139"/>
    <p:sldId id="398" r:id="rId140"/>
    <p:sldId id="399" r:id="rId141"/>
    <p:sldId id="400" r:id="rId142"/>
    <p:sldId id="401" r:id="rId143"/>
    <p:sldId id="402" r:id="rId144"/>
    <p:sldId id="403" r:id="rId145"/>
    <p:sldId id="404" r:id="rId146"/>
    <p:sldId id="405" r:id="rId147"/>
    <p:sldId id="406" r:id="rId148"/>
    <p:sldId id="407" r:id="rId149"/>
    <p:sldId id="408" r:id="rId150"/>
    <p:sldId id="409" r:id="rId151"/>
    <p:sldId id="410" r:id="rId152"/>
    <p:sldId id="411" r:id="rId153"/>
    <p:sldId id="412" r:id="rId154"/>
    <p:sldId id="413" r:id="rId155"/>
    <p:sldId id="414" r:id="rId156"/>
    <p:sldId id="415" r:id="rId157"/>
    <p:sldId id="416" r:id="rId158"/>
    <p:sldId id="417" r:id="rId159"/>
    <p:sldId id="418" r:id="rId160"/>
    <p:sldId id="419" r:id="rId161"/>
    <p:sldId id="420" r:id="rId162"/>
    <p:sldId id="421" r:id="rId163"/>
    <p:sldId id="423" r:id="rId164"/>
    <p:sldId id="424" r:id="rId165"/>
    <p:sldId id="426" r:id="rId166"/>
    <p:sldId id="427" r:id="rId167"/>
    <p:sldId id="428" r:id="rId168"/>
    <p:sldId id="429" r:id="rId169"/>
    <p:sldId id="430" r:id="rId170"/>
    <p:sldId id="431" r:id="rId171"/>
    <p:sldId id="432" r:id="rId172"/>
    <p:sldId id="433" r:id="rId173"/>
    <p:sldId id="434" r:id="rId174"/>
    <p:sldId id="435" r:id="rId175"/>
    <p:sldId id="436" r:id="rId176"/>
    <p:sldId id="437" r:id="rId177"/>
    <p:sldId id="438" r:id="rId178"/>
    <p:sldId id="439" r:id="rId179"/>
    <p:sldId id="440" r:id="rId180"/>
    <p:sldId id="441" r:id="rId181"/>
    <p:sldId id="442" r:id="rId182"/>
    <p:sldId id="443" r:id="rId183"/>
    <p:sldId id="444" r:id="rId184"/>
    <p:sldId id="445" r:id="rId185"/>
    <p:sldId id="446" r:id="rId186"/>
    <p:sldId id="447" r:id="rId187"/>
    <p:sldId id="448" r:id="rId188"/>
    <p:sldId id="449" r:id="rId189"/>
    <p:sldId id="450" r:id="rId190"/>
    <p:sldId id="451" r:id="rId191"/>
    <p:sldId id="452" r:id="rId192"/>
    <p:sldId id="453" r:id="rId193"/>
    <p:sldId id="454" r:id="rId194"/>
    <p:sldId id="455" r:id="rId195"/>
    <p:sldId id="456" r:id="rId196"/>
    <p:sldId id="457" r:id="rId197"/>
    <p:sldId id="458" r:id="rId198"/>
    <p:sldId id="459" r:id="rId199"/>
    <p:sldId id="460" r:id="rId200"/>
    <p:sldId id="461" r:id="rId201"/>
    <p:sldId id="462" r:id="rId202"/>
    <p:sldId id="463" r:id="rId203"/>
    <p:sldId id="464" r:id="rId204"/>
    <p:sldId id="465" r:id="rId20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11"/>
    <p:restoredTop sz="96178" autoAdjust="0"/>
  </p:normalViewPr>
  <p:slideViewPr>
    <p:cSldViewPr snapToGrid="0" snapToObjects="1">
      <p:cViewPr varScale="1">
        <p:scale>
          <a:sx n="94" d="100"/>
          <a:sy n="94" d="100"/>
        </p:scale>
        <p:origin x="-584" y="-6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slide" Target="slides/slide196.xml"/><Relationship Id="rId206" Type="http://schemas.openxmlformats.org/officeDocument/2006/relationships/notesMaster" Target="notesMasters/notesMaster1.xml"/><Relationship Id="rId201" Type="http://schemas.openxmlformats.org/officeDocument/2006/relationships/slide" Target="slides/slide200.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theme" Target="theme/theme1.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tableStyles" Target="tableStyle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355600"/>
            <a:ext cx="10566400" cy="481965"/>
          </a:xfrm>
          <a:prstGeom prst="rect">
            <a:avLst/>
          </a:prstGeom>
          <a:noFill/>
          <a:ln/>
        </p:spPr>
        <p:txBody>
          <a:bodyPr wrap="square" lIns="0" tIns="0" rIns="0" bIns="0" rtlCol="0" anchor="t"/>
          <a:lstStyle>
            <a:lvl1pPr marL="0" indent="0" algn="l">
              <a:lnSpc>
                <a:spcPct val="115000"/>
              </a:lnSpc>
              <a:buNone/>
              <a:defRPr lang="en-US" sz="3300" dirty="0">
                <a:solidFill>
                  <a:srgbClr val="111111"/>
                </a:solidFill>
                <a:latin typeface="Times New Roman" pitchFamily="34" charset="0"/>
                <a:ea typeface="Times New Roman" pitchFamily="34" charset="-122"/>
                <a:cs typeface="Times New Roman" pitchFamily="34" charset="-120"/>
              </a:defRPr>
            </a:lvl1pPr>
          </a:lstStyle>
          <a:p>
            <a:pPr marL="0" indent="0" algn="l">
              <a:lnSpc>
                <a:spcPct val="115000"/>
              </a:lnSpc>
              <a:buNone/>
            </a:pPr>
            <a:endParaRPr lang="en-US" sz="3300" dirty="0"/>
          </a:p>
        </p:txBody>
      </p:sp>
      <p:sp>
        <p:nvSpPr>
          <p:cNvPr id="3" name="Text Placeholder 2"/>
          <p:cNvSpPr>
            <a:spLocks noGrp="1"/>
          </p:cNvSpPr>
          <p:nvPr>
            <p:ph type="body" idx="101"/>
          </p:nvPr>
        </p:nvSpPr>
        <p:spPr>
          <a:xfrm>
            <a:off x="812800" y="1142365"/>
            <a:ext cx="10566400" cy="4902835"/>
          </a:xfrm>
          <a:prstGeom prst="rect">
            <a:avLst/>
          </a:prstGeom>
          <a:noFill/>
          <a:ln/>
        </p:spPr>
        <p:txBody>
          <a:bodyPr wrap="square" lIns="0" tIns="0" rIns="0" bIns="0" rtlCol="0" anchor="t"/>
          <a:lstStyle>
            <a:lvl1pPr marL="0" indent="0" algn="l">
              <a:lnSpc>
                <a:spcPct val="140000"/>
              </a:lnSpc>
              <a:buNone/>
              <a:defRPr lang="en-US" sz="1600" dirty="0">
                <a:solidFill>
                  <a:srgbClr val="111111"/>
                </a:solidFill>
                <a:latin typeface="Courier New" pitchFamily="34" charset="0"/>
                <a:ea typeface="Courier New" pitchFamily="34" charset="-122"/>
                <a:cs typeface="Courier New"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355600"/>
            <a:ext cx="10566400" cy="481965"/>
          </a:xfrm>
          <a:prstGeom prst="rect">
            <a:avLst/>
          </a:prstGeom>
          <a:noFill/>
          <a:ln/>
        </p:spPr>
        <p:txBody>
          <a:bodyPr wrap="square" lIns="0" tIns="0" rIns="0" bIns="0" rtlCol="0" anchor="t"/>
          <a:lstStyle>
            <a:lvl1pPr marL="0" indent="0" algn="l">
              <a:lnSpc>
                <a:spcPct val="115000"/>
              </a:lnSpc>
              <a:buNone/>
              <a:defRPr lang="en-US" sz="3300" dirty="0">
                <a:solidFill>
                  <a:srgbClr val="111111"/>
                </a:solidFill>
                <a:latin typeface="Times New Roman" pitchFamily="34" charset="0"/>
                <a:ea typeface="Times New Roman" pitchFamily="34" charset="-122"/>
                <a:cs typeface="Times New Roman" pitchFamily="34" charset="-120"/>
              </a:defRPr>
            </a:lvl1pPr>
          </a:lstStyle>
          <a:p>
            <a:pPr marL="0" indent="0" algn="l">
              <a:lnSpc>
                <a:spcPct val="115000"/>
              </a:lnSpc>
              <a:buNone/>
            </a:pPr>
            <a:endParaRPr lang="en-US" sz="3300" dirty="0"/>
          </a:p>
        </p:txBody>
      </p:sp>
      <p:sp>
        <p:nvSpPr>
          <p:cNvPr id="3" name="Text Placeholder 2"/>
          <p:cNvSpPr>
            <a:spLocks noGrp="1"/>
          </p:cNvSpPr>
          <p:nvPr>
            <p:ph type="body" idx="101"/>
          </p:nvPr>
        </p:nvSpPr>
        <p:spPr>
          <a:xfrm>
            <a:off x="812800" y="1142365"/>
            <a:ext cx="10566400" cy="4902835"/>
          </a:xfrm>
          <a:prstGeom prst="rect">
            <a:avLst/>
          </a:prstGeom>
          <a:noFill/>
          <a:ln/>
        </p:spPr>
        <p:txBody>
          <a:bodyPr wrap="square" lIns="0" tIns="0" rIns="0" bIns="0" rtlCol="0" anchor="t"/>
          <a:lstStyle>
            <a:lvl1pPr marL="0" indent="0" algn="l">
              <a:lnSpc>
                <a:spcPct val="140000"/>
              </a:lnSpc>
              <a:buNone/>
              <a:defRPr lang="en-US" sz="1600" dirty="0">
                <a:solidFill>
                  <a:srgbClr val="111111"/>
                </a:solidFill>
                <a:latin typeface="Courier New" pitchFamily="34" charset="0"/>
                <a:ea typeface="Courier New" pitchFamily="34" charset="-122"/>
                <a:cs typeface="Courier New"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ComputeAreaWithConsoleInput&amp;programHeight=431&amp;username=slide&amp;header=on" TargetMode="External"/><Relationship Id="rId2" Type="http://schemas.openxmlformats.org/officeDocument/2006/relationships/hyperlink" Target="https://liveexample.pearsoncmg.com/codeanimation13ejava/ComputeAverage.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s://liveexample.pearsoncmg.com/LiveRun13e/faces/LiveExample.xhtml?programName=TestBooleanOperators&amp;programHeight=431&amp;username=slide&amp;header=on"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liveexample.pearsoncmg.com/LiveRun13e/faces/LiveExample.xhtml?programName=OrderTwoCities&amp;programHeight=431&amp;username=slide&amp;header=on" TargetMode="Externa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hyperlink" Target="https://liveexample.pearsoncmg.com/LiveRun13e/faces/LiveExample.xhtml?programName=SentinelValue&amp;programHeight=431&amp;username=slide&amp;header=on" TargetMode="Externa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TestBreak&amp;programHeight=431&amp;username=slide&amp;header=on" TargetMode="External"/><Relationship Id="rId2" Type="http://schemas.openxmlformats.org/officeDocument/2006/relationships/hyperlink" Target="https://liveexample.pearsoncmg.com/LiveRun13e/faces/LiveExample.xhtml?programName=TestContinue&amp;programHeight=431&amp;username=slide&amp;header=on"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hyperlink" Target="https://liveexample.pearsoncmg.com/LiveRun13e/faces/LiveExample.xhtml?programName=TestMax&amp;programHeight=431&amp;username=slide&amp;header=on" TargetMode="Externa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TestVoidMethod&amp;programHeight=431&amp;username=slide&amp;header=on" TargetMode="External"/><Relationship Id="rId2" Type="http://schemas.openxmlformats.org/officeDocument/2006/relationships/hyperlink" Target="https://liveexample.pearsoncmg.com/LiveRun13e/faces/LiveExample.xhtml?programName=TestReturnGradeMethod&amp;programHeight=431&amp;username=slide&amp;header=on" TargetMode="Externa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Increment&amp;programHeight=431&amp;username=slide&amp;header=on" TargetMode="External"/><Relationship Id="rId2" Type="http://schemas.openxmlformats.org/officeDocument/2006/relationships/hyperlink" Target="https://liveexample.pearsoncmg.com/LiveRun13e/faces/LiveExample.xhtml?programName=TestPassByValue&amp;programHeight=431&amp;username=slide&amp;header=on" TargetMode="Externa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hyperlink" Target="https://liveexample.pearsoncmg.com/LiveRun13e/faces/LiveExample.xhtml?programName=GreatestCommonDivisorMethod&amp;programHeight=431&amp;username=slide&amp;header=on" TargetMode="External"/><Relationship Id="rId2" Type="http://schemas.openxmlformats.org/officeDocument/2006/relationships/hyperlink" Target="https://liveexample.pearsoncmg.com/LiveRun13e/faces/LiveExample.xhtml?programName=PrimeNumberMethod&amp;programHeight=431&amp;username=slide&amp;header=on" TargetMode="Externa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hyperlink" Target="https://liveexample.pearsoncmg.com/LiveRun13e/faces/LiveExample.xhtml?programName=TestMethodOverloading&amp;programHeight=431&amp;username=slide&amp;header=on" TargetMode="Externa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hyperlink" Target="https://liveexample.pearsoncmg.com/LiveRun13e/faces/LiveExample.xhtml?programName=ComputeFactorial&amp;programHeight=431&amp;username=slide&amp;header=on" TargetMode="Externa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hyperlink" Target="https://liveexample.pearsoncmg.com/LiveRun13e/faces/LiveExample.xhtml?programName=ComputeFibonacci&amp;programHeight=431&amp;username=slide&amp;header=on" TargetMode="Externa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900680"/>
            <a:ext cx="10883900" cy="768350"/>
          </a:xfrm>
        </p:spPr>
        <p:txBody>
          <a:bodyPr lIns="0" tIns="0" rIns="0" bIns="0" anchor="t"/>
          <a:lstStyle/>
          <a:p>
            <a:pPr algn="l">
              <a:lnSpc>
                <a:spcPts val="5775"/>
              </a:lnSpc>
            </a:pPr>
            <a:r>
              <a:rPr sz="5500" b="0" i="0">
                <a:solidFill>
                  <a:srgbClr val="222222"/>
                </a:solidFill>
                <a:latin typeface="Times New Roman"/>
                <a:ea typeface="Times New Roman"/>
                <a:cs typeface="Times New Roman"/>
              </a:rPr>
              <a:t>Programming in Java</a:t>
            </a:r>
          </a:p>
        </p:txBody>
      </p:sp>
      <p:sp>
        <p:nvSpPr>
          <p:cNvPr id="3" name="TextBox 2"/>
          <p:cNvSpPr txBox="1"/>
          <p:nvPr/>
        </p:nvSpPr>
        <p:spPr>
          <a:xfrm>
            <a:off x="812800" y="2456180"/>
            <a:ext cx="10883900" cy="292100"/>
          </a:xfrm>
          <a:prstGeom prst="rect">
            <a:avLst/>
          </a:prstGeom>
          <a:noFill/>
        </p:spPr>
        <p:txBody>
          <a:bodyPr wrap="square" lIns="0" tIns="0" rIns="0" bIns="0" anchor="t">
            <a:spAutoFit/>
          </a:bodyPr>
          <a:lstStyle/>
          <a:p>
            <a:pPr algn="l">
              <a:lnSpc>
                <a:spcPts val="1875"/>
              </a:lnSpc>
            </a:pPr>
            <a:r>
              <a:rPr sz="1500" b="1" i="0">
                <a:solidFill>
                  <a:srgbClr val="B5500F"/>
                </a:solidFill>
                <a:latin typeface="Source Sans 3"/>
                <a:ea typeface="Source Sans 3"/>
                <a:cs typeface="Source Sans 3"/>
              </a:rPr>
              <a:t>Java basics</a:t>
            </a:r>
          </a:p>
        </p:txBody>
      </p:sp>
      <p:sp>
        <p:nvSpPr>
          <p:cNvPr id="4" name="Rectangle 3"/>
          <p:cNvSpPr/>
          <p:nvPr/>
        </p:nvSpPr>
        <p:spPr>
          <a:xfrm>
            <a:off x="812800" y="3811905"/>
            <a:ext cx="1524000" cy="38100"/>
          </a:xfrm>
          <a:prstGeom prst="rect">
            <a:avLst/>
          </a:prstGeom>
          <a:solidFill>
            <a:srgbClr val="E87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4027805"/>
            <a:ext cx="10883900" cy="371897"/>
          </a:xfrm>
          <a:prstGeom prst="rect">
            <a:avLst/>
          </a:prstGeom>
          <a:noFill/>
        </p:spPr>
        <p:txBody>
          <a:bodyPr wrap="square" lIns="0" tIns="0" rIns="0" bIns="0" anchor="t">
            <a:spAutoFit/>
          </a:bodyPr>
          <a:lstStyle/>
          <a:p>
            <a:pPr algn="l">
              <a:lnSpc>
                <a:spcPts val="2940"/>
              </a:lnSpc>
            </a:pPr>
            <a:r>
              <a:rPr sz="2100" b="0" i="0">
                <a:solidFill>
                  <a:srgbClr val="6B6B6B"/>
                </a:solidFill>
                <a:latin typeface="Times New Roman"/>
                <a:ea typeface="Times New Roman"/>
                <a:cs typeface="Times New Roman"/>
              </a:rPr>
              <a:t>Elementary programming, </a:t>
            </a:r>
            <a:r>
              <a:rPr sz="2100" b="0" i="0" smtClean="0">
                <a:solidFill>
                  <a:srgbClr val="6B6B6B"/>
                </a:solidFill>
                <a:latin typeface="Times New Roman"/>
                <a:ea typeface="Times New Roman"/>
                <a:cs typeface="Times New Roman"/>
              </a:rPr>
              <a:t>selections, </a:t>
            </a:r>
            <a:r>
              <a:rPr sz="2100" b="0" i="0">
                <a:solidFill>
                  <a:srgbClr val="6B6B6B"/>
                </a:solidFill>
                <a:latin typeface="Times New Roman"/>
                <a:ea typeface="Times New Roman"/>
                <a:cs typeface="Times New Roman"/>
              </a:rPr>
              <a:t>characters and strings, loops, methods, arrays, </a:t>
            </a:r>
            <a:r>
              <a:rPr sz="2100" b="0" i="0" smtClean="0">
                <a:solidFill>
                  <a:srgbClr val="6B6B6B"/>
                </a:solidFill>
                <a:latin typeface="Times New Roman"/>
                <a:ea typeface="Times New Roman"/>
                <a:cs typeface="Times New Roman"/>
              </a:rPr>
              <a:t>recursion</a:t>
            </a:r>
            <a:endParaRPr sz="2100" b="0" i="0">
              <a:solidFill>
                <a:srgbClr val="6B6B6B"/>
              </a:solidFill>
              <a:latin typeface="Times New Roman"/>
              <a:ea typeface="Times New Roman"/>
              <a:cs typeface="Times New Roman"/>
            </a:endParaRPr>
          </a:p>
        </p:txBody>
      </p:sp>
      <p:sp>
        <p:nvSpPr>
          <p:cNvPr id="6" name="TextBox 5"/>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Object-Oriented Programming · Alba Meca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 Program Execution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dirty="0">
                <a:solidFill>
                  <a:srgbClr val="6B6B6B"/>
                </a:solidFill>
                <a:latin typeface="Source Sans 3"/>
                <a:ea typeface="Source Sans 3"/>
                <a:cs typeface="Source Sans 3"/>
              </a:rPr>
              <a:t>OOP · Java basics  ·  </a:t>
            </a:r>
            <a:fld id="{79F15979-935C-4E7B-A594-D2DE1C601C8C}" type="slidenum">
              <a:rPr sz="1200" b="0" i="0" dirty="0">
                <a:solidFill>
                  <a:srgbClr val="6B6B6B"/>
                </a:solidFill>
                <a:latin typeface="Source Sans 3"/>
                <a:ea typeface="Source Sans 3"/>
                <a:cs typeface="Source Sans 3"/>
              </a:rPr>
              <a:pPr algn="l">
                <a:lnSpc>
                  <a:spcPts val="1500"/>
                </a:lnSpc>
              </a:pPr>
              <a:t>2</a:t>
            </a:fld>
            <a:endParaRPr sz="1200" b="0" i="0" dirty="0">
              <a:solidFill>
                <a:srgbClr val="6B6B6B"/>
              </a:solidFill>
              <a:latin typeface="Source Sans 3"/>
              <a:ea typeface="Source Sans 3"/>
              <a:cs typeface="Source Sans 3"/>
            </a:endParaRPr>
          </a:p>
        </p:txBody>
      </p:sp>
      <p:sp>
        <p:nvSpPr>
          <p:cNvPr id="4" name="Rectangle 3"/>
          <p:cNvSpPr/>
          <p:nvPr/>
        </p:nvSpPr>
        <p:spPr>
          <a:xfrm>
            <a:off x="762000" y="1066800"/>
            <a:ext cx="7044690" cy="463677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292860" y="1998535"/>
            <a:ext cx="1623060" cy="24511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89000" y="1193800"/>
            <a:ext cx="7806690" cy="4509770"/>
          </a:xfrm>
          <a:prstGeom prst="rect">
            <a:avLst/>
          </a:prstGeom>
          <a:noFill/>
        </p:spPr>
        <p:txBody>
          <a:bodyPr wrap="square" lIns="0" tIns="0" rIns="0" bIns="0" anchor="t">
            <a:spAutoFit/>
          </a:bodyPr>
          <a:lstStyle/>
          <a:p>
            <a:pPr algn="l">
              <a:lnSpc>
                <a:spcPts val="2029"/>
              </a:lnSpc>
            </a:pPr>
            <a:r>
              <a:rPr sz="1450" b="1" i="0">
                <a:solidFill>
                  <a:srgbClr val="000000"/>
                </a:solidFill>
                <a:latin typeface="Courier New"/>
                <a:ea typeface="Courier New"/>
                <a:cs typeface="Courier New"/>
              </a:rPr>
              <a:t>public class ComputeArea {</a:t>
            </a:r>
          </a:p>
          <a:p>
            <a:pPr algn="l">
              <a:lnSpc>
                <a:spcPts val="2029"/>
              </a:lnSpc>
            </a:pPr>
            <a:r>
              <a:rPr sz="1450" b="1" i="0">
                <a:solidFill>
                  <a:srgbClr val="000000"/>
                </a:solidFill>
                <a:latin typeface="Courier New"/>
                <a:ea typeface="Courier New"/>
                <a:cs typeface="Courier New"/>
              </a:rPr>
              <a:t>  /** Main method */</a:t>
            </a:r>
          </a:p>
          <a:p>
            <a:pPr algn="l">
              <a:lnSpc>
                <a:spcPts val="2029"/>
              </a:lnSpc>
            </a:pPr>
            <a:r>
              <a:rPr sz="1450" b="1" i="0">
                <a:solidFill>
                  <a:srgbClr val="000000"/>
                </a:solidFill>
                <a:latin typeface="Courier New"/>
                <a:ea typeface="Courier New"/>
                <a:cs typeface="Courier New"/>
              </a:rPr>
              <a:t>  public static void main(String[] args) {</a:t>
            </a:r>
          </a:p>
          <a:p>
            <a:pPr algn="l">
              <a:lnSpc>
                <a:spcPts val="2029"/>
              </a:lnSpc>
            </a:pPr>
            <a:r>
              <a:rPr sz="1450" b="1" i="0">
                <a:solidFill>
                  <a:srgbClr val="000000"/>
                </a:solidFill>
                <a:latin typeface="Courier New"/>
                <a:ea typeface="Courier New"/>
                <a:cs typeface="Courier New"/>
              </a:rPr>
              <a:t>    double radius;</a:t>
            </a:r>
          </a:p>
          <a:p>
            <a:pPr algn="l">
              <a:lnSpc>
                <a:spcPts val="2029"/>
              </a:lnSpc>
            </a:pPr>
            <a:r>
              <a:rPr sz="1450" b="1" i="0">
                <a:solidFill>
                  <a:srgbClr val="000000"/>
                </a:solidFill>
                <a:latin typeface="Courier New"/>
                <a:ea typeface="Courier New"/>
                <a:cs typeface="Courier New"/>
              </a:rPr>
              <a:t>    double area;</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Assign a radius</a:t>
            </a:r>
          </a:p>
          <a:p>
            <a:pPr algn="l">
              <a:lnSpc>
                <a:spcPts val="2029"/>
              </a:lnSpc>
            </a:pPr>
            <a:r>
              <a:rPr sz="1450" b="1" i="0">
                <a:solidFill>
                  <a:srgbClr val="000000"/>
                </a:solidFill>
                <a:latin typeface="Courier New"/>
                <a:ea typeface="Courier New"/>
                <a:cs typeface="Courier New"/>
              </a:rPr>
              <a:t>    radius = 20;</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Compute area</a:t>
            </a:r>
          </a:p>
          <a:p>
            <a:pPr algn="l">
              <a:lnSpc>
                <a:spcPts val="2029"/>
              </a:lnSpc>
            </a:pPr>
            <a:r>
              <a:rPr sz="1450" b="1" i="0">
                <a:solidFill>
                  <a:srgbClr val="000000"/>
                </a:solidFill>
                <a:latin typeface="Courier New"/>
                <a:ea typeface="Courier New"/>
                <a:cs typeface="Courier New"/>
              </a:rPr>
              <a:t>    area = radius * radius * 3.14159;</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Display results</a:t>
            </a:r>
          </a:p>
          <a:p>
            <a:pPr algn="l">
              <a:lnSpc>
                <a:spcPts val="2029"/>
              </a:lnSpc>
            </a:pPr>
            <a:r>
              <a:rPr sz="1450" b="1" i="0">
                <a:solidFill>
                  <a:srgbClr val="000000"/>
                </a:solidFill>
                <a:latin typeface="Courier New"/>
                <a:ea typeface="Courier New"/>
                <a:cs typeface="Courier New"/>
              </a:rPr>
              <a:t>    System.out.println("The area for the circle of radius " +</a:t>
            </a:r>
          </a:p>
          <a:p>
            <a:pPr algn="l">
              <a:lnSpc>
                <a:spcPts val="2029"/>
              </a:lnSpc>
            </a:pPr>
            <a:r>
              <a:rPr sz="1450" b="1" i="0">
                <a:solidFill>
                  <a:srgbClr val="000000"/>
                </a:solidFill>
                <a:latin typeface="Courier New"/>
                <a:ea typeface="Courier New"/>
                <a:cs typeface="Courier New"/>
              </a:rPr>
              <a:t>      radius + " is " + area);</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a:t>
            </a:r>
          </a:p>
        </p:txBody>
      </p:sp>
      <p:sp>
        <p:nvSpPr>
          <p:cNvPr id="7" name="TextBox 6"/>
          <p:cNvSpPr txBox="1"/>
          <p:nvPr/>
        </p:nvSpPr>
        <p:spPr>
          <a:xfrm>
            <a:off x="9398000" y="1193800"/>
            <a:ext cx="1778000" cy="254000"/>
          </a:xfrm>
          <a:prstGeom prst="rect">
            <a:avLst/>
          </a:prstGeom>
          <a:noFill/>
        </p:spPr>
        <p:txBody>
          <a:bodyPr wrap="square" lIns="0" tIns="0" rIns="0" bIns="0" anchor="t">
            <a:spAutoFit/>
          </a:bodyPr>
          <a:lstStyle/>
          <a:p>
            <a:pPr algn="ctr">
              <a:lnSpc>
                <a:spcPts val="2000"/>
              </a:lnSpc>
            </a:pPr>
            <a:r>
              <a:rPr sz="1600" b="0" i="0">
                <a:solidFill>
                  <a:srgbClr val="6B6B6B"/>
                </a:solidFill>
                <a:latin typeface="Times New Roman"/>
                <a:ea typeface="Times New Roman"/>
                <a:cs typeface="Times New Roman"/>
              </a:rPr>
              <a:t>memory</a:t>
            </a:r>
          </a:p>
        </p:txBody>
      </p:sp>
      <p:sp>
        <p:nvSpPr>
          <p:cNvPr id="8" name="TextBox 7"/>
          <p:cNvSpPr txBox="1"/>
          <p:nvPr/>
        </p:nvSpPr>
        <p:spPr>
          <a:xfrm>
            <a:off x="8001000" y="1600200"/>
            <a:ext cx="787400" cy="254000"/>
          </a:xfrm>
          <a:prstGeom prst="rect">
            <a:avLst/>
          </a:prstGeom>
          <a:noFill/>
        </p:spPr>
        <p:txBody>
          <a:bodyPr wrap="square" lIns="0" tIns="0" rIns="0" bIns="0" anchor="t">
            <a:spAutoFit/>
          </a:bodyPr>
          <a:lstStyle/>
          <a:p>
            <a:pPr algn="r">
              <a:lnSpc>
                <a:spcPts val="2125"/>
              </a:lnSpc>
            </a:pPr>
            <a:r>
              <a:rPr sz="1700" b="0" i="0">
                <a:solidFill>
                  <a:srgbClr val="111111"/>
                </a:solidFill>
                <a:latin typeface="Times New Roman"/>
                <a:ea typeface="Times New Roman"/>
                <a:cs typeface="Times New Roman"/>
              </a:rPr>
              <a:t>radius</a:t>
            </a:r>
          </a:p>
        </p:txBody>
      </p:sp>
      <p:sp>
        <p:nvSpPr>
          <p:cNvPr id="9" name="Rectangle 8"/>
          <p:cNvSpPr/>
          <p:nvPr/>
        </p:nvSpPr>
        <p:spPr>
          <a:xfrm>
            <a:off x="8890000" y="1524000"/>
            <a:ext cx="2413000" cy="38100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890000" y="1587500"/>
            <a:ext cx="2413000" cy="279400"/>
          </a:xfrm>
          <a:prstGeom prst="rect">
            <a:avLst/>
          </a:prstGeom>
          <a:noFill/>
        </p:spPr>
        <p:txBody>
          <a:bodyPr wrap="square" lIns="0" tIns="0" rIns="0" bIns="0" anchor="t">
            <a:spAutoFit/>
          </a:bodyPr>
          <a:lstStyle/>
          <a:p>
            <a:pPr algn="ctr">
              <a:lnSpc>
                <a:spcPts val="2000"/>
              </a:lnSpc>
            </a:pPr>
            <a:r>
              <a:rPr sz="1600" b="0" i="0">
                <a:solidFill>
                  <a:srgbClr val="111111"/>
                </a:solidFill>
                <a:latin typeface="Courier New"/>
                <a:ea typeface="Courier New"/>
                <a:cs typeface="Courier New"/>
              </a:rPr>
              <a:t>no value</a:t>
            </a:r>
          </a:p>
        </p:txBody>
      </p:sp>
      <p:sp>
        <p:nvSpPr>
          <p:cNvPr id="11" name="Rounded Rectangle 10"/>
          <p:cNvSpPr/>
          <p:nvPr/>
        </p:nvSpPr>
        <p:spPr>
          <a:xfrm>
            <a:off x="8763000" y="2413000"/>
            <a:ext cx="2794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813800" y="2501900"/>
            <a:ext cx="2692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allocate memory for radius</a:t>
            </a:r>
          </a:p>
        </p:txBody>
      </p:sp>
      <p:cxnSp>
        <p:nvCxnSpPr>
          <p:cNvPr id="13" name="Connector 12"/>
          <p:cNvCxnSpPr/>
          <p:nvPr/>
        </p:nvCxnSpPr>
        <p:spPr>
          <a:xfrm flipH="1" flipV="1">
            <a:off x="2915920" y="2121090"/>
            <a:ext cx="5847080" cy="57131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 Program Execution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17036B4-314B-4B04-A9C3-FE02B849C585}" type="slidenum">
              <a:rPr sz="1200" b="0" i="0">
                <a:solidFill>
                  <a:srgbClr val="6B6B6B"/>
                </a:solidFill>
                <a:latin typeface="Source Sans 3"/>
                <a:ea typeface="Source Sans 3"/>
                <a:cs typeface="Source Sans 3"/>
              </a:rPr>
              <a:pPr algn="l">
                <a:lnSpc>
                  <a:spcPts val="1500"/>
                </a:lnSpc>
              </a:pPr>
              <a:t>3</a:t>
            </a:fld>
            <a:endParaRPr sz="1200" b="0" i="0">
              <a:solidFill>
                <a:srgbClr val="6B6B6B"/>
              </a:solidFill>
              <a:latin typeface="Source Sans 3"/>
              <a:ea typeface="Source Sans 3"/>
              <a:cs typeface="Source Sans 3"/>
            </a:endParaRPr>
          </a:p>
        </p:txBody>
      </p:sp>
      <p:sp>
        <p:nvSpPr>
          <p:cNvPr id="4" name="Rectangle 3"/>
          <p:cNvSpPr/>
          <p:nvPr/>
        </p:nvSpPr>
        <p:spPr>
          <a:xfrm>
            <a:off x="762000" y="1066800"/>
            <a:ext cx="7044690" cy="463677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292860" y="2256346"/>
            <a:ext cx="1402080" cy="24511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89000" y="1193800"/>
            <a:ext cx="7806690" cy="4509770"/>
          </a:xfrm>
          <a:prstGeom prst="rect">
            <a:avLst/>
          </a:prstGeom>
          <a:noFill/>
        </p:spPr>
        <p:txBody>
          <a:bodyPr wrap="square" lIns="0" tIns="0" rIns="0" bIns="0" anchor="t">
            <a:spAutoFit/>
          </a:bodyPr>
          <a:lstStyle/>
          <a:p>
            <a:pPr algn="l">
              <a:lnSpc>
                <a:spcPts val="2029"/>
              </a:lnSpc>
            </a:pPr>
            <a:r>
              <a:rPr sz="1450" b="1" i="0">
                <a:solidFill>
                  <a:srgbClr val="000000"/>
                </a:solidFill>
                <a:latin typeface="Courier New"/>
                <a:ea typeface="Courier New"/>
                <a:cs typeface="Courier New"/>
              </a:rPr>
              <a:t>public class ComputeArea {</a:t>
            </a:r>
          </a:p>
          <a:p>
            <a:pPr algn="l">
              <a:lnSpc>
                <a:spcPts val="2029"/>
              </a:lnSpc>
            </a:pPr>
            <a:r>
              <a:rPr sz="1450" b="1" i="0">
                <a:solidFill>
                  <a:srgbClr val="000000"/>
                </a:solidFill>
                <a:latin typeface="Courier New"/>
                <a:ea typeface="Courier New"/>
                <a:cs typeface="Courier New"/>
              </a:rPr>
              <a:t>  /** Main method */</a:t>
            </a:r>
          </a:p>
          <a:p>
            <a:pPr algn="l">
              <a:lnSpc>
                <a:spcPts val="2029"/>
              </a:lnSpc>
            </a:pPr>
            <a:r>
              <a:rPr sz="1450" b="1" i="0">
                <a:solidFill>
                  <a:srgbClr val="000000"/>
                </a:solidFill>
                <a:latin typeface="Courier New"/>
                <a:ea typeface="Courier New"/>
                <a:cs typeface="Courier New"/>
              </a:rPr>
              <a:t>  public static void main(String[] args) {</a:t>
            </a:r>
          </a:p>
          <a:p>
            <a:pPr algn="l">
              <a:lnSpc>
                <a:spcPts val="2029"/>
              </a:lnSpc>
            </a:pPr>
            <a:r>
              <a:rPr sz="1450" b="1" i="0">
                <a:solidFill>
                  <a:srgbClr val="000000"/>
                </a:solidFill>
                <a:latin typeface="Courier New"/>
                <a:ea typeface="Courier New"/>
                <a:cs typeface="Courier New"/>
              </a:rPr>
              <a:t>    double radius;</a:t>
            </a:r>
          </a:p>
          <a:p>
            <a:pPr algn="l">
              <a:lnSpc>
                <a:spcPts val="2029"/>
              </a:lnSpc>
            </a:pPr>
            <a:r>
              <a:rPr sz="1450" b="1" i="0">
                <a:solidFill>
                  <a:srgbClr val="000000"/>
                </a:solidFill>
                <a:latin typeface="Courier New"/>
                <a:ea typeface="Courier New"/>
                <a:cs typeface="Courier New"/>
              </a:rPr>
              <a:t>    double area;</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Assign a radius</a:t>
            </a:r>
          </a:p>
          <a:p>
            <a:pPr algn="l">
              <a:lnSpc>
                <a:spcPts val="2029"/>
              </a:lnSpc>
            </a:pPr>
            <a:r>
              <a:rPr sz="1450" b="1" i="0">
                <a:solidFill>
                  <a:srgbClr val="000000"/>
                </a:solidFill>
                <a:latin typeface="Courier New"/>
                <a:ea typeface="Courier New"/>
                <a:cs typeface="Courier New"/>
              </a:rPr>
              <a:t>    radius = 20;</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Compute area</a:t>
            </a:r>
          </a:p>
          <a:p>
            <a:pPr algn="l">
              <a:lnSpc>
                <a:spcPts val="2029"/>
              </a:lnSpc>
            </a:pPr>
            <a:r>
              <a:rPr sz="1450" b="1" i="0">
                <a:solidFill>
                  <a:srgbClr val="000000"/>
                </a:solidFill>
                <a:latin typeface="Courier New"/>
                <a:ea typeface="Courier New"/>
                <a:cs typeface="Courier New"/>
              </a:rPr>
              <a:t>    area = radius * radius * 3.14159;</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Display results</a:t>
            </a:r>
          </a:p>
          <a:p>
            <a:pPr algn="l">
              <a:lnSpc>
                <a:spcPts val="2029"/>
              </a:lnSpc>
            </a:pPr>
            <a:r>
              <a:rPr sz="1450" b="1" i="0">
                <a:solidFill>
                  <a:srgbClr val="000000"/>
                </a:solidFill>
                <a:latin typeface="Courier New"/>
                <a:ea typeface="Courier New"/>
                <a:cs typeface="Courier New"/>
              </a:rPr>
              <a:t>    System.out.println("The area for the circle of radius " +</a:t>
            </a:r>
          </a:p>
          <a:p>
            <a:pPr algn="l">
              <a:lnSpc>
                <a:spcPts val="2029"/>
              </a:lnSpc>
            </a:pPr>
            <a:r>
              <a:rPr sz="1450" b="1" i="0">
                <a:solidFill>
                  <a:srgbClr val="000000"/>
                </a:solidFill>
                <a:latin typeface="Courier New"/>
                <a:ea typeface="Courier New"/>
                <a:cs typeface="Courier New"/>
              </a:rPr>
              <a:t>      radius + " is " + area);</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a:t>
            </a:r>
          </a:p>
        </p:txBody>
      </p:sp>
      <p:sp>
        <p:nvSpPr>
          <p:cNvPr id="7" name="TextBox 6"/>
          <p:cNvSpPr txBox="1"/>
          <p:nvPr/>
        </p:nvSpPr>
        <p:spPr>
          <a:xfrm>
            <a:off x="9398000" y="1193800"/>
            <a:ext cx="1778000" cy="254000"/>
          </a:xfrm>
          <a:prstGeom prst="rect">
            <a:avLst/>
          </a:prstGeom>
          <a:noFill/>
        </p:spPr>
        <p:txBody>
          <a:bodyPr wrap="square" lIns="0" tIns="0" rIns="0" bIns="0" anchor="t">
            <a:spAutoFit/>
          </a:bodyPr>
          <a:lstStyle/>
          <a:p>
            <a:pPr algn="ctr">
              <a:lnSpc>
                <a:spcPts val="2000"/>
              </a:lnSpc>
            </a:pPr>
            <a:r>
              <a:rPr sz="1600" b="0" i="0">
                <a:solidFill>
                  <a:srgbClr val="6B6B6B"/>
                </a:solidFill>
                <a:latin typeface="Times New Roman"/>
                <a:ea typeface="Times New Roman"/>
                <a:cs typeface="Times New Roman"/>
              </a:rPr>
              <a:t>memory</a:t>
            </a:r>
          </a:p>
        </p:txBody>
      </p:sp>
      <p:sp>
        <p:nvSpPr>
          <p:cNvPr id="8" name="TextBox 7"/>
          <p:cNvSpPr txBox="1"/>
          <p:nvPr/>
        </p:nvSpPr>
        <p:spPr>
          <a:xfrm>
            <a:off x="8001000" y="1600200"/>
            <a:ext cx="787400" cy="254000"/>
          </a:xfrm>
          <a:prstGeom prst="rect">
            <a:avLst/>
          </a:prstGeom>
          <a:noFill/>
        </p:spPr>
        <p:txBody>
          <a:bodyPr wrap="square" lIns="0" tIns="0" rIns="0" bIns="0" anchor="t">
            <a:spAutoFit/>
          </a:bodyPr>
          <a:lstStyle/>
          <a:p>
            <a:pPr algn="r">
              <a:lnSpc>
                <a:spcPts val="2125"/>
              </a:lnSpc>
            </a:pPr>
            <a:r>
              <a:rPr sz="1700" b="0" i="0">
                <a:solidFill>
                  <a:srgbClr val="111111"/>
                </a:solidFill>
                <a:latin typeface="Times New Roman"/>
                <a:ea typeface="Times New Roman"/>
                <a:cs typeface="Times New Roman"/>
              </a:rPr>
              <a:t>radius</a:t>
            </a:r>
          </a:p>
        </p:txBody>
      </p:sp>
      <p:sp>
        <p:nvSpPr>
          <p:cNvPr id="9" name="Rectangle 8"/>
          <p:cNvSpPr/>
          <p:nvPr/>
        </p:nvSpPr>
        <p:spPr>
          <a:xfrm>
            <a:off x="8890000" y="1524000"/>
            <a:ext cx="2413000" cy="38100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890000" y="1587500"/>
            <a:ext cx="2413000" cy="279400"/>
          </a:xfrm>
          <a:prstGeom prst="rect">
            <a:avLst/>
          </a:prstGeom>
          <a:noFill/>
        </p:spPr>
        <p:txBody>
          <a:bodyPr wrap="square" lIns="0" tIns="0" rIns="0" bIns="0" anchor="t">
            <a:spAutoFit/>
          </a:bodyPr>
          <a:lstStyle/>
          <a:p>
            <a:pPr algn="ctr">
              <a:lnSpc>
                <a:spcPts val="2000"/>
              </a:lnSpc>
            </a:pPr>
            <a:r>
              <a:rPr sz="1600" b="0" i="0">
                <a:solidFill>
                  <a:srgbClr val="111111"/>
                </a:solidFill>
                <a:latin typeface="Courier New"/>
                <a:ea typeface="Courier New"/>
                <a:cs typeface="Courier New"/>
              </a:rPr>
              <a:t>no value</a:t>
            </a:r>
          </a:p>
        </p:txBody>
      </p:sp>
      <p:sp>
        <p:nvSpPr>
          <p:cNvPr id="11" name="TextBox 10"/>
          <p:cNvSpPr txBox="1"/>
          <p:nvPr/>
        </p:nvSpPr>
        <p:spPr>
          <a:xfrm>
            <a:off x="8001000" y="2108200"/>
            <a:ext cx="787400" cy="254000"/>
          </a:xfrm>
          <a:prstGeom prst="rect">
            <a:avLst/>
          </a:prstGeom>
          <a:noFill/>
        </p:spPr>
        <p:txBody>
          <a:bodyPr wrap="square" lIns="0" tIns="0" rIns="0" bIns="0" anchor="t">
            <a:spAutoFit/>
          </a:bodyPr>
          <a:lstStyle/>
          <a:p>
            <a:pPr algn="r">
              <a:lnSpc>
                <a:spcPts val="2125"/>
              </a:lnSpc>
            </a:pPr>
            <a:r>
              <a:rPr sz="1700" b="0" i="0">
                <a:solidFill>
                  <a:srgbClr val="111111"/>
                </a:solidFill>
                <a:latin typeface="Times New Roman"/>
                <a:ea typeface="Times New Roman"/>
                <a:cs typeface="Times New Roman"/>
              </a:rPr>
              <a:t>area</a:t>
            </a:r>
          </a:p>
        </p:txBody>
      </p:sp>
      <p:sp>
        <p:nvSpPr>
          <p:cNvPr id="12" name="Rectangle 11"/>
          <p:cNvSpPr/>
          <p:nvPr/>
        </p:nvSpPr>
        <p:spPr>
          <a:xfrm>
            <a:off x="8890000" y="2032000"/>
            <a:ext cx="2413000" cy="38100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890000" y="2095500"/>
            <a:ext cx="2413000" cy="279400"/>
          </a:xfrm>
          <a:prstGeom prst="rect">
            <a:avLst/>
          </a:prstGeom>
          <a:noFill/>
        </p:spPr>
        <p:txBody>
          <a:bodyPr wrap="square" lIns="0" tIns="0" rIns="0" bIns="0" anchor="t">
            <a:spAutoFit/>
          </a:bodyPr>
          <a:lstStyle/>
          <a:p>
            <a:pPr algn="ctr">
              <a:lnSpc>
                <a:spcPts val="2000"/>
              </a:lnSpc>
            </a:pPr>
            <a:r>
              <a:rPr sz="1600" b="0" i="0">
                <a:solidFill>
                  <a:srgbClr val="111111"/>
                </a:solidFill>
                <a:latin typeface="Courier New"/>
                <a:ea typeface="Courier New"/>
                <a:cs typeface="Courier New"/>
              </a:rPr>
              <a:t>no value</a:t>
            </a:r>
          </a:p>
        </p:txBody>
      </p:sp>
      <p:sp>
        <p:nvSpPr>
          <p:cNvPr id="14" name="Rounded Rectangle 13"/>
          <p:cNvSpPr/>
          <p:nvPr/>
        </p:nvSpPr>
        <p:spPr>
          <a:xfrm>
            <a:off x="8763000" y="2921000"/>
            <a:ext cx="2794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813800" y="3009900"/>
            <a:ext cx="2692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allocate memory for area</a:t>
            </a:r>
          </a:p>
        </p:txBody>
      </p:sp>
      <p:cxnSp>
        <p:nvCxnSpPr>
          <p:cNvPr id="16" name="Connector 15"/>
          <p:cNvCxnSpPr/>
          <p:nvPr/>
        </p:nvCxnSpPr>
        <p:spPr>
          <a:xfrm flipH="1" flipV="1">
            <a:off x="2694940" y="2378900"/>
            <a:ext cx="6068060" cy="8215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 Program Execution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919F84D-0884-4AAD-89DE-656E2A586FCA}" type="slidenum">
              <a:rPr sz="1200" b="0" i="0">
                <a:solidFill>
                  <a:srgbClr val="6B6B6B"/>
                </a:solidFill>
                <a:latin typeface="Source Sans 3"/>
                <a:ea typeface="Source Sans 3"/>
                <a:cs typeface="Source Sans 3"/>
              </a:rPr>
              <a:pPr algn="l">
                <a:lnSpc>
                  <a:spcPts val="1500"/>
                </a:lnSpc>
              </a:pPr>
              <a:t>4</a:t>
            </a:fld>
            <a:endParaRPr sz="1200" b="0" i="0">
              <a:solidFill>
                <a:srgbClr val="6B6B6B"/>
              </a:solidFill>
              <a:latin typeface="Source Sans 3"/>
              <a:ea typeface="Source Sans 3"/>
              <a:cs typeface="Source Sans 3"/>
            </a:endParaRPr>
          </a:p>
        </p:txBody>
      </p:sp>
      <p:sp>
        <p:nvSpPr>
          <p:cNvPr id="4" name="Rectangle 3"/>
          <p:cNvSpPr/>
          <p:nvPr/>
        </p:nvSpPr>
        <p:spPr>
          <a:xfrm>
            <a:off x="762000" y="1066800"/>
            <a:ext cx="7044690" cy="463677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292860" y="3029775"/>
            <a:ext cx="1402080" cy="24511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89000" y="1193800"/>
            <a:ext cx="7806690" cy="4509770"/>
          </a:xfrm>
          <a:prstGeom prst="rect">
            <a:avLst/>
          </a:prstGeom>
          <a:noFill/>
        </p:spPr>
        <p:txBody>
          <a:bodyPr wrap="square" lIns="0" tIns="0" rIns="0" bIns="0" anchor="t">
            <a:spAutoFit/>
          </a:bodyPr>
          <a:lstStyle/>
          <a:p>
            <a:pPr algn="l">
              <a:lnSpc>
                <a:spcPts val="2029"/>
              </a:lnSpc>
            </a:pPr>
            <a:r>
              <a:rPr sz="1450" b="1" i="0">
                <a:solidFill>
                  <a:srgbClr val="000000"/>
                </a:solidFill>
                <a:latin typeface="Courier New"/>
                <a:ea typeface="Courier New"/>
                <a:cs typeface="Courier New"/>
              </a:rPr>
              <a:t>public class ComputeArea {</a:t>
            </a:r>
          </a:p>
          <a:p>
            <a:pPr algn="l">
              <a:lnSpc>
                <a:spcPts val="2029"/>
              </a:lnSpc>
            </a:pPr>
            <a:r>
              <a:rPr sz="1450" b="1" i="0">
                <a:solidFill>
                  <a:srgbClr val="000000"/>
                </a:solidFill>
                <a:latin typeface="Courier New"/>
                <a:ea typeface="Courier New"/>
                <a:cs typeface="Courier New"/>
              </a:rPr>
              <a:t>  /** Main method */</a:t>
            </a:r>
          </a:p>
          <a:p>
            <a:pPr algn="l">
              <a:lnSpc>
                <a:spcPts val="2029"/>
              </a:lnSpc>
            </a:pPr>
            <a:r>
              <a:rPr sz="1450" b="1" i="0">
                <a:solidFill>
                  <a:srgbClr val="000000"/>
                </a:solidFill>
                <a:latin typeface="Courier New"/>
                <a:ea typeface="Courier New"/>
                <a:cs typeface="Courier New"/>
              </a:rPr>
              <a:t>  public static void main(String[] args) {</a:t>
            </a:r>
          </a:p>
          <a:p>
            <a:pPr algn="l">
              <a:lnSpc>
                <a:spcPts val="2029"/>
              </a:lnSpc>
            </a:pPr>
            <a:r>
              <a:rPr sz="1450" b="1" i="0">
                <a:solidFill>
                  <a:srgbClr val="000000"/>
                </a:solidFill>
                <a:latin typeface="Courier New"/>
                <a:ea typeface="Courier New"/>
                <a:cs typeface="Courier New"/>
              </a:rPr>
              <a:t>    double radius;</a:t>
            </a:r>
          </a:p>
          <a:p>
            <a:pPr algn="l">
              <a:lnSpc>
                <a:spcPts val="2029"/>
              </a:lnSpc>
            </a:pPr>
            <a:r>
              <a:rPr sz="1450" b="1" i="0">
                <a:solidFill>
                  <a:srgbClr val="000000"/>
                </a:solidFill>
                <a:latin typeface="Courier New"/>
                <a:ea typeface="Courier New"/>
                <a:cs typeface="Courier New"/>
              </a:rPr>
              <a:t>    double area;</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Assign a radius</a:t>
            </a:r>
          </a:p>
          <a:p>
            <a:pPr algn="l">
              <a:lnSpc>
                <a:spcPts val="2029"/>
              </a:lnSpc>
            </a:pPr>
            <a:r>
              <a:rPr sz="1450" b="1" i="0">
                <a:solidFill>
                  <a:srgbClr val="000000"/>
                </a:solidFill>
                <a:latin typeface="Courier New"/>
                <a:ea typeface="Courier New"/>
                <a:cs typeface="Courier New"/>
              </a:rPr>
              <a:t>    radius = 20;</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Compute area</a:t>
            </a:r>
          </a:p>
          <a:p>
            <a:pPr algn="l">
              <a:lnSpc>
                <a:spcPts val="2029"/>
              </a:lnSpc>
            </a:pPr>
            <a:r>
              <a:rPr sz="1450" b="1" i="0">
                <a:solidFill>
                  <a:srgbClr val="000000"/>
                </a:solidFill>
                <a:latin typeface="Courier New"/>
                <a:ea typeface="Courier New"/>
                <a:cs typeface="Courier New"/>
              </a:rPr>
              <a:t>    area = radius * radius * 3.14159;</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Display results</a:t>
            </a:r>
          </a:p>
          <a:p>
            <a:pPr algn="l">
              <a:lnSpc>
                <a:spcPts val="2029"/>
              </a:lnSpc>
            </a:pPr>
            <a:r>
              <a:rPr sz="1450" b="1" i="0">
                <a:solidFill>
                  <a:srgbClr val="000000"/>
                </a:solidFill>
                <a:latin typeface="Courier New"/>
                <a:ea typeface="Courier New"/>
                <a:cs typeface="Courier New"/>
              </a:rPr>
              <a:t>    System.out.println("The area for the circle of radius " +</a:t>
            </a:r>
          </a:p>
          <a:p>
            <a:pPr algn="l">
              <a:lnSpc>
                <a:spcPts val="2029"/>
              </a:lnSpc>
            </a:pPr>
            <a:r>
              <a:rPr sz="1450" b="1" i="0">
                <a:solidFill>
                  <a:srgbClr val="000000"/>
                </a:solidFill>
                <a:latin typeface="Courier New"/>
                <a:ea typeface="Courier New"/>
                <a:cs typeface="Courier New"/>
              </a:rPr>
              <a:t>      radius + " is " + area);</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a:t>
            </a:r>
          </a:p>
        </p:txBody>
      </p:sp>
      <p:sp>
        <p:nvSpPr>
          <p:cNvPr id="7" name="TextBox 6"/>
          <p:cNvSpPr txBox="1"/>
          <p:nvPr/>
        </p:nvSpPr>
        <p:spPr>
          <a:xfrm>
            <a:off x="9398000" y="1193800"/>
            <a:ext cx="1778000" cy="254000"/>
          </a:xfrm>
          <a:prstGeom prst="rect">
            <a:avLst/>
          </a:prstGeom>
          <a:noFill/>
        </p:spPr>
        <p:txBody>
          <a:bodyPr wrap="square" lIns="0" tIns="0" rIns="0" bIns="0" anchor="t">
            <a:spAutoFit/>
          </a:bodyPr>
          <a:lstStyle/>
          <a:p>
            <a:pPr algn="ctr">
              <a:lnSpc>
                <a:spcPts val="2000"/>
              </a:lnSpc>
            </a:pPr>
            <a:r>
              <a:rPr sz="1600" b="0" i="0">
                <a:solidFill>
                  <a:srgbClr val="6B6B6B"/>
                </a:solidFill>
                <a:latin typeface="Times New Roman"/>
                <a:ea typeface="Times New Roman"/>
                <a:cs typeface="Times New Roman"/>
              </a:rPr>
              <a:t>memory</a:t>
            </a:r>
          </a:p>
        </p:txBody>
      </p:sp>
      <p:sp>
        <p:nvSpPr>
          <p:cNvPr id="8" name="TextBox 7"/>
          <p:cNvSpPr txBox="1"/>
          <p:nvPr/>
        </p:nvSpPr>
        <p:spPr>
          <a:xfrm>
            <a:off x="8001000" y="1600200"/>
            <a:ext cx="787400" cy="254000"/>
          </a:xfrm>
          <a:prstGeom prst="rect">
            <a:avLst/>
          </a:prstGeom>
          <a:noFill/>
        </p:spPr>
        <p:txBody>
          <a:bodyPr wrap="square" lIns="0" tIns="0" rIns="0" bIns="0" anchor="t">
            <a:spAutoFit/>
          </a:bodyPr>
          <a:lstStyle/>
          <a:p>
            <a:pPr algn="r">
              <a:lnSpc>
                <a:spcPts val="2125"/>
              </a:lnSpc>
            </a:pPr>
            <a:r>
              <a:rPr sz="1700" b="0" i="0">
                <a:solidFill>
                  <a:srgbClr val="111111"/>
                </a:solidFill>
                <a:latin typeface="Times New Roman"/>
                <a:ea typeface="Times New Roman"/>
                <a:cs typeface="Times New Roman"/>
              </a:rPr>
              <a:t>radius</a:t>
            </a:r>
          </a:p>
        </p:txBody>
      </p:sp>
      <p:sp>
        <p:nvSpPr>
          <p:cNvPr id="9" name="Rectangle 8"/>
          <p:cNvSpPr/>
          <p:nvPr/>
        </p:nvSpPr>
        <p:spPr>
          <a:xfrm>
            <a:off x="8890000" y="1524000"/>
            <a:ext cx="2413000" cy="38100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890000" y="1587500"/>
            <a:ext cx="2413000" cy="279400"/>
          </a:xfrm>
          <a:prstGeom prst="rect">
            <a:avLst/>
          </a:prstGeom>
          <a:noFill/>
        </p:spPr>
        <p:txBody>
          <a:bodyPr wrap="square" lIns="0" tIns="0" rIns="0" bIns="0" anchor="t">
            <a:spAutoFit/>
          </a:bodyPr>
          <a:lstStyle/>
          <a:p>
            <a:pPr algn="ctr">
              <a:lnSpc>
                <a:spcPts val="2000"/>
              </a:lnSpc>
            </a:pPr>
            <a:r>
              <a:rPr sz="1600" b="0" i="0">
                <a:solidFill>
                  <a:srgbClr val="111111"/>
                </a:solidFill>
                <a:latin typeface="Courier New"/>
                <a:ea typeface="Courier New"/>
                <a:cs typeface="Courier New"/>
              </a:rPr>
              <a:t>20</a:t>
            </a:r>
          </a:p>
        </p:txBody>
      </p:sp>
      <p:sp>
        <p:nvSpPr>
          <p:cNvPr id="11" name="TextBox 10"/>
          <p:cNvSpPr txBox="1"/>
          <p:nvPr/>
        </p:nvSpPr>
        <p:spPr>
          <a:xfrm>
            <a:off x="8001000" y="2108200"/>
            <a:ext cx="787400" cy="254000"/>
          </a:xfrm>
          <a:prstGeom prst="rect">
            <a:avLst/>
          </a:prstGeom>
          <a:noFill/>
        </p:spPr>
        <p:txBody>
          <a:bodyPr wrap="square" lIns="0" tIns="0" rIns="0" bIns="0" anchor="t">
            <a:spAutoFit/>
          </a:bodyPr>
          <a:lstStyle/>
          <a:p>
            <a:pPr algn="r">
              <a:lnSpc>
                <a:spcPts val="2125"/>
              </a:lnSpc>
            </a:pPr>
            <a:r>
              <a:rPr sz="1700" b="0" i="0">
                <a:solidFill>
                  <a:srgbClr val="111111"/>
                </a:solidFill>
                <a:latin typeface="Times New Roman"/>
                <a:ea typeface="Times New Roman"/>
                <a:cs typeface="Times New Roman"/>
              </a:rPr>
              <a:t>area</a:t>
            </a:r>
          </a:p>
        </p:txBody>
      </p:sp>
      <p:sp>
        <p:nvSpPr>
          <p:cNvPr id="12" name="Rectangle 11"/>
          <p:cNvSpPr/>
          <p:nvPr/>
        </p:nvSpPr>
        <p:spPr>
          <a:xfrm>
            <a:off x="8890000" y="2032000"/>
            <a:ext cx="2413000" cy="38100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890000" y="2095500"/>
            <a:ext cx="2413000" cy="279400"/>
          </a:xfrm>
          <a:prstGeom prst="rect">
            <a:avLst/>
          </a:prstGeom>
          <a:noFill/>
        </p:spPr>
        <p:txBody>
          <a:bodyPr wrap="square" lIns="0" tIns="0" rIns="0" bIns="0" anchor="t">
            <a:spAutoFit/>
          </a:bodyPr>
          <a:lstStyle/>
          <a:p>
            <a:pPr algn="ctr">
              <a:lnSpc>
                <a:spcPts val="2000"/>
              </a:lnSpc>
            </a:pPr>
            <a:r>
              <a:rPr sz="1600" b="0" i="0">
                <a:solidFill>
                  <a:srgbClr val="111111"/>
                </a:solidFill>
                <a:latin typeface="Courier New"/>
                <a:ea typeface="Courier New"/>
                <a:cs typeface="Courier New"/>
              </a:rPr>
              <a:t>no value</a:t>
            </a:r>
          </a:p>
        </p:txBody>
      </p:sp>
      <p:sp>
        <p:nvSpPr>
          <p:cNvPr id="14" name="Rounded Rectangle 13"/>
          <p:cNvSpPr/>
          <p:nvPr/>
        </p:nvSpPr>
        <p:spPr>
          <a:xfrm>
            <a:off x="8763000" y="2921000"/>
            <a:ext cx="2794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813800" y="3009900"/>
            <a:ext cx="2692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assign 20 to radius</a:t>
            </a:r>
          </a:p>
        </p:txBody>
      </p:sp>
      <p:cxnSp>
        <p:nvCxnSpPr>
          <p:cNvPr id="16" name="Connector 15"/>
          <p:cNvCxnSpPr/>
          <p:nvPr/>
        </p:nvCxnSpPr>
        <p:spPr>
          <a:xfrm flipH="1" flipV="1">
            <a:off x="2694940" y="3152330"/>
            <a:ext cx="6068060" cy="4807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 Program Execution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CBF33CB-369B-44D0-A93B-175454BC1BB1}" type="slidenum">
              <a:rPr sz="1200" b="0" i="0">
                <a:solidFill>
                  <a:srgbClr val="6B6B6B"/>
                </a:solidFill>
                <a:latin typeface="Source Sans 3"/>
                <a:ea typeface="Source Sans 3"/>
                <a:cs typeface="Source Sans 3"/>
              </a:rPr>
              <a:pPr algn="l">
                <a:lnSpc>
                  <a:spcPts val="1500"/>
                </a:lnSpc>
              </a:pPr>
              <a:t>5</a:t>
            </a:fld>
            <a:endParaRPr sz="1200" b="0" i="0">
              <a:solidFill>
                <a:srgbClr val="6B6B6B"/>
              </a:solidFill>
              <a:latin typeface="Source Sans 3"/>
              <a:ea typeface="Source Sans 3"/>
              <a:cs typeface="Source Sans 3"/>
            </a:endParaRPr>
          </a:p>
        </p:txBody>
      </p:sp>
      <p:sp>
        <p:nvSpPr>
          <p:cNvPr id="4" name="Rectangle 3"/>
          <p:cNvSpPr/>
          <p:nvPr/>
        </p:nvSpPr>
        <p:spPr>
          <a:xfrm>
            <a:off x="762000" y="1066800"/>
            <a:ext cx="7044690" cy="463677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292860" y="3803205"/>
            <a:ext cx="3722370" cy="24511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89000" y="1193800"/>
            <a:ext cx="7806690" cy="4509770"/>
          </a:xfrm>
          <a:prstGeom prst="rect">
            <a:avLst/>
          </a:prstGeom>
          <a:noFill/>
        </p:spPr>
        <p:txBody>
          <a:bodyPr wrap="square" lIns="0" tIns="0" rIns="0" bIns="0" anchor="t">
            <a:spAutoFit/>
          </a:bodyPr>
          <a:lstStyle/>
          <a:p>
            <a:pPr algn="l">
              <a:lnSpc>
                <a:spcPts val="2029"/>
              </a:lnSpc>
            </a:pPr>
            <a:r>
              <a:rPr sz="1450" b="1" i="0">
                <a:solidFill>
                  <a:srgbClr val="000000"/>
                </a:solidFill>
                <a:latin typeface="Courier New"/>
                <a:ea typeface="Courier New"/>
                <a:cs typeface="Courier New"/>
              </a:rPr>
              <a:t>public class ComputeArea {</a:t>
            </a:r>
          </a:p>
          <a:p>
            <a:pPr algn="l">
              <a:lnSpc>
                <a:spcPts val="2029"/>
              </a:lnSpc>
            </a:pPr>
            <a:r>
              <a:rPr sz="1450" b="1" i="0">
                <a:solidFill>
                  <a:srgbClr val="000000"/>
                </a:solidFill>
                <a:latin typeface="Courier New"/>
                <a:ea typeface="Courier New"/>
                <a:cs typeface="Courier New"/>
              </a:rPr>
              <a:t>  /** Main method */</a:t>
            </a:r>
          </a:p>
          <a:p>
            <a:pPr algn="l">
              <a:lnSpc>
                <a:spcPts val="2029"/>
              </a:lnSpc>
            </a:pPr>
            <a:r>
              <a:rPr sz="1450" b="1" i="0">
                <a:solidFill>
                  <a:srgbClr val="000000"/>
                </a:solidFill>
                <a:latin typeface="Courier New"/>
                <a:ea typeface="Courier New"/>
                <a:cs typeface="Courier New"/>
              </a:rPr>
              <a:t>  public static void main(String[] args) {</a:t>
            </a:r>
          </a:p>
          <a:p>
            <a:pPr algn="l">
              <a:lnSpc>
                <a:spcPts val="2029"/>
              </a:lnSpc>
            </a:pPr>
            <a:r>
              <a:rPr sz="1450" b="1" i="0">
                <a:solidFill>
                  <a:srgbClr val="000000"/>
                </a:solidFill>
                <a:latin typeface="Courier New"/>
                <a:ea typeface="Courier New"/>
                <a:cs typeface="Courier New"/>
              </a:rPr>
              <a:t>    double radius;</a:t>
            </a:r>
          </a:p>
          <a:p>
            <a:pPr algn="l">
              <a:lnSpc>
                <a:spcPts val="2029"/>
              </a:lnSpc>
            </a:pPr>
            <a:r>
              <a:rPr sz="1450" b="1" i="0">
                <a:solidFill>
                  <a:srgbClr val="000000"/>
                </a:solidFill>
                <a:latin typeface="Courier New"/>
                <a:ea typeface="Courier New"/>
                <a:cs typeface="Courier New"/>
              </a:rPr>
              <a:t>    double area;</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Assign a radius</a:t>
            </a:r>
          </a:p>
          <a:p>
            <a:pPr algn="l">
              <a:lnSpc>
                <a:spcPts val="2029"/>
              </a:lnSpc>
            </a:pPr>
            <a:r>
              <a:rPr sz="1450" b="1" i="0">
                <a:solidFill>
                  <a:srgbClr val="000000"/>
                </a:solidFill>
                <a:latin typeface="Courier New"/>
                <a:ea typeface="Courier New"/>
                <a:cs typeface="Courier New"/>
              </a:rPr>
              <a:t>    radius = 20;</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Compute area</a:t>
            </a:r>
          </a:p>
          <a:p>
            <a:pPr algn="l">
              <a:lnSpc>
                <a:spcPts val="2029"/>
              </a:lnSpc>
            </a:pPr>
            <a:r>
              <a:rPr sz="1450" b="1" i="0">
                <a:solidFill>
                  <a:srgbClr val="000000"/>
                </a:solidFill>
                <a:latin typeface="Courier New"/>
                <a:ea typeface="Courier New"/>
                <a:cs typeface="Courier New"/>
              </a:rPr>
              <a:t>    area = radius * radius * 3.14159;</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Display results</a:t>
            </a:r>
          </a:p>
          <a:p>
            <a:pPr algn="l">
              <a:lnSpc>
                <a:spcPts val="2029"/>
              </a:lnSpc>
            </a:pPr>
            <a:r>
              <a:rPr sz="1450" b="1" i="0">
                <a:solidFill>
                  <a:srgbClr val="000000"/>
                </a:solidFill>
                <a:latin typeface="Courier New"/>
                <a:ea typeface="Courier New"/>
                <a:cs typeface="Courier New"/>
              </a:rPr>
              <a:t>    System.out.println("The area for the circle of radius " +</a:t>
            </a:r>
          </a:p>
          <a:p>
            <a:pPr algn="l">
              <a:lnSpc>
                <a:spcPts val="2029"/>
              </a:lnSpc>
            </a:pPr>
            <a:r>
              <a:rPr sz="1450" b="1" i="0">
                <a:solidFill>
                  <a:srgbClr val="000000"/>
                </a:solidFill>
                <a:latin typeface="Courier New"/>
                <a:ea typeface="Courier New"/>
                <a:cs typeface="Courier New"/>
              </a:rPr>
              <a:t>      radius + " is " + area);</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a:t>
            </a:r>
          </a:p>
        </p:txBody>
      </p:sp>
      <p:sp>
        <p:nvSpPr>
          <p:cNvPr id="7" name="TextBox 6"/>
          <p:cNvSpPr txBox="1"/>
          <p:nvPr/>
        </p:nvSpPr>
        <p:spPr>
          <a:xfrm>
            <a:off x="9398000" y="1193800"/>
            <a:ext cx="1778000" cy="254000"/>
          </a:xfrm>
          <a:prstGeom prst="rect">
            <a:avLst/>
          </a:prstGeom>
          <a:noFill/>
        </p:spPr>
        <p:txBody>
          <a:bodyPr wrap="square" lIns="0" tIns="0" rIns="0" bIns="0" anchor="t">
            <a:spAutoFit/>
          </a:bodyPr>
          <a:lstStyle/>
          <a:p>
            <a:pPr algn="ctr">
              <a:lnSpc>
                <a:spcPts val="2000"/>
              </a:lnSpc>
            </a:pPr>
            <a:r>
              <a:rPr sz="1600" b="0" i="0">
                <a:solidFill>
                  <a:srgbClr val="6B6B6B"/>
                </a:solidFill>
                <a:latin typeface="Times New Roman"/>
                <a:ea typeface="Times New Roman"/>
                <a:cs typeface="Times New Roman"/>
              </a:rPr>
              <a:t>memory</a:t>
            </a:r>
          </a:p>
        </p:txBody>
      </p:sp>
      <p:sp>
        <p:nvSpPr>
          <p:cNvPr id="8" name="TextBox 7"/>
          <p:cNvSpPr txBox="1"/>
          <p:nvPr/>
        </p:nvSpPr>
        <p:spPr>
          <a:xfrm>
            <a:off x="8001000" y="1600200"/>
            <a:ext cx="787400" cy="254000"/>
          </a:xfrm>
          <a:prstGeom prst="rect">
            <a:avLst/>
          </a:prstGeom>
          <a:noFill/>
        </p:spPr>
        <p:txBody>
          <a:bodyPr wrap="square" lIns="0" tIns="0" rIns="0" bIns="0" anchor="t">
            <a:spAutoFit/>
          </a:bodyPr>
          <a:lstStyle/>
          <a:p>
            <a:pPr algn="r">
              <a:lnSpc>
                <a:spcPts val="2125"/>
              </a:lnSpc>
            </a:pPr>
            <a:r>
              <a:rPr sz="1700" b="0" i="0">
                <a:solidFill>
                  <a:srgbClr val="111111"/>
                </a:solidFill>
                <a:latin typeface="Times New Roman"/>
                <a:ea typeface="Times New Roman"/>
                <a:cs typeface="Times New Roman"/>
              </a:rPr>
              <a:t>radius</a:t>
            </a:r>
          </a:p>
        </p:txBody>
      </p:sp>
      <p:sp>
        <p:nvSpPr>
          <p:cNvPr id="9" name="Rectangle 8"/>
          <p:cNvSpPr/>
          <p:nvPr/>
        </p:nvSpPr>
        <p:spPr>
          <a:xfrm>
            <a:off x="8890000" y="1524000"/>
            <a:ext cx="2413000" cy="38100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8890000" y="1587500"/>
            <a:ext cx="2413000" cy="279400"/>
          </a:xfrm>
          <a:prstGeom prst="rect">
            <a:avLst/>
          </a:prstGeom>
          <a:noFill/>
        </p:spPr>
        <p:txBody>
          <a:bodyPr wrap="square" lIns="0" tIns="0" rIns="0" bIns="0" anchor="t">
            <a:spAutoFit/>
          </a:bodyPr>
          <a:lstStyle/>
          <a:p>
            <a:pPr algn="ctr">
              <a:lnSpc>
                <a:spcPts val="2000"/>
              </a:lnSpc>
            </a:pPr>
            <a:r>
              <a:rPr sz="1600" b="0" i="0">
                <a:solidFill>
                  <a:srgbClr val="111111"/>
                </a:solidFill>
                <a:latin typeface="Courier New"/>
                <a:ea typeface="Courier New"/>
                <a:cs typeface="Courier New"/>
              </a:rPr>
              <a:t>20</a:t>
            </a:r>
          </a:p>
        </p:txBody>
      </p:sp>
      <p:sp>
        <p:nvSpPr>
          <p:cNvPr id="11" name="TextBox 10"/>
          <p:cNvSpPr txBox="1"/>
          <p:nvPr/>
        </p:nvSpPr>
        <p:spPr>
          <a:xfrm>
            <a:off x="8001000" y="2108200"/>
            <a:ext cx="787400" cy="254000"/>
          </a:xfrm>
          <a:prstGeom prst="rect">
            <a:avLst/>
          </a:prstGeom>
          <a:noFill/>
        </p:spPr>
        <p:txBody>
          <a:bodyPr wrap="square" lIns="0" tIns="0" rIns="0" bIns="0" anchor="t">
            <a:spAutoFit/>
          </a:bodyPr>
          <a:lstStyle/>
          <a:p>
            <a:pPr algn="r">
              <a:lnSpc>
                <a:spcPts val="2125"/>
              </a:lnSpc>
            </a:pPr>
            <a:r>
              <a:rPr sz="1700" b="0" i="0">
                <a:solidFill>
                  <a:srgbClr val="111111"/>
                </a:solidFill>
                <a:latin typeface="Times New Roman"/>
                <a:ea typeface="Times New Roman"/>
                <a:cs typeface="Times New Roman"/>
              </a:rPr>
              <a:t>area</a:t>
            </a:r>
          </a:p>
        </p:txBody>
      </p:sp>
      <p:sp>
        <p:nvSpPr>
          <p:cNvPr id="12" name="Rectangle 11"/>
          <p:cNvSpPr/>
          <p:nvPr/>
        </p:nvSpPr>
        <p:spPr>
          <a:xfrm>
            <a:off x="8890000" y="2032000"/>
            <a:ext cx="2413000" cy="38100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8890000" y="2095500"/>
            <a:ext cx="2413000" cy="279400"/>
          </a:xfrm>
          <a:prstGeom prst="rect">
            <a:avLst/>
          </a:prstGeom>
          <a:noFill/>
        </p:spPr>
        <p:txBody>
          <a:bodyPr wrap="square" lIns="0" tIns="0" rIns="0" bIns="0" anchor="t">
            <a:spAutoFit/>
          </a:bodyPr>
          <a:lstStyle/>
          <a:p>
            <a:pPr algn="ctr">
              <a:lnSpc>
                <a:spcPts val="2000"/>
              </a:lnSpc>
            </a:pPr>
            <a:r>
              <a:rPr sz="1600" b="0" i="0">
                <a:solidFill>
                  <a:srgbClr val="111111"/>
                </a:solidFill>
                <a:latin typeface="Courier New"/>
                <a:ea typeface="Courier New"/>
                <a:cs typeface="Courier New"/>
              </a:rPr>
              <a:t>1256.636</a:t>
            </a:r>
          </a:p>
        </p:txBody>
      </p:sp>
      <p:sp>
        <p:nvSpPr>
          <p:cNvPr id="14" name="Rounded Rectangle 13"/>
          <p:cNvSpPr/>
          <p:nvPr/>
        </p:nvSpPr>
        <p:spPr>
          <a:xfrm>
            <a:off x="8763000" y="2921000"/>
            <a:ext cx="279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813800" y="3009900"/>
            <a:ext cx="269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compute area and assign it</a:t>
            </a:r>
          </a:p>
          <a:p>
            <a:pPr algn="ctr">
              <a:lnSpc>
                <a:spcPts val="2520"/>
              </a:lnSpc>
            </a:pPr>
            <a:r>
              <a:rPr sz="1800" b="0" i="0">
                <a:solidFill>
                  <a:srgbClr val="111111"/>
                </a:solidFill>
                <a:latin typeface="Times New Roman"/>
                <a:ea typeface="Times New Roman"/>
                <a:cs typeface="Times New Roman"/>
              </a:rPr>
              <a:t>to variable area</a:t>
            </a:r>
          </a:p>
        </p:txBody>
      </p:sp>
      <p:cxnSp>
        <p:nvCxnSpPr>
          <p:cNvPr id="16" name="Connector 15"/>
          <p:cNvCxnSpPr/>
          <p:nvPr/>
        </p:nvCxnSpPr>
        <p:spPr>
          <a:xfrm flipH="1">
            <a:off x="5015230" y="3200400"/>
            <a:ext cx="3747770" cy="72536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 Program Execution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3F70643-4FCC-4178-AC2A-F502DA097085}" type="slidenum">
              <a:rPr sz="1200" b="0" i="0">
                <a:solidFill>
                  <a:srgbClr val="6B6B6B"/>
                </a:solidFill>
                <a:latin typeface="Source Sans 3"/>
                <a:ea typeface="Source Sans 3"/>
                <a:cs typeface="Source Sans 3"/>
              </a:rPr>
              <a:pPr algn="l">
                <a:lnSpc>
                  <a:spcPts val="1500"/>
                </a:lnSpc>
              </a:pPr>
              <a:t>6</a:t>
            </a:fld>
            <a:endParaRPr sz="1200" b="0" i="0">
              <a:solidFill>
                <a:srgbClr val="6B6B6B"/>
              </a:solidFill>
              <a:latin typeface="Source Sans 3"/>
              <a:ea typeface="Source Sans 3"/>
              <a:cs typeface="Source Sans 3"/>
            </a:endParaRPr>
          </a:p>
        </p:txBody>
      </p:sp>
      <p:sp>
        <p:nvSpPr>
          <p:cNvPr id="4" name="Rectangle 3"/>
          <p:cNvSpPr/>
          <p:nvPr/>
        </p:nvSpPr>
        <p:spPr>
          <a:xfrm>
            <a:off x="762000" y="1066800"/>
            <a:ext cx="7044690" cy="463677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292860" y="4576635"/>
            <a:ext cx="6374130" cy="24511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513840" y="4834445"/>
            <a:ext cx="2727960" cy="24511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889000" y="1193800"/>
            <a:ext cx="7806690" cy="4509770"/>
          </a:xfrm>
          <a:prstGeom prst="rect">
            <a:avLst/>
          </a:prstGeom>
          <a:noFill/>
        </p:spPr>
        <p:txBody>
          <a:bodyPr wrap="square" lIns="0" tIns="0" rIns="0" bIns="0" anchor="t">
            <a:spAutoFit/>
          </a:bodyPr>
          <a:lstStyle/>
          <a:p>
            <a:pPr algn="l">
              <a:lnSpc>
                <a:spcPts val="2029"/>
              </a:lnSpc>
            </a:pPr>
            <a:r>
              <a:rPr sz="1450" b="1" i="0">
                <a:solidFill>
                  <a:srgbClr val="000000"/>
                </a:solidFill>
                <a:latin typeface="Courier New"/>
                <a:ea typeface="Courier New"/>
                <a:cs typeface="Courier New"/>
              </a:rPr>
              <a:t>public class ComputeArea {</a:t>
            </a:r>
          </a:p>
          <a:p>
            <a:pPr algn="l">
              <a:lnSpc>
                <a:spcPts val="2029"/>
              </a:lnSpc>
            </a:pPr>
            <a:r>
              <a:rPr sz="1450" b="1" i="0">
                <a:solidFill>
                  <a:srgbClr val="000000"/>
                </a:solidFill>
                <a:latin typeface="Courier New"/>
                <a:ea typeface="Courier New"/>
                <a:cs typeface="Courier New"/>
              </a:rPr>
              <a:t>  /** Main method */</a:t>
            </a:r>
          </a:p>
          <a:p>
            <a:pPr algn="l">
              <a:lnSpc>
                <a:spcPts val="2029"/>
              </a:lnSpc>
            </a:pPr>
            <a:r>
              <a:rPr sz="1450" b="1" i="0">
                <a:solidFill>
                  <a:srgbClr val="000000"/>
                </a:solidFill>
                <a:latin typeface="Courier New"/>
                <a:ea typeface="Courier New"/>
                <a:cs typeface="Courier New"/>
              </a:rPr>
              <a:t>  public static void main(String[] args) {</a:t>
            </a:r>
          </a:p>
          <a:p>
            <a:pPr algn="l">
              <a:lnSpc>
                <a:spcPts val="2029"/>
              </a:lnSpc>
            </a:pPr>
            <a:r>
              <a:rPr sz="1450" b="1" i="0">
                <a:solidFill>
                  <a:srgbClr val="000000"/>
                </a:solidFill>
                <a:latin typeface="Courier New"/>
                <a:ea typeface="Courier New"/>
                <a:cs typeface="Courier New"/>
              </a:rPr>
              <a:t>    double radius;</a:t>
            </a:r>
          </a:p>
          <a:p>
            <a:pPr algn="l">
              <a:lnSpc>
                <a:spcPts val="2029"/>
              </a:lnSpc>
            </a:pPr>
            <a:r>
              <a:rPr sz="1450" b="1" i="0">
                <a:solidFill>
                  <a:srgbClr val="000000"/>
                </a:solidFill>
                <a:latin typeface="Courier New"/>
                <a:ea typeface="Courier New"/>
                <a:cs typeface="Courier New"/>
              </a:rPr>
              <a:t>    double area;</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Assign a radius</a:t>
            </a:r>
          </a:p>
          <a:p>
            <a:pPr algn="l">
              <a:lnSpc>
                <a:spcPts val="2029"/>
              </a:lnSpc>
            </a:pPr>
            <a:r>
              <a:rPr sz="1450" b="1" i="0">
                <a:solidFill>
                  <a:srgbClr val="000000"/>
                </a:solidFill>
                <a:latin typeface="Courier New"/>
                <a:ea typeface="Courier New"/>
                <a:cs typeface="Courier New"/>
              </a:rPr>
              <a:t>    radius = 20;</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Compute area</a:t>
            </a:r>
          </a:p>
          <a:p>
            <a:pPr algn="l">
              <a:lnSpc>
                <a:spcPts val="2029"/>
              </a:lnSpc>
            </a:pPr>
            <a:r>
              <a:rPr sz="1450" b="1" i="0">
                <a:solidFill>
                  <a:srgbClr val="000000"/>
                </a:solidFill>
                <a:latin typeface="Courier New"/>
                <a:ea typeface="Courier New"/>
                <a:cs typeface="Courier New"/>
              </a:rPr>
              <a:t>    area = radius * radius * 3.14159;</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    // Display results</a:t>
            </a:r>
          </a:p>
          <a:p>
            <a:pPr algn="l">
              <a:lnSpc>
                <a:spcPts val="2029"/>
              </a:lnSpc>
            </a:pPr>
            <a:r>
              <a:rPr sz="1450" b="1" i="0">
                <a:solidFill>
                  <a:srgbClr val="000000"/>
                </a:solidFill>
                <a:latin typeface="Courier New"/>
                <a:ea typeface="Courier New"/>
                <a:cs typeface="Courier New"/>
              </a:rPr>
              <a:t>    System.out.println("The area for the circle of radius " +</a:t>
            </a:r>
          </a:p>
          <a:p>
            <a:pPr algn="l">
              <a:lnSpc>
                <a:spcPts val="2029"/>
              </a:lnSpc>
            </a:pPr>
            <a:r>
              <a:rPr sz="1450" b="1" i="0">
                <a:solidFill>
                  <a:srgbClr val="000000"/>
                </a:solidFill>
                <a:latin typeface="Courier New"/>
                <a:ea typeface="Courier New"/>
                <a:cs typeface="Courier New"/>
              </a:rPr>
              <a:t>      radius + " is " + area);</a:t>
            </a:r>
          </a:p>
          <a:p>
            <a:pPr algn="l">
              <a:lnSpc>
                <a:spcPts val="2029"/>
              </a:lnSpc>
            </a:pPr>
            <a:r>
              <a:rPr sz="1450" b="1" i="0">
                <a:solidFill>
                  <a:srgbClr val="000000"/>
                </a:solidFill>
                <a:latin typeface="Courier New"/>
                <a:ea typeface="Courier New"/>
                <a:cs typeface="Courier New"/>
              </a:rPr>
              <a:t>  }</a:t>
            </a:r>
          </a:p>
          <a:p>
            <a:pPr algn="l">
              <a:lnSpc>
                <a:spcPts val="2029"/>
              </a:lnSpc>
            </a:pPr>
            <a:r>
              <a:rPr sz="1450" b="1" i="0">
                <a:solidFill>
                  <a:srgbClr val="000000"/>
                </a:solidFill>
                <a:latin typeface="Courier New"/>
                <a:ea typeface="Courier New"/>
                <a:cs typeface="Courier New"/>
              </a:rPr>
              <a:t>}</a:t>
            </a:r>
          </a:p>
        </p:txBody>
      </p:sp>
      <p:sp>
        <p:nvSpPr>
          <p:cNvPr id="8" name="TextBox 7"/>
          <p:cNvSpPr txBox="1"/>
          <p:nvPr/>
        </p:nvSpPr>
        <p:spPr>
          <a:xfrm>
            <a:off x="9398000" y="1193800"/>
            <a:ext cx="1778000" cy="254000"/>
          </a:xfrm>
          <a:prstGeom prst="rect">
            <a:avLst/>
          </a:prstGeom>
          <a:noFill/>
        </p:spPr>
        <p:txBody>
          <a:bodyPr wrap="square" lIns="0" tIns="0" rIns="0" bIns="0" anchor="t">
            <a:spAutoFit/>
          </a:bodyPr>
          <a:lstStyle/>
          <a:p>
            <a:pPr algn="ctr">
              <a:lnSpc>
                <a:spcPts val="2000"/>
              </a:lnSpc>
            </a:pPr>
            <a:r>
              <a:rPr sz="1600" b="0" i="0">
                <a:solidFill>
                  <a:srgbClr val="6B6B6B"/>
                </a:solidFill>
                <a:latin typeface="Times New Roman"/>
                <a:ea typeface="Times New Roman"/>
                <a:cs typeface="Times New Roman"/>
              </a:rPr>
              <a:t>memory</a:t>
            </a:r>
          </a:p>
        </p:txBody>
      </p:sp>
      <p:sp>
        <p:nvSpPr>
          <p:cNvPr id="9" name="TextBox 8"/>
          <p:cNvSpPr txBox="1"/>
          <p:nvPr/>
        </p:nvSpPr>
        <p:spPr>
          <a:xfrm>
            <a:off x="8001000" y="1600200"/>
            <a:ext cx="787400" cy="254000"/>
          </a:xfrm>
          <a:prstGeom prst="rect">
            <a:avLst/>
          </a:prstGeom>
          <a:noFill/>
        </p:spPr>
        <p:txBody>
          <a:bodyPr wrap="square" lIns="0" tIns="0" rIns="0" bIns="0" anchor="t">
            <a:spAutoFit/>
          </a:bodyPr>
          <a:lstStyle/>
          <a:p>
            <a:pPr algn="r">
              <a:lnSpc>
                <a:spcPts val="2125"/>
              </a:lnSpc>
            </a:pPr>
            <a:r>
              <a:rPr sz="1700" b="0" i="0">
                <a:solidFill>
                  <a:srgbClr val="111111"/>
                </a:solidFill>
                <a:latin typeface="Times New Roman"/>
                <a:ea typeface="Times New Roman"/>
                <a:cs typeface="Times New Roman"/>
              </a:rPr>
              <a:t>radius</a:t>
            </a:r>
          </a:p>
        </p:txBody>
      </p:sp>
      <p:sp>
        <p:nvSpPr>
          <p:cNvPr id="10" name="Rectangle 9"/>
          <p:cNvSpPr/>
          <p:nvPr/>
        </p:nvSpPr>
        <p:spPr>
          <a:xfrm>
            <a:off x="8890000" y="1524000"/>
            <a:ext cx="2413000" cy="38100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890000" y="1587500"/>
            <a:ext cx="2413000" cy="279400"/>
          </a:xfrm>
          <a:prstGeom prst="rect">
            <a:avLst/>
          </a:prstGeom>
          <a:noFill/>
        </p:spPr>
        <p:txBody>
          <a:bodyPr wrap="square" lIns="0" tIns="0" rIns="0" bIns="0" anchor="t">
            <a:spAutoFit/>
          </a:bodyPr>
          <a:lstStyle/>
          <a:p>
            <a:pPr algn="ctr">
              <a:lnSpc>
                <a:spcPts val="2000"/>
              </a:lnSpc>
            </a:pPr>
            <a:r>
              <a:rPr sz="1600" b="0" i="0">
                <a:solidFill>
                  <a:srgbClr val="111111"/>
                </a:solidFill>
                <a:latin typeface="Courier New"/>
                <a:ea typeface="Courier New"/>
                <a:cs typeface="Courier New"/>
              </a:rPr>
              <a:t>20</a:t>
            </a:r>
          </a:p>
        </p:txBody>
      </p:sp>
      <p:sp>
        <p:nvSpPr>
          <p:cNvPr id="12" name="TextBox 11"/>
          <p:cNvSpPr txBox="1"/>
          <p:nvPr/>
        </p:nvSpPr>
        <p:spPr>
          <a:xfrm>
            <a:off x="8001000" y="2108200"/>
            <a:ext cx="787400" cy="254000"/>
          </a:xfrm>
          <a:prstGeom prst="rect">
            <a:avLst/>
          </a:prstGeom>
          <a:noFill/>
        </p:spPr>
        <p:txBody>
          <a:bodyPr wrap="square" lIns="0" tIns="0" rIns="0" bIns="0" anchor="t">
            <a:spAutoFit/>
          </a:bodyPr>
          <a:lstStyle/>
          <a:p>
            <a:pPr algn="r">
              <a:lnSpc>
                <a:spcPts val="2125"/>
              </a:lnSpc>
            </a:pPr>
            <a:r>
              <a:rPr sz="1700" b="0" i="0">
                <a:solidFill>
                  <a:srgbClr val="111111"/>
                </a:solidFill>
                <a:latin typeface="Times New Roman"/>
                <a:ea typeface="Times New Roman"/>
                <a:cs typeface="Times New Roman"/>
              </a:rPr>
              <a:t>area</a:t>
            </a:r>
          </a:p>
        </p:txBody>
      </p:sp>
      <p:sp>
        <p:nvSpPr>
          <p:cNvPr id="13" name="Rectangle 12"/>
          <p:cNvSpPr/>
          <p:nvPr/>
        </p:nvSpPr>
        <p:spPr>
          <a:xfrm>
            <a:off x="8890000" y="2032000"/>
            <a:ext cx="2413000" cy="381000"/>
          </a:xfrm>
          <a:prstGeom prst="rect">
            <a:avLst/>
          </a:prstGeom>
          <a:solidFill>
            <a:srgbClr val="FFFFFF"/>
          </a:solid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8890000" y="2095500"/>
            <a:ext cx="2413000" cy="279400"/>
          </a:xfrm>
          <a:prstGeom prst="rect">
            <a:avLst/>
          </a:prstGeom>
          <a:noFill/>
        </p:spPr>
        <p:txBody>
          <a:bodyPr wrap="square" lIns="0" tIns="0" rIns="0" bIns="0" anchor="t">
            <a:spAutoFit/>
          </a:bodyPr>
          <a:lstStyle/>
          <a:p>
            <a:pPr algn="ctr">
              <a:lnSpc>
                <a:spcPts val="2000"/>
              </a:lnSpc>
            </a:pPr>
            <a:r>
              <a:rPr sz="1600" b="0" i="0">
                <a:solidFill>
                  <a:srgbClr val="111111"/>
                </a:solidFill>
                <a:latin typeface="Courier New"/>
                <a:ea typeface="Courier New"/>
                <a:cs typeface="Courier New"/>
              </a:rPr>
              <a:t>1256.636</a:t>
            </a:r>
          </a:p>
        </p:txBody>
      </p:sp>
      <p:pic>
        <p:nvPicPr>
          <p:cNvPr id="15" name="Picture 14" descr="console.png"/>
          <p:cNvPicPr>
            <a:picLocks noChangeAspect="1"/>
          </p:cNvPicPr>
          <p:nvPr/>
        </p:nvPicPr>
        <p:blipFill>
          <a:blip r:embed="rId2"/>
          <a:stretch>
            <a:fillRect/>
          </a:stretch>
        </p:blipFill>
        <p:spPr>
          <a:xfrm>
            <a:off x="6604000" y="5207000"/>
            <a:ext cx="5080000" cy="1077232"/>
          </a:xfrm>
          <a:prstGeom prst="rect">
            <a:avLst/>
          </a:prstGeom>
        </p:spPr>
      </p:pic>
      <p:sp>
        <p:nvSpPr>
          <p:cNvPr id="16" name="Rounded Rectangle 15"/>
          <p:cNvSpPr/>
          <p:nvPr/>
        </p:nvSpPr>
        <p:spPr>
          <a:xfrm>
            <a:off x="8128000" y="3810000"/>
            <a:ext cx="3429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178800" y="3898900"/>
            <a:ext cx="3327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print a message to the console</a:t>
            </a:r>
          </a:p>
        </p:txBody>
      </p:sp>
      <p:cxnSp>
        <p:nvCxnSpPr>
          <p:cNvPr id="18" name="Connector 17"/>
          <p:cNvCxnSpPr/>
          <p:nvPr/>
        </p:nvCxnSpPr>
        <p:spPr>
          <a:xfrm flipH="1">
            <a:off x="5754751" y="4305300"/>
            <a:ext cx="3135249" cy="516446"/>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Reading Input from the Console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2C1413E6-E7A6-4AEB-8A13-2C224818B066}" type="slidenum">
              <a:rPr sz="1200" b="0" i="0">
                <a:solidFill>
                  <a:srgbClr val="6B6B6B"/>
                </a:solidFill>
                <a:latin typeface="Source Sans 3"/>
                <a:ea typeface="Source Sans 3"/>
                <a:cs typeface="Source Sans 3"/>
              </a:rPr>
              <a:pPr algn="l">
                <a:lnSpc>
                  <a:spcPts val="1500"/>
                </a:lnSpc>
              </a:pPr>
              <a:t>7</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1. Create a Scanner object</a:t>
            </a:r>
          </a:p>
          <a:p>
            <a:pPr marL="457200" indent="0" algn="l">
              <a:lnSpc>
                <a:spcPts val="2465"/>
              </a:lnSpc>
              <a:spcBef>
                <a:spcPts val="480"/>
              </a:spcBef>
            </a:pPr>
            <a:r>
              <a:rPr sz="1700" b="1" i="0">
                <a:solidFill>
                  <a:srgbClr val="111111"/>
                </a:solidFill>
                <a:latin typeface="Courier New"/>
                <a:ea typeface="Courier New"/>
                <a:cs typeface="Courier New"/>
              </a:rPr>
              <a:t>import java.util.Scanner;   // at the top of the file</a:t>
            </a:r>
          </a:p>
          <a:p>
            <a:pPr marL="457200" indent="0" algn="l">
              <a:lnSpc>
                <a:spcPts val="2465"/>
              </a:lnSpc>
              <a:spcBef>
                <a:spcPts val="480"/>
              </a:spcBef>
            </a:pPr>
            <a:r>
              <a:rPr sz="1700" b="1" i="0">
                <a:solidFill>
                  <a:srgbClr val="111111"/>
                </a:solidFill>
                <a:latin typeface="Courier New"/>
                <a:ea typeface="Courier New"/>
                <a:cs typeface="Courier New"/>
              </a:rPr>
              <a:t>Scanner input = new Scanner(System.in);</a:t>
            </a:r>
          </a:p>
          <a:p>
            <a:pPr algn="l">
              <a:lnSpc>
                <a:spcPts val="2750"/>
              </a:lnSpc>
              <a:spcBef>
                <a:spcPts val="800"/>
              </a:spcBef>
            </a:pPr>
            <a:r>
              <a:rPr sz="2200" b="0" i="0">
                <a:solidFill>
                  <a:srgbClr val="111111"/>
                </a:solidFill>
                <a:latin typeface="Times New Roman"/>
                <a:ea typeface="Times New Roman"/>
                <a:cs typeface="Times New Roman"/>
              </a:rPr>
              <a:t>2. Use the methods </a:t>
            </a:r>
            <a:r>
              <a:rPr sz="2000" b="1" i="0">
                <a:solidFill>
                  <a:srgbClr val="111111"/>
                </a:solidFill>
                <a:latin typeface="Courier New"/>
                <a:ea typeface="Courier New"/>
                <a:cs typeface="Courier New"/>
              </a:rPr>
              <a:t>next()</a:t>
            </a:r>
            <a:r>
              <a:rPr sz="2200" b="0" i="0">
                <a:solidFill>
                  <a:srgbClr val="111111"/>
                </a:solidFill>
                <a:latin typeface="Times New Roman"/>
                <a:ea typeface="Times New Roman"/>
                <a:cs typeface="Times New Roman"/>
              </a:rPr>
              <a:t>, </a:t>
            </a:r>
            <a:r>
              <a:rPr sz="2000" b="1" i="0">
                <a:solidFill>
                  <a:srgbClr val="111111"/>
                </a:solidFill>
                <a:latin typeface="Courier New"/>
                <a:ea typeface="Courier New"/>
                <a:cs typeface="Courier New"/>
              </a:rPr>
              <a:t>nextByte()</a:t>
            </a:r>
            <a:r>
              <a:rPr sz="2200" b="0" i="0">
                <a:solidFill>
                  <a:srgbClr val="111111"/>
                </a:solidFill>
                <a:latin typeface="Times New Roman"/>
                <a:ea typeface="Times New Roman"/>
                <a:cs typeface="Times New Roman"/>
              </a:rPr>
              <a:t>, </a:t>
            </a:r>
            <a:r>
              <a:rPr sz="2000" b="1" i="0">
                <a:solidFill>
                  <a:srgbClr val="111111"/>
                </a:solidFill>
                <a:latin typeface="Courier New"/>
                <a:ea typeface="Courier New"/>
                <a:cs typeface="Courier New"/>
              </a:rPr>
              <a:t>nextShort()</a:t>
            </a:r>
            <a:r>
              <a:rPr sz="2200" b="0" i="0">
                <a:solidFill>
                  <a:srgbClr val="111111"/>
                </a:solidFill>
                <a:latin typeface="Times New Roman"/>
                <a:ea typeface="Times New Roman"/>
                <a:cs typeface="Times New Roman"/>
              </a:rPr>
              <a:t>, </a:t>
            </a:r>
            <a:r>
              <a:rPr sz="2000" b="1" i="0">
                <a:solidFill>
                  <a:srgbClr val="111111"/>
                </a:solidFill>
                <a:latin typeface="Courier New"/>
                <a:ea typeface="Courier New"/>
                <a:cs typeface="Courier New"/>
              </a:rPr>
              <a:t>nextInt()</a:t>
            </a:r>
            <a:r>
              <a:rPr sz="2200" b="0" i="0">
                <a:solidFill>
                  <a:srgbClr val="111111"/>
                </a:solidFill>
                <a:latin typeface="Times New Roman"/>
                <a:ea typeface="Times New Roman"/>
                <a:cs typeface="Times New Roman"/>
              </a:rPr>
              <a:t>, </a:t>
            </a:r>
            <a:r>
              <a:rPr sz="2000" b="1" i="0">
                <a:solidFill>
                  <a:srgbClr val="111111"/>
                </a:solidFill>
                <a:latin typeface="Courier New"/>
                <a:ea typeface="Courier New"/>
                <a:cs typeface="Courier New"/>
              </a:rPr>
              <a:t>nextLong()</a:t>
            </a:r>
            <a:r>
              <a:rPr sz="2200" b="0" i="0">
                <a:solidFill>
                  <a:srgbClr val="111111"/>
                </a:solidFill>
                <a:latin typeface="Times New Roman"/>
                <a:ea typeface="Times New Roman"/>
                <a:cs typeface="Times New Roman"/>
              </a:rPr>
              <a:t>, </a:t>
            </a:r>
            <a:r>
              <a:rPr sz="2000" b="1" i="0">
                <a:solidFill>
                  <a:srgbClr val="111111"/>
                </a:solidFill>
                <a:latin typeface="Courier New"/>
                <a:ea typeface="Courier New"/>
                <a:cs typeface="Courier New"/>
              </a:rPr>
              <a:t>nextFloat()</a:t>
            </a:r>
            <a:r>
              <a:rPr sz="2200" b="0" i="0">
                <a:solidFill>
                  <a:srgbClr val="111111"/>
                </a:solidFill>
                <a:latin typeface="Times New Roman"/>
                <a:ea typeface="Times New Roman"/>
                <a:cs typeface="Times New Roman"/>
              </a:rPr>
              <a:t>, </a:t>
            </a:r>
            <a:r>
              <a:rPr sz="2000" b="1" i="0">
                <a:solidFill>
                  <a:srgbClr val="111111"/>
                </a:solidFill>
                <a:latin typeface="Courier New"/>
                <a:ea typeface="Courier New"/>
                <a:cs typeface="Courier New"/>
              </a:rPr>
              <a:t>nextDouble()</a:t>
            </a:r>
            <a:r>
              <a:rPr sz="2200" b="0" i="0">
                <a:solidFill>
                  <a:srgbClr val="111111"/>
                </a:solidFill>
                <a:latin typeface="Times New Roman"/>
                <a:ea typeface="Times New Roman"/>
                <a:cs typeface="Times New Roman"/>
              </a:rPr>
              <a:t>, or </a:t>
            </a:r>
            <a:r>
              <a:rPr sz="2000" b="1" i="0">
                <a:solidFill>
                  <a:srgbClr val="111111"/>
                </a:solidFill>
                <a:latin typeface="Courier New"/>
                <a:ea typeface="Courier New"/>
                <a:cs typeface="Courier New"/>
              </a:rPr>
              <a:t>nextBoolean()</a:t>
            </a:r>
            <a:r>
              <a:rPr sz="2200" b="0" i="0">
                <a:solidFill>
                  <a:srgbClr val="111111"/>
                </a:solidFill>
                <a:latin typeface="Times New Roman"/>
                <a:ea typeface="Times New Roman"/>
                <a:cs typeface="Times New Roman"/>
              </a:rPr>
              <a:t> to obtain a string, byte, short, int, long, float, double, or boolean value. For example,</a:t>
            </a:r>
          </a:p>
          <a:p>
            <a:pPr marL="457200" indent="0" algn="l">
              <a:lnSpc>
                <a:spcPts val="2465"/>
              </a:lnSpc>
              <a:spcBef>
                <a:spcPts val="480"/>
              </a:spcBef>
            </a:pPr>
            <a:r>
              <a:rPr sz="1700" b="1" i="0">
                <a:solidFill>
                  <a:srgbClr val="111111"/>
                </a:solidFill>
                <a:latin typeface="Courier New"/>
                <a:ea typeface="Courier New"/>
                <a:cs typeface="Courier New"/>
              </a:rPr>
              <a:t>System.out.print("Enter a double value: ");</a:t>
            </a:r>
          </a:p>
          <a:p>
            <a:pPr marL="457200" indent="0" algn="l">
              <a:lnSpc>
                <a:spcPts val="2465"/>
              </a:lnSpc>
            </a:pPr>
            <a:r>
              <a:rPr sz="1700" b="1" i="0">
                <a:solidFill>
                  <a:srgbClr val="111111"/>
                </a:solidFill>
                <a:latin typeface="Courier New"/>
                <a:ea typeface="Courier New"/>
                <a:cs typeface="Courier New"/>
              </a:rPr>
              <a:t>Scanner input = new Scanner(System.in);</a:t>
            </a:r>
          </a:p>
          <a:p>
            <a:pPr marL="457200" indent="0" algn="l">
              <a:lnSpc>
                <a:spcPts val="2465"/>
              </a:lnSpc>
            </a:pPr>
            <a:r>
              <a:rPr sz="1700" b="1" i="0">
                <a:solidFill>
                  <a:srgbClr val="111111"/>
                </a:solidFill>
                <a:latin typeface="Courier New"/>
                <a:ea typeface="Courier New"/>
                <a:cs typeface="Courier New"/>
              </a:rPr>
              <a:t>double d = input.nextDouble();</a:t>
            </a:r>
          </a:p>
        </p:txBody>
      </p:sp>
      <p:sp>
        <p:nvSpPr>
          <p:cNvPr id="5" name="Rounded Rectangle 4"/>
          <p:cNvSpPr/>
          <p:nvPr/>
        </p:nvSpPr>
        <p:spPr>
          <a:xfrm>
            <a:off x="9354820" y="5732780"/>
            <a:ext cx="188468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ComputeAverage</a:t>
            </a:r>
            <a:endParaRPr sz="1400" b="1" i="0">
              <a:solidFill>
                <a:srgbClr val="222222"/>
              </a:solidFill>
              <a:latin typeface="Source Sans 3"/>
              <a:ea typeface="Source Sans 3"/>
              <a:cs typeface="Source Sans 3"/>
            </a:endParaRPr>
          </a:p>
        </p:txBody>
      </p:sp>
      <p:sp>
        <p:nvSpPr>
          <p:cNvPr id="6" name="Rounded Rectangle 5"/>
          <p:cNvSpPr/>
          <p:nvPr/>
        </p:nvSpPr>
        <p:spPr>
          <a:xfrm>
            <a:off x="6088380" y="5732780"/>
            <a:ext cx="313944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dirty="0">
                <a:solidFill>
                  <a:srgbClr val="222222"/>
                </a:solidFill>
                <a:latin typeface="Source Sans 3"/>
                <a:ea typeface="Source Sans 3"/>
                <a:cs typeface="Source Sans 3"/>
                <a:hlinkClick r:id="rId3"/>
              </a:rPr>
              <a:t>▶ </a:t>
            </a:r>
            <a:r>
              <a:rPr sz="1400" b="1" i="0" dirty="0" err="1">
                <a:solidFill>
                  <a:srgbClr val="222222"/>
                </a:solidFill>
                <a:latin typeface="Source Sans 3"/>
                <a:ea typeface="Source Sans 3"/>
                <a:cs typeface="Source Sans 3"/>
                <a:hlinkClick r:id="rId3"/>
              </a:rPr>
              <a:t>ComputeAreaWithConsoleInput</a:t>
            </a:r>
            <a:endParaRPr sz="1400" b="1" i="0" dirty="0">
              <a:solidFill>
                <a:srgbClr val="222222"/>
              </a:solidFill>
              <a:latin typeface="Source Sans 3"/>
              <a:ea typeface="Source Sans 3"/>
              <a:cs typeface="Source Sans 3"/>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Identifiers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E712AC2-7855-433A-9B91-25D971FE0D6C}" type="slidenum">
              <a:rPr sz="1200" b="0" i="0">
                <a:solidFill>
                  <a:srgbClr val="6B6B6B"/>
                </a:solidFill>
                <a:latin typeface="Source Sans 3"/>
                <a:ea typeface="Source Sans 3"/>
                <a:cs typeface="Source Sans 3"/>
              </a:rPr>
              <a:pPr algn="l">
                <a:lnSpc>
                  <a:spcPts val="1500"/>
                </a:lnSpc>
              </a:pPr>
              <a:t>8</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3180358"/>
          </a:xfrm>
          <a:prstGeom prst="rect">
            <a:avLst/>
          </a:prstGeom>
          <a:noFill/>
        </p:spPr>
        <p:txBody>
          <a:bodyPr wrap="square" lIns="0" tIns="0" rIns="0" bIns="0" anchor="t">
            <a:spAutoFit/>
          </a:bodyPr>
          <a:lstStyle/>
          <a:p>
            <a:pPr marL="279400" indent="-279400" algn="l">
              <a:lnSpc>
                <a:spcPts val="3000"/>
              </a:lnSpc>
            </a:pPr>
            <a:r>
              <a:rPr sz="2400" b="0" i="0">
                <a:solidFill>
                  <a:srgbClr val="111111"/>
                </a:solidFill>
                <a:latin typeface="Times New Roman"/>
                <a:ea typeface="Times New Roman"/>
                <a:cs typeface="Times New Roman"/>
              </a:rPr>
              <a:t>▫  An identifier is a sequence of characters that consist of letters, digits, underscores (_), and dollar signs ($).</a:t>
            </a:r>
          </a:p>
          <a:p>
            <a:pPr marL="279400" indent="-279400" algn="l">
              <a:lnSpc>
                <a:spcPts val="3000"/>
              </a:lnSpc>
              <a:spcBef>
                <a:spcPts val="1200"/>
              </a:spcBef>
            </a:pPr>
            <a:r>
              <a:rPr sz="2400" b="0" i="0">
                <a:solidFill>
                  <a:srgbClr val="111111"/>
                </a:solidFill>
                <a:latin typeface="Times New Roman"/>
                <a:ea typeface="Times New Roman"/>
                <a:cs typeface="Times New Roman"/>
              </a:rPr>
              <a:t>▫  An identifier must start with a letter, an underscore (_), or a dollar sign ($). It cannot start with a digit.</a:t>
            </a:r>
          </a:p>
          <a:p>
            <a:pPr marL="736600" indent="-254000" algn="l">
              <a:lnSpc>
                <a:spcPts val="2500"/>
              </a:lnSpc>
              <a:spcBef>
                <a:spcPts val="719"/>
              </a:spcBef>
            </a:pPr>
            <a:r>
              <a:rPr sz="2000" b="0" i="0">
                <a:solidFill>
                  <a:srgbClr val="111111"/>
                </a:solidFill>
                <a:latin typeface="Times New Roman"/>
                <a:ea typeface="Times New Roman"/>
                <a:cs typeface="Times New Roman"/>
              </a:rPr>
              <a:t>–  An identifier cannot be a reserved word. </a:t>
            </a:r>
          </a:p>
          <a:p>
            <a:pPr marL="279400" indent="-279400" algn="l">
              <a:lnSpc>
                <a:spcPts val="3000"/>
              </a:lnSpc>
              <a:spcBef>
                <a:spcPts val="1200"/>
              </a:spcBef>
            </a:pPr>
            <a:r>
              <a:rPr sz="2400" b="0" i="0">
                <a:solidFill>
                  <a:srgbClr val="111111"/>
                </a:solidFill>
                <a:latin typeface="Times New Roman"/>
                <a:ea typeface="Times New Roman"/>
                <a:cs typeface="Times New Roman"/>
              </a:rPr>
              <a:t>▫  An identifier cannot be </a:t>
            </a:r>
            <a:r>
              <a:rPr sz="2200" b="1" i="0">
                <a:solidFill>
                  <a:srgbClr val="111111"/>
                </a:solidFill>
                <a:latin typeface="Courier New"/>
                <a:ea typeface="Courier New"/>
                <a:cs typeface="Courier New"/>
              </a:rPr>
              <a:t>true</a:t>
            </a:r>
            <a:r>
              <a:rPr sz="2400" b="0" i="0">
                <a:solidFill>
                  <a:srgbClr val="111111"/>
                </a:solidFill>
                <a:latin typeface="Times New Roman"/>
                <a:ea typeface="Times New Roman"/>
                <a:cs typeface="Times New Roman"/>
              </a:rPr>
              <a:t>, </a:t>
            </a:r>
            <a:r>
              <a:rPr sz="2200" b="1" i="0">
                <a:solidFill>
                  <a:srgbClr val="111111"/>
                </a:solidFill>
                <a:latin typeface="Courier New"/>
                <a:ea typeface="Courier New"/>
                <a:cs typeface="Courier New"/>
              </a:rPr>
              <a:t>false</a:t>
            </a:r>
            <a:r>
              <a:rPr sz="2400" b="0" i="0">
                <a:solidFill>
                  <a:srgbClr val="111111"/>
                </a:solidFill>
                <a:latin typeface="Times New Roman"/>
                <a:ea typeface="Times New Roman"/>
                <a:cs typeface="Times New Roman"/>
              </a:rPr>
              <a:t>, or </a:t>
            </a:r>
            <a:r>
              <a:rPr sz="2200" b="1" i="0">
                <a:solidFill>
                  <a:srgbClr val="111111"/>
                </a:solidFill>
                <a:latin typeface="Courier New"/>
                <a:ea typeface="Courier New"/>
                <a:cs typeface="Courier New"/>
              </a:rPr>
              <a:t>null</a:t>
            </a:r>
            <a:r>
              <a:rPr sz="2400" b="0" i="0">
                <a:solidFill>
                  <a:srgbClr val="111111"/>
                </a:solidFill>
                <a:latin typeface="Times New Roman"/>
                <a:ea typeface="Times New Roman"/>
                <a:cs typeface="Times New Roman"/>
              </a:rPr>
              <a:t>.</a:t>
            </a:r>
          </a:p>
          <a:p>
            <a:pPr marL="279400" indent="-279400" algn="l">
              <a:lnSpc>
                <a:spcPts val="3000"/>
              </a:lnSpc>
              <a:spcBef>
                <a:spcPts val="1200"/>
              </a:spcBef>
            </a:pPr>
            <a:r>
              <a:rPr sz="2400" b="0" i="0">
                <a:solidFill>
                  <a:srgbClr val="111111"/>
                </a:solidFill>
                <a:latin typeface="Times New Roman"/>
                <a:ea typeface="Times New Roman"/>
                <a:cs typeface="Times New Roman"/>
              </a:rPr>
              <a:t>▫  An identifier can be of any length.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Variables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F9C8BF3-675B-4986-A9BA-EF1AAF7C65F6}" type="slidenum">
              <a:rPr sz="1200" b="0" i="0">
                <a:solidFill>
                  <a:srgbClr val="6B6B6B"/>
                </a:solidFill>
                <a:latin typeface="Source Sans 3"/>
                <a:ea typeface="Source Sans 3"/>
                <a:cs typeface="Source Sans 3"/>
              </a:rPr>
              <a:pPr algn="l">
                <a:lnSpc>
                  <a:spcPts val="1500"/>
                </a:lnSpc>
              </a:pPr>
              <a:t>9</a:t>
            </a:fld>
            <a:endParaRPr sz="1200" b="0" i="0">
              <a:solidFill>
                <a:srgbClr val="6B6B6B"/>
              </a:solidFill>
              <a:latin typeface="Source Sans 3"/>
              <a:ea typeface="Source Sans 3"/>
              <a:cs typeface="Source Sans 3"/>
            </a:endParaRPr>
          </a:p>
        </p:txBody>
      </p:sp>
      <p:sp>
        <p:nvSpPr>
          <p:cNvPr id="4" name="TextBox 3"/>
          <p:cNvSpPr txBox="1"/>
          <p:nvPr/>
        </p:nvSpPr>
        <p:spPr>
          <a:xfrm>
            <a:off x="1079500" y="1524000"/>
            <a:ext cx="9616440" cy="284734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 Compute the first area</a:t>
            </a:r>
          </a:p>
          <a:p>
            <a:pPr algn="l">
              <a:lnSpc>
                <a:spcPts val="2379"/>
              </a:lnSpc>
            </a:pPr>
            <a:r>
              <a:rPr sz="1700" b="1" i="0">
                <a:solidFill>
                  <a:srgbClr val="000000"/>
                </a:solidFill>
                <a:latin typeface="Courier New"/>
                <a:ea typeface="Courier New"/>
                <a:cs typeface="Courier New"/>
              </a:rPr>
              <a:t>radius = 1.0;</a:t>
            </a:r>
          </a:p>
          <a:p>
            <a:pPr algn="l">
              <a:lnSpc>
                <a:spcPts val="2379"/>
              </a:lnSpc>
            </a:pPr>
            <a:r>
              <a:rPr sz="1700" b="1" i="0">
                <a:solidFill>
                  <a:srgbClr val="000000"/>
                </a:solidFill>
                <a:latin typeface="Courier New"/>
                <a:ea typeface="Courier New"/>
                <a:cs typeface="Courier New"/>
              </a:rPr>
              <a:t>area = radius * radius * 3.14159;</a:t>
            </a:r>
          </a:p>
          <a:p>
            <a:pPr algn="l">
              <a:lnSpc>
                <a:spcPts val="2379"/>
              </a:lnSpc>
            </a:pPr>
            <a:r>
              <a:rPr sz="1700" b="1" i="0">
                <a:solidFill>
                  <a:srgbClr val="000000"/>
                </a:solidFill>
                <a:latin typeface="Courier New"/>
                <a:ea typeface="Courier New"/>
                <a:cs typeface="Courier New"/>
              </a:rPr>
              <a:t>System.out.println("The area is " + area + " for radius "+radius);</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 Compute the second area</a:t>
            </a:r>
          </a:p>
          <a:p>
            <a:pPr algn="l">
              <a:lnSpc>
                <a:spcPts val="2379"/>
              </a:lnSpc>
            </a:pPr>
            <a:r>
              <a:rPr sz="1700" b="1" i="0">
                <a:solidFill>
                  <a:srgbClr val="000000"/>
                </a:solidFill>
                <a:latin typeface="Courier New"/>
                <a:ea typeface="Courier New"/>
                <a:cs typeface="Courier New"/>
              </a:rPr>
              <a:t>radius = 2.0;</a:t>
            </a:r>
          </a:p>
          <a:p>
            <a:pPr algn="l">
              <a:lnSpc>
                <a:spcPts val="2379"/>
              </a:lnSpc>
            </a:pPr>
            <a:r>
              <a:rPr sz="1700" b="1" i="0">
                <a:solidFill>
                  <a:srgbClr val="000000"/>
                </a:solidFill>
                <a:latin typeface="Courier New"/>
                <a:ea typeface="Courier New"/>
                <a:cs typeface="Courier New"/>
              </a:rPr>
              <a:t>area = radius * radius * 3.14159;</a:t>
            </a:r>
          </a:p>
          <a:p>
            <a:pPr algn="l">
              <a:lnSpc>
                <a:spcPts val="2379"/>
              </a:lnSpc>
            </a:pPr>
            <a:r>
              <a:rPr sz="1700" b="1" i="0">
                <a:solidFill>
                  <a:srgbClr val="000000"/>
                </a:solidFill>
                <a:latin typeface="Courier New"/>
                <a:ea typeface="Courier New"/>
                <a:cs typeface="Courier New"/>
              </a:rPr>
              <a:t>System.out.println("The area is " + area + " for radius "+radius);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Declaring Variables and Assignment Statements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02B91627-180B-4652-8E4A-C0ED280EDAC3}" type="slidenum">
              <a:rPr sz="1200" b="0" i="0">
                <a:solidFill>
                  <a:srgbClr val="6B6B6B"/>
                </a:solidFill>
                <a:latin typeface="Source Sans 3"/>
                <a:ea typeface="Source Sans 3"/>
                <a:cs typeface="Source Sans 3"/>
              </a:rPr>
              <a:pPr algn="l">
                <a:lnSpc>
                  <a:spcPts val="1500"/>
                </a:lnSpc>
              </a:pPr>
              <a:t>10</a:t>
            </a:fld>
            <a:endParaRPr sz="1200" b="0" i="0">
              <a:solidFill>
                <a:srgbClr val="6B6B6B"/>
              </a:solidFill>
              <a:latin typeface="Source Sans 3"/>
              <a:ea typeface="Source Sans 3"/>
              <a:cs typeface="Source Sans 3"/>
            </a:endParaRPr>
          </a:p>
        </p:txBody>
      </p:sp>
      <p:sp>
        <p:nvSpPr>
          <p:cNvPr id="4" name="TextBox 3"/>
          <p:cNvSpPr txBox="1"/>
          <p:nvPr/>
        </p:nvSpPr>
        <p:spPr>
          <a:xfrm>
            <a:off x="952500" y="1168400"/>
            <a:ext cx="10287000" cy="330200"/>
          </a:xfrm>
          <a:prstGeom prst="rect">
            <a:avLst/>
          </a:prstGeom>
          <a:noFill/>
        </p:spPr>
        <p:txBody>
          <a:bodyPr wrap="square" lIns="0" tIns="0" rIns="0" bIns="0" anchor="t">
            <a:spAutoFit/>
          </a:bodyPr>
          <a:lstStyle/>
          <a:p>
            <a:pPr algn="l">
              <a:lnSpc>
                <a:spcPts val="2750"/>
              </a:lnSpc>
            </a:pPr>
            <a:r>
              <a:rPr sz="2200" b="1" i="0">
                <a:solidFill>
                  <a:srgbClr val="111111"/>
                </a:solidFill>
                <a:latin typeface="Times New Roman"/>
                <a:ea typeface="Times New Roman"/>
                <a:cs typeface="Times New Roman"/>
              </a:rPr>
              <a:t>Declaring variables</a:t>
            </a:r>
          </a:p>
        </p:txBody>
      </p:sp>
      <p:sp>
        <p:nvSpPr>
          <p:cNvPr id="5" name="TextBox 4"/>
          <p:cNvSpPr txBox="1"/>
          <p:nvPr/>
        </p:nvSpPr>
        <p:spPr>
          <a:xfrm>
            <a:off x="1079500" y="1625600"/>
            <a:ext cx="5821680" cy="183388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int x;         // Declare x to be an</a:t>
            </a:r>
          </a:p>
          <a:p>
            <a:pPr algn="l">
              <a:lnSpc>
                <a:spcPts val="2240"/>
              </a:lnSpc>
            </a:pPr>
            <a:r>
              <a:rPr sz="1600" b="1" i="0">
                <a:solidFill>
                  <a:srgbClr val="000000"/>
                </a:solidFill>
                <a:latin typeface="Courier New"/>
                <a:ea typeface="Courier New"/>
                <a:cs typeface="Courier New"/>
              </a:rPr>
              <a:t>               // integer variable;</a:t>
            </a:r>
          </a:p>
          <a:p>
            <a:pPr algn="l">
              <a:lnSpc>
                <a:spcPts val="2240"/>
              </a:lnSpc>
            </a:pPr>
            <a:r>
              <a:rPr sz="1600" b="1" i="0">
                <a:solidFill>
                  <a:srgbClr val="000000"/>
                </a:solidFill>
                <a:latin typeface="Courier New"/>
                <a:ea typeface="Courier New"/>
                <a:cs typeface="Courier New"/>
              </a:rPr>
              <a:t>double radius; // Declare radius to</a:t>
            </a:r>
          </a:p>
          <a:p>
            <a:pPr algn="l">
              <a:lnSpc>
                <a:spcPts val="2240"/>
              </a:lnSpc>
            </a:pPr>
            <a:r>
              <a:rPr sz="1600" b="1" i="0">
                <a:solidFill>
                  <a:srgbClr val="000000"/>
                </a:solidFill>
                <a:latin typeface="Courier New"/>
                <a:ea typeface="Courier New"/>
                <a:cs typeface="Courier New"/>
              </a:rPr>
              <a:t>               // be a double variable;</a:t>
            </a:r>
          </a:p>
          <a:p>
            <a:pPr algn="l">
              <a:lnSpc>
                <a:spcPts val="2240"/>
              </a:lnSpc>
            </a:pPr>
            <a:r>
              <a:rPr sz="1600" b="1" i="0">
                <a:solidFill>
                  <a:srgbClr val="000000"/>
                </a:solidFill>
                <a:latin typeface="Courier New"/>
                <a:ea typeface="Courier New"/>
                <a:cs typeface="Courier New"/>
              </a:rPr>
              <a:t>char a;        // Declare a to be a</a:t>
            </a:r>
          </a:p>
          <a:p>
            <a:pPr algn="l">
              <a:lnSpc>
                <a:spcPts val="2240"/>
              </a:lnSpc>
            </a:pPr>
            <a:r>
              <a:rPr sz="1600" b="1" i="0">
                <a:solidFill>
                  <a:srgbClr val="000000"/>
                </a:solidFill>
                <a:latin typeface="Courier New"/>
                <a:ea typeface="Courier New"/>
                <a:cs typeface="Courier New"/>
              </a:rPr>
              <a:t>               // character variable;</a:t>
            </a:r>
          </a:p>
        </p:txBody>
      </p:sp>
      <p:sp>
        <p:nvSpPr>
          <p:cNvPr id="6" name="TextBox 5"/>
          <p:cNvSpPr txBox="1"/>
          <p:nvPr/>
        </p:nvSpPr>
        <p:spPr>
          <a:xfrm>
            <a:off x="952500" y="3530600"/>
            <a:ext cx="10287000" cy="330200"/>
          </a:xfrm>
          <a:prstGeom prst="rect">
            <a:avLst/>
          </a:prstGeom>
          <a:noFill/>
        </p:spPr>
        <p:txBody>
          <a:bodyPr wrap="square" lIns="0" tIns="0" rIns="0" bIns="0" anchor="t">
            <a:spAutoFit/>
          </a:bodyPr>
          <a:lstStyle/>
          <a:p>
            <a:pPr algn="l">
              <a:lnSpc>
                <a:spcPts val="2750"/>
              </a:lnSpc>
            </a:pPr>
            <a:r>
              <a:rPr sz="2200" b="1" i="0">
                <a:solidFill>
                  <a:srgbClr val="111111"/>
                </a:solidFill>
                <a:latin typeface="Times New Roman"/>
                <a:ea typeface="Times New Roman"/>
                <a:cs typeface="Times New Roman"/>
              </a:rPr>
              <a:t>Assignment statements</a:t>
            </a:r>
          </a:p>
        </p:txBody>
      </p:sp>
      <p:sp>
        <p:nvSpPr>
          <p:cNvPr id="7" name="TextBox 6"/>
          <p:cNvSpPr txBox="1"/>
          <p:nvPr/>
        </p:nvSpPr>
        <p:spPr>
          <a:xfrm>
            <a:off x="1079500" y="3987800"/>
            <a:ext cx="5943600" cy="98044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x = 1;          // Assign 1 to x;</a:t>
            </a:r>
          </a:p>
          <a:p>
            <a:pPr algn="l">
              <a:lnSpc>
                <a:spcPts val="2240"/>
              </a:lnSpc>
            </a:pPr>
            <a:r>
              <a:rPr sz="1600" b="1" i="0">
                <a:solidFill>
                  <a:srgbClr val="000000"/>
                </a:solidFill>
                <a:latin typeface="Courier New"/>
                <a:ea typeface="Courier New"/>
                <a:cs typeface="Courier New"/>
              </a:rPr>
              <a:t>radius = 1.0;   // Assign 1.0 to radius;</a:t>
            </a:r>
          </a:p>
          <a:p>
            <a:pPr algn="l">
              <a:lnSpc>
                <a:spcPts val="2240"/>
              </a:lnSpc>
            </a:pPr>
            <a:r>
              <a:rPr sz="1600" b="1" i="0">
                <a:solidFill>
                  <a:srgbClr val="000000"/>
                </a:solidFill>
                <a:latin typeface="Courier New"/>
                <a:ea typeface="Courier New"/>
                <a:cs typeface="Courier New"/>
              </a:rPr>
              <a:t>a = 'A';        // Assign 'A' to a;</a:t>
            </a:r>
          </a:p>
        </p:txBody>
      </p:sp>
      <p:sp>
        <p:nvSpPr>
          <p:cNvPr id="8" name="TextBox 7"/>
          <p:cNvSpPr txBox="1"/>
          <p:nvPr/>
        </p:nvSpPr>
        <p:spPr>
          <a:xfrm>
            <a:off x="952500" y="4978400"/>
            <a:ext cx="10287000" cy="330200"/>
          </a:xfrm>
          <a:prstGeom prst="rect">
            <a:avLst/>
          </a:prstGeom>
          <a:noFill/>
        </p:spPr>
        <p:txBody>
          <a:bodyPr wrap="square" lIns="0" tIns="0" rIns="0" bIns="0" anchor="t">
            <a:spAutoFit/>
          </a:bodyPr>
          <a:lstStyle/>
          <a:p>
            <a:pPr algn="l">
              <a:lnSpc>
                <a:spcPts val="2750"/>
              </a:lnSpc>
            </a:pPr>
            <a:r>
              <a:rPr sz="2200" b="1" i="0">
                <a:solidFill>
                  <a:srgbClr val="111111"/>
                </a:solidFill>
                <a:latin typeface="Times New Roman"/>
                <a:ea typeface="Times New Roman"/>
                <a:cs typeface="Times New Roman"/>
              </a:rPr>
              <a:t>Declaring and initializing in one step</a:t>
            </a:r>
          </a:p>
        </p:txBody>
      </p:sp>
      <p:sp>
        <p:nvSpPr>
          <p:cNvPr id="9" name="TextBox 8"/>
          <p:cNvSpPr txBox="1"/>
          <p:nvPr/>
        </p:nvSpPr>
        <p:spPr>
          <a:xfrm>
            <a:off x="1079500" y="5435600"/>
            <a:ext cx="2895600" cy="69596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int x = 1;</a:t>
            </a:r>
          </a:p>
          <a:p>
            <a:pPr algn="l">
              <a:lnSpc>
                <a:spcPts val="2240"/>
              </a:lnSpc>
            </a:pPr>
            <a:r>
              <a:rPr sz="1600" b="1" i="0">
                <a:solidFill>
                  <a:srgbClr val="000000"/>
                </a:solidFill>
                <a:latin typeface="Courier New"/>
                <a:ea typeface="Courier New"/>
                <a:cs typeface="Courier New"/>
              </a:rPr>
              <a:t>double d = 1.4;</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Constants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45D7B30-6DE1-4061-969B-DE437CA3B83A}" type="slidenum">
              <a:rPr sz="1200" b="0" i="0">
                <a:solidFill>
                  <a:srgbClr val="6B6B6B"/>
                </a:solidFill>
                <a:latin typeface="Source Sans 3"/>
                <a:ea typeface="Source Sans 3"/>
                <a:cs typeface="Source Sans 3"/>
              </a:rPr>
              <a:pPr algn="l">
                <a:lnSpc>
                  <a:spcPts val="1500"/>
                </a:lnSpc>
              </a:pPr>
              <a:t>11</a:t>
            </a:fld>
            <a:endParaRPr sz="1200" b="0" i="0">
              <a:solidFill>
                <a:srgbClr val="6B6B6B"/>
              </a:solidFill>
              <a:latin typeface="Source Sans 3"/>
              <a:ea typeface="Source Sans 3"/>
              <a:cs typeface="Source Sans 3"/>
            </a:endParaRPr>
          </a:p>
        </p:txBody>
      </p:sp>
      <p:sp>
        <p:nvSpPr>
          <p:cNvPr id="4" name="TextBox 3"/>
          <p:cNvSpPr txBox="1"/>
          <p:nvPr/>
        </p:nvSpPr>
        <p:spPr>
          <a:xfrm>
            <a:off x="1079500" y="1905000"/>
            <a:ext cx="71018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final datatype CONSTANTNAME = VALUE;</a:t>
            </a:r>
          </a:p>
          <a:p>
            <a:pPr algn="l">
              <a:lnSpc>
                <a:spcPts val="3079"/>
              </a:lnSpc>
            </a:pPr>
            <a:r>
              <a:rPr sz="2200" b="1" i="0">
                <a:solidFill>
                  <a:srgbClr val="000000"/>
                </a:solidFill>
                <a:latin typeface="Courier New"/>
                <a:ea typeface="Courier New"/>
                <a:cs typeface="Courier New"/>
              </a:rPr>
              <a:t> </a:t>
            </a:r>
          </a:p>
          <a:p>
            <a:pPr algn="l">
              <a:lnSpc>
                <a:spcPts val="3079"/>
              </a:lnSpc>
            </a:pPr>
            <a:r>
              <a:rPr sz="2200" b="1" i="0">
                <a:solidFill>
                  <a:srgbClr val="000000"/>
                </a:solidFill>
                <a:latin typeface="Courier New"/>
                <a:ea typeface="Courier New"/>
                <a:cs typeface="Courier New"/>
              </a:rPr>
              <a:t>final double PI = 3.14159;</a:t>
            </a:r>
          </a:p>
          <a:p>
            <a:pPr algn="l">
              <a:lnSpc>
                <a:spcPts val="3079"/>
              </a:lnSpc>
            </a:pPr>
            <a:r>
              <a:rPr sz="2200" b="1" i="0">
                <a:solidFill>
                  <a:srgbClr val="000000"/>
                </a:solidFill>
                <a:latin typeface="Courier New"/>
                <a:ea typeface="Courier New"/>
                <a:cs typeface="Courier New"/>
              </a:rPr>
              <a:t>final int SIZE = 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Numerical Data Types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FE0D73D-7466-4F8E-99B7-0AA8D925A9B4}" type="slidenum">
              <a:rPr sz="1200" b="0" i="0">
                <a:solidFill>
                  <a:srgbClr val="6B6B6B"/>
                </a:solidFill>
                <a:latin typeface="Source Sans 3"/>
                <a:ea typeface="Source Sans 3"/>
                <a:cs typeface="Source Sans 3"/>
              </a:rPr>
              <a:pPr algn="l">
                <a:lnSpc>
                  <a:spcPts val="1500"/>
                </a:lnSpc>
              </a:pPr>
              <a:t>12</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952500" y="1270000"/>
          <a:ext cx="10287000" cy="4389120"/>
        </p:xfrm>
        <a:graphic>
          <a:graphicData uri="http://schemas.openxmlformats.org/drawingml/2006/table">
            <a:tbl>
              <a:tblPr/>
              <a:tblGrid>
                <a:gridCol w="1143000">
                  <a:extLst>
                    <a:ext uri="{9D8B030D-6E8A-4147-A177-3AD203B41FA5}">
                      <a16:colId xmlns:a16="http://schemas.microsoft.com/office/drawing/2014/main" xmlns="" val="20000"/>
                    </a:ext>
                  </a:extLst>
                </a:gridCol>
                <a:gridCol w="5969000">
                  <a:extLst>
                    <a:ext uri="{9D8B030D-6E8A-4147-A177-3AD203B41FA5}">
                      <a16:colId xmlns:a16="http://schemas.microsoft.com/office/drawing/2014/main" xmlns="" val="20001"/>
                    </a:ext>
                  </a:extLst>
                </a:gridCol>
                <a:gridCol w="3175000">
                  <a:extLst>
                    <a:ext uri="{9D8B030D-6E8A-4147-A177-3AD203B41FA5}">
                      <a16:colId xmlns:a16="http://schemas.microsoft.com/office/drawing/2014/main" xmlns="" val="20002"/>
                    </a:ext>
                  </a:extLst>
                </a:gridCol>
              </a:tblGrid>
              <a:tr h="279400">
                <a:tc>
                  <a:txBody>
                    <a:bodyPr/>
                    <a:lstStyle/>
                    <a:p>
                      <a:pPr>
                        <a:lnSpc>
                          <a:spcPts val="1820"/>
                        </a:lnSpc>
                      </a:pPr>
                      <a:r>
                        <a:rPr sz="1400" b="1" i="0">
                          <a:solidFill>
                            <a:srgbClr val="111111"/>
                          </a:solidFill>
                          <a:latin typeface="Courier New"/>
                          <a:ea typeface="Courier New"/>
                          <a:cs typeface="Courier New"/>
                        </a:rPr>
                        <a:t>Name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1820"/>
                        </a:lnSpc>
                      </a:pPr>
                      <a:r>
                        <a:rPr sz="1400" b="1" i="0">
                          <a:solidFill>
                            <a:srgbClr val="111111"/>
                          </a:solidFill>
                          <a:latin typeface="Times New Roman"/>
                          <a:ea typeface="Times New Roman"/>
                          <a:cs typeface="Times New Roman"/>
                        </a:rPr>
                        <a:t>Range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1820"/>
                        </a:lnSpc>
                      </a:pPr>
                      <a:r>
                        <a:rPr sz="1400" b="1" i="0">
                          <a:solidFill>
                            <a:srgbClr val="111111"/>
                          </a:solidFill>
                          <a:latin typeface="Courier New"/>
                          <a:ea typeface="Courier New"/>
                          <a:cs typeface="Courier New"/>
                        </a:rPr>
                        <a:t>Storage Size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279400">
                <a:tc>
                  <a:txBody>
                    <a:bodyPr/>
                    <a:lstStyle/>
                    <a:p>
                      <a:pPr>
                        <a:lnSpc>
                          <a:spcPts val="1820"/>
                        </a:lnSpc>
                      </a:pPr>
                      <a:r>
                        <a:rPr sz="1400" b="0" i="0">
                          <a:solidFill>
                            <a:srgbClr val="111111"/>
                          </a:solidFill>
                          <a:latin typeface="Courier New"/>
                          <a:ea typeface="Courier New"/>
                          <a:cs typeface="Courier New"/>
                        </a:rPr>
                        <a:t>byte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Times New Roman"/>
                          <a:ea typeface="Times New Roman"/>
                          <a:cs typeface="Times New Roman"/>
                        </a:rPr>
                        <a:t>-2⁷ (-128) to 2⁷–1 (127)</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Courier New"/>
                          <a:ea typeface="Courier New"/>
                          <a:cs typeface="Courier New"/>
                        </a:rPr>
                        <a:t>8-bit signed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279400">
                <a:tc>
                  <a:txBody>
                    <a:bodyPr/>
                    <a:lstStyle/>
                    <a:p>
                      <a:pPr>
                        <a:lnSpc>
                          <a:spcPts val="1820"/>
                        </a:lnSpc>
                      </a:pPr>
                      <a:r>
                        <a:rPr sz="1400" b="0" i="0">
                          <a:solidFill>
                            <a:srgbClr val="111111"/>
                          </a:solidFill>
                          <a:latin typeface="Courier New"/>
                          <a:ea typeface="Courier New"/>
                          <a:cs typeface="Courier New"/>
                        </a:rPr>
                        <a:t>short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Times New Roman"/>
                          <a:ea typeface="Times New Roman"/>
                          <a:cs typeface="Times New Roman"/>
                        </a:rPr>
                        <a:t>-2¹⁵ (-32768) to 2¹⁵–1 (32767)</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Courier New"/>
                          <a:ea typeface="Courier New"/>
                          <a:cs typeface="Courier New"/>
                        </a:rPr>
                        <a:t>16-bit signed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279400">
                <a:tc>
                  <a:txBody>
                    <a:bodyPr/>
                    <a:lstStyle/>
                    <a:p>
                      <a:pPr>
                        <a:lnSpc>
                          <a:spcPts val="1820"/>
                        </a:lnSpc>
                      </a:pPr>
                      <a:r>
                        <a:rPr sz="1400" b="0" i="0">
                          <a:solidFill>
                            <a:srgbClr val="111111"/>
                          </a:solidFill>
                          <a:latin typeface="Courier New"/>
                          <a:ea typeface="Courier New"/>
                          <a:cs typeface="Courier New"/>
                        </a:rPr>
                        <a:t>int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Times New Roman"/>
                          <a:ea typeface="Times New Roman"/>
                          <a:cs typeface="Times New Roman"/>
                        </a:rPr>
                        <a:t>-2³¹ (-2147483648) to 2³¹–1 (2147483647)</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Courier New"/>
                          <a:ea typeface="Courier New"/>
                          <a:cs typeface="Courier New"/>
                        </a:rPr>
                        <a:t>32-bit signed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279400">
                <a:tc>
                  <a:txBody>
                    <a:bodyPr/>
                    <a:lstStyle/>
                    <a:p>
                      <a:pPr>
                        <a:lnSpc>
                          <a:spcPts val="1820"/>
                        </a:lnSpc>
                      </a:pPr>
                      <a:r>
                        <a:rPr sz="1400" b="0" i="0">
                          <a:solidFill>
                            <a:srgbClr val="111111"/>
                          </a:solidFill>
                          <a:latin typeface="Courier New"/>
                          <a:ea typeface="Courier New"/>
                          <a:cs typeface="Courier New"/>
                        </a:rPr>
                        <a:t>long</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Times New Roman"/>
                          <a:ea typeface="Times New Roman"/>
                          <a:cs typeface="Times New Roman"/>
                        </a:rPr>
                        <a:t>-2⁶³ to 2⁶³–1</a:t>
                      </a:r>
                    </a:p>
                    <a:p>
                      <a:pPr>
                        <a:lnSpc>
                          <a:spcPts val="1820"/>
                        </a:lnSpc>
                      </a:pPr>
                      <a:r>
                        <a:rPr sz="1400" b="0" i="0">
                          <a:solidFill>
                            <a:srgbClr val="111111"/>
                          </a:solidFill>
                          <a:latin typeface="Times New Roman"/>
                          <a:ea typeface="Times New Roman"/>
                          <a:cs typeface="Times New Roman"/>
                        </a:rPr>
                        <a:t>(i.e., -9223372036854775808</a:t>
                      </a:r>
                    </a:p>
                    <a:p>
                      <a:pPr>
                        <a:lnSpc>
                          <a:spcPts val="1820"/>
                        </a:lnSpc>
                      </a:pPr>
                      <a:r>
                        <a:rPr sz="1400" b="0" i="0">
                          <a:solidFill>
                            <a:srgbClr val="111111"/>
                          </a:solidFill>
                          <a:latin typeface="Times New Roman"/>
                          <a:ea typeface="Times New Roman"/>
                          <a:cs typeface="Times New Roman"/>
                        </a:rPr>
                        <a:t>to 9223372036854775807)</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Courier New"/>
                          <a:ea typeface="Courier New"/>
                          <a:cs typeface="Courier New"/>
                        </a:rPr>
                        <a:t>64-bit signed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r h="279400">
                <a:tc>
                  <a:txBody>
                    <a:bodyPr/>
                    <a:lstStyle/>
                    <a:p>
                      <a:pPr>
                        <a:lnSpc>
                          <a:spcPts val="1820"/>
                        </a:lnSpc>
                      </a:pPr>
                      <a:r>
                        <a:rPr sz="1400" b="0" i="0">
                          <a:solidFill>
                            <a:srgbClr val="111111"/>
                          </a:solidFill>
                          <a:latin typeface="Courier New"/>
                          <a:ea typeface="Courier New"/>
                          <a:cs typeface="Courier New"/>
                        </a:rPr>
                        <a:t>float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Times New Roman"/>
                          <a:ea typeface="Times New Roman"/>
                          <a:cs typeface="Times New Roman"/>
                        </a:rPr>
                        <a:t>Negative range:</a:t>
                      </a:r>
                    </a:p>
                    <a:p>
                      <a:pPr>
                        <a:lnSpc>
                          <a:spcPts val="1820"/>
                        </a:lnSpc>
                      </a:pPr>
                      <a:r>
                        <a:rPr sz="1400" b="0" i="0">
                          <a:solidFill>
                            <a:srgbClr val="111111"/>
                          </a:solidFill>
                          <a:latin typeface="Times New Roman"/>
                          <a:ea typeface="Times New Roman"/>
                          <a:cs typeface="Times New Roman"/>
                        </a:rPr>
                        <a:t>  -3.4028235E+38 to -1.4E-45</a:t>
                      </a:r>
                    </a:p>
                    <a:p>
                      <a:pPr>
                        <a:lnSpc>
                          <a:spcPts val="1820"/>
                        </a:lnSpc>
                      </a:pPr>
                      <a:r>
                        <a:rPr sz="1400" b="0" i="0">
                          <a:solidFill>
                            <a:srgbClr val="111111"/>
                          </a:solidFill>
                          <a:latin typeface="Times New Roman"/>
                          <a:ea typeface="Times New Roman"/>
                          <a:cs typeface="Times New Roman"/>
                        </a:rPr>
                        <a:t>Positive range:</a:t>
                      </a:r>
                    </a:p>
                    <a:p>
                      <a:pPr>
                        <a:lnSpc>
                          <a:spcPts val="1820"/>
                        </a:lnSpc>
                      </a:pPr>
                      <a:r>
                        <a:rPr sz="1400" b="0" i="0">
                          <a:solidFill>
                            <a:srgbClr val="111111"/>
                          </a:solidFill>
                          <a:latin typeface="Times New Roman"/>
                          <a:ea typeface="Times New Roman"/>
                          <a:cs typeface="Times New Roman"/>
                        </a:rPr>
                        <a:t>  1.4E-45 to 3.4028235E+38</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Courier New"/>
                          <a:ea typeface="Courier New"/>
                          <a:cs typeface="Courier New"/>
                        </a:rPr>
                        <a:t>32-bit IEEE 754</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5"/>
                  </a:ext>
                </a:extLst>
              </a:tr>
              <a:tr h="279400">
                <a:tc>
                  <a:txBody>
                    <a:bodyPr/>
                    <a:lstStyle/>
                    <a:p>
                      <a:pPr>
                        <a:lnSpc>
                          <a:spcPts val="1820"/>
                        </a:lnSpc>
                      </a:pPr>
                      <a:r>
                        <a:rPr sz="1400" b="0" i="0">
                          <a:solidFill>
                            <a:srgbClr val="111111"/>
                          </a:solidFill>
                          <a:latin typeface="Courier New"/>
                          <a:ea typeface="Courier New"/>
                          <a:cs typeface="Courier New"/>
                        </a:rPr>
                        <a:t>double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Times New Roman"/>
                          <a:ea typeface="Times New Roman"/>
                          <a:cs typeface="Times New Roman"/>
                        </a:rPr>
                        <a:t>Negative range:</a:t>
                      </a:r>
                    </a:p>
                    <a:p>
                      <a:pPr>
                        <a:lnSpc>
                          <a:spcPts val="1820"/>
                        </a:lnSpc>
                      </a:pPr>
                      <a:r>
                        <a:rPr sz="1400" b="0" i="0">
                          <a:solidFill>
                            <a:srgbClr val="111111"/>
                          </a:solidFill>
                          <a:latin typeface="Times New Roman"/>
                          <a:ea typeface="Times New Roman"/>
                          <a:cs typeface="Times New Roman"/>
                        </a:rPr>
                        <a:t>  -1.7976931348623157E+308 to -4.9E-324</a:t>
                      </a:r>
                    </a:p>
                    <a:p>
                      <a:pPr>
                        <a:lnSpc>
                          <a:spcPts val="1820"/>
                        </a:lnSpc>
                      </a:pPr>
                      <a:r>
                        <a:rPr sz="1400" b="0" i="0">
                          <a:solidFill>
                            <a:srgbClr val="111111"/>
                          </a:solidFill>
                          <a:latin typeface="Times New Roman"/>
                          <a:ea typeface="Times New Roman"/>
                          <a:cs typeface="Times New Roman"/>
                        </a:rPr>
                        <a:t>Positive range:</a:t>
                      </a:r>
                    </a:p>
                    <a:p>
                      <a:pPr>
                        <a:lnSpc>
                          <a:spcPts val="1820"/>
                        </a:lnSpc>
                      </a:pPr>
                      <a:r>
                        <a:rPr sz="1400" b="0" i="0">
                          <a:solidFill>
                            <a:srgbClr val="111111"/>
                          </a:solidFill>
                          <a:latin typeface="Times New Roman"/>
                          <a:ea typeface="Times New Roman"/>
                          <a:cs typeface="Times New Roman"/>
                        </a:rPr>
                        <a:t>  4.9E-324 to 1.7976931348623157E+308</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820"/>
                        </a:lnSpc>
                      </a:pPr>
                      <a:r>
                        <a:rPr sz="1400" b="0" i="0">
                          <a:solidFill>
                            <a:srgbClr val="111111"/>
                          </a:solidFill>
                          <a:latin typeface="Courier New"/>
                          <a:ea typeface="Courier New"/>
                          <a:cs typeface="Courier New"/>
                        </a:rPr>
                        <a:t>64-bit IEEE 754</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Numeric Operators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981584E-91B6-4CF0-B284-4BD1BAF97B8F}" type="slidenum">
              <a:rPr sz="1200" b="0" i="0">
                <a:solidFill>
                  <a:srgbClr val="6B6B6B"/>
                </a:solidFill>
                <a:latin typeface="Source Sans 3"/>
                <a:ea typeface="Source Sans 3"/>
                <a:cs typeface="Source Sans 3"/>
              </a:rPr>
              <a:pPr algn="l">
                <a:lnSpc>
                  <a:spcPts val="1500"/>
                </a:lnSpc>
              </a:pPr>
              <a:t>13</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1651000" y="1524000"/>
          <a:ext cx="8890000" cy="3048000"/>
        </p:xfrm>
        <a:graphic>
          <a:graphicData uri="http://schemas.openxmlformats.org/drawingml/2006/table">
            <a:tbl>
              <a:tblPr/>
              <a:tblGrid>
                <a:gridCol w="1143000">
                  <a:extLst>
                    <a:ext uri="{9D8B030D-6E8A-4147-A177-3AD203B41FA5}">
                      <a16:colId xmlns:a16="http://schemas.microsoft.com/office/drawing/2014/main" xmlns="" val="20000"/>
                    </a:ext>
                  </a:extLst>
                </a:gridCol>
                <a:gridCol w="2921000">
                  <a:extLst>
                    <a:ext uri="{9D8B030D-6E8A-4147-A177-3AD203B41FA5}">
                      <a16:colId xmlns:a16="http://schemas.microsoft.com/office/drawing/2014/main" xmlns="" val="20001"/>
                    </a:ext>
                  </a:extLst>
                </a:gridCol>
                <a:gridCol w="2540000">
                  <a:extLst>
                    <a:ext uri="{9D8B030D-6E8A-4147-A177-3AD203B41FA5}">
                      <a16:colId xmlns:a16="http://schemas.microsoft.com/office/drawing/2014/main" xmlns="" val="20002"/>
                    </a:ext>
                  </a:extLst>
                </a:gridCol>
                <a:gridCol w="2286000">
                  <a:extLst>
                    <a:ext uri="{9D8B030D-6E8A-4147-A177-3AD203B41FA5}">
                      <a16:colId xmlns:a16="http://schemas.microsoft.com/office/drawing/2014/main" xmlns="" val="20003"/>
                    </a:ext>
                  </a:extLst>
                </a:gridCol>
              </a:tblGrid>
              <a:tr h="508000">
                <a:tc>
                  <a:txBody>
                    <a:bodyPr/>
                    <a:lstStyle/>
                    <a:p>
                      <a:pPr>
                        <a:lnSpc>
                          <a:spcPts val="2340"/>
                        </a:lnSpc>
                      </a:pPr>
                      <a:r>
                        <a:rPr sz="1800" b="1" i="0">
                          <a:solidFill>
                            <a:srgbClr val="111111"/>
                          </a:solidFill>
                          <a:latin typeface="Courier New"/>
                          <a:ea typeface="Courier New"/>
                          <a:cs typeface="Courier New"/>
                        </a:rPr>
                        <a:t>Name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340"/>
                        </a:lnSpc>
                      </a:pPr>
                      <a:r>
                        <a:rPr sz="1800" b="1" i="0">
                          <a:solidFill>
                            <a:srgbClr val="111111"/>
                          </a:solidFill>
                          <a:latin typeface="Courier New"/>
                          <a:ea typeface="Courier New"/>
                          <a:cs typeface="Courier New"/>
                        </a:rPr>
                        <a:t>Meaning</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340"/>
                        </a:lnSpc>
                      </a:pPr>
                      <a:r>
                        <a:rPr sz="1800" b="1" i="0">
                          <a:solidFill>
                            <a:srgbClr val="111111"/>
                          </a:solidFill>
                          <a:latin typeface="Courier New"/>
                          <a:ea typeface="Courier New"/>
                          <a:cs typeface="Courier New"/>
                        </a:rPr>
                        <a:t>Example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340"/>
                        </a:lnSpc>
                      </a:pPr>
                      <a:r>
                        <a:rPr sz="1800" b="1" i="0">
                          <a:solidFill>
                            <a:srgbClr val="111111"/>
                          </a:solidFill>
                          <a:latin typeface="Courier New"/>
                          <a:ea typeface="Courier New"/>
                          <a:cs typeface="Courier New"/>
                        </a:rPr>
                        <a:t>Result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508000">
                <a:tc>
                  <a:txBody>
                    <a:bodyPr/>
                    <a:lstStyle/>
                    <a:p>
                      <a:pPr>
                        <a:lnSpc>
                          <a:spcPts val="2340"/>
                        </a:lnSpc>
                      </a:pPr>
                      <a:r>
                        <a:rPr sz="18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Addition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34 + 1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35</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508000">
                <a:tc>
                  <a:txBody>
                    <a:bodyPr/>
                    <a:lstStyle/>
                    <a:p>
                      <a:pPr>
                        <a:lnSpc>
                          <a:spcPts val="2340"/>
                        </a:lnSpc>
                      </a:pPr>
                      <a:r>
                        <a:rPr sz="18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Subtraction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34.0 - 0.1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33.9</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508000">
                <a:tc>
                  <a:txBody>
                    <a:bodyPr/>
                    <a:lstStyle/>
                    <a:p>
                      <a:pPr>
                        <a:lnSpc>
                          <a:spcPts val="2340"/>
                        </a:lnSpc>
                      </a:pPr>
                      <a:r>
                        <a:rPr sz="18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Multiplication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300 * 30</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9000</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508000">
                <a:tc>
                  <a:txBody>
                    <a:bodyPr/>
                    <a:lstStyle/>
                    <a:p>
                      <a:pPr>
                        <a:lnSpc>
                          <a:spcPts val="2340"/>
                        </a:lnSpc>
                      </a:pPr>
                      <a:r>
                        <a:rPr sz="18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Division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1.0 / 2.0</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0.5</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r h="508000">
                <a:tc>
                  <a:txBody>
                    <a:bodyPr/>
                    <a:lstStyle/>
                    <a:p>
                      <a:pPr>
                        <a:lnSpc>
                          <a:spcPts val="2340"/>
                        </a:lnSpc>
                      </a:pPr>
                      <a:r>
                        <a:rPr sz="18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Remainder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20 % 3</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2</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Integer Division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1C8EC59-332C-4395-A3C6-FF3F13944580}" type="slidenum">
              <a:rPr sz="1200" b="0" i="0">
                <a:solidFill>
                  <a:srgbClr val="6B6B6B"/>
                </a:solidFill>
                <a:latin typeface="Source Sans 3"/>
                <a:ea typeface="Source Sans 3"/>
                <a:cs typeface="Source Sans 3"/>
              </a:rPr>
              <a:pPr algn="l">
                <a:lnSpc>
                  <a:spcPts val="1500"/>
                </a:lnSpc>
              </a:pPr>
              <a:t>14</a:t>
            </a:fld>
            <a:endParaRPr sz="1200" b="0" i="0">
              <a:solidFill>
                <a:srgbClr val="6B6B6B"/>
              </a:solidFill>
              <a:latin typeface="Source Sans 3"/>
              <a:ea typeface="Source Sans 3"/>
              <a:cs typeface="Source Sans 3"/>
            </a:endParaRPr>
          </a:p>
        </p:txBody>
      </p:sp>
      <p:sp>
        <p:nvSpPr>
          <p:cNvPr id="4" name="TextBox 3"/>
          <p:cNvSpPr txBox="1"/>
          <p:nvPr/>
        </p:nvSpPr>
        <p:spPr>
          <a:xfrm>
            <a:off x="952500" y="1397000"/>
            <a:ext cx="10287000" cy="5080000"/>
          </a:xfrm>
          <a:prstGeom prst="rect">
            <a:avLst/>
          </a:prstGeom>
          <a:noFill/>
        </p:spPr>
        <p:txBody>
          <a:bodyPr wrap="square" lIns="0" tIns="0" rIns="0" bIns="0" anchor="t">
            <a:spAutoFit/>
          </a:bodyPr>
          <a:lstStyle/>
          <a:p>
            <a:pPr algn="l">
              <a:lnSpc>
                <a:spcPts val="3250"/>
              </a:lnSpc>
            </a:pPr>
            <a:r>
              <a:rPr sz="2400" b="1" i="0">
                <a:solidFill>
                  <a:srgbClr val="111111"/>
                </a:solidFill>
                <a:latin typeface="Courier New"/>
                <a:ea typeface="Courier New"/>
                <a:cs typeface="Courier New"/>
              </a:rPr>
              <a:t>+</a:t>
            </a:r>
            <a:r>
              <a:rPr sz="2600" b="0" i="0">
                <a:solidFill>
                  <a:srgbClr val="111111"/>
                </a:solidFill>
                <a:latin typeface="Times New Roman"/>
                <a:ea typeface="Times New Roman"/>
                <a:cs typeface="Times New Roman"/>
              </a:rPr>
              <a:t>, </a:t>
            </a:r>
            <a:r>
              <a:rPr sz="2400" b="1" i="0">
                <a:solidFill>
                  <a:srgbClr val="111111"/>
                </a:solidFill>
                <a:latin typeface="Courier New"/>
                <a:ea typeface="Courier New"/>
                <a:cs typeface="Courier New"/>
              </a:rPr>
              <a:t>-</a:t>
            </a:r>
            <a:r>
              <a:rPr sz="2600" b="0" i="0">
                <a:solidFill>
                  <a:srgbClr val="111111"/>
                </a:solidFill>
                <a:latin typeface="Times New Roman"/>
                <a:ea typeface="Times New Roman"/>
                <a:cs typeface="Times New Roman"/>
              </a:rPr>
              <a:t>, </a:t>
            </a:r>
            <a:r>
              <a:rPr sz="2400" b="1" i="0">
                <a:solidFill>
                  <a:srgbClr val="111111"/>
                </a:solidFill>
                <a:latin typeface="Courier New"/>
                <a:ea typeface="Courier New"/>
                <a:cs typeface="Courier New"/>
              </a:rPr>
              <a:t>*</a:t>
            </a:r>
            <a:r>
              <a:rPr sz="2600" b="0" i="0">
                <a:solidFill>
                  <a:srgbClr val="111111"/>
                </a:solidFill>
                <a:latin typeface="Times New Roman"/>
                <a:ea typeface="Times New Roman"/>
                <a:cs typeface="Times New Roman"/>
              </a:rPr>
              <a:t>, </a:t>
            </a:r>
            <a:r>
              <a:rPr sz="2400" b="1" i="0">
                <a:solidFill>
                  <a:srgbClr val="111111"/>
                </a:solidFill>
                <a:latin typeface="Courier New"/>
                <a:ea typeface="Courier New"/>
                <a:cs typeface="Courier New"/>
              </a:rPr>
              <a:t>/</a:t>
            </a:r>
            <a:r>
              <a:rPr sz="2600" b="0" i="0">
                <a:solidFill>
                  <a:srgbClr val="111111"/>
                </a:solidFill>
                <a:latin typeface="Times New Roman"/>
                <a:ea typeface="Times New Roman"/>
                <a:cs typeface="Times New Roman"/>
              </a:rPr>
              <a:t>, and </a:t>
            </a:r>
            <a:r>
              <a:rPr sz="2400" b="1" i="0">
                <a:solidFill>
                  <a:srgbClr val="111111"/>
                </a:solidFill>
                <a:latin typeface="Courier New"/>
                <a:ea typeface="Courier New"/>
                <a:cs typeface="Courier New"/>
              </a:rPr>
              <a:t>%</a:t>
            </a:r>
          </a:p>
          <a:p>
            <a:pPr algn="l">
              <a:lnSpc>
                <a:spcPts val="3250"/>
              </a:lnSpc>
              <a:spcBef>
                <a:spcPts val="800"/>
              </a:spcBef>
            </a:pPr>
            <a:endParaRPr sz="2400" b="1" i="0">
              <a:solidFill>
                <a:srgbClr val="111111"/>
              </a:solidFill>
              <a:latin typeface="Courier New"/>
              <a:ea typeface="Courier New"/>
              <a:cs typeface="Courier New"/>
            </a:endParaRPr>
          </a:p>
          <a:p>
            <a:pPr algn="l">
              <a:lnSpc>
                <a:spcPts val="3250"/>
              </a:lnSpc>
              <a:spcBef>
                <a:spcPts val="800"/>
              </a:spcBef>
            </a:pPr>
            <a:r>
              <a:rPr sz="2400" b="1" i="0">
                <a:solidFill>
                  <a:srgbClr val="111111"/>
                </a:solidFill>
                <a:latin typeface="Courier New"/>
                <a:ea typeface="Courier New"/>
                <a:cs typeface="Courier New"/>
              </a:rPr>
              <a:t>5 / 2</a:t>
            </a:r>
            <a:r>
              <a:rPr sz="2600" b="0" i="0">
                <a:solidFill>
                  <a:srgbClr val="111111"/>
                </a:solidFill>
                <a:latin typeface="Times New Roman"/>
                <a:ea typeface="Times New Roman"/>
                <a:cs typeface="Times New Roman"/>
              </a:rPr>
              <a:t> yields an integer 2.</a:t>
            </a:r>
          </a:p>
          <a:p>
            <a:pPr algn="l">
              <a:lnSpc>
                <a:spcPts val="3250"/>
              </a:lnSpc>
              <a:spcBef>
                <a:spcPts val="800"/>
              </a:spcBef>
            </a:pPr>
            <a:r>
              <a:rPr sz="2400" b="1" i="0">
                <a:solidFill>
                  <a:srgbClr val="111111"/>
                </a:solidFill>
                <a:latin typeface="Courier New"/>
                <a:ea typeface="Courier New"/>
                <a:cs typeface="Courier New"/>
              </a:rPr>
              <a:t>5.0 / 2</a:t>
            </a:r>
            <a:r>
              <a:rPr sz="2600" b="0" i="0">
                <a:solidFill>
                  <a:srgbClr val="111111"/>
                </a:solidFill>
                <a:latin typeface="Times New Roman"/>
                <a:ea typeface="Times New Roman"/>
                <a:cs typeface="Times New Roman"/>
              </a:rPr>
              <a:t> yields a double value 2.5</a:t>
            </a:r>
          </a:p>
          <a:p>
            <a:pPr algn="l">
              <a:lnSpc>
                <a:spcPts val="3250"/>
              </a:lnSpc>
              <a:spcBef>
                <a:spcPts val="800"/>
              </a:spcBef>
            </a:pPr>
            <a:endParaRPr sz="2600" b="0" i="0">
              <a:solidFill>
                <a:srgbClr val="111111"/>
              </a:solidFill>
              <a:latin typeface="Times New Roman"/>
              <a:ea typeface="Times New Roman"/>
              <a:cs typeface="Times New Roman"/>
            </a:endParaRPr>
          </a:p>
          <a:p>
            <a:pPr algn="l">
              <a:lnSpc>
                <a:spcPts val="3250"/>
              </a:lnSpc>
              <a:spcBef>
                <a:spcPts val="800"/>
              </a:spcBef>
            </a:pPr>
            <a:r>
              <a:rPr sz="2400" b="1" i="0">
                <a:solidFill>
                  <a:srgbClr val="111111"/>
                </a:solidFill>
                <a:latin typeface="Courier New"/>
                <a:ea typeface="Courier New"/>
                <a:cs typeface="Courier New"/>
              </a:rPr>
              <a:t>5 % 2</a:t>
            </a:r>
            <a:r>
              <a:rPr sz="2600" b="0" i="0">
                <a:solidFill>
                  <a:srgbClr val="111111"/>
                </a:solidFill>
                <a:latin typeface="Times New Roman"/>
                <a:ea typeface="Times New Roman"/>
                <a:cs typeface="Times New Roman"/>
              </a:rPr>
              <a:t> yields 1 (the remainder of the division)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NOTE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019F54AA-6BD0-46A3-B20C-D5994865BE85}" type="slidenum">
              <a:rPr sz="1200" b="0" i="0">
                <a:solidFill>
                  <a:srgbClr val="6B6B6B"/>
                </a:solidFill>
                <a:latin typeface="Source Sans 3"/>
                <a:ea typeface="Source Sans 3"/>
                <a:cs typeface="Source Sans 3"/>
              </a:rPr>
              <a:pPr algn="l">
                <a:lnSpc>
                  <a:spcPts val="1500"/>
                </a:lnSpc>
              </a:pPr>
              <a:t>15</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3064942"/>
          </a:xfrm>
          <a:prstGeom prst="rect">
            <a:avLst/>
          </a:prstGeom>
          <a:noFill/>
        </p:spPr>
        <p:txBody>
          <a:bodyPr wrap="square" lIns="0" tIns="0" rIns="0" bIns="0" anchor="t">
            <a:spAutoFit/>
          </a:bodyPr>
          <a:lstStyle/>
          <a:p>
            <a:pPr algn="l">
              <a:lnSpc>
                <a:spcPts val="2875"/>
              </a:lnSpc>
            </a:pPr>
            <a:r>
              <a:rPr sz="2300" b="0" i="0">
                <a:solidFill>
                  <a:srgbClr val="111111"/>
                </a:solidFill>
                <a:latin typeface="Times New Roman"/>
                <a:ea typeface="Times New Roman"/>
                <a:cs typeface="Times New Roman"/>
              </a:rPr>
              <a:t>Calculations involving floating-point numbers are approximated because these numbers are not stored with complete accuracy. For example,</a:t>
            </a:r>
          </a:p>
          <a:p>
            <a:pPr marL="457200" indent="0" algn="l">
              <a:lnSpc>
                <a:spcPts val="2610"/>
              </a:lnSpc>
              <a:spcBef>
                <a:spcPts val="600"/>
              </a:spcBef>
            </a:pPr>
            <a:r>
              <a:rPr sz="1800" b="1" i="0">
                <a:solidFill>
                  <a:srgbClr val="111111"/>
                </a:solidFill>
                <a:latin typeface="Courier New"/>
                <a:ea typeface="Courier New"/>
                <a:cs typeface="Courier New"/>
              </a:rPr>
              <a:t>System.out.println(1.0 - 0.1 - 0.1 - 0.1 - 0.1 - 0.1);</a:t>
            </a:r>
          </a:p>
          <a:p>
            <a:pPr algn="l">
              <a:lnSpc>
                <a:spcPts val="2875"/>
              </a:lnSpc>
              <a:spcBef>
                <a:spcPts val="1000"/>
              </a:spcBef>
            </a:pPr>
            <a:r>
              <a:rPr sz="2300" b="0" i="0">
                <a:solidFill>
                  <a:srgbClr val="111111"/>
                </a:solidFill>
                <a:latin typeface="Times New Roman"/>
                <a:ea typeface="Times New Roman"/>
                <a:cs typeface="Times New Roman"/>
              </a:rPr>
              <a:t>displays 0.5000000000000001, not 0.5, and</a:t>
            </a:r>
          </a:p>
          <a:p>
            <a:pPr marL="457200" indent="0" algn="l">
              <a:lnSpc>
                <a:spcPts val="2610"/>
              </a:lnSpc>
              <a:spcBef>
                <a:spcPts val="600"/>
              </a:spcBef>
            </a:pPr>
            <a:r>
              <a:rPr sz="1800" b="1" i="0">
                <a:solidFill>
                  <a:srgbClr val="111111"/>
                </a:solidFill>
                <a:latin typeface="Courier New"/>
                <a:ea typeface="Courier New"/>
                <a:cs typeface="Courier New"/>
              </a:rPr>
              <a:t>System.out.println(1.0 - 0.9);</a:t>
            </a:r>
          </a:p>
          <a:p>
            <a:pPr algn="l">
              <a:lnSpc>
                <a:spcPts val="2875"/>
              </a:lnSpc>
              <a:spcBef>
                <a:spcPts val="1000"/>
              </a:spcBef>
            </a:pPr>
            <a:r>
              <a:rPr sz="2300" b="0" i="0">
                <a:solidFill>
                  <a:srgbClr val="111111"/>
                </a:solidFill>
                <a:latin typeface="Times New Roman"/>
                <a:ea typeface="Times New Roman"/>
                <a:cs typeface="Times New Roman"/>
              </a:rPr>
              <a:t>displays 0.09999999999999998, not 0.1. Integers are stored precisely. </a:t>
            </a:r>
            <a:endParaRPr lang="en-US" sz="2300" b="0" i="0" dirty="0" smtClean="0">
              <a:solidFill>
                <a:srgbClr val="111111"/>
              </a:solidFill>
              <a:latin typeface="Times New Roman"/>
              <a:ea typeface="Times New Roman"/>
              <a:cs typeface="Times New Roman"/>
            </a:endParaRPr>
          </a:p>
          <a:p>
            <a:pPr algn="l">
              <a:lnSpc>
                <a:spcPts val="2875"/>
              </a:lnSpc>
              <a:spcBef>
                <a:spcPts val="1000"/>
              </a:spcBef>
            </a:pPr>
            <a:r>
              <a:rPr sz="2300" b="0" i="0" smtClean="0">
                <a:solidFill>
                  <a:srgbClr val="111111"/>
                </a:solidFill>
                <a:latin typeface="Times New Roman"/>
                <a:ea typeface="Times New Roman"/>
                <a:cs typeface="Times New Roman"/>
              </a:rPr>
              <a:t>Therefore,</a:t>
            </a:r>
            <a:r>
              <a:rPr lang="en-US" sz="2300" b="0" i="0" dirty="0" smtClean="0">
                <a:solidFill>
                  <a:srgbClr val="111111"/>
                </a:solidFill>
                <a:latin typeface="Times New Roman"/>
                <a:ea typeface="Times New Roman"/>
                <a:cs typeface="Times New Roman"/>
              </a:rPr>
              <a:t> </a:t>
            </a:r>
            <a:r>
              <a:rPr sz="2300" b="0" i="0" smtClean="0">
                <a:solidFill>
                  <a:srgbClr val="111111"/>
                </a:solidFill>
                <a:latin typeface="Times New Roman"/>
                <a:ea typeface="Times New Roman"/>
                <a:cs typeface="Times New Roman"/>
              </a:rPr>
              <a:t>calculations </a:t>
            </a:r>
            <a:r>
              <a:rPr sz="2300" b="0" i="0">
                <a:solidFill>
                  <a:srgbClr val="111111"/>
                </a:solidFill>
                <a:latin typeface="Times New Roman"/>
                <a:ea typeface="Times New Roman"/>
                <a:cs typeface="Times New Roman"/>
              </a:rPr>
              <a:t>with integers yield a precise integer result.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Number Literals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85F4BE8-4564-4C8F-8AC9-D4AE55D58B30}" type="slidenum">
              <a:rPr sz="1200" b="0" i="0">
                <a:solidFill>
                  <a:srgbClr val="6B6B6B"/>
                </a:solidFill>
                <a:latin typeface="Source Sans 3"/>
                <a:ea typeface="Source Sans 3"/>
                <a:cs typeface="Source Sans 3"/>
              </a:rPr>
              <a:pPr algn="l">
                <a:lnSpc>
                  <a:spcPts val="1500"/>
                </a:lnSpc>
              </a:pPr>
              <a:t>16</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987724"/>
          </a:xfrm>
          <a:prstGeom prst="rect">
            <a:avLst/>
          </a:prstGeom>
          <a:noFill/>
        </p:spPr>
        <p:txBody>
          <a:bodyPr wrap="square" lIns="0" tIns="0" rIns="0" bIns="0" anchor="t">
            <a:spAutoFit/>
          </a:bodyPr>
          <a:lstStyle/>
          <a:p>
            <a:pPr algn="l">
              <a:lnSpc>
                <a:spcPts val="3000"/>
              </a:lnSpc>
            </a:pPr>
            <a:r>
              <a:rPr sz="2400" b="0" i="0">
                <a:solidFill>
                  <a:srgbClr val="111111"/>
                </a:solidFill>
                <a:latin typeface="Times New Roman"/>
                <a:ea typeface="Times New Roman"/>
                <a:cs typeface="Times New Roman"/>
              </a:rPr>
              <a:t>A literal is a constant value that appears directly in the program. </a:t>
            </a:r>
            <a:endParaRPr lang="en-US" sz="2400" b="0" i="0" dirty="0" smtClean="0">
              <a:solidFill>
                <a:srgbClr val="111111"/>
              </a:solidFill>
              <a:latin typeface="Times New Roman"/>
              <a:ea typeface="Times New Roman"/>
              <a:cs typeface="Times New Roman"/>
            </a:endParaRPr>
          </a:p>
          <a:p>
            <a:pPr algn="l">
              <a:lnSpc>
                <a:spcPts val="3000"/>
              </a:lnSpc>
            </a:pPr>
            <a:r>
              <a:rPr sz="2400" b="0" i="0" smtClean="0">
                <a:solidFill>
                  <a:srgbClr val="111111"/>
                </a:solidFill>
                <a:latin typeface="Times New Roman"/>
                <a:ea typeface="Times New Roman"/>
                <a:cs typeface="Times New Roman"/>
              </a:rPr>
              <a:t>For </a:t>
            </a:r>
            <a:r>
              <a:rPr sz="2400" b="0" i="0">
                <a:solidFill>
                  <a:srgbClr val="111111"/>
                </a:solidFill>
                <a:latin typeface="Times New Roman"/>
                <a:ea typeface="Times New Roman"/>
                <a:cs typeface="Times New Roman"/>
              </a:rPr>
              <a:t>example, 34, 1,000,000, and 5.0 are literals in the following statements:</a:t>
            </a:r>
          </a:p>
          <a:p>
            <a:pPr marL="457200" indent="0" algn="l">
              <a:lnSpc>
                <a:spcPts val="2900"/>
              </a:lnSpc>
              <a:spcBef>
                <a:spcPts val="840"/>
              </a:spcBef>
            </a:pPr>
            <a:r>
              <a:rPr sz="2000" b="1" i="0">
                <a:solidFill>
                  <a:srgbClr val="111111"/>
                </a:solidFill>
                <a:latin typeface="Courier New"/>
                <a:ea typeface="Courier New"/>
                <a:cs typeface="Courier New"/>
              </a:rPr>
              <a:t>int i = 34;</a:t>
            </a:r>
          </a:p>
          <a:p>
            <a:pPr marL="457200" indent="0" algn="l">
              <a:lnSpc>
                <a:spcPts val="2900"/>
              </a:lnSpc>
            </a:pPr>
            <a:r>
              <a:rPr sz="2000" b="1" i="0">
                <a:solidFill>
                  <a:srgbClr val="111111"/>
                </a:solidFill>
                <a:latin typeface="Courier New"/>
                <a:ea typeface="Courier New"/>
                <a:cs typeface="Courier New"/>
              </a:rPr>
              <a:t>long x = 1000000;</a:t>
            </a:r>
          </a:p>
          <a:p>
            <a:pPr marL="457200" indent="0" algn="l">
              <a:lnSpc>
                <a:spcPts val="2900"/>
              </a:lnSpc>
            </a:pPr>
            <a:r>
              <a:rPr sz="2000" b="1" i="0">
                <a:solidFill>
                  <a:srgbClr val="111111"/>
                </a:solidFill>
                <a:latin typeface="Courier New"/>
                <a:ea typeface="Courier New"/>
                <a:cs typeface="Courier New"/>
              </a:rPr>
              <a:t>double d = 5.0;</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Integer Literals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2B333B97-877B-438F-B8F7-9577CCF9781A}" type="slidenum">
              <a:rPr sz="1200" b="0" i="0">
                <a:solidFill>
                  <a:srgbClr val="6B6B6B"/>
                </a:solidFill>
                <a:latin typeface="Source Sans 3"/>
                <a:ea typeface="Source Sans 3"/>
                <a:cs typeface="Source Sans 3"/>
              </a:rPr>
              <a:pPr algn="l">
                <a:lnSpc>
                  <a:spcPts val="1500"/>
                </a:lnSpc>
              </a:pPr>
              <a:t>17</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3079817"/>
          </a:xfrm>
          <a:prstGeom prst="rect">
            <a:avLst/>
          </a:prstGeom>
          <a:noFill/>
        </p:spPr>
        <p:txBody>
          <a:bodyPr wrap="square" lIns="0" tIns="0" rIns="0" bIns="0" anchor="t">
            <a:spAutoFit/>
          </a:bodyPr>
          <a:lstStyle/>
          <a:p>
            <a:pPr algn="just">
              <a:lnSpc>
                <a:spcPts val="2750"/>
              </a:lnSpc>
            </a:pPr>
            <a:r>
              <a:rPr sz="2200" b="0" i="0">
                <a:solidFill>
                  <a:srgbClr val="111111"/>
                </a:solidFill>
                <a:latin typeface="Times New Roman"/>
                <a:ea typeface="Times New Roman"/>
                <a:cs typeface="Times New Roman"/>
              </a:rPr>
              <a:t>An integer literal can be assigned to an integer variable as long as it can fit into the variable. A compilation error would occur if the literal were too large for the variable to hold. For example, the statement </a:t>
            </a:r>
            <a:r>
              <a:rPr sz="2000" b="1" i="0">
                <a:solidFill>
                  <a:srgbClr val="111111"/>
                </a:solidFill>
                <a:latin typeface="Courier New"/>
                <a:ea typeface="Courier New"/>
                <a:cs typeface="Courier New"/>
              </a:rPr>
              <a:t>byte b = 1000</a:t>
            </a:r>
            <a:r>
              <a:rPr sz="2200" b="0" i="0">
                <a:solidFill>
                  <a:srgbClr val="111111"/>
                </a:solidFill>
                <a:latin typeface="Times New Roman"/>
                <a:ea typeface="Times New Roman"/>
                <a:cs typeface="Times New Roman"/>
              </a:rPr>
              <a:t> would cause a compilation error, because 1000 cannot be stored in a variable of the </a:t>
            </a:r>
            <a:r>
              <a:rPr sz="2000" b="1" i="0">
                <a:solidFill>
                  <a:srgbClr val="111111"/>
                </a:solidFill>
                <a:latin typeface="Courier New"/>
                <a:ea typeface="Courier New"/>
                <a:cs typeface="Courier New"/>
              </a:rPr>
              <a:t>byte</a:t>
            </a:r>
            <a:r>
              <a:rPr sz="2200" b="0" i="0">
                <a:solidFill>
                  <a:srgbClr val="111111"/>
                </a:solidFill>
                <a:latin typeface="Times New Roman"/>
                <a:ea typeface="Times New Roman"/>
                <a:cs typeface="Times New Roman"/>
              </a:rPr>
              <a:t> type.</a:t>
            </a:r>
          </a:p>
          <a:p>
            <a:pPr algn="just">
              <a:lnSpc>
                <a:spcPts val="2750"/>
              </a:lnSpc>
              <a:spcBef>
                <a:spcPts val="1800"/>
              </a:spcBef>
            </a:pPr>
            <a:r>
              <a:rPr sz="2200" b="0" i="0">
                <a:solidFill>
                  <a:srgbClr val="111111"/>
                </a:solidFill>
                <a:latin typeface="Times New Roman"/>
                <a:ea typeface="Times New Roman"/>
                <a:cs typeface="Times New Roman"/>
              </a:rPr>
              <a:t>An integer literal is assumed to be of the </a:t>
            </a:r>
            <a:r>
              <a:rPr sz="2000" b="1" i="0">
                <a:solidFill>
                  <a:srgbClr val="111111"/>
                </a:solidFill>
                <a:latin typeface="Courier New"/>
                <a:ea typeface="Courier New"/>
                <a:cs typeface="Courier New"/>
              </a:rPr>
              <a:t>int</a:t>
            </a:r>
            <a:r>
              <a:rPr sz="2200" b="0" i="0">
                <a:solidFill>
                  <a:srgbClr val="111111"/>
                </a:solidFill>
                <a:latin typeface="Times New Roman"/>
                <a:ea typeface="Times New Roman"/>
                <a:cs typeface="Times New Roman"/>
              </a:rPr>
              <a:t> type, whose value is between </a:t>
            </a:r>
            <a:r>
              <a:rPr lang="en-US" sz="2200" b="0" i="0" dirty="0" smtClean="0">
                <a:solidFill>
                  <a:srgbClr val="111111"/>
                </a:solidFill>
                <a:latin typeface="Times New Roman"/>
                <a:ea typeface="Times New Roman"/>
                <a:cs typeface="Times New Roman"/>
              </a:rPr>
              <a:t>                          </a:t>
            </a:r>
            <a:r>
              <a:rPr sz="2200" b="0" i="0" smtClean="0">
                <a:solidFill>
                  <a:srgbClr val="111111"/>
                </a:solidFill>
                <a:latin typeface="Times New Roman"/>
                <a:ea typeface="Times New Roman"/>
                <a:cs typeface="Times New Roman"/>
              </a:rPr>
              <a:t>-</a:t>
            </a:r>
            <a:r>
              <a:rPr sz="2200" b="0" i="0">
                <a:solidFill>
                  <a:srgbClr val="111111"/>
                </a:solidFill>
                <a:latin typeface="Times New Roman"/>
                <a:ea typeface="Times New Roman"/>
                <a:cs typeface="Times New Roman"/>
              </a:rPr>
              <a:t>2³¹ (-2147483648) to 2³¹–1 (2147483647). To denote an integer literal of the </a:t>
            </a:r>
            <a:r>
              <a:rPr sz="2000" b="1" i="0">
                <a:solidFill>
                  <a:srgbClr val="111111"/>
                </a:solidFill>
                <a:latin typeface="Courier New"/>
                <a:ea typeface="Courier New"/>
                <a:cs typeface="Courier New"/>
              </a:rPr>
              <a:t>long</a:t>
            </a:r>
            <a:r>
              <a:rPr sz="2200" b="0" i="0">
                <a:solidFill>
                  <a:srgbClr val="111111"/>
                </a:solidFill>
                <a:latin typeface="Times New Roman"/>
                <a:ea typeface="Times New Roman"/>
                <a:cs typeface="Times New Roman"/>
              </a:rPr>
              <a:t> type, append it with the letter L or l. L is preferred because l (lowercase L) can easily be confused with 1 (the digit one).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Floating-Point Literals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21B6A5FD-6DCC-415B-A57F-8CC592E8D12B}" type="slidenum">
              <a:rPr sz="1200" b="0" i="0">
                <a:solidFill>
                  <a:srgbClr val="6B6B6B"/>
                </a:solidFill>
                <a:latin typeface="Source Sans 3"/>
                <a:ea typeface="Source Sans 3"/>
                <a:cs typeface="Source Sans 3"/>
              </a:rPr>
              <a:pPr algn="l">
                <a:lnSpc>
                  <a:spcPts val="1500"/>
                </a:lnSpc>
              </a:pPr>
              <a:t>18</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625"/>
              </a:lnSpc>
            </a:pPr>
            <a:r>
              <a:rPr sz="2100" b="0" i="0">
                <a:solidFill>
                  <a:srgbClr val="111111"/>
                </a:solidFill>
                <a:latin typeface="Times New Roman"/>
                <a:ea typeface="Times New Roman"/>
                <a:cs typeface="Times New Roman"/>
              </a:rPr>
              <a:t>Floating-point literals are written with a decimal point. By default, a floating-point literal is treated as a </a:t>
            </a:r>
            <a:r>
              <a:rPr sz="1900" b="1" i="0">
                <a:solidFill>
                  <a:srgbClr val="111111"/>
                </a:solidFill>
                <a:latin typeface="Courier New"/>
                <a:ea typeface="Courier New"/>
                <a:cs typeface="Courier New"/>
              </a:rPr>
              <a:t>double</a:t>
            </a:r>
            <a:r>
              <a:rPr sz="2100" b="0" i="0">
                <a:solidFill>
                  <a:srgbClr val="111111"/>
                </a:solidFill>
                <a:latin typeface="Times New Roman"/>
                <a:ea typeface="Times New Roman"/>
                <a:cs typeface="Times New Roman"/>
              </a:rPr>
              <a:t> type value. For example, 5.0 is considered a </a:t>
            </a:r>
            <a:r>
              <a:rPr sz="1900" b="1" i="0">
                <a:solidFill>
                  <a:srgbClr val="111111"/>
                </a:solidFill>
                <a:latin typeface="Courier New"/>
                <a:ea typeface="Courier New"/>
                <a:cs typeface="Courier New"/>
              </a:rPr>
              <a:t>double</a:t>
            </a:r>
            <a:r>
              <a:rPr sz="2100" b="0" i="0">
                <a:solidFill>
                  <a:srgbClr val="111111"/>
                </a:solidFill>
                <a:latin typeface="Times New Roman"/>
                <a:ea typeface="Times New Roman"/>
                <a:cs typeface="Times New Roman"/>
              </a:rPr>
              <a:t> value, not a </a:t>
            </a:r>
            <a:r>
              <a:rPr sz="1900" b="1" i="0">
                <a:solidFill>
                  <a:srgbClr val="111111"/>
                </a:solidFill>
                <a:latin typeface="Courier New"/>
                <a:ea typeface="Courier New"/>
                <a:cs typeface="Courier New"/>
              </a:rPr>
              <a:t>float</a:t>
            </a:r>
            <a:r>
              <a:rPr sz="2100" b="0" i="0">
                <a:solidFill>
                  <a:srgbClr val="111111"/>
                </a:solidFill>
                <a:latin typeface="Times New Roman"/>
                <a:ea typeface="Times New Roman"/>
                <a:cs typeface="Times New Roman"/>
              </a:rPr>
              <a:t> value. You can make a number a </a:t>
            </a:r>
            <a:r>
              <a:rPr sz="1900" b="1" i="0">
                <a:solidFill>
                  <a:srgbClr val="111111"/>
                </a:solidFill>
                <a:latin typeface="Courier New"/>
                <a:ea typeface="Courier New"/>
                <a:cs typeface="Courier New"/>
              </a:rPr>
              <a:t>float</a:t>
            </a:r>
            <a:r>
              <a:rPr sz="2100" b="0" i="0">
                <a:solidFill>
                  <a:srgbClr val="111111"/>
                </a:solidFill>
                <a:latin typeface="Times New Roman"/>
                <a:ea typeface="Times New Roman"/>
                <a:cs typeface="Times New Roman"/>
              </a:rPr>
              <a:t> by appending the letter f or F, and make a number a </a:t>
            </a:r>
            <a:r>
              <a:rPr sz="1900" b="1" i="0">
                <a:solidFill>
                  <a:srgbClr val="111111"/>
                </a:solidFill>
                <a:latin typeface="Courier New"/>
                <a:ea typeface="Courier New"/>
                <a:cs typeface="Courier New"/>
              </a:rPr>
              <a:t>double</a:t>
            </a:r>
            <a:r>
              <a:rPr sz="2100" b="0" i="0">
                <a:solidFill>
                  <a:srgbClr val="111111"/>
                </a:solidFill>
                <a:latin typeface="Times New Roman"/>
                <a:ea typeface="Times New Roman"/>
                <a:cs typeface="Times New Roman"/>
              </a:rPr>
              <a:t> by appending the letter d or D. For example, you can use 100.2f or 100.2F for a float number, and 100.2d or 100.2D for a double number.</a:t>
            </a:r>
          </a:p>
          <a:p>
            <a:pPr algn="l">
              <a:lnSpc>
                <a:spcPts val="2625"/>
              </a:lnSpc>
              <a:spcBef>
                <a:spcPts val="1800"/>
              </a:spcBef>
            </a:pPr>
            <a:r>
              <a:rPr sz="2100" b="1" i="0">
                <a:solidFill>
                  <a:srgbClr val="111111"/>
                </a:solidFill>
                <a:latin typeface="Times New Roman"/>
                <a:ea typeface="Times New Roman"/>
                <a:cs typeface="Times New Roman"/>
              </a:rPr>
              <a:t>Scientific Notation</a:t>
            </a:r>
          </a:p>
          <a:p>
            <a:pPr algn="l">
              <a:lnSpc>
                <a:spcPts val="2625"/>
              </a:lnSpc>
              <a:spcBef>
                <a:spcPts val="1200"/>
              </a:spcBef>
            </a:pPr>
            <a:r>
              <a:rPr sz="2100" b="0" i="0">
                <a:solidFill>
                  <a:srgbClr val="111111"/>
                </a:solidFill>
                <a:latin typeface="Times New Roman"/>
                <a:ea typeface="Times New Roman"/>
                <a:cs typeface="Times New Roman"/>
              </a:rPr>
              <a:t>Floating-point literals can also be specified in scientific notation, for example, 1.23456e+2, same as 1.23456e2, is equivalent to 123.456, and 1.23456e-2 is equivalent to 0.0123456. E (or e) represents an exponent and it can be either in lowercase or uppercase.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Numeric Type Conversion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2A09B8A-CFE3-4779-ACB3-03258C36914E}" type="slidenum">
              <a:rPr sz="1200" b="0" i="0">
                <a:solidFill>
                  <a:srgbClr val="6B6B6B"/>
                </a:solidFill>
                <a:latin typeface="Source Sans 3"/>
                <a:ea typeface="Source Sans 3"/>
                <a:cs typeface="Source Sans 3"/>
              </a:rPr>
              <a:pPr algn="l">
                <a:lnSpc>
                  <a:spcPts val="1500"/>
                </a:lnSpc>
              </a:pPr>
              <a:t>19</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875"/>
              </a:lnSpc>
            </a:pPr>
            <a:r>
              <a:rPr sz="2300" b="0" i="0">
                <a:solidFill>
                  <a:srgbClr val="111111"/>
                </a:solidFill>
                <a:latin typeface="Times New Roman"/>
                <a:ea typeface="Times New Roman"/>
                <a:cs typeface="Times New Roman"/>
              </a:rPr>
              <a:t>When performing a binary operation involving two operands of different types, Java automatically converts the operand based on the following rules:</a:t>
            </a:r>
          </a:p>
          <a:p>
            <a:pPr algn="l">
              <a:lnSpc>
                <a:spcPts val="2875"/>
              </a:lnSpc>
              <a:spcBef>
                <a:spcPts val="1200"/>
              </a:spcBef>
            </a:pPr>
            <a:r>
              <a:rPr sz="2300" b="0" i="0">
                <a:solidFill>
                  <a:srgbClr val="111111"/>
                </a:solidFill>
                <a:latin typeface="Times New Roman"/>
                <a:ea typeface="Times New Roman"/>
                <a:cs typeface="Times New Roman"/>
              </a:rPr>
              <a:t>1.  If one of the operands is double, the other is converted into double.</a:t>
            </a:r>
          </a:p>
          <a:p>
            <a:pPr algn="l">
              <a:lnSpc>
                <a:spcPts val="2875"/>
              </a:lnSpc>
              <a:spcBef>
                <a:spcPts val="1200"/>
              </a:spcBef>
            </a:pPr>
            <a:r>
              <a:rPr sz="2300" b="0" i="0">
                <a:solidFill>
                  <a:srgbClr val="111111"/>
                </a:solidFill>
                <a:latin typeface="Times New Roman"/>
                <a:ea typeface="Times New Roman"/>
                <a:cs typeface="Times New Roman"/>
              </a:rPr>
              <a:t>2.  Otherwise, if one of the operands is float, the other is converted into float.</a:t>
            </a:r>
          </a:p>
          <a:p>
            <a:pPr algn="l">
              <a:lnSpc>
                <a:spcPts val="2875"/>
              </a:lnSpc>
              <a:spcBef>
                <a:spcPts val="1200"/>
              </a:spcBef>
            </a:pPr>
            <a:r>
              <a:rPr sz="2300" b="0" i="0">
                <a:solidFill>
                  <a:srgbClr val="111111"/>
                </a:solidFill>
                <a:latin typeface="Times New Roman"/>
                <a:ea typeface="Times New Roman"/>
                <a:cs typeface="Times New Roman"/>
              </a:rPr>
              <a:t>3.  Otherwise, if one of the operands is long, the other is converted into long.</a:t>
            </a:r>
          </a:p>
          <a:p>
            <a:pPr algn="l">
              <a:lnSpc>
                <a:spcPts val="2875"/>
              </a:lnSpc>
              <a:spcBef>
                <a:spcPts val="1200"/>
              </a:spcBef>
            </a:pPr>
            <a:r>
              <a:rPr sz="2300" b="0" i="0">
                <a:solidFill>
                  <a:srgbClr val="111111"/>
                </a:solidFill>
                <a:latin typeface="Times New Roman"/>
                <a:ea typeface="Times New Roman"/>
                <a:cs typeface="Times New Roman"/>
              </a:rPr>
              <a:t>4.  Otherwise, both operands are converted into int.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Type Casting</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B831D89-E395-453B-B1F6-1820E2207DAE}" type="slidenum">
              <a:rPr sz="1200" b="0" i="0">
                <a:solidFill>
                  <a:srgbClr val="6B6B6B"/>
                </a:solidFill>
                <a:latin typeface="Source Sans 3"/>
                <a:ea typeface="Source Sans 3"/>
                <a:cs typeface="Source Sans 3"/>
              </a:rPr>
              <a:pPr algn="l">
                <a:lnSpc>
                  <a:spcPts val="1500"/>
                </a:lnSpc>
              </a:pPr>
              <a:t>20</a:t>
            </a:fld>
            <a:endParaRPr sz="1200" b="0" i="0">
              <a:solidFill>
                <a:srgbClr val="6B6B6B"/>
              </a:solidFill>
              <a:latin typeface="Source Sans 3"/>
              <a:ea typeface="Source Sans 3"/>
              <a:cs typeface="Source Sans 3"/>
            </a:endParaRPr>
          </a:p>
        </p:txBody>
      </p:sp>
      <p:sp>
        <p:nvSpPr>
          <p:cNvPr id="4" name="TextBox 3"/>
          <p:cNvSpPr txBox="1"/>
          <p:nvPr/>
        </p:nvSpPr>
        <p:spPr>
          <a:xfrm>
            <a:off x="952500" y="1168400"/>
            <a:ext cx="5080000" cy="330200"/>
          </a:xfrm>
          <a:prstGeom prst="rect">
            <a:avLst/>
          </a:prstGeom>
          <a:noFill/>
        </p:spPr>
        <p:txBody>
          <a:bodyPr wrap="square" lIns="0" tIns="0" rIns="0" bIns="0" anchor="t">
            <a:spAutoFit/>
          </a:bodyPr>
          <a:lstStyle/>
          <a:p>
            <a:pPr algn="l">
              <a:lnSpc>
                <a:spcPts val="2750"/>
              </a:lnSpc>
            </a:pPr>
            <a:r>
              <a:rPr sz="2200" b="1" i="0">
                <a:solidFill>
                  <a:srgbClr val="111111"/>
                </a:solidFill>
                <a:latin typeface="Times New Roman"/>
                <a:ea typeface="Times New Roman"/>
                <a:cs typeface="Times New Roman"/>
              </a:rPr>
              <a:t>Implicit casting</a:t>
            </a:r>
          </a:p>
        </p:txBody>
      </p:sp>
      <p:sp>
        <p:nvSpPr>
          <p:cNvPr id="5" name="TextBox 4"/>
          <p:cNvSpPr txBox="1"/>
          <p:nvPr/>
        </p:nvSpPr>
        <p:spPr>
          <a:xfrm>
            <a:off x="1079500" y="1625600"/>
            <a:ext cx="5265420" cy="464820"/>
          </a:xfrm>
          <a:prstGeom prst="rect">
            <a:avLst/>
          </a:prstGeom>
          <a:noFill/>
        </p:spPr>
        <p:txBody>
          <a:bodyPr wrap="square" lIns="0" tIns="0" rIns="0" bIns="0" anchor="t">
            <a:spAutoFit/>
          </a:bodyPr>
          <a:lstStyle/>
          <a:p>
            <a:pPr algn="l">
              <a:lnSpc>
                <a:spcPts val="2660"/>
              </a:lnSpc>
            </a:pPr>
            <a:r>
              <a:rPr sz="1900" b="1" i="0">
                <a:solidFill>
                  <a:srgbClr val="000000"/>
                </a:solidFill>
                <a:latin typeface="Courier New"/>
                <a:ea typeface="Courier New"/>
                <a:cs typeface="Courier New"/>
              </a:rPr>
              <a:t>double d = 3; (type widening)</a:t>
            </a:r>
          </a:p>
        </p:txBody>
      </p:sp>
      <p:sp>
        <p:nvSpPr>
          <p:cNvPr id="6" name="TextBox 5"/>
          <p:cNvSpPr txBox="1"/>
          <p:nvPr/>
        </p:nvSpPr>
        <p:spPr>
          <a:xfrm>
            <a:off x="952500" y="2159000"/>
            <a:ext cx="5080000" cy="330200"/>
          </a:xfrm>
          <a:prstGeom prst="rect">
            <a:avLst/>
          </a:prstGeom>
          <a:noFill/>
        </p:spPr>
        <p:txBody>
          <a:bodyPr wrap="square" lIns="0" tIns="0" rIns="0" bIns="0" anchor="t">
            <a:spAutoFit/>
          </a:bodyPr>
          <a:lstStyle/>
          <a:p>
            <a:pPr algn="l">
              <a:lnSpc>
                <a:spcPts val="2750"/>
              </a:lnSpc>
            </a:pPr>
            <a:r>
              <a:rPr sz="2200" b="1" i="0">
                <a:solidFill>
                  <a:srgbClr val="111111"/>
                </a:solidFill>
                <a:latin typeface="Times New Roman"/>
                <a:ea typeface="Times New Roman"/>
                <a:cs typeface="Times New Roman"/>
              </a:rPr>
              <a:t>Explicit casting</a:t>
            </a:r>
          </a:p>
        </p:txBody>
      </p:sp>
      <p:sp>
        <p:nvSpPr>
          <p:cNvPr id="7" name="TextBox 6"/>
          <p:cNvSpPr txBox="1"/>
          <p:nvPr/>
        </p:nvSpPr>
        <p:spPr>
          <a:xfrm>
            <a:off x="1079500" y="2616200"/>
            <a:ext cx="7726680" cy="802640"/>
          </a:xfrm>
          <a:prstGeom prst="rect">
            <a:avLst/>
          </a:prstGeom>
          <a:noFill/>
        </p:spPr>
        <p:txBody>
          <a:bodyPr wrap="square" lIns="0" tIns="0" rIns="0" bIns="0" anchor="t">
            <a:spAutoFit/>
          </a:bodyPr>
          <a:lstStyle/>
          <a:p>
            <a:pPr algn="l">
              <a:lnSpc>
                <a:spcPts val="2660"/>
              </a:lnSpc>
            </a:pPr>
            <a:r>
              <a:rPr sz="1900" b="1" i="0">
                <a:solidFill>
                  <a:srgbClr val="000000"/>
                </a:solidFill>
                <a:latin typeface="Courier New"/>
                <a:ea typeface="Courier New"/>
                <a:cs typeface="Courier New"/>
              </a:rPr>
              <a:t>int i = (int)3.0; (type narrowing)</a:t>
            </a:r>
          </a:p>
          <a:p>
            <a:pPr algn="l">
              <a:lnSpc>
                <a:spcPts val="2660"/>
              </a:lnSpc>
            </a:pPr>
            <a:r>
              <a:rPr sz="1900" b="1" i="0">
                <a:solidFill>
                  <a:srgbClr val="000000"/>
                </a:solidFill>
                <a:latin typeface="Courier New"/>
                <a:ea typeface="Courier New"/>
                <a:cs typeface="Courier New"/>
              </a:rPr>
              <a:t>int i = (int)3.9; (Fraction part is truncated)</a:t>
            </a:r>
          </a:p>
        </p:txBody>
      </p:sp>
      <p:sp>
        <p:nvSpPr>
          <p:cNvPr id="8" name="TextBox 7"/>
          <p:cNvSpPr txBox="1"/>
          <p:nvPr/>
        </p:nvSpPr>
        <p:spPr>
          <a:xfrm>
            <a:off x="952500" y="3530600"/>
            <a:ext cx="10287000" cy="381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What is wrong?   </a:t>
            </a:r>
            <a:r>
              <a:rPr sz="2000" b="1" i="0">
                <a:solidFill>
                  <a:srgbClr val="111111"/>
                </a:solidFill>
                <a:latin typeface="Courier New"/>
                <a:ea typeface="Courier New"/>
                <a:cs typeface="Courier New"/>
              </a:rPr>
              <a:t>int x = 5 / 2.0;</a:t>
            </a:r>
          </a:p>
        </p:txBody>
      </p:sp>
      <p:pic>
        <p:nvPicPr>
          <p:cNvPr id="9" name="Picture 8" descr="range.png"/>
          <p:cNvPicPr>
            <a:picLocks noChangeAspect="1"/>
          </p:cNvPicPr>
          <p:nvPr/>
        </p:nvPicPr>
        <p:blipFill>
          <a:blip r:embed="rId2"/>
          <a:stretch>
            <a:fillRect/>
          </a:stretch>
        </p:blipFill>
        <p:spPr>
          <a:xfrm>
            <a:off x="2921000" y="4381500"/>
            <a:ext cx="5969000" cy="114788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Debugging</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A718D22-5D5A-40AE-9CD5-ECB2CAA77B64}" type="slidenum">
              <a:rPr sz="1200" b="0" i="0">
                <a:solidFill>
                  <a:srgbClr val="6B6B6B"/>
                </a:solidFill>
                <a:latin typeface="Source Sans 3"/>
                <a:ea typeface="Source Sans 3"/>
                <a:cs typeface="Source Sans 3"/>
              </a:rPr>
              <a:pPr algn="l">
                <a:lnSpc>
                  <a:spcPts val="1500"/>
                </a:lnSpc>
              </a:pPr>
              <a:t>21</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2489912"/>
          </a:xfrm>
          <a:prstGeom prst="rect">
            <a:avLst/>
          </a:prstGeom>
          <a:noFill/>
        </p:spPr>
        <p:txBody>
          <a:bodyPr wrap="square" lIns="0" tIns="0" rIns="0" bIns="0" anchor="t">
            <a:spAutoFit/>
          </a:bodyPr>
          <a:lstStyle/>
          <a:p>
            <a:pPr algn="just">
              <a:lnSpc>
                <a:spcPts val="2750"/>
              </a:lnSpc>
            </a:pPr>
            <a:r>
              <a:rPr sz="2200" b="0" i="0">
                <a:solidFill>
                  <a:srgbClr val="111111"/>
                </a:solidFill>
                <a:latin typeface="Times New Roman"/>
                <a:ea typeface="Times New Roman"/>
                <a:cs typeface="Times New Roman"/>
              </a:rPr>
              <a:t>Logic errors are called bugs. The process of finding and correcting errors is called </a:t>
            </a:r>
            <a:r>
              <a:rPr sz="2200" b="1" i="0">
                <a:solidFill>
                  <a:srgbClr val="111111"/>
                </a:solidFill>
                <a:latin typeface="Times New Roman"/>
                <a:ea typeface="Times New Roman"/>
                <a:cs typeface="Times New Roman"/>
              </a:rPr>
              <a:t>debugging</a:t>
            </a:r>
            <a:r>
              <a:rPr sz="2200" b="0" i="0">
                <a:solidFill>
                  <a:srgbClr val="111111"/>
                </a:solidFill>
                <a:latin typeface="Times New Roman"/>
                <a:ea typeface="Times New Roman"/>
                <a:cs typeface="Times New Roman"/>
              </a:rPr>
              <a:t>. A common approach to debugging is to use a combination of methods to narrow down to the part of the program where the bug is located. You can hand-trace the program (i.e., catch errors by reading the program), or you can insert print statements in order to show the values of the variables or the execution flow of the program. This approach might work for a short, simple program. But for a large, complex program, the most effective approach for debugging is to use a debugger utility.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Debugger</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485209E-51F4-4E57-B0C0-A5351FFD55CC}" type="slidenum">
              <a:rPr sz="1200" b="0" i="0">
                <a:solidFill>
                  <a:srgbClr val="6B6B6B"/>
                </a:solidFill>
                <a:latin typeface="Source Sans 3"/>
                <a:ea typeface="Source Sans 3"/>
                <a:cs typeface="Source Sans 3"/>
              </a:rPr>
              <a:pPr algn="l">
                <a:lnSpc>
                  <a:spcPts val="1500"/>
                </a:lnSpc>
              </a:pPr>
              <a:t>22</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3000"/>
              </a:lnSpc>
            </a:pPr>
            <a:r>
              <a:rPr sz="2400" b="0" i="0">
                <a:solidFill>
                  <a:srgbClr val="111111"/>
                </a:solidFill>
                <a:latin typeface="Times New Roman"/>
                <a:ea typeface="Times New Roman"/>
                <a:cs typeface="Times New Roman"/>
              </a:rPr>
              <a:t>Debugger is a program that facilitates debugging. You can use a debugger to</a:t>
            </a:r>
          </a:p>
          <a:p>
            <a:pPr marL="279400" indent="-279400" algn="l">
              <a:lnSpc>
                <a:spcPts val="3000"/>
              </a:lnSpc>
              <a:spcBef>
                <a:spcPts val="1000"/>
              </a:spcBef>
            </a:pPr>
            <a:r>
              <a:rPr sz="2400" b="0" i="0">
                <a:solidFill>
                  <a:srgbClr val="111111"/>
                </a:solidFill>
                <a:latin typeface="Times New Roman"/>
                <a:ea typeface="Times New Roman"/>
                <a:cs typeface="Times New Roman"/>
              </a:rPr>
              <a:t>▫  Execute a single statement at a time.</a:t>
            </a:r>
          </a:p>
          <a:p>
            <a:pPr marL="279400" indent="-279400" algn="l">
              <a:lnSpc>
                <a:spcPts val="3000"/>
              </a:lnSpc>
              <a:spcBef>
                <a:spcPts val="1000"/>
              </a:spcBef>
            </a:pPr>
            <a:r>
              <a:rPr sz="2400" b="0" i="0">
                <a:solidFill>
                  <a:srgbClr val="111111"/>
                </a:solidFill>
                <a:latin typeface="Times New Roman"/>
                <a:ea typeface="Times New Roman"/>
                <a:cs typeface="Times New Roman"/>
              </a:rPr>
              <a:t>▫  Trace into or stepping over a method.</a:t>
            </a:r>
          </a:p>
          <a:p>
            <a:pPr marL="279400" indent="-279400" algn="l">
              <a:lnSpc>
                <a:spcPts val="3000"/>
              </a:lnSpc>
              <a:spcBef>
                <a:spcPts val="1000"/>
              </a:spcBef>
            </a:pPr>
            <a:r>
              <a:rPr sz="2400" b="0" i="0">
                <a:solidFill>
                  <a:srgbClr val="111111"/>
                </a:solidFill>
                <a:latin typeface="Times New Roman"/>
                <a:ea typeface="Times New Roman"/>
                <a:cs typeface="Times New Roman"/>
              </a:rPr>
              <a:t>▫  Set breakpoints.</a:t>
            </a:r>
          </a:p>
          <a:p>
            <a:pPr marL="279400" indent="-279400" algn="l">
              <a:lnSpc>
                <a:spcPts val="3000"/>
              </a:lnSpc>
              <a:spcBef>
                <a:spcPts val="1000"/>
              </a:spcBef>
            </a:pPr>
            <a:r>
              <a:rPr sz="2400" b="0" i="0">
                <a:solidFill>
                  <a:srgbClr val="111111"/>
                </a:solidFill>
                <a:latin typeface="Times New Roman"/>
                <a:ea typeface="Times New Roman"/>
                <a:cs typeface="Times New Roman"/>
              </a:rPr>
              <a:t>▫  Display variables.</a:t>
            </a:r>
          </a:p>
          <a:p>
            <a:pPr marL="279400" indent="-279400" algn="l">
              <a:lnSpc>
                <a:spcPts val="3000"/>
              </a:lnSpc>
              <a:spcBef>
                <a:spcPts val="1000"/>
              </a:spcBef>
            </a:pPr>
            <a:r>
              <a:rPr sz="2400" b="0" i="0">
                <a:solidFill>
                  <a:srgbClr val="111111"/>
                </a:solidFill>
                <a:latin typeface="Times New Roman"/>
                <a:ea typeface="Times New Roman"/>
                <a:cs typeface="Times New Roman"/>
              </a:rPr>
              <a:t>▫  Display call stack.</a:t>
            </a:r>
          </a:p>
          <a:p>
            <a:pPr marL="279400" indent="-279400" algn="l">
              <a:lnSpc>
                <a:spcPts val="3000"/>
              </a:lnSpc>
              <a:spcBef>
                <a:spcPts val="1000"/>
              </a:spcBef>
            </a:pPr>
            <a:r>
              <a:rPr sz="2400" b="0" i="0">
                <a:solidFill>
                  <a:srgbClr val="111111"/>
                </a:solidFill>
                <a:latin typeface="Times New Roman"/>
                <a:ea typeface="Times New Roman"/>
                <a:cs typeface="Times New Roman"/>
              </a:rPr>
              <a:t>▫  Modify variables.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JOptionPane Input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02D86AC-B714-4BB6-AB68-144578851A41}" type="slidenum">
              <a:rPr sz="1200" b="0" i="0">
                <a:solidFill>
                  <a:srgbClr val="6B6B6B"/>
                </a:solidFill>
                <a:latin typeface="Source Sans 3"/>
                <a:ea typeface="Source Sans 3"/>
                <a:cs typeface="Source Sans 3"/>
              </a:rPr>
              <a:pPr algn="l">
                <a:lnSpc>
                  <a:spcPts val="1500"/>
                </a:lnSpc>
              </a:pPr>
              <a:t>23</a:t>
            </a:fld>
            <a:endParaRPr sz="1200" b="0" i="0">
              <a:solidFill>
                <a:srgbClr val="6B6B6B"/>
              </a:solidFill>
              <a:latin typeface="Source Sans 3"/>
              <a:ea typeface="Source Sans 3"/>
              <a:cs typeface="Source Sans 3"/>
            </a:endParaRPr>
          </a:p>
        </p:txBody>
      </p:sp>
      <p:sp>
        <p:nvSpPr>
          <p:cNvPr id="4" name="TextBox 3"/>
          <p:cNvSpPr txBox="1"/>
          <p:nvPr/>
        </p:nvSpPr>
        <p:spPr>
          <a:xfrm>
            <a:off x="952500" y="1524000"/>
            <a:ext cx="10287000" cy="5080000"/>
          </a:xfrm>
          <a:prstGeom prst="rect">
            <a:avLst/>
          </a:prstGeom>
          <a:noFill/>
        </p:spPr>
        <p:txBody>
          <a:bodyPr wrap="square" lIns="0" tIns="0" rIns="0" bIns="0" anchor="t">
            <a:spAutoFit/>
          </a:bodyPr>
          <a:lstStyle/>
          <a:p>
            <a:pPr algn="l">
              <a:lnSpc>
                <a:spcPts val="3000"/>
              </a:lnSpc>
            </a:pPr>
            <a:r>
              <a:rPr sz="2400" b="0" i="0">
                <a:solidFill>
                  <a:srgbClr val="111111"/>
                </a:solidFill>
                <a:latin typeface="Times New Roman"/>
                <a:ea typeface="Times New Roman"/>
                <a:cs typeface="Times New Roman"/>
              </a:rPr>
              <a:t>Two ways of obtaining input.</a:t>
            </a:r>
          </a:p>
          <a:p>
            <a:pPr algn="l">
              <a:lnSpc>
                <a:spcPts val="3000"/>
              </a:lnSpc>
              <a:spcBef>
                <a:spcPts val="1400"/>
              </a:spcBef>
            </a:pPr>
            <a:r>
              <a:rPr sz="2400" b="0" i="0">
                <a:solidFill>
                  <a:srgbClr val="111111"/>
                </a:solidFill>
                <a:latin typeface="Times New Roman"/>
                <a:ea typeface="Times New Roman"/>
                <a:cs typeface="Times New Roman"/>
              </a:rPr>
              <a:t>1.  Using the Scanner class (console input)</a:t>
            </a:r>
          </a:p>
          <a:p>
            <a:pPr algn="l">
              <a:lnSpc>
                <a:spcPts val="3000"/>
              </a:lnSpc>
              <a:spcBef>
                <a:spcPts val="1400"/>
              </a:spcBef>
            </a:pPr>
            <a:r>
              <a:rPr sz="2400" b="0" i="0">
                <a:solidFill>
                  <a:srgbClr val="111111"/>
                </a:solidFill>
                <a:latin typeface="Times New Roman"/>
                <a:ea typeface="Times New Roman"/>
                <a:cs typeface="Times New Roman"/>
              </a:rPr>
              <a:t>2.  Using JOptionPane input dialogs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Getting Input from Input Dialog Boxes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45CDE61-6B6F-4E8A-A021-91C5CDD1D548}" type="slidenum">
              <a:rPr sz="1200" b="0" i="0">
                <a:solidFill>
                  <a:srgbClr val="6B6B6B"/>
                </a:solidFill>
                <a:latin typeface="Source Sans 3"/>
                <a:ea typeface="Source Sans 3"/>
                <a:cs typeface="Source Sans 3"/>
              </a:rPr>
              <a:pPr algn="l">
                <a:lnSpc>
                  <a:spcPts val="1500"/>
                </a:lnSpc>
              </a:pPr>
              <a:t>24</a:t>
            </a:fld>
            <a:endParaRPr sz="1200" b="0" i="0">
              <a:solidFill>
                <a:srgbClr val="6B6B6B"/>
              </a:solidFill>
              <a:latin typeface="Source Sans 3"/>
              <a:ea typeface="Source Sans 3"/>
              <a:cs typeface="Source Sans 3"/>
            </a:endParaRPr>
          </a:p>
        </p:txBody>
      </p:sp>
      <p:sp>
        <p:nvSpPr>
          <p:cNvPr id="4" name="TextBox 3"/>
          <p:cNvSpPr txBox="1"/>
          <p:nvPr/>
        </p:nvSpPr>
        <p:spPr>
          <a:xfrm>
            <a:off x="1079500" y="1397000"/>
            <a:ext cx="7620000" cy="838200"/>
          </a:xfrm>
          <a:prstGeom prst="rect">
            <a:avLst/>
          </a:prstGeom>
          <a:noFill/>
        </p:spPr>
        <p:txBody>
          <a:bodyPr wrap="square" lIns="0" tIns="0" rIns="0" bIns="0" anchor="t">
            <a:spAutoFit/>
          </a:bodyPr>
          <a:lstStyle/>
          <a:p>
            <a:pPr algn="l">
              <a:lnSpc>
                <a:spcPts val="2800"/>
              </a:lnSpc>
            </a:pPr>
            <a:r>
              <a:rPr sz="2000" b="1" i="0">
                <a:solidFill>
                  <a:srgbClr val="000000"/>
                </a:solidFill>
                <a:latin typeface="Courier New"/>
                <a:ea typeface="Courier New"/>
                <a:cs typeface="Courier New"/>
              </a:rPr>
              <a:t>import javax.swing.JOptionPane;</a:t>
            </a:r>
          </a:p>
          <a:p>
            <a:pPr algn="l">
              <a:lnSpc>
                <a:spcPts val="2800"/>
              </a:lnSpc>
            </a:pPr>
            <a:r>
              <a:rPr sz="2000" b="1" i="0">
                <a:solidFill>
                  <a:srgbClr val="000000"/>
                </a:solidFill>
                <a:latin typeface="Courier New"/>
                <a:ea typeface="Courier New"/>
                <a:cs typeface="Courier New"/>
              </a:rPr>
              <a:t>String input = JOptionPane.showInputDialog(</a:t>
            </a:r>
          </a:p>
          <a:p>
            <a:pPr algn="l">
              <a:lnSpc>
                <a:spcPts val="2800"/>
              </a:lnSpc>
            </a:pPr>
            <a:r>
              <a:rPr sz="2000" b="1" i="0">
                <a:solidFill>
                  <a:srgbClr val="000000"/>
                </a:solidFill>
                <a:latin typeface="Courier New"/>
                <a:ea typeface="Courier New"/>
                <a:cs typeface="Courier New"/>
              </a:rPr>
              <a:t>  "Enter an input");</a:t>
            </a:r>
          </a:p>
        </p:txBody>
      </p:sp>
      <p:pic>
        <p:nvPicPr>
          <p:cNvPr id="5" name="Picture 4" descr="dialog_input.png"/>
          <p:cNvPicPr>
            <a:picLocks noChangeAspect="1"/>
          </p:cNvPicPr>
          <p:nvPr/>
        </p:nvPicPr>
        <p:blipFill>
          <a:blip r:embed="rId2"/>
          <a:stretch>
            <a:fillRect/>
          </a:stretch>
        </p:blipFill>
        <p:spPr>
          <a:xfrm>
            <a:off x="4191000" y="2667000"/>
            <a:ext cx="4572000" cy="204186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Getting Input from Input Dialog Boxes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6F88BD9-8106-4F7A-8362-110BD3AAAB64}" type="slidenum">
              <a:rPr sz="1200" b="0" i="0">
                <a:solidFill>
                  <a:srgbClr val="6B6B6B"/>
                </a:solidFill>
                <a:latin typeface="Source Sans 3"/>
                <a:ea typeface="Source Sans 3"/>
                <a:cs typeface="Source Sans 3"/>
              </a:rPr>
              <a:pPr algn="l">
                <a:lnSpc>
                  <a:spcPts val="1500"/>
                </a:lnSpc>
              </a:pPr>
              <a:t>25</a:t>
            </a:fld>
            <a:endParaRPr sz="1200" b="0" i="0">
              <a:solidFill>
                <a:srgbClr val="6B6B6B"/>
              </a:solidFill>
              <a:latin typeface="Source Sans 3"/>
              <a:ea typeface="Source Sans 3"/>
              <a:cs typeface="Source Sans 3"/>
            </a:endParaRPr>
          </a:p>
        </p:txBody>
      </p:sp>
      <p:sp>
        <p:nvSpPr>
          <p:cNvPr id="4" name="TextBox 3"/>
          <p:cNvSpPr txBox="1"/>
          <p:nvPr/>
        </p:nvSpPr>
        <p:spPr>
          <a:xfrm>
            <a:off x="1079500" y="1397000"/>
            <a:ext cx="7772400" cy="1193800"/>
          </a:xfrm>
          <a:prstGeom prst="rect">
            <a:avLst/>
          </a:prstGeom>
          <a:noFill/>
        </p:spPr>
        <p:txBody>
          <a:bodyPr wrap="square" lIns="0" tIns="0" rIns="0" bIns="0" anchor="t">
            <a:spAutoFit/>
          </a:bodyPr>
          <a:lstStyle/>
          <a:p>
            <a:pPr algn="l">
              <a:lnSpc>
                <a:spcPts val="2800"/>
              </a:lnSpc>
            </a:pPr>
            <a:r>
              <a:rPr sz="2000" b="1" i="0">
                <a:solidFill>
                  <a:srgbClr val="000000"/>
                </a:solidFill>
                <a:latin typeface="Courier New"/>
                <a:ea typeface="Courier New"/>
                <a:cs typeface="Courier New"/>
              </a:rPr>
              <a:t>String string = JOptionPane.showInputDialog(</a:t>
            </a:r>
          </a:p>
          <a:p>
            <a:pPr algn="l">
              <a:lnSpc>
                <a:spcPts val="2800"/>
              </a:lnSpc>
            </a:pPr>
            <a:r>
              <a:rPr sz="2000" b="1" i="0">
                <a:solidFill>
                  <a:srgbClr val="000000"/>
                </a:solidFill>
                <a:latin typeface="Courier New"/>
                <a:ea typeface="Courier New"/>
                <a:cs typeface="Courier New"/>
              </a:rPr>
              <a:t>  null, "Prompting Message", "Dialog Title",</a:t>
            </a:r>
          </a:p>
          <a:p>
            <a:pPr algn="l">
              <a:lnSpc>
                <a:spcPts val="2800"/>
              </a:lnSpc>
            </a:pPr>
            <a:r>
              <a:rPr sz="2000" b="1" i="0">
                <a:solidFill>
                  <a:srgbClr val="000000"/>
                </a:solidFill>
                <a:latin typeface="Courier New"/>
                <a:ea typeface="Courier New"/>
                <a:cs typeface="Courier New"/>
              </a:rPr>
              <a:t>  JOptionPane.QUESTION_MESSAGE);</a:t>
            </a:r>
          </a:p>
        </p:txBody>
      </p:sp>
      <p:pic>
        <p:nvPicPr>
          <p:cNvPr id="5" name="Picture 4" descr="dialog_full.png"/>
          <p:cNvPicPr>
            <a:picLocks noChangeAspect="1"/>
          </p:cNvPicPr>
          <p:nvPr/>
        </p:nvPicPr>
        <p:blipFill>
          <a:blip r:embed="rId2"/>
          <a:stretch>
            <a:fillRect/>
          </a:stretch>
        </p:blipFill>
        <p:spPr>
          <a:xfrm>
            <a:off x="3175000" y="2921000"/>
            <a:ext cx="5969000" cy="2707191"/>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Two Ways to Invoke the Method</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C1DBF5D-96E9-4074-9AE6-1A9EEB7F7C5B}" type="slidenum">
              <a:rPr sz="1200" b="0" i="0">
                <a:solidFill>
                  <a:srgbClr val="6B6B6B"/>
                </a:solidFill>
                <a:latin typeface="Source Sans 3"/>
                <a:ea typeface="Source Sans 3"/>
                <a:cs typeface="Source Sans 3"/>
              </a:rPr>
              <a:pPr algn="l">
                <a:lnSpc>
                  <a:spcPts val="1500"/>
                </a:lnSpc>
              </a:pPr>
              <a:t>26</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3885679"/>
          </a:xfrm>
          <a:prstGeom prst="rect">
            <a:avLst/>
          </a:prstGeom>
          <a:noFill/>
        </p:spPr>
        <p:txBody>
          <a:bodyPr wrap="square" lIns="0" tIns="0" rIns="0" bIns="0" anchor="t">
            <a:spAutoFit/>
          </a:bodyPr>
          <a:lstStyle/>
          <a:p>
            <a:pPr algn="l">
              <a:lnSpc>
                <a:spcPts val="2625"/>
              </a:lnSpc>
            </a:pPr>
            <a:r>
              <a:rPr sz="2100" b="0" i="0">
                <a:solidFill>
                  <a:srgbClr val="111111"/>
                </a:solidFill>
                <a:latin typeface="Times New Roman"/>
                <a:ea typeface="Times New Roman"/>
                <a:cs typeface="Times New Roman"/>
              </a:rPr>
              <a:t>There are several ways to use the </a:t>
            </a:r>
            <a:r>
              <a:rPr sz="1900" b="1" i="0">
                <a:solidFill>
                  <a:srgbClr val="111111"/>
                </a:solidFill>
                <a:latin typeface="Courier New"/>
                <a:ea typeface="Courier New"/>
                <a:cs typeface="Courier New"/>
              </a:rPr>
              <a:t>showInputDialog</a:t>
            </a:r>
            <a:r>
              <a:rPr sz="2100" b="0" i="0">
                <a:solidFill>
                  <a:srgbClr val="111111"/>
                </a:solidFill>
                <a:latin typeface="Times New Roman"/>
                <a:ea typeface="Times New Roman"/>
                <a:cs typeface="Times New Roman"/>
              </a:rPr>
              <a:t> </a:t>
            </a:r>
            <a:r>
              <a:rPr lang="en-US" sz="2100" b="0" i="0" dirty="0" smtClean="0">
                <a:solidFill>
                  <a:srgbClr val="111111"/>
                </a:solidFill>
                <a:latin typeface="Times New Roman"/>
                <a:ea typeface="Times New Roman"/>
                <a:cs typeface="Times New Roman"/>
              </a:rPr>
              <a:t> </a:t>
            </a:r>
            <a:r>
              <a:rPr sz="2100" b="0" i="0" smtClean="0">
                <a:solidFill>
                  <a:srgbClr val="111111"/>
                </a:solidFill>
                <a:latin typeface="Times New Roman"/>
                <a:ea typeface="Times New Roman"/>
                <a:cs typeface="Times New Roman"/>
              </a:rPr>
              <a:t>method</a:t>
            </a:r>
            <a:r>
              <a:rPr sz="2100" b="0" i="0">
                <a:solidFill>
                  <a:srgbClr val="111111"/>
                </a:solidFill>
                <a:latin typeface="Times New Roman"/>
                <a:ea typeface="Times New Roman"/>
                <a:cs typeface="Times New Roman"/>
              </a:rPr>
              <a:t>. For the time being, you only need to know two ways to invoke it.</a:t>
            </a:r>
          </a:p>
          <a:p>
            <a:pPr algn="l">
              <a:lnSpc>
                <a:spcPts val="2625"/>
              </a:lnSpc>
              <a:spcBef>
                <a:spcPts val="900"/>
              </a:spcBef>
            </a:pPr>
            <a:r>
              <a:rPr sz="2100" b="0" i="0">
                <a:solidFill>
                  <a:srgbClr val="111111"/>
                </a:solidFill>
                <a:latin typeface="Times New Roman"/>
                <a:ea typeface="Times New Roman"/>
                <a:cs typeface="Times New Roman"/>
              </a:rPr>
              <a:t>One is to use a statement as shown in the example:</a:t>
            </a:r>
          </a:p>
          <a:p>
            <a:pPr marL="457200" indent="0" algn="l">
              <a:lnSpc>
                <a:spcPts val="2465"/>
              </a:lnSpc>
              <a:spcBef>
                <a:spcPts val="540"/>
              </a:spcBef>
            </a:pPr>
            <a:r>
              <a:rPr sz="1700" b="1" i="0">
                <a:solidFill>
                  <a:srgbClr val="111111"/>
                </a:solidFill>
                <a:latin typeface="Courier New"/>
                <a:ea typeface="Courier New"/>
                <a:cs typeface="Courier New"/>
              </a:rPr>
              <a:t>String string = JOptionPane.showInputDialog(null, x,</a:t>
            </a:r>
          </a:p>
          <a:p>
            <a:pPr marL="457200" indent="0" algn="l">
              <a:lnSpc>
                <a:spcPts val="2465"/>
              </a:lnSpc>
            </a:pPr>
            <a:r>
              <a:rPr sz="1700" b="1" i="0">
                <a:solidFill>
                  <a:srgbClr val="111111"/>
                </a:solidFill>
                <a:latin typeface="Courier New"/>
                <a:ea typeface="Courier New"/>
                <a:cs typeface="Courier New"/>
              </a:rPr>
              <a:t>  y, JOptionPane.QUESTION_MESSAGE);</a:t>
            </a:r>
          </a:p>
          <a:p>
            <a:pPr algn="l">
              <a:lnSpc>
                <a:spcPts val="2625"/>
              </a:lnSpc>
              <a:spcBef>
                <a:spcPts val="900"/>
              </a:spcBef>
            </a:pPr>
            <a:r>
              <a:rPr sz="2100" b="0" i="0">
                <a:solidFill>
                  <a:srgbClr val="111111"/>
                </a:solidFill>
                <a:latin typeface="Times New Roman"/>
                <a:ea typeface="Times New Roman"/>
                <a:cs typeface="Times New Roman"/>
              </a:rPr>
              <a:t>where x is a string for the prompting message, and y is a string for the title of the input dialog box.</a:t>
            </a:r>
          </a:p>
          <a:p>
            <a:pPr algn="l">
              <a:lnSpc>
                <a:spcPts val="2625"/>
              </a:lnSpc>
              <a:spcBef>
                <a:spcPts val="900"/>
              </a:spcBef>
            </a:pPr>
            <a:r>
              <a:rPr sz="2100" b="0" i="0">
                <a:solidFill>
                  <a:srgbClr val="111111"/>
                </a:solidFill>
                <a:latin typeface="Times New Roman"/>
                <a:ea typeface="Times New Roman"/>
                <a:cs typeface="Times New Roman"/>
              </a:rPr>
              <a:t>The other is to use a statement like this:</a:t>
            </a:r>
          </a:p>
          <a:p>
            <a:pPr marL="457200" indent="0" algn="l">
              <a:lnSpc>
                <a:spcPts val="2465"/>
              </a:lnSpc>
              <a:spcBef>
                <a:spcPts val="540"/>
              </a:spcBef>
            </a:pPr>
            <a:r>
              <a:rPr sz="1700" b="1" i="0">
                <a:solidFill>
                  <a:srgbClr val="111111"/>
                </a:solidFill>
                <a:latin typeface="Courier New"/>
                <a:ea typeface="Courier New"/>
                <a:cs typeface="Courier New"/>
              </a:rPr>
              <a:t>JOptionPane.showInputDialog(x);</a:t>
            </a:r>
          </a:p>
          <a:p>
            <a:pPr algn="l">
              <a:lnSpc>
                <a:spcPts val="2625"/>
              </a:lnSpc>
              <a:spcBef>
                <a:spcPts val="900"/>
              </a:spcBef>
            </a:pPr>
            <a:r>
              <a:rPr sz="2100" b="0" i="0">
                <a:solidFill>
                  <a:srgbClr val="111111"/>
                </a:solidFill>
                <a:latin typeface="Times New Roman"/>
                <a:ea typeface="Times New Roman"/>
                <a:cs typeface="Times New Roman"/>
              </a:rPr>
              <a:t>where x is a string for the prompting message.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Converting Strings to Integers and Doubles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400BA3B-C5EA-4518-A2F2-88FB6E37ACCE}" type="slidenum">
              <a:rPr sz="1200" b="0" i="0">
                <a:solidFill>
                  <a:srgbClr val="6B6B6B"/>
                </a:solidFill>
                <a:latin typeface="Source Sans 3"/>
                <a:ea typeface="Source Sans 3"/>
                <a:cs typeface="Source Sans 3"/>
              </a:rPr>
              <a:pPr algn="l">
                <a:lnSpc>
                  <a:spcPts val="1500"/>
                </a:lnSpc>
              </a:pPr>
              <a:t>27</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500"/>
              </a:lnSpc>
            </a:pPr>
            <a:r>
              <a:rPr sz="2000" b="0" i="0">
                <a:solidFill>
                  <a:srgbClr val="111111"/>
                </a:solidFill>
                <a:latin typeface="Times New Roman"/>
                <a:ea typeface="Times New Roman"/>
                <a:cs typeface="Times New Roman"/>
              </a:rPr>
              <a:t>The input returned from the input dialog box is a string. If you enter a numeric value such as 123, it returns “123”. To obtain the input as a number, you have to convert a string into a number.</a:t>
            </a:r>
          </a:p>
          <a:p>
            <a:pPr algn="l">
              <a:lnSpc>
                <a:spcPts val="2500"/>
              </a:lnSpc>
              <a:spcBef>
                <a:spcPts val="900"/>
              </a:spcBef>
            </a:pPr>
            <a:r>
              <a:rPr sz="2000" b="0" i="0">
                <a:solidFill>
                  <a:srgbClr val="111111"/>
                </a:solidFill>
                <a:latin typeface="Times New Roman"/>
                <a:ea typeface="Times New Roman"/>
                <a:cs typeface="Times New Roman"/>
              </a:rPr>
              <a:t>To convert a string into an </a:t>
            </a:r>
            <a:r>
              <a:rPr sz="1800" b="1" i="0">
                <a:solidFill>
                  <a:srgbClr val="111111"/>
                </a:solidFill>
                <a:latin typeface="Courier New"/>
                <a:ea typeface="Courier New"/>
                <a:cs typeface="Courier New"/>
              </a:rPr>
              <a:t>int</a:t>
            </a:r>
            <a:r>
              <a:rPr sz="2000" b="0" i="0">
                <a:solidFill>
                  <a:srgbClr val="111111"/>
                </a:solidFill>
                <a:latin typeface="Times New Roman"/>
                <a:ea typeface="Times New Roman"/>
                <a:cs typeface="Times New Roman"/>
              </a:rPr>
              <a:t> value, you can use the static </a:t>
            </a:r>
            <a:r>
              <a:rPr sz="1800" b="1" i="0">
                <a:solidFill>
                  <a:srgbClr val="111111"/>
                </a:solidFill>
                <a:latin typeface="Courier New"/>
                <a:ea typeface="Courier New"/>
                <a:cs typeface="Courier New"/>
              </a:rPr>
              <a:t>parseInt</a:t>
            </a:r>
            <a:r>
              <a:rPr sz="2000" b="0" i="0">
                <a:solidFill>
                  <a:srgbClr val="111111"/>
                </a:solidFill>
                <a:latin typeface="Times New Roman"/>
                <a:ea typeface="Times New Roman"/>
                <a:cs typeface="Times New Roman"/>
              </a:rPr>
              <a:t> method in the </a:t>
            </a:r>
            <a:r>
              <a:rPr sz="1800" b="1" i="0">
                <a:solidFill>
                  <a:srgbClr val="111111"/>
                </a:solidFill>
                <a:latin typeface="Courier New"/>
                <a:ea typeface="Courier New"/>
                <a:cs typeface="Courier New"/>
              </a:rPr>
              <a:t>Integer</a:t>
            </a:r>
            <a:r>
              <a:rPr sz="2000" b="0" i="0">
                <a:solidFill>
                  <a:srgbClr val="111111"/>
                </a:solidFill>
                <a:latin typeface="Times New Roman"/>
                <a:ea typeface="Times New Roman"/>
                <a:cs typeface="Times New Roman"/>
              </a:rPr>
              <a:t> class as follows:</a:t>
            </a:r>
          </a:p>
          <a:p>
            <a:pPr marL="457200" indent="0" algn="l">
              <a:lnSpc>
                <a:spcPts val="2465"/>
              </a:lnSpc>
              <a:spcBef>
                <a:spcPts val="540"/>
              </a:spcBef>
            </a:pPr>
            <a:r>
              <a:rPr sz="1700" b="1" i="0">
                <a:solidFill>
                  <a:srgbClr val="111111"/>
                </a:solidFill>
                <a:latin typeface="Courier New"/>
                <a:ea typeface="Courier New"/>
                <a:cs typeface="Courier New"/>
              </a:rPr>
              <a:t>int intValue = Integer.parseInt(intString);</a:t>
            </a:r>
          </a:p>
          <a:p>
            <a:pPr algn="l">
              <a:lnSpc>
                <a:spcPts val="2500"/>
              </a:lnSpc>
              <a:spcBef>
                <a:spcPts val="900"/>
              </a:spcBef>
            </a:pPr>
            <a:r>
              <a:rPr sz="2000" b="0" i="0">
                <a:solidFill>
                  <a:srgbClr val="111111"/>
                </a:solidFill>
                <a:latin typeface="Times New Roman"/>
                <a:ea typeface="Times New Roman"/>
                <a:cs typeface="Times New Roman"/>
              </a:rPr>
              <a:t>where </a:t>
            </a:r>
            <a:r>
              <a:rPr sz="1800" b="1" i="0">
                <a:solidFill>
                  <a:srgbClr val="111111"/>
                </a:solidFill>
                <a:latin typeface="Courier New"/>
                <a:ea typeface="Courier New"/>
                <a:cs typeface="Courier New"/>
              </a:rPr>
              <a:t>intString</a:t>
            </a:r>
            <a:r>
              <a:rPr sz="2000" b="0" i="0">
                <a:solidFill>
                  <a:srgbClr val="111111"/>
                </a:solidFill>
                <a:latin typeface="Times New Roman"/>
                <a:ea typeface="Times New Roman"/>
                <a:cs typeface="Times New Roman"/>
              </a:rPr>
              <a:t> is a numeric string such as “123”.</a:t>
            </a:r>
          </a:p>
          <a:p>
            <a:pPr algn="l">
              <a:lnSpc>
                <a:spcPts val="2500"/>
              </a:lnSpc>
              <a:spcBef>
                <a:spcPts val="900"/>
              </a:spcBef>
            </a:pPr>
            <a:r>
              <a:rPr sz="2000" b="0" i="0">
                <a:solidFill>
                  <a:srgbClr val="111111"/>
                </a:solidFill>
                <a:latin typeface="Times New Roman"/>
                <a:ea typeface="Times New Roman"/>
                <a:cs typeface="Times New Roman"/>
              </a:rPr>
              <a:t>To convert a string into a </a:t>
            </a:r>
            <a:r>
              <a:rPr sz="1800" b="1" i="0">
                <a:solidFill>
                  <a:srgbClr val="111111"/>
                </a:solidFill>
                <a:latin typeface="Courier New"/>
                <a:ea typeface="Courier New"/>
                <a:cs typeface="Courier New"/>
              </a:rPr>
              <a:t>double</a:t>
            </a:r>
            <a:r>
              <a:rPr sz="2000" b="0" i="0">
                <a:solidFill>
                  <a:srgbClr val="111111"/>
                </a:solidFill>
                <a:latin typeface="Times New Roman"/>
                <a:ea typeface="Times New Roman"/>
                <a:cs typeface="Times New Roman"/>
              </a:rPr>
              <a:t> value, you can use the static </a:t>
            </a:r>
            <a:r>
              <a:rPr sz="1800" b="1" i="0">
                <a:solidFill>
                  <a:srgbClr val="111111"/>
                </a:solidFill>
                <a:latin typeface="Courier New"/>
                <a:ea typeface="Courier New"/>
                <a:cs typeface="Courier New"/>
              </a:rPr>
              <a:t>parseDouble</a:t>
            </a:r>
            <a:r>
              <a:rPr sz="2000" b="0" i="0">
                <a:solidFill>
                  <a:srgbClr val="111111"/>
                </a:solidFill>
                <a:latin typeface="Times New Roman"/>
                <a:ea typeface="Times New Roman"/>
                <a:cs typeface="Times New Roman"/>
              </a:rPr>
              <a:t> method in the </a:t>
            </a:r>
            <a:r>
              <a:rPr sz="1800" b="1" i="0">
                <a:solidFill>
                  <a:srgbClr val="111111"/>
                </a:solidFill>
                <a:latin typeface="Courier New"/>
                <a:ea typeface="Courier New"/>
                <a:cs typeface="Courier New"/>
              </a:rPr>
              <a:t>Double</a:t>
            </a:r>
            <a:r>
              <a:rPr sz="2000" b="0" i="0">
                <a:solidFill>
                  <a:srgbClr val="111111"/>
                </a:solidFill>
                <a:latin typeface="Times New Roman"/>
                <a:ea typeface="Times New Roman"/>
                <a:cs typeface="Times New Roman"/>
              </a:rPr>
              <a:t> class as follows:</a:t>
            </a:r>
          </a:p>
          <a:p>
            <a:pPr marL="457200" indent="0" algn="l">
              <a:lnSpc>
                <a:spcPts val="2465"/>
              </a:lnSpc>
              <a:spcBef>
                <a:spcPts val="540"/>
              </a:spcBef>
            </a:pPr>
            <a:r>
              <a:rPr sz="1700" b="1" i="0">
                <a:solidFill>
                  <a:srgbClr val="111111"/>
                </a:solidFill>
                <a:latin typeface="Courier New"/>
                <a:ea typeface="Courier New"/>
                <a:cs typeface="Courier New"/>
              </a:rPr>
              <a:t>double doubleValue = Double.parseDouble(doubleString);</a:t>
            </a:r>
          </a:p>
          <a:p>
            <a:pPr algn="l">
              <a:lnSpc>
                <a:spcPts val="2500"/>
              </a:lnSpc>
              <a:spcBef>
                <a:spcPts val="900"/>
              </a:spcBef>
            </a:pPr>
            <a:r>
              <a:rPr sz="2000" b="0" i="0">
                <a:solidFill>
                  <a:srgbClr val="111111"/>
                </a:solidFill>
                <a:latin typeface="Times New Roman"/>
                <a:ea typeface="Times New Roman"/>
                <a:cs typeface="Times New Roman"/>
              </a:rPr>
              <a:t>where </a:t>
            </a:r>
            <a:r>
              <a:rPr sz="1800" b="1" i="0">
                <a:solidFill>
                  <a:srgbClr val="111111"/>
                </a:solidFill>
                <a:latin typeface="Courier New"/>
                <a:ea typeface="Courier New"/>
                <a:cs typeface="Courier New"/>
              </a:rPr>
              <a:t>doubleString</a:t>
            </a:r>
            <a:r>
              <a:rPr sz="2000" b="0" i="0">
                <a:solidFill>
                  <a:srgbClr val="111111"/>
                </a:solidFill>
                <a:latin typeface="Times New Roman"/>
                <a:ea typeface="Times New Roman"/>
                <a:cs typeface="Times New Roman"/>
              </a:rPr>
              <a:t> is a numeric string such as “123.45”.</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900680"/>
            <a:ext cx="10883900" cy="768350"/>
          </a:xfrm>
        </p:spPr>
        <p:txBody>
          <a:bodyPr lIns="0" tIns="0" rIns="0" bIns="0" anchor="t"/>
          <a:lstStyle/>
          <a:p>
            <a:pPr algn="l">
              <a:lnSpc>
                <a:spcPts val="5775"/>
              </a:lnSpc>
            </a:pPr>
            <a:r>
              <a:rPr sz="5500" b="0" i="0">
                <a:solidFill>
                  <a:srgbClr val="222222"/>
                </a:solidFill>
                <a:latin typeface="Times New Roman"/>
                <a:ea typeface="Times New Roman"/>
                <a:cs typeface="Times New Roman"/>
              </a:rPr>
              <a:t>Selections</a:t>
            </a:r>
          </a:p>
        </p:txBody>
      </p:sp>
      <p:sp>
        <p:nvSpPr>
          <p:cNvPr id="3" name="TextBox 2"/>
          <p:cNvSpPr txBox="1"/>
          <p:nvPr/>
        </p:nvSpPr>
        <p:spPr>
          <a:xfrm>
            <a:off x="812800" y="2456180"/>
            <a:ext cx="10883900" cy="292100"/>
          </a:xfrm>
          <a:prstGeom prst="rect">
            <a:avLst/>
          </a:prstGeom>
          <a:noFill/>
        </p:spPr>
        <p:txBody>
          <a:bodyPr wrap="square" lIns="0" tIns="0" rIns="0" bIns="0" anchor="t">
            <a:spAutoFit/>
          </a:bodyPr>
          <a:lstStyle/>
          <a:p>
            <a:pPr algn="l">
              <a:lnSpc>
                <a:spcPts val="1875"/>
              </a:lnSpc>
            </a:pPr>
            <a:r>
              <a:rPr sz="1500" b="1" i="0">
                <a:solidFill>
                  <a:srgbClr val="B5500F"/>
                </a:solidFill>
                <a:latin typeface="Source Sans 3"/>
                <a:ea typeface="Source Sans 3"/>
                <a:cs typeface="Source Sans 3"/>
              </a:rPr>
              <a:t>Java basics</a:t>
            </a:r>
          </a:p>
        </p:txBody>
      </p:sp>
      <p:sp>
        <p:nvSpPr>
          <p:cNvPr id="4" name="Rectangle 3"/>
          <p:cNvSpPr/>
          <p:nvPr/>
        </p:nvSpPr>
        <p:spPr>
          <a:xfrm>
            <a:off x="812800" y="3811905"/>
            <a:ext cx="1524000" cy="38100"/>
          </a:xfrm>
          <a:prstGeom prst="rect">
            <a:avLst/>
          </a:prstGeom>
          <a:solidFill>
            <a:srgbClr val="E87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9567C70-0988-42B0-A875-ADE1E2CDD906}" type="slidenum">
              <a:rPr sz="1200" b="0" i="0">
                <a:solidFill>
                  <a:srgbClr val="6B6B6B"/>
                </a:solidFill>
                <a:latin typeface="Source Sans 3"/>
                <a:ea typeface="Source Sans 3"/>
                <a:cs typeface="Source Sans 3"/>
              </a:rPr>
              <a:pPr algn="l">
                <a:lnSpc>
                  <a:spcPts val="1500"/>
                </a:lnSpc>
              </a:pPr>
              <a:t>28</a:t>
            </a:fld>
            <a:endParaRPr sz="1200" b="0" i="0">
              <a:solidFill>
                <a:srgbClr val="6B6B6B"/>
              </a:solidFill>
              <a:latin typeface="Source Sans 3"/>
              <a:ea typeface="Source Sans 3"/>
              <a:cs typeface="Source Sans 3"/>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The boolean Type and Operators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906F7EF-B307-44E7-9C44-60B87B5A1201}" type="slidenum">
              <a:rPr sz="1200" b="0" i="0">
                <a:solidFill>
                  <a:srgbClr val="6B6B6B"/>
                </a:solidFill>
                <a:latin typeface="Source Sans 3"/>
                <a:ea typeface="Source Sans 3"/>
                <a:cs typeface="Source Sans 3"/>
              </a:rPr>
              <a:pPr algn="l">
                <a:lnSpc>
                  <a:spcPts val="1500"/>
                </a:lnSpc>
              </a:pPr>
              <a:t>29</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875"/>
              </a:lnSpc>
            </a:pPr>
            <a:r>
              <a:rPr sz="2300" b="0" i="0">
                <a:solidFill>
                  <a:srgbClr val="111111"/>
                </a:solidFill>
                <a:latin typeface="Times New Roman"/>
                <a:ea typeface="Times New Roman"/>
                <a:cs typeface="Times New Roman"/>
              </a:rPr>
              <a:t>Often in a program you need to compare two values, such as whether i is greater than j. Java provides six comparison operators (also known as relational operators) that can be used to compare two values. The result of the comparison is a Boolean value: true or false.</a:t>
            </a:r>
          </a:p>
          <a:p>
            <a:pPr marL="457200" indent="0" algn="l">
              <a:lnSpc>
                <a:spcPts val="2900"/>
              </a:lnSpc>
              <a:spcBef>
                <a:spcPts val="1080"/>
              </a:spcBef>
            </a:pPr>
            <a:r>
              <a:rPr sz="2000" b="1" i="0">
                <a:solidFill>
                  <a:srgbClr val="111111"/>
                </a:solidFill>
                <a:latin typeface="Courier New"/>
                <a:ea typeface="Courier New"/>
                <a:cs typeface="Courier New"/>
              </a:rPr>
              <a:t>boolean b = (1 &gt; 2);</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Comparison Operators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B5446ED-A968-4C5E-B001-95035A1AE38B}" type="slidenum">
              <a:rPr sz="1200" b="0" i="0">
                <a:solidFill>
                  <a:srgbClr val="6B6B6B"/>
                </a:solidFill>
                <a:latin typeface="Source Sans 3"/>
                <a:ea typeface="Source Sans 3"/>
                <a:cs typeface="Source Sans 3"/>
              </a:rPr>
              <a:pPr algn="l">
                <a:lnSpc>
                  <a:spcPts val="1500"/>
                </a:lnSpc>
              </a:pPr>
              <a:t>30</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3175000" y="1397000"/>
          <a:ext cx="5842000" cy="3556000"/>
        </p:xfrm>
        <a:graphic>
          <a:graphicData uri="http://schemas.openxmlformats.org/drawingml/2006/table">
            <a:tbl>
              <a:tblPr/>
              <a:tblGrid>
                <a:gridCol w="2032000">
                  <a:extLst>
                    <a:ext uri="{9D8B030D-6E8A-4147-A177-3AD203B41FA5}">
                      <a16:colId xmlns:a16="http://schemas.microsoft.com/office/drawing/2014/main" xmlns="" val="20000"/>
                    </a:ext>
                  </a:extLst>
                </a:gridCol>
                <a:gridCol w="3810000">
                  <a:extLst>
                    <a:ext uri="{9D8B030D-6E8A-4147-A177-3AD203B41FA5}">
                      <a16:colId xmlns:a16="http://schemas.microsoft.com/office/drawing/2014/main" xmlns="" val="20001"/>
                    </a:ext>
                  </a:extLst>
                </a:gridCol>
              </a:tblGrid>
              <a:tr h="508000">
                <a:tc>
                  <a:txBody>
                    <a:bodyPr/>
                    <a:lstStyle/>
                    <a:p>
                      <a:pPr>
                        <a:lnSpc>
                          <a:spcPts val="2340"/>
                        </a:lnSpc>
                      </a:pPr>
                      <a:r>
                        <a:rPr sz="1800" b="1" i="0">
                          <a:solidFill>
                            <a:srgbClr val="111111"/>
                          </a:solidFill>
                          <a:latin typeface="Courier New"/>
                          <a:ea typeface="Courier New"/>
                          <a:cs typeface="Courier New"/>
                        </a:rPr>
                        <a:t>Operator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340"/>
                        </a:lnSpc>
                      </a:pPr>
                      <a:r>
                        <a:rPr sz="1800" b="1" i="0">
                          <a:solidFill>
                            <a:srgbClr val="111111"/>
                          </a:solidFill>
                          <a:latin typeface="Courier New"/>
                          <a:ea typeface="Courier New"/>
                          <a:cs typeface="Courier New"/>
                        </a:rPr>
                        <a:t>Name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508000">
                <a:tc>
                  <a:txBody>
                    <a:bodyPr/>
                    <a:lstStyle/>
                    <a:p>
                      <a:pPr>
                        <a:lnSpc>
                          <a:spcPts val="2340"/>
                        </a:lnSpc>
                      </a:pPr>
                      <a:r>
                        <a:rPr sz="1800" b="0" i="0">
                          <a:solidFill>
                            <a:srgbClr val="111111"/>
                          </a:solidFill>
                          <a:latin typeface="Courier New"/>
                          <a:ea typeface="Courier New"/>
                          <a:cs typeface="Courier New"/>
                        </a:rPr>
                        <a:t>&lt;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less than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508000">
                <a:tc>
                  <a:txBody>
                    <a:bodyPr/>
                    <a:lstStyle/>
                    <a:p>
                      <a:pPr>
                        <a:lnSpc>
                          <a:spcPts val="2340"/>
                        </a:lnSpc>
                      </a:pPr>
                      <a:r>
                        <a:rPr sz="1800" b="0" i="0">
                          <a:solidFill>
                            <a:srgbClr val="111111"/>
                          </a:solidFill>
                          <a:latin typeface="Courier New"/>
                          <a:ea typeface="Courier New"/>
                          <a:cs typeface="Courier New"/>
                        </a:rPr>
                        <a:t>&lt;=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less than or equal to</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508000">
                <a:tc>
                  <a:txBody>
                    <a:bodyPr/>
                    <a:lstStyle/>
                    <a:p>
                      <a:pPr>
                        <a:lnSpc>
                          <a:spcPts val="2340"/>
                        </a:lnSpc>
                      </a:pPr>
                      <a:r>
                        <a:rPr sz="1800" b="0" i="0">
                          <a:solidFill>
                            <a:srgbClr val="111111"/>
                          </a:solidFill>
                          <a:latin typeface="Courier New"/>
                          <a:ea typeface="Courier New"/>
                          <a:cs typeface="Courier New"/>
                        </a:rPr>
                        <a:t>&gt;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greater than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508000">
                <a:tc>
                  <a:txBody>
                    <a:bodyPr/>
                    <a:lstStyle/>
                    <a:p>
                      <a:pPr>
                        <a:lnSpc>
                          <a:spcPts val="2340"/>
                        </a:lnSpc>
                      </a:pPr>
                      <a:r>
                        <a:rPr sz="1800" b="0" i="0">
                          <a:solidFill>
                            <a:srgbClr val="111111"/>
                          </a:solidFill>
                          <a:latin typeface="Courier New"/>
                          <a:ea typeface="Courier New"/>
                          <a:cs typeface="Courier New"/>
                        </a:rPr>
                        <a:t>&gt;=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greater than or equal to</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r h="508000">
                <a:tc>
                  <a:txBody>
                    <a:bodyPr/>
                    <a:lstStyle/>
                    <a:p>
                      <a:pPr>
                        <a:lnSpc>
                          <a:spcPts val="2340"/>
                        </a:lnSpc>
                      </a:pPr>
                      <a:r>
                        <a:rPr sz="18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equal to</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5"/>
                  </a:ext>
                </a:extLst>
              </a:tr>
              <a:tr h="508000">
                <a:tc>
                  <a:txBody>
                    <a:bodyPr/>
                    <a:lstStyle/>
                    <a:p>
                      <a:pPr>
                        <a:lnSpc>
                          <a:spcPts val="2340"/>
                        </a:lnSpc>
                      </a:pPr>
                      <a:r>
                        <a:rPr sz="18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not equal to</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6"/>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One-way </a:t>
            </a:r>
            <a:r>
              <a:rPr sz="3300" b="0" i="0">
                <a:solidFill>
                  <a:srgbClr val="111111"/>
                </a:solidFill>
                <a:latin typeface="Courier New"/>
                <a:ea typeface="Courier New"/>
                <a:cs typeface="Courier New"/>
              </a:rPr>
              <a:t>if</a:t>
            </a:r>
            <a:r>
              <a:rPr sz="3300" b="0" i="0">
                <a:solidFill>
                  <a:srgbClr val="111111"/>
                </a:solidFill>
                <a:latin typeface="Times New Roman"/>
                <a:ea typeface="Times New Roman"/>
                <a:cs typeface="Times New Roman"/>
              </a:rPr>
              <a:t> Statements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50F4218-5623-4EB6-981F-EB9CA1EEBB59}" type="slidenum">
              <a:rPr sz="1200" b="0" i="0">
                <a:solidFill>
                  <a:srgbClr val="6B6B6B"/>
                </a:solidFill>
                <a:latin typeface="Source Sans 3"/>
                <a:ea typeface="Source Sans 3"/>
                <a:cs typeface="Source Sans 3"/>
              </a:rPr>
              <a:pPr algn="l">
                <a:lnSpc>
                  <a:spcPts val="1500"/>
                </a:lnSpc>
              </a:pPr>
              <a:t>31</a:t>
            </a:fld>
            <a:endParaRPr sz="1200" b="0" i="0">
              <a:solidFill>
                <a:srgbClr val="6B6B6B"/>
              </a:solidFill>
              <a:latin typeface="Source Sans 3"/>
              <a:ea typeface="Source Sans 3"/>
              <a:cs typeface="Source Sans 3"/>
            </a:endParaRPr>
          </a:p>
        </p:txBody>
      </p:sp>
      <p:sp>
        <p:nvSpPr>
          <p:cNvPr id="4" name="TextBox 3"/>
          <p:cNvSpPr txBox="1"/>
          <p:nvPr/>
        </p:nvSpPr>
        <p:spPr>
          <a:xfrm>
            <a:off x="1079500" y="1333500"/>
            <a:ext cx="4114800" cy="98044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if (boolean-expression) {</a:t>
            </a:r>
          </a:p>
          <a:p>
            <a:pPr algn="l">
              <a:lnSpc>
                <a:spcPts val="2240"/>
              </a:lnSpc>
            </a:pPr>
            <a:r>
              <a:rPr sz="1600" b="1" i="0">
                <a:solidFill>
                  <a:srgbClr val="000000"/>
                </a:solidFill>
                <a:latin typeface="Courier New"/>
                <a:ea typeface="Courier New"/>
                <a:cs typeface="Courier New"/>
              </a:rPr>
              <a:t>  statement(s);</a:t>
            </a:r>
          </a:p>
          <a:p>
            <a:pPr algn="l">
              <a:lnSpc>
                <a:spcPts val="2240"/>
              </a:lnSpc>
            </a:pPr>
            <a:r>
              <a:rPr sz="1600" b="1" i="0">
                <a:solidFill>
                  <a:srgbClr val="000000"/>
                </a:solidFill>
                <a:latin typeface="Courier New"/>
                <a:ea typeface="Courier New"/>
                <a:cs typeface="Courier New"/>
              </a:rPr>
              <a:t>}</a:t>
            </a:r>
          </a:p>
        </p:txBody>
      </p:sp>
      <p:sp>
        <p:nvSpPr>
          <p:cNvPr id="5" name="TextBox 4"/>
          <p:cNvSpPr txBox="1"/>
          <p:nvPr/>
        </p:nvSpPr>
        <p:spPr>
          <a:xfrm>
            <a:off x="6096000" y="1333500"/>
            <a:ext cx="5212080" cy="183388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if (radius &gt;= 0) {</a:t>
            </a:r>
          </a:p>
          <a:p>
            <a:pPr algn="l">
              <a:lnSpc>
                <a:spcPts val="2240"/>
              </a:lnSpc>
            </a:pPr>
            <a:r>
              <a:rPr sz="1600" b="1" i="0">
                <a:solidFill>
                  <a:srgbClr val="000000"/>
                </a:solidFill>
                <a:latin typeface="Courier New"/>
                <a:ea typeface="Courier New"/>
                <a:cs typeface="Courier New"/>
              </a:rPr>
              <a:t>  area = radius * radius * PI;</a:t>
            </a:r>
          </a:p>
          <a:p>
            <a:pPr algn="l">
              <a:lnSpc>
                <a:spcPts val="2240"/>
              </a:lnSpc>
            </a:pPr>
            <a:r>
              <a:rPr sz="1600" b="1" i="0">
                <a:solidFill>
                  <a:srgbClr val="000000"/>
                </a:solidFill>
                <a:latin typeface="Courier New"/>
                <a:ea typeface="Courier New"/>
                <a:cs typeface="Courier New"/>
              </a:rPr>
              <a:t>  System.out.println("The area"</a:t>
            </a:r>
          </a:p>
          <a:p>
            <a:pPr algn="l">
              <a:lnSpc>
                <a:spcPts val="2240"/>
              </a:lnSpc>
            </a:pPr>
            <a:r>
              <a:rPr sz="1600" b="1" i="0">
                <a:solidFill>
                  <a:srgbClr val="000000"/>
                </a:solidFill>
                <a:latin typeface="Courier New"/>
                <a:ea typeface="Courier New"/>
                <a:cs typeface="Courier New"/>
              </a:rPr>
              <a:t>    + " for the circle of radius "</a:t>
            </a:r>
          </a:p>
          <a:p>
            <a:pPr algn="l">
              <a:lnSpc>
                <a:spcPts val="2240"/>
              </a:lnSpc>
            </a:pPr>
            <a:r>
              <a:rPr sz="1600" b="1" i="0">
                <a:solidFill>
                  <a:srgbClr val="000000"/>
                </a:solidFill>
                <a:latin typeface="Courier New"/>
                <a:ea typeface="Courier New"/>
                <a:cs typeface="Courier New"/>
              </a:rPr>
              <a:t>    + radius + " is " + area);</a:t>
            </a:r>
          </a:p>
          <a:p>
            <a:pPr algn="l">
              <a:lnSpc>
                <a:spcPts val="2240"/>
              </a:lnSpc>
            </a:pPr>
            <a:r>
              <a:rPr sz="1600" b="1" i="0">
                <a:solidFill>
                  <a:srgbClr val="000000"/>
                </a:solidFill>
                <a:latin typeface="Courier New"/>
                <a:ea typeface="Courier New"/>
                <a:cs typeface="Courier New"/>
              </a:rPr>
              <a:t>}</a:t>
            </a:r>
          </a:p>
        </p:txBody>
      </p:sp>
      <p:pic>
        <p:nvPicPr>
          <p:cNvPr id="6" name="Picture 5" descr="if1.png"/>
          <p:cNvPicPr>
            <a:picLocks noChangeAspect="1"/>
          </p:cNvPicPr>
          <p:nvPr/>
        </p:nvPicPr>
        <p:blipFill>
          <a:blip r:embed="rId2"/>
          <a:stretch>
            <a:fillRect/>
          </a:stretch>
        </p:blipFill>
        <p:spPr>
          <a:xfrm>
            <a:off x="3266011" y="3238500"/>
            <a:ext cx="5659978" cy="29845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The Two-way </a:t>
            </a:r>
            <a:r>
              <a:rPr sz="3300" b="0" i="0">
                <a:solidFill>
                  <a:srgbClr val="111111"/>
                </a:solidFill>
                <a:latin typeface="Courier New"/>
                <a:ea typeface="Courier New"/>
                <a:cs typeface="Courier New"/>
              </a:rPr>
              <a:t>if</a:t>
            </a:r>
            <a:r>
              <a:rPr sz="3300" b="0" i="0">
                <a:solidFill>
                  <a:srgbClr val="111111"/>
                </a:solidFill>
                <a:latin typeface="Times New Roman"/>
                <a:ea typeface="Times New Roman"/>
                <a:cs typeface="Times New Roman"/>
              </a:rPr>
              <a:t> Statement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E9610F4-581C-4383-BFF6-45C3372B1AA2}" type="slidenum">
              <a:rPr sz="1200" b="0" i="0">
                <a:solidFill>
                  <a:srgbClr val="6B6B6B"/>
                </a:solidFill>
                <a:latin typeface="Source Sans 3"/>
                <a:ea typeface="Source Sans 3"/>
                <a:cs typeface="Source Sans 3"/>
              </a:rPr>
              <a:pPr algn="l">
                <a:lnSpc>
                  <a:spcPts val="1500"/>
                </a:lnSpc>
              </a:pPr>
              <a:t>32</a:t>
            </a:fld>
            <a:endParaRPr sz="1200" b="0" i="0">
              <a:solidFill>
                <a:srgbClr val="6B6B6B"/>
              </a:solidFill>
              <a:latin typeface="Source Sans 3"/>
              <a:ea typeface="Source Sans 3"/>
              <a:cs typeface="Source Sans 3"/>
            </a:endParaRPr>
          </a:p>
        </p:txBody>
      </p:sp>
      <p:sp>
        <p:nvSpPr>
          <p:cNvPr id="4" name="TextBox 3"/>
          <p:cNvSpPr txBox="1"/>
          <p:nvPr/>
        </p:nvSpPr>
        <p:spPr>
          <a:xfrm>
            <a:off x="1079500" y="1333500"/>
            <a:ext cx="5730240" cy="2047240"/>
          </a:xfrm>
          <a:prstGeom prst="rect">
            <a:avLst/>
          </a:prstGeom>
          <a:noFill/>
        </p:spPr>
        <p:txBody>
          <a:bodyPr wrap="square" lIns="0" tIns="0" rIns="0" bIns="0" anchor="t">
            <a:spAutoFit/>
          </a:bodyPr>
          <a:lstStyle/>
          <a:p>
            <a:pPr algn="l">
              <a:lnSpc>
                <a:spcPts val="2520"/>
              </a:lnSpc>
            </a:pPr>
            <a:r>
              <a:rPr sz="1800" b="1" i="0">
                <a:solidFill>
                  <a:srgbClr val="000000"/>
                </a:solidFill>
                <a:latin typeface="Courier New"/>
                <a:ea typeface="Courier New"/>
                <a:cs typeface="Courier New"/>
              </a:rPr>
              <a:t>if (boolean-expression) {</a:t>
            </a:r>
          </a:p>
          <a:p>
            <a:pPr algn="l">
              <a:lnSpc>
                <a:spcPts val="2520"/>
              </a:lnSpc>
            </a:pPr>
            <a:r>
              <a:rPr sz="1800" b="1" i="0">
                <a:solidFill>
                  <a:srgbClr val="000000"/>
                </a:solidFill>
                <a:latin typeface="Courier New"/>
                <a:ea typeface="Courier New"/>
                <a:cs typeface="Courier New"/>
              </a:rPr>
              <a:t>  statement(s)-for-the-true-case;</a:t>
            </a:r>
          </a:p>
          <a:p>
            <a:pPr algn="l">
              <a:lnSpc>
                <a:spcPts val="2520"/>
              </a:lnSpc>
            </a:pPr>
            <a:r>
              <a:rPr sz="1800" b="1" i="0">
                <a:solidFill>
                  <a:srgbClr val="000000"/>
                </a:solidFill>
                <a:latin typeface="Courier New"/>
                <a:ea typeface="Courier New"/>
                <a:cs typeface="Courier New"/>
              </a:rPr>
              <a:t>}</a:t>
            </a:r>
          </a:p>
          <a:p>
            <a:pPr algn="l">
              <a:lnSpc>
                <a:spcPts val="2520"/>
              </a:lnSpc>
            </a:pPr>
            <a:r>
              <a:rPr sz="1800" b="1" i="0">
                <a:solidFill>
                  <a:srgbClr val="000000"/>
                </a:solidFill>
                <a:latin typeface="Courier New"/>
                <a:ea typeface="Courier New"/>
                <a:cs typeface="Courier New"/>
              </a:rPr>
              <a:t>else {</a:t>
            </a:r>
          </a:p>
          <a:p>
            <a:pPr algn="l">
              <a:lnSpc>
                <a:spcPts val="2520"/>
              </a:lnSpc>
            </a:pPr>
            <a:r>
              <a:rPr sz="1800" b="1" i="0">
                <a:solidFill>
                  <a:srgbClr val="000000"/>
                </a:solidFill>
                <a:latin typeface="Courier New"/>
                <a:ea typeface="Courier New"/>
                <a:cs typeface="Courier New"/>
              </a:rPr>
              <a:t>  statement(s)-for-the-false-case;</a:t>
            </a:r>
          </a:p>
          <a:p>
            <a:pPr algn="l">
              <a:lnSpc>
                <a:spcPts val="2520"/>
              </a:lnSpc>
            </a:pPr>
            <a:r>
              <a:rPr sz="1800" b="1" i="0">
                <a:solidFill>
                  <a:srgbClr val="000000"/>
                </a:solidFill>
                <a:latin typeface="Courier New"/>
                <a:ea typeface="Courier New"/>
                <a:cs typeface="Courier New"/>
              </a:rPr>
              <a:t>}</a:t>
            </a:r>
          </a:p>
        </p:txBody>
      </p:sp>
      <p:pic>
        <p:nvPicPr>
          <p:cNvPr id="5" name="Picture 4" descr="if2.png"/>
          <p:cNvPicPr>
            <a:picLocks noChangeAspect="1"/>
          </p:cNvPicPr>
          <p:nvPr/>
        </p:nvPicPr>
        <p:blipFill>
          <a:blip r:embed="rId2"/>
          <a:stretch>
            <a:fillRect/>
          </a:stretch>
        </p:blipFill>
        <p:spPr>
          <a:xfrm>
            <a:off x="2863958" y="3556000"/>
            <a:ext cx="6464085" cy="2667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Courier New"/>
                <a:ea typeface="Courier New"/>
                <a:cs typeface="Courier New"/>
              </a:rPr>
              <a:t>if...else</a:t>
            </a:r>
            <a:r>
              <a:rPr sz="3300" b="0" i="0">
                <a:solidFill>
                  <a:srgbClr val="111111"/>
                </a:solidFill>
                <a:latin typeface="Times New Roman"/>
                <a:ea typeface="Times New Roman"/>
                <a:cs typeface="Times New Roman"/>
              </a:rPr>
              <a:t> Example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BF162C90-3FE1-4AFC-9A5C-B8D5DE80B1E1}" type="slidenum">
              <a:rPr sz="1200" b="0" i="0">
                <a:solidFill>
                  <a:srgbClr val="6B6B6B"/>
                </a:solidFill>
                <a:latin typeface="Source Sans 3"/>
                <a:ea typeface="Source Sans 3"/>
                <a:cs typeface="Source Sans 3"/>
              </a:rPr>
              <a:pPr algn="l">
                <a:lnSpc>
                  <a:spcPts val="1500"/>
                </a:lnSpc>
              </a:pPr>
              <a:t>33</a:t>
            </a:fld>
            <a:endParaRPr sz="1200" b="0" i="0">
              <a:solidFill>
                <a:srgbClr val="6B6B6B"/>
              </a:solidFill>
              <a:latin typeface="Source Sans 3"/>
              <a:ea typeface="Source Sans 3"/>
              <a:cs typeface="Source Sans 3"/>
            </a:endParaRPr>
          </a:p>
        </p:txBody>
      </p:sp>
      <p:sp>
        <p:nvSpPr>
          <p:cNvPr id="4" name="TextBox 3"/>
          <p:cNvSpPr txBox="1"/>
          <p:nvPr/>
        </p:nvSpPr>
        <p:spPr>
          <a:xfrm>
            <a:off x="1079500" y="1524000"/>
            <a:ext cx="7162800" cy="3683000"/>
          </a:xfrm>
          <a:prstGeom prst="rect">
            <a:avLst/>
          </a:prstGeom>
          <a:noFill/>
        </p:spPr>
        <p:txBody>
          <a:bodyPr wrap="square" lIns="0" tIns="0" rIns="0" bIns="0" anchor="t">
            <a:spAutoFit/>
          </a:bodyPr>
          <a:lstStyle/>
          <a:p>
            <a:pPr algn="l">
              <a:lnSpc>
                <a:spcPts val="2800"/>
              </a:lnSpc>
            </a:pPr>
            <a:r>
              <a:rPr sz="2000" b="1" i="0">
                <a:solidFill>
                  <a:srgbClr val="000000"/>
                </a:solidFill>
                <a:latin typeface="Courier New"/>
                <a:ea typeface="Courier New"/>
                <a:cs typeface="Courier New"/>
              </a:rPr>
              <a:t>if (radius &gt;= 0) {</a:t>
            </a:r>
          </a:p>
          <a:p>
            <a:pPr algn="l">
              <a:lnSpc>
                <a:spcPts val="2800"/>
              </a:lnSpc>
            </a:pPr>
            <a:r>
              <a:rPr sz="2000" b="1" i="0">
                <a:solidFill>
                  <a:srgbClr val="000000"/>
                </a:solidFill>
                <a:latin typeface="Courier New"/>
                <a:ea typeface="Courier New"/>
                <a:cs typeface="Courier New"/>
              </a:rPr>
              <a:t>  area = radius * radius * 3.14159;</a:t>
            </a:r>
          </a:p>
          <a:p>
            <a:pPr algn="l">
              <a:lnSpc>
                <a:spcPts val="2800"/>
              </a:lnSpc>
            </a:pPr>
            <a:r>
              <a:rPr sz="2000" b="1" i="0">
                <a:solidFill>
                  <a:srgbClr val="000000"/>
                </a:solidFill>
                <a:latin typeface="Courier New"/>
                <a:ea typeface="Courier New"/>
                <a:cs typeface="Courier New"/>
              </a:rPr>
              <a:t> </a:t>
            </a:r>
          </a:p>
          <a:p>
            <a:pPr algn="l">
              <a:lnSpc>
                <a:spcPts val="2800"/>
              </a:lnSpc>
            </a:pPr>
            <a:r>
              <a:rPr sz="2000" b="1" i="0">
                <a:solidFill>
                  <a:srgbClr val="000000"/>
                </a:solidFill>
                <a:latin typeface="Courier New"/>
                <a:ea typeface="Courier New"/>
                <a:cs typeface="Courier New"/>
              </a:rPr>
              <a:t>  System.out.println("The area for the "</a:t>
            </a:r>
          </a:p>
          <a:p>
            <a:pPr algn="l">
              <a:lnSpc>
                <a:spcPts val="2800"/>
              </a:lnSpc>
            </a:pPr>
            <a:r>
              <a:rPr sz="2000" b="1" i="0">
                <a:solidFill>
                  <a:srgbClr val="000000"/>
                </a:solidFill>
                <a:latin typeface="Courier New"/>
                <a:ea typeface="Courier New"/>
                <a:cs typeface="Courier New"/>
              </a:rPr>
              <a:t>    + "circle of radius " + radius +</a:t>
            </a:r>
          </a:p>
          <a:p>
            <a:pPr algn="l">
              <a:lnSpc>
                <a:spcPts val="2800"/>
              </a:lnSpc>
            </a:pPr>
            <a:r>
              <a:rPr sz="2000" b="1" i="0">
                <a:solidFill>
                  <a:srgbClr val="000000"/>
                </a:solidFill>
                <a:latin typeface="Courier New"/>
                <a:ea typeface="Courier New"/>
                <a:cs typeface="Courier New"/>
              </a:rPr>
              <a:t>    " is " + area);</a:t>
            </a:r>
          </a:p>
          <a:p>
            <a:pPr algn="l">
              <a:lnSpc>
                <a:spcPts val="2800"/>
              </a:lnSpc>
            </a:pPr>
            <a:r>
              <a:rPr sz="2000" b="1" i="0">
                <a:solidFill>
                  <a:srgbClr val="000000"/>
                </a:solidFill>
                <a:latin typeface="Courier New"/>
                <a:ea typeface="Courier New"/>
                <a:cs typeface="Courier New"/>
              </a:rPr>
              <a:t>}</a:t>
            </a:r>
          </a:p>
          <a:p>
            <a:pPr algn="l">
              <a:lnSpc>
                <a:spcPts val="2800"/>
              </a:lnSpc>
            </a:pPr>
            <a:r>
              <a:rPr sz="2000" b="1" i="0">
                <a:solidFill>
                  <a:srgbClr val="000000"/>
                </a:solidFill>
                <a:latin typeface="Courier New"/>
                <a:ea typeface="Courier New"/>
                <a:cs typeface="Courier New"/>
              </a:rPr>
              <a:t>else {</a:t>
            </a:r>
          </a:p>
          <a:p>
            <a:pPr algn="l">
              <a:lnSpc>
                <a:spcPts val="2800"/>
              </a:lnSpc>
            </a:pPr>
            <a:r>
              <a:rPr sz="2000" b="1" i="0">
                <a:solidFill>
                  <a:srgbClr val="000000"/>
                </a:solidFill>
                <a:latin typeface="Courier New"/>
                <a:ea typeface="Courier New"/>
                <a:cs typeface="Courier New"/>
              </a:rPr>
              <a:t>  System.out.println("Negative input");</a:t>
            </a:r>
          </a:p>
          <a:p>
            <a:pPr algn="l">
              <a:lnSpc>
                <a:spcPts val="2800"/>
              </a:lnSpc>
            </a:pPr>
            <a:r>
              <a:rPr sz="2000" b="1" i="0">
                <a:solidFill>
                  <a:srgbClr val="000000"/>
                </a:solidFill>
                <a:latin typeface="Courier New"/>
                <a:ea typeface="Courier New"/>
                <a:cs typeface="Courier New"/>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Note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0D92D50-7B37-4564-9E28-E92CC7C538E5}" type="slidenum">
              <a:rPr sz="1200" b="0" i="0">
                <a:solidFill>
                  <a:srgbClr val="6B6B6B"/>
                </a:solidFill>
                <a:latin typeface="Source Sans 3"/>
                <a:ea typeface="Source Sans 3"/>
                <a:cs typeface="Source Sans 3"/>
              </a:rPr>
              <a:pPr algn="l">
                <a:lnSpc>
                  <a:spcPts val="1500"/>
                </a:lnSpc>
              </a:pPr>
              <a:t>34</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marL="279400" indent="-279400" algn="l">
              <a:lnSpc>
                <a:spcPts val="3000"/>
              </a:lnSpc>
            </a:pPr>
            <a:r>
              <a:rPr sz="2400" b="0" i="0">
                <a:solidFill>
                  <a:srgbClr val="111111"/>
                </a:solidFill>
                <a:latin typeface="Times New Roman"/>
                <a:ea typeface="Times New Roman"/>
                <a:cs typeface="Times New Roman"/>
              </a:rPr>
              <a:t>▫  The </a:t>
            </a:r>
            <a:r>
              <a:rPr sz="2200" b="1" i="0">
                <a:solidFill>
                  <a:srgbClr val="111111"/>
                </a:solidFill>
                <a:latin typeface="Courier New"/>
                <a:ea typeface="Courier New"/>
                <a:cs typeface="Courier New"/>
              </a:rPr>
              <a:t>else</a:t>
            </a:r>
            <a:r>
              <a:rPr sz="2400" b="0" i="0">
                <a:solidFill>
                  <a:srgbClr val="111111"/>
                </a:solidFill>
                <a:latin typeface="Times New Roman"/>
                <a:ea typeface="Times New Roman"/>
                <a:cs typeface="Times New Roman"/>
              </a:rPr>
              <a:t> clause matches the most recent </a:t>
            </a:r>
            <a:r>
              <a:rPr sz="2200" b="1" i="0">
                <a:solidFill>
                  <a:srgbClr val="111111"/>
                </a:solidFill>
                <a:latin typeface="Courier New"/>
                <a:ea typeface="Courier New"/>
                <a:cs typeface="Courier New"/>
              </a:rPr>
              <a:t>if</a:t>
            </a:r>
            <a:r>
              <a:rPr sz="2400" b="0" i="0">
                <a:solidFill>
                  <a:srgbClr val="111111"/>
                </a:solidFill>
                <a:latin typeface="Times New Roman"/>
                <a:ea typeface="Times New Roman"/>
                <a:cs typeface="Times New Roman"/>
              </a:rPr>
              <a:t> clause in the same block.</a:t>
            </a:r>
          </a:p>
        </p:txBody>
      </p:sp>
      <p:pic>
        <p:nvPicPr>
          <p:cNvPr id="5" name="Picture 4" descr="note_else.png"/>
          <p:cNvPicPr>
            <a:picLocks noChangeAspect="1"/>
          </p:cNvPicPr>
          <p:nvPr/>
        </p:nvPicPr>
        <p:blipFill>
          <a:blip r:embed="rId2"/>
          <a:stretch>
            <a:fillRect/>
          </a:stretch>
        </p:blipFill>
        <p:spPr>
          <a:xfrm>
            <a:off x="952500" y="2032000"/>
            <a:ext cx="10287000" cy="322109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Note, cont.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C5C33A2-B6EA-4005-8DE3-66709FB2876C}" type="slidenum">
              <a:rPr sz="1200" b="0" i="0">
                <a:solidFill>
                  <a:srgbClr val="6B6B6B"/>
                </a:solidFill>
                <a:latin typeface="Source Sans 3"/>
                <a:ea typeface="Source Sans 3"/>
                <a:cs typeface="Source Sans 3"/>
              </a:rPr>
              <a:pPr algn="l">
                <a:lnSpc>
                  <a:spcPts val="1500"/>
                </a:lnSpc>
              </a:pPr>
              <a:t>35</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875"/>
              </a:lnSpc>
            </a:pPr>
            <a:r>
              <a:rPr sz="2300" b="0" i="0">
                <a:solidFill>
                  <a:srgbClr val="111111"/>
                </a:solidFill>
                <a:latin typeface="Times New Roman"/>
                <a:ea typeface="Times New Roman"/>
                <a:cs typeface="Times New Roman"/>
              </a:rPr>
              <a:t>Nothing is printed from the preceding statement. To force the </a:t>
            </a:r>
            <a:r>
              <a:rPr sz="2100" b="1" i="0">
                <a:solidFill>
                  <a:srgbClr val="111111"/>
                </a:solidFill>
                <a:latin typeface="Courier New"/>
                <a:ea typeface="Courier New"/>
                <a:cs typeface="Courier New"/>
              </a:rPr>
              <a:t>else</a:t>
            </a:r>
            <a:r>
              <a:rPr sz="2300" b="0" i="0">
                <a:solidFill>
                  <a:srgbClr val="111111"/>
                </a:solidFill>
                <a:latin typeface="Times New Roman"/>
                <a:ea typeface="Times New Roman"/>
                <a:cs typeface="Times New Roman"/>
              </a:rPr>
              <a:t> clause to match the first </a:t>
            </a:r>
            <a:r>
              <a:rPr sz="2100" b="1" i="0">
                <a:solidFill>
                  <a:srgbClr val="111111"/>
                </a:solidFill>
                <a:latin typeface="Courier New"/>
                <a:ea typeface="Courier New"/>
                <a:cs typeface="Courier New"/>
              </a:rPr>
              <a:t>if</a:t>
            </a:r>
            <a:r>
              <a:rPr sz="2300" b="0" i="0">
                <a:solidFill>
                  <a:srgbClr val="111111"/>
                </a:solidFill>
                <a:latin typeface="Times New Roman"/>
                <a:ea typeface="Times New Roman"/>
                <a:cs typeface="Times New Roman"/>
              </a:rPr>
              <a:t> clause, you must add a pair of braces:</a:t>
            </a:r>
          </a:p>
        </p:txBody>
      </p:sp>
      <p:sp>
        <p:nvSpPr>
          <p:cNvPr id="5" name="TextBox 4"/>
          <p:cNvSpPr txBox="1"/>
          <p:nvPr/>
        </p:nvSpPr>
        <p:spPr>
          <a:xfrm>
            <a:off x="1524000" y="2286000"/>
            <a:ext cx="4693920" cy="284734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int i = 1;</a:t>
            </a:r>
          </a:p>
          <a:p>
            <a:pPr algn="l">
              <a:lnSpc>
                <a:spcPts val="2379"/>
              </a:lnSpc>
            </a:pPr>
            <a:r>
              <a:rPr sz="1700" b="1" i="0">
                <a:solidFill>
                  <a:srgbClr val="000000"/>
                </a:solidFill>
                <a:latin typeface="Courier New"/>
                <a:ea typeface="Courier New"/>
                <a:cs typeface="Courier New"/>
              </a:rPr>
              <a:t>int j = 2;</a:t>
            </a:r>
          </a:p>
          <a:p>
            <a:pPr algn="l">
              <a:lnSpc>
                <a:spcPts val="2379"/>
              </a:lnSpc>
            </a:pPr>
            <a:r>
              <a:rPr sz="1700" b="1" i="0">
                <a:solidFill>
                  <a:srgbClr val="000000"/>
                </a:solidFill>
                <a:latin typeface="Courier New"/>
                <a:ea typeface="Courier New"/>
                <a:cs typeface="Courier New"/>
              </a:rPr>
              <a:t>int k = 3;</a:t>
            </a:r>
          </a:p>
          <a:p>
            <a:pPr algn="l">
              <a:lnSpc>
                <a:spcPts val="2379"/>
              </a:lnSpc>
            </a:pPr>
            <a:r>
              <a:rPr sz="1700" b="1" i="0">
                <a:solidFill>
                  <a:srgbClr val="000000"/>
                </a:solidFill>
                <a:latin typeface="Courier New"/>
                <a:ea typeface="Courier New"/>
                <a:cs typeface="Courier New"/>
              </a:rPr>
              <a:t>if (i &gt; j) {</a:t>
            </a:r>
          </a:p>
          <a:p>
            <a:pPr algn="l">
              <a:lnSpc>
                <a:spcPts val="2379"/>
              </a:lnSpc>
            </a:pPr>
            <a:r>
              <a:rPr sz="1700" b="1" i="0">
                <a:solidFill>
                  <a:srgbClr val="000000"/>
                </a:solidFill>
                <a:latin typeface="Courier New"/>
                <a:ea typeface="Courier New"/>
                <a:cs typeface="Courier New"/>
              </a:rPr>
              <a:t>  if (i &gt; k)</a:t>
            </a:r>
          </a:p>
          <a:p>
            <a:pPr algn="l">
              <a:lnSpc>
                <a:spcPts val="2379"/>
              </a:lnSpc>
            </a:pPr>
            <a:r>
              <a:rPr sz="1700" b="1" i="0">
                <a:solidFill>
                  <a:srgbClr val="000000"/>
                </a:solidFill>
                <a:latin typeface="Courier New"/>
                <a:ea typeface="Courier New"/>
                <a:cs typeface="Courier New"/>
              </a:rPr>
              <a:t>    System.out.println("A");</a:t>
            </a:r>
          </a:p>
          <a:p>
            <a:pPr algn="l">
              <a:lnSpc>
                <a:spcPts val="2379"/>
              </a:lnSpc>
            </a:pPr>
            <a:r>
              <a:rPr sz="1700" b="1" i="0">
                <a:solidFill>
                  <a:srgbClr val="000000"/>
                </a:solidFill>
                <a:latin typeface="Courier New"/>
                <a:ea typeface="Courier New"/>
                <a:cs typeface="Courier New"/>
              </a:rPr>
              <a:t>}</a:t>
            </a:r>
          </a:p>
          <a:p>
            <a:pPr algn="l">
              <a:lnSpc>
                <a:spcPts val="2379"/>
              </a:lnSpc>
            </a:pPr>
            <a:r>
              <a:rPr sz="1700" b="1" i="0">
                <a:solidFill>
                  <a:srgbClr val="000000"/>
                </a:solidFill>
                <a:latin typeface="Courier New"/>
                <a:ea typeface="Courier New"/>
                <a:cs typeface="Courier New"/>
              </a:rPr>
              <a:t>else</a:t>
            </a:r>
          </a:p>
          <a:p>
            <a:pPr algn="l">
              <a:lnSpc>
                <a:spcPts val="2379"/>
              </a:lnSpc>
            </a:pPr>
            <a:r>
              <a:rPr sz="1700" b="1" i="0">
                <a:solidFill>
                  <a:srgbClr val="000000"/>
                </a:solidFill>
                <a:latin typeface="Courier New"/>
                <a:ea typeface="Courier New"/>
                <a:cs typeface="Courier New"/>
              </a:rPr>
              <a:t>  System.out.println("B");</a:t>
            </a:r>
          </a:p>
        </p:txBody>
      </p:sp>
      <p:sp>
        <p:nvSpPr>
          <p:cNvPr id="6" name="TextBox 5"/>
          <p:cNvSpPr txBox="1"/>
          <p:nvPr/>
        </p:nvSpPr>
        <p:spPr>
          <a:xfrm>
            <a:off x="1397000" y="5461000"/>
            <a:ext cx="7620000" cy="381000"/>
          </a:xfrm>
          <a:prstGeom prst="rect">
            <a:avLst/>
          </a:prstGeom>
          <a:noFill/>
        </p:spPr>
        <p:txBody>
          <a:bodyPr wrap="square" lIns="0" tIns="0" rIns="0" bIns="0" anchor="t">
            <a:spAutoFit/>
          </a:bodyPr>
          <a:lstStyle/>
          <a:p>
            <a:pPr algn="l">
              <a:lnSpc>
                <a:spcPts val="2875"/>
              </a:lnSpc>
            </a:pPr>
            <a:r>
              <a:rPr sz="2300" b="0" i="0">
                <a:solidFill>
                  <a:srgbClr val="111111"/>
                </a:solidFill>
                <a:latin typeface="Times New Roman"/>
                <a:ea typeface="Times New Roman"/>
                <a:cs typeface="Times New Roman"/>
              </a:rPr>
              <a:t>This statement prints B.</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Common Errors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B9DA34A-4731-461C-BC46-641BF226564A}" type="slidenum">
              <a:rPr sz="1200" b="0" i="0">
                <a:solidFill>
                  <a:srgbClr val="6B6B6B"/>
                </a:solidFill>
                <a:latin typeface="Source Sans 3"/>
                <a:ea typeface="Source Sans 3"/>
                <a:cs typeface="Source Sans 3"/>
              </a:rPr>
              <a:pPr algn="l">
                <a:lnSpc>
                  <a:spcPts val="1500"/>
                </a:lnSpc>
              </a:pPr>
              <a:t>36</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875"/>
              </a:lnSpc>
            </a:pPr>
            <a:r>
              <a:rPr sz="2300" b="0" i="0">
                <a:solidFill>
                  <a:srgbClr val="111111"/>
                </a:solidFill>
                <a:latin typeface="Times New Roman"/>
                <a:ea typeface="Times New Roman"/>
                <a:cs typeface="Times New Roman"/>
              </a:rPr>
              <a:t>Adding a semicolon at the end of an </a:t>
            </a:r>
            <a:r>
              <a:rPr sz="2100" b="1" i="0">
                <a:solidFill>
                  <a:srgbClr val="111111"/>
                </a:solidFill>
                <a:latin typeface="Courier New"/>
                <a:ea typeface="Courier New"/>
                <a:cs typeface="Courier New"/>
              </a:rPr>
              <a:t>if</a:t>
            </a:r>
            <a:r>
              <a:rPr sz="2300" b="0" i="0">
                <a:solidFill>
                  <a:srgbClr val="111111"/>
                </a:solidFill>
                <a:latin typeface="Times New Roman"/>
                <a:ea typeface="Times New Roman"/>
                <a:cs typeface="Times New Roman"/>
              </a:rPr>
              <a:t> clause is a common mistake.</a:t>
            </a:r>
          </a:p>
        </p:txBody>
      </p:sp>
      <p:sp>
        <p:nvSpPr>
          <p:cNvPr id="5" name="Rectangle 4"/>
          <p:cNvSpPr/>
          <p:nvPr/>
        </p:nvSpPr>
        <p:spPr>
          <a:xfrm>
            <a:off x="3680460" y="1943862"/>
            <a:ext cx="213360" cy="30734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524000" y="1905000"/>
            <a:ext cx="6827520" cy="2367280"/>
          </a:xfrm>
          <a:prstGeom prst="rect">
            <a:avLst/>
          </a:prstGeom>
          <a:noFill/>
        </p:spPr>
        <p:txBody>
          <a:bodyPr wrap="square" lIns="0" tIns="0" rIns="0" bIns="0" anchor="t">
            <a:spAutoFit/>
          </a:bodyPr>
          <a:lstStyle/>
          <a:p>
            <a:pPr algn="l">
              <a:lnSpc>
                <a:spcPts val="2520"/>
              </a:lnSpc>
            </a:pPr>
            <a:r>
              <a:rPr sz="1800" b="1" i="0">
                <a:solidFill>
                  <a:srgbClr val="000000"/>
                </a:solidFill>
                <a:latin typeface="Courier New"/>
                <a:ea typeface="Courier New"/>
                <a:cs typeface="Courier New"/>
              </a:rPr>
              <a:t>if (radius &gt;= 0);</a:t>
            </a:r>
          </a:p>
          <a:p>
            <a:pPr algn="l">
              <a:lnSpc>
                <a:spcPts val="2520"/>
              </a:lnSpc>
            </a:pPr>
            <a:r>
              <a:rPr sz="1800" b="1" i="0">
                <a:solidFill>
                  <a:srgbClr val="000000"/>
                </a:solidFill>
                <a:latin typeface="Courier New"/>
                <a:ea typeface="Courier New"/>
                <a:cs typeface="Courier New"/>
              </a:rPr>
              <a:t>{</a:t>
            </a:r>
          </a:p>
          <a:p>
            <a:pPr algn="l">
              <a:lnSpc>
                <a:spcPts val="2520"/>
              </a:lnSpc>
            </a:pPr>
            <a:r>
              <a:rPr sz="1800" b="1" i="0">
                <a:solidFill>
                  <a:srgbClr val="000000"/>
                </a:solidFill>
                <a:latin typeface="Courier New"/>
                <a:ea typeface="Courier New"/>
                <a:cs typeface="Courier New"/>
              </a:rPr>
              <a:t>  area = radius*radius*PI;</a:t>
            </a:r>
          </a:p>
          <a:p>
            <a:pPr algn="l">
              <a:lnSpc>
                <a:spcPts val="2520"/>
              </a:lnSpc>
            </a:pPr>
            <a:r>
              <a:rPr sz="1800" b="1" i="0">
                <a:solidFill>
                  <a:srgbClr val="000000"/>
                </a:solidFill>
                <a:latin typeface="Courier New"/>
                <a:ea typeface="Courier New"/>
                <a:cs typeface="Courier New"/>
              </a:rPr>
              <a:t>  System.out.println(</a:t>
            </a:r>
          </a:p>
          <a:p>
            <a:pPr algn="l">
              <a:lnSpc>
                <a:spcPts val="2520"/>
              </a:lnSpc>
            </a:pPr>
            <a:r>
              <a:rPr sz="1800" b="1" i="0">
                <a:solidFill>
                  <a:srgbClr val="000000"/>
                </a:solidFill>
                <a:latin typeface="Courier New"/>
                <a:ea typeface="Courier New"/>
                <a:cs typeface="Courier New"/>
              </a:rPr>
              <a:t>    "The area for the circle of radius " +</a:t>
            </a:r>
          </a:p>
          <a:p>
            <a:pPr algn="l">
              <a:lnSpc>
                <a:spcPts val="2520"/>
              </a:lnSpc>
            </a:pPr>
            <a:r>
              <a:rPr sz="1800" b="1" i="0">
                <a:solidFill>
                  <a:srgbClr val="000000"/>
                </a:solidFill>
                <a:latin typeface="Courier New"/>
                <a:ea typeface="Courier New"/>
                <a:cs typeface="Courier New"/>
              </a:rPr>
              <a:t>    radius + " is " + area);</a:t>
            </a:r>
          </a:p>
          <a:p>
            <a:pPr algn="l">
              <a:lnSpc>
                <a:spcPts val="2520"/>
              </a:lnSpc>
            </a:pPr>
            <a:r>
              <a:rPr sz="1800" b="1" i="0">
                <a:solidFill>
                  <a:srgbClr val="000000"/>
                </a:solidFill>
                <a:latin typeface="Courier New"/>
                <a:ea typeface="Courier New"/>
                <a:cs typeface="Courier New"/>
              </a:rPr>
              <a:t>}</a:t>
            </a:r>
          </a:p>
        </p:txBody>
      </p:sp>
      <p:sp>
        <p:nvSpPr>
          <p:cNvPr id="7" name="TextBox 6"/>
          <p:cNvSpPr txBox="1"/>
          <p:nvPr/>
        </p:nvSpPr>
        <p:spPr>
          <a:xfrm>
            <a:off x="952500" y="4508500"/>
            <a:ext cx="10287000" cy="508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This mistake is hard to find, because it is not a compilation error or a runtime error, it is a logic error.</a:t>
            </a:r>
          </a:p>
          <a:p>
            <a:pPr algn="l">
              <a:lnSpc>
                <a:spcPts val="2750"/>
              </a:lnSpc>
              <a:spcBef>
                <a:spcPts val="800"/>
              </a:spcBef>
            </a:pPr>
            <a:r>
              <a:rPr sz="2200" b="0" i="0">
                <a:solidFill>
                  <a:srgbClr val="111111"/>
                </a:solidFill>
                <a:latin typeface="Times New Roman"/>
                <a:ea typeface="Times New Roman"/>
                <a:cs typeface="Times New Roman"/>
              </a:rPr>
              <a:t>This error often occurs when you use the next-line block style.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TIP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C3F1057-AB93-4D57-81E5-3439F07849C4}" type="slidenum">
              <a:rPr sz="1200" b="0" i="0">
                <a:solidFill>
                  <a:srgbClr val="6B6B6B"/>
                </a:solidFill>
                <a:latin typeface="Source Sans 3"/>
                <a:ea typeface="Source Sans 3"/>
                <a:cs typeface="Source Sans 3"/>
              </a:rPr>
              <a:pPr algn="l">
                <a:lnSpc>
                  <a:spcPts val="1500"/>
                </a:lnSpc>
              </a:pPr>
              <a:t>37</a:t>
            </a:fld>
            <a:endParaRPr sz="1200" b="0" i="0">
              <a:solidFill>
                <a:srgbClr val="6B6B6B"/>
              </a:solidFill>
              <a:latin typeface="Source Sans 3"/>
              <a:ea typeface="Source Sans 3"/>
              <a:cs typeface="Source Sans 3"/>
            </a:endParaRPr>
          </a:p>
        </p:txBody>
      </p:sp>
      <p:pic>
        <p:nvPicPr>
          <p:cNvPr id="4" name="Picture 3" descr="tip.png"/>
          <p:cNvPicPr>
            <a:picLocks noChangeAspect="1"/>
          </p:cNvPicPr>
          <p:nvPr/>
        </p:nvPicPr>
        <p:blipFill>
          <a:blip r:embed="rId2"/>
          <a:stretch>
            <a:fillRect/>
          </a:stretch>
        </p:blipFill>
        <p:spPr>
          <a:xfrm>
            <a:off x="952500" y="2159000"/>
            <a:ext cx="10287000" cy="234976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CAUTION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C4EB6BC-C03D-43F1-ADCE-80898ABD9816}" type="slidenum">
              <a:rPr sz="1200" b="0" i="0">
                <a:solidFill>
                  <a:srgbClr val="6B6B6B"/>
                </a:solidFill>
                <a:latin typeface="Source Sans 3"/>
                <a:ea typeface="Source Sans 3"/>
                <a:cs typeface="Source Sans 3"/>
              </a:rPr>
              <a:pPr algn="l">
                <a:lnSpc>
                  <a:spcPts val="1500"/>
                </a:lnSpc>
              </a:pPr>
              <a:t>38</a:t>
            </a:fld>
            <a:endParaRPr sz="1200" b="0" i="0">
              <a:solidFill>
                <a:srgbClr val="6B6B6B"/>
              </a:solidFill>
              <a:latin typeface="Source Sans 3"/>
              <a:ea typeface="Source Sans 3"/>
              <a:cs typeface="Source Sans 3"/>
            </a:endParaRPr>
          </a:p>
        </p:txBody>
      </p:sp>
      <p:pic>
        <p:nvPicPr>
          <p:cNvPr id="4" name="Picture 3" descr="caution.png"/>
          <p:cNvPicPr>
            <a:picLocks noChangeAspect="1"/>
          </p:cNvPicPr>
          <p:nvPr/>
        </p:nvPicPr>
        <p:blipFill>
          <a:blip r:embed="rId2"/>
          <a:stretch>
            <a:fillRect/>
          </a:stretch>
        </p:blipFill>
        <p:spPr>
          <a:xfrm>
            <a:off x="952500" y="2286000"/>
            <a:ext cx="10287000" cy="186489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Logical Operators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028EA38-E15A-4743-9B63-D37799748BBA}" type="slidenum">
              <a:rPr sz="1200" b="0" i="0">
                <a:solidFill>
                  <a:srgbClr val="6B6B6B"/>
                </a:solidFill>
                <a:latin typeface="Source Sans 3"/>
                <a:ea typeface="Source Sans 3"/>
                <a:cs typeface="Source Sans 3"/>
              </a:rPr>
              <a:pPr algn="l">
                <a:lnSpc>
                  <a:spcPts val="1500"/>
                </a:lnSpc>
              </a:pPr>
              <a:t>39</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3556000" y="1524000"/>
          <a:ext cx="5080000" cy="2921000"/>
        </p:xfrm>
        <a:graphic>
          <a:graphicData uri="http://schemas.openxmlformats.org/drawingml/2006/table">
            <a:tbl>
              <a:tblPr/>
              <a:tblGrid>
                <a:gridCol w="2032000">
                  <a:extLst>
                    <a:ext uri="{9D8B030D-6E8A-4147-A177-3AD203B41FA5}">
                      <a16:colId xmlns:a16="http://schemas.microsoft.com/office/drawing/2014/main" xmlns="" val="20000"/>
                    </a:ext>
                  </a:extLst>
                </a:gridCol>
                <a:gridCol w="3048000">
                  <a:extLst>
                    <a:ext uri="{9D8B030D-6E8A-4147-A177-3AD203B41FA5}">
                      <a16:colId xmlns:a16="http://schemas.microsoft.com/office/drawing/2014/main" xmlns="" val="20001"/>
                    </a:ext>
                  </a:extLst>
                </a:gridCol>
              </a:tblGrid>
              <a:tr h="584200">
                <a:tc>
                  <a:txBody>
                    <a:bodyPr/>
                    <a:lstStyle/>
                    <a:p>
                      <a:pPr>
                        <a:lnSpc>
                          <a:spcPts val="2600"/>
                        </a:lnSpc>
                      </a:pPr>
                      <a:r>
                        <a:rPr sz="2000" b="1" i="0">
                          <a:solidFill>
                            <a:srgbClr val="111111"/>
                          </a:solidFill>
                          <a:latin typeface="Courier New"/>
                          <a:ea typeface="Courier New"/>
                          <a:cs typeface="Courier New"/>
                        </a:rPr>
                        <a:t>Operator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600"/>
                        </a:lnSpc>
                      </a:pPr>
                      <a:r>
                        <a:rPr sz="2000" b="1" i="0">
                          <a:solidFill>
                            <a:srgbClr val="111111"/>
                          </a:solidFill>
                          <a:latin typeface="Courier New"/>
                          <a:ea typeface="Courier New"/>
                          <a:cs typeface="Courier New"/>
                        </a:rPr>
                        <a:t>Name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584200">
                <a:tc>
                  <a:txBody>
                    <a:bodyPr/>
                    <a:lstStyle/>
                    <a:p>
                      <a:pPr>
                        <a:lnSpc>
                          <a:spcPts val="2600"/>
                        </a:lnSpc>
                      </a:pPr>
                      <a:r>
                        <a:rPr sz="20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600"/>
                        </a:lnSpc>
                      </a:pPr>
                      <a:r>
                        <a:rPr sz="2000" b="0" i="0">
                          <a:solidFill>
                            <a:srgbClr val="111111"/>
                          </a:solidFill>
                          <a:latin typeface="Courier New"/>
                          <a:ea typeface="Courier New"/>
                          <a:cs typeface="Courier New"/>
                        </a:rPr>
                        <a:t>not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584200">
                <a:tc>
                  <a:txBody>
                    <a:bodyPr/>
                    <a:lstStyle/>
                    <a:p>
                      <a:pPr>
                        <a:lnSpc>
                          <a:spcPts val="2600"/>
                        </a:lnSpc>
                      </a:pPr>
                      <a:r>
                        <a:rPr sz="2000" b="0" i="0">
                          <a:solidFill>
                            <a:srgbClr val="111111"/>
                          </a:solidFill>
                          <a:latin typeface="Courier New"/>
                          <a:ea typeface="Courier New"/>
                          <a:cs typeface="Courier New"/>
                        </a:rPr>
                        <a:t>&amp;&amp;</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600"/>
                        </a:lnSpc>
                      </a:pPr>
                      <a:r>
                        <a:rPr sz="2000" b="0" i="0">
                          <a:solidFill>
                            <a:srgbClr val="111111"/>
                          </a:solidFill>
                          <a:latin typeface="Courier New"/>
                          <a:ea typeface="Courier New"/>
                          <a:cs typeface="Courier New"/>
                        </a:rPr>
                        <a:t>and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584200">
                <a:tc>
                  <a:txBody>
                    <a:bodyPr/>
                    <a:lstStyle/>
                    <a:p>
                      <a:pPr>
                        <a:lnSpc>
                          <a:spcPts val="2600"/>
                        </a:lnSpc>
                      </a:pPr>
                      <a:r>
                        <a:rPr sz="20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600"/>
                        </a:lnSpc>
                      </a:pPr>
                      <a:r>
                        <a:rPr sz="2000" b="0" i="0">
                          <a:solidFill>
                            <a:srgbClr val="111111"/>
                          </a:solidFill>
                          <a:latin typeface="Courier New"/>
                          <a:ea typeface="Courier New"/>
                          <a:cs typeface="Courier New"/>
                        </a:rPr>
                        <a:t>or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584200">
                <a:tc>
                  <a:txBody>
                    <a:bodyPr/>
                    <a:lstStyle/>
                    <a:p>
                      <a:pPr>
                        <a:lnSpc>
                          <a:spcPts val="2600"/>
                        </a:lnSpc>
                      </a:pPr>
                      <a:r>
                        <a:rPr sz="20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600"/>
                        </a:lnSpc>
                      </a:pPr>
                      <a:r>
                        <a:rPr sz="2000" b="0" i="0">
                          <a:solidFill>
                            <a:srgbClr val="111111"/>
                          </a:solidFill>
                          <a:latin typeface="Courier New"/>
                          <a:ea typeface="Courier New"/>
                          <a:cs typeface="Courier New"/>
                        </a:rPr>
                        <a:t>exclusive or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Truth Table for Operator !</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044ECE4E-5513-4867-BDD7-4C92B8E49F58}" type="slidenum">
              <a:rPr sz="1200" b="0" i="0">
                <a:solidFill>
                  <a:srgbClr val="6B6B6B"/>
                </a:solidFill>
                <a:latin typeface="Source Sans 3"/>
                <a:ea typeface="Source Sans 3"/>
                <a:cs typeface="Source Sans 3"/>
              </a:rPr>
              <a:pPr algn="l">
                <a:lnSpc>
                  <a:spcPts val="1500"/>
                </a:lnSpc>
              </a:pPr>
              <a:t>40</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952500" y="1524000"/>
          <a:ext cx="2032000" cy="1371600"/>
        </p:xfrm>
        <a:graphic>
          <a:graphicData uri="http://schemas.openxmlformats.org/drawingml/2006/table">
            <a:tbl>
              <a:tblPr/>
              <a:tblGrid>
                <a:gridCol w="1016000">
                  <a:extLst>
                    <a:ext uri="{9D8B030D-6E8A-4147-A177-3AD203B41FA5}">
                      <a16:colId xmlns:a16="http://schemas.microsoft.com/office/drawing/2014/main" xmlns="" val="20000"/>
                    </a:ext>
                  </a:extLst>
                </a:gridCol>
                <a:gridCol w="1016000">
                  <a:extLst>
                    <a:ext uri="{9D8B030D-6E8A-4147-A177-3AD203B41FA5}">
                      <a16:colId xmlns:a16="http://schemas.microsoft.com/office/drawing/2014/main" xmlns="" val="20001"/>
                    </a:ext>
                  </a:extLst>
                </a:gridCol>
              </a:tblGrid>
              <a:tr h="457200">
                <a:tc>
                  <a:txBody>
                    <a:bodyPr/>
                    <a:lstStyle/>
                    <a:p>
                      <a:pPr>
                        <a:lnSpc>
                          <a:spcPts val="2210"/>
                        </a:lnSpc>
                      </a:pPr>
                      <a:r>
                        <a:rPr sz="1700" b="1" i="0">
                          <a:solidFill>
                            <a:srgbClr val="111111"/>
                          </a:solidFill>
                          <a:latin typeface="Courier New"/>
                          <a:ea typeface="Courier New"/>
                          <a:cs typeface="Courier New"/>
                        </a:rPr>
                        <a:t>p</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210"/>
                        </a:lnSpc>
                      </a:pPr>
                      <a:r>
                        <a:rPr sz="1700" b="1" i="0">
                          <a:solidFill>
                            <a:srgbClr val="111111"/>
                          </a:solidFill>
                          <a:latin typeface="Courier New"/>
                          <a:ea typeface="Courier New"/>
                          <a:cs typeface="Courier New"/>
                        </a:rPr>
                        <a:t>!p</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457200">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457200">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bl>
          </a:graphicData>
        </a:graphic>
      </p:graphicFrame>
      <p:sp>
        <p:nvSpPr>
          <p:cNvPr id="5" name="TextBox 4"/>
          <p:cNvSpPr txBox="1"/>
          <p:nvPr/>
        </p:nvSpPr>
        <p:spPr>
          <a:xfrm>
            <a:off x="3492500" y="1549400"/>
            <a:ext cx="7747000" cy="3810000"/>
          </a:xfrm>
          <a:prstGeom prst="rect">
            <a:avLst/>
          </a:prstGeom>
          <a:noFill/>
        </p:spPr>
        <p:txBody>
          <a:bodyPr wrap="square" lIns="0" tIns="0" rIns="0" bIns="0" anchor="t">
            <a:spAutoFit/>
          </a:bodyPr>
          <a:lstStyle/>
          <a:p>
            <a:pPr algn="l">
              <a:lnSpc>
                <a:spcPts val="2400"/>
              </a:lnSpc>
            </a:pPr>
            <a:r>
              <a:rPr sz="1900" b="1" i="0">
                <a:solidFill>
                  <a:srgbClr val="111111"/>
                </a:solidFill>
                <a:latin typeface="Times New Roman"/>
                <a:ea typeface="Times New Roman"/>
                <a:cs typeface="Times New Roman"/>
              </a:rPr>
              <a:t>Example (assume age = 24, gender = 'M')</a:t>
            </a:r>
          </a:p>
          <a:p>
            <a:pPr algn="l">
              <a:lnSpc>
                <a:spcPts val="2400"/>
              </a:lnSpc>
              <a:spcBef>
                <a:spcPts val="1400"/>
              </a:spcBef>
            </a:pPr>
            <a:r>
              <a:rPr sz="1900" b="0" i="0">
                <a:solidFill>
                  <a:srgbClr val="111111"/>
                </a:solidFill>
                <a:latin typeface="Times New Roman"/>
                <a:ea typeface="Times New Roman"/>
                <a:cs typeface="Times New Roman"/>
              </a:rPr>
              <a:t>!(age &gt; 18) is false, because (age &gt; 18) is true.</a:t>
            </a:r>
          </a:p>
          <a:p>
            <a:pPr algn="l">
              <a:lnSpc>
                <a:spcPts val="2400"/>
              </a:lnSpc>
              <a:spcBef>
                <a:spcPts val="1400"/>
              </a:spcBef>
            </a:pPr>
            <a:r>
              <a:rPr sz="1900" b="0" i="0">
                <a:solidFill>
                  <a:srgbClr val="111111"/>
                </a:solidFill>
                <a:latin typeface="Times New Roman"/>
                <a:ea typeface="Times New Roman"/>
                <a:cs typeface="Times New Roman"/>
              </a:rPr>
              <a:t>!(gender != 'F') is true, because (grade != 'F') is false.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Truth Table for Operator &amp;&amp;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B892748D-8281-44CE-9133-079068B5842A}" type="slidenum">
              <a:rPr sz="1200" b="0" i="0">
                <a:solidFill>
                  <a:srgbClr val="6B6B6B"/>
                </a:solidFill>
                <a:latin typeface="Source Sans 3"/>
                <a:ea typeface="Source Sans 3"/>
                <a:cs typeface="Source Sans 3"/>
              </a:rPr>
              <a:pPr algn="l">
                <a:lnSpc>
                  <a:spcPts val="1500"/>
                </a:lnSpc>
              </a:pPr>
              <a:t>41</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952500" y="1524000"/>
          <a:ext cx="3683000" cy="2286000"/>
        </p:xfrm>
        <a:graphic>
          <a:graphicData uri="http://schemas.openxmlformats.org/drawingml/2006/table">
            <a:tbl>
              <a:tblPr/>
              <a:tblGrid>
                <a:gridCol w="1016000">
                  <a:extLst>
                    <a:ext uri="{9D8B030D-6E8A-4147-A177-3AD203B41FA5}">
                      <a16:colId xmlns:a16="http://schemas.microsoft.com/office/drawing/2014/main" xmlns="" val="20000"/>
                    </a:ext>
                  </a:extLst>
                </a:gridCol>
                <a:gridCol w="1016000">
                  <a:extLst>
                    <a:ext uri="{9D8B030D-6E8A-4147-A177-3AD203B41FA5}">
                      <a16:colId xmlns:a16="http://schemas.microsoft.com/office/drawing/2014/main" xmlns="" val="20001"/>
                    </a:ext>
                  </a:extLst>
                </a:gridCol>
                <a:gridCol w="1651000">
                  <a:extLst>
                    <a:ext uri="{9D8B030D-6E8A-4147-A177-3AD203B41FA5}">
                      <a16:colId xmlns:a16="http://schemas.microsoft.com/office/drawing/2014/main" xmlns="" val="20002"/>
                    </a:ext>
                  </a:extLst>
                </a:gridCol>
              </a:tblGrid>
              <a:tr h="457200">
                <a:tc>
                  <a:txBody>
                    <a:bodyPr/>
                    <a:lstStyle/>
                    <a:p>
                      <a:pPr>
                        <a:lnSpc>
                          <a:spcPts val="2210"/>
                        </a:lnSpc>
                      </a:pPr>
                      <a:r>
                        <a:rPr sz="1700" b="1" i="0">
                          <a:solidFill>
                            <a:srgbClr val="111111"/>
                          </a:solidFill>
                          <a:latin typeface="Courier New"/>
                          <a:ea typeface="Courier New"/>
                          <a:cs typeface="Courier New"/>
                        </a:rPr>
                        <a:t>p1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210"/>
                        </a:lnSpc>
                      </a:pPr>
                      <a:r>
                        <a:rPr sz="1700" b="1" i="0">
                          <a:solidFill>
                            <a:srgbClr val="111111"/>
                          </a:solidFill>
                          <a:latin typeface="Courier New"/>
                          <a:ea typeface="Courier New"/>
                          <a:cs typeface="Courier New"/>
                        </a:rPr>
                        <a:t>p2</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210"/>
                        </a:lnSpc>
                      </a:pPr>
                      <a:r>
                        <a:rPr sz="1700" b="1" i="0">
                          <a:solidFill>
                            <a:srgbClr val="111111"/>
                          </a:solidFill>
                          <a:latin typeface="Courier New"/>
                          <a:ea typeface="Courier New"/>
                          <a:cs typeface="Courier New"/>
                        </a:rPr>
                        <a:t>p1 &amp;&amp; p2</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457200">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457200">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457200">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457200">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bl>
          </a:graphicData>
        </a:graphic>
      </p:graphicFrame>
      <p:sp>
        <p:nvSpPr>
          <p:cNvPr id="5" name="TextBox 4"/>
          <p:cNvSpPr txBox="1"/>
          <p:nvPr/>
        </p:nvSpPr>
        <p:spPr>
          <a:xfrm>
            <a:off x="5143500" y="1549400"/>
            <a:ext cx="6096000" cy="3810000"/>
          </a:xfrm>
          <a:prstGeom prst="rect">
            <a:avLst/>
          </a:prstGeom>
          <a:noFill/>
        </p:spPr>
        <p:txBody>
          <a:bodyPr wrap="square" lIns="0" tIns="0" rIns="0" bIns="0" anchor="t">
            <a:spAutoFit/>
          </a:bodyPr>
          <a:lstStyle/>
          <a:p>
            <a:pPr algn="l">
              <a:lnSpc>
                <a:spcPts val="2400"/>
              </a:lnSpc>
            </a:pPr>
            <a:r>
              <a:rPr sz="1900" b="1" i="0">
                <a:solidFill>
                  <a:srgbClr val="111111"/>
                </a:solidFill>
                <a:latin typeface="Times New Roman"/>
                <a:ea typeface="Times New Roman"/>
                <a:cs typeface="Times New Roman"/>
              </a:rPr>
              <a:t>Example (assume age = 24, gender = 'F')</a:t>
            </a:r>
          </a:p>
          <a:p>
            <a:pPr algn="l">
              <a:lnSpc>
                <a:spcPts val="2400"/>
              </a:lnSpc>
              <a:spcBef>
                <a:spcPts val="1400"/>
              </a:spcBef>
            </a:pPr>
            <a:r>
              <a:rPr sz="1900" b="0" i="0">
                <a:solidFill>
                  <a:srgbClr val="111111"/>
                </a:solidFill>
                <a:latin typeface="Times New Roman"/>
                <a:ea typeface="Times New Roman"/>
                <a:cs typeface="Times New Roman"/>
              </a:rPr>
              <a:t>(age &gt; 18) &amp;&amp; (gender == 'F') is true, because (age &gt; 18) and (gender == 'F') are both true.</a:t>
            </a:r>
          </a:p>
          <a:p>
            <a:pPr algn="l">
              <a:lnSpc>
                <a:spcPts val="2400"/>
              </a:lnSpc>
              <a:spcBef>
                <a:spcPts val="1400"/>
              </a:spcBef>
            </a:pPr>
            <a:r>
              <a:rPr sz="1900" b="0" i="0">
                <a:solidFill>
                  <a:srgbClr val="111111"/>
                </a:solidFill>
                <a:latin typeface="Times New Roman"/>
                <a:ea typeface="Times New Roman"/>
                <a:cs typeface="Times New Roman"/>
              </a:rPr>
              <a:t>(age &gt; 18) &amp;&amp; (gender != 'F') is false, because (gender != 'F') is false.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Truth Table for Operator ||</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B884619-65EB-4B24-BDE9-00C48EE48571}" type="slidenum">
              <a:rPr sz="1200" b="0" i="0">
                <a:solidFill>
                  <a:srgbClr val="6B6B6B"/>
                </a:solidFill>
                <a:latin typeface="Source Sans 3"/>
                <a:ea typeface="Source Sans 3"/>
                <a:cs typeface="Source Sans 3"/>
              </a:rPr>
              <a:pPr algn="l">
                <a:lnSpc>
                  <a:spcPts val="1500"/>
                </a:lnSpc>
              </a:pPr>
              <a:t>42</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952500" y="1524000"/>
          <a:ext cx="3683000" cy="2286000"/>
        </p:xfrm>
        <a:graphic>
          <a:graphicData uri="http://schemas.openxmlformats.org/drawingml/2006/table">
            <a:tbl>
              <a:tblPr/>
              <a:tblGrid>
                <a:gridCol w="1016000">
                  <a:extLst>
                    <a:ext uri="{9D8B030D-6E8A-4147-A177-3AD203B41FA5}">
                      <a16:colId xmlns:a16="http://schemas.microsoft.com/office/drawing/2014/main" xmlns="" val="20000"/>
                    </a:ext>
                  </a:extLst>
                </a:gridCol>
                <a:gridCol w="1016000">
                  <a:extLst>
                    <a:ext uri="{9D8B030D-6E8A-4147-A177-3AD203B41FA5}">
                      <a16:colId xmlns:a16="http://schemas.microsoft.com/office/drawing/2014/main" xmlns="" val="20001"/>
                    </a:ext>
                  </a:extLst>
                </a:gridCol>
                <a:gridCol w="1651000">
                  <a:extLst>
                    <a:ext uri="{9D8B030D-6E8A-4147-A177-3AD203B41FA5}">
                      <a16:colId xmlns:a16="http://schemas.microsoft.com/office/drawing/2014/main" xmlns="" val="20002"/>
                    </a:ext>
                  </a:extLst>
                </a:gridCol>
              </a:tblGrid>
              <a:tr h="457200">
                <a:tc>
                  <a:txBody>
                    <a:bodyPr/>
                    <a:lstStyle/>
                    <a:p>
                      <a:pPr>
                        <a:lnSpc>
                          <a:spcPts val="2210"/>
                        </a:lnSpc>
                      </a:pPr>
                      <a:r>
                        <a:rPr sz="1700" b="1" i="0">
                          <a:solidFill>
                            <a:srgbClr val="111111"/>
                          </a:solidFill>
                          <a:latin typeface="Courier New"/>
                          <a:ea typeface="Courier New"/>
                          <a:cs typeface="Courier New"/>
                        </a:rPr>
                        <a:t>p1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210"/>
                        </a:lnSpc>
                      </a:pPr>
                      <a:r>
                        <a:rPr sz="1700" b="1" i="0">
                          <a:solidFill>
                            <a:srgbClr val="111111"/>
                          </a:solidFill>
                          <a:latin typeface="Courier New"/>
                          <a:ea typeface="Courier New"/>
                          <a:cs typeface="Courier New"/>
                        </a:rPr>
                        <a:t>p2</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210"/>
                        </a:lnSpc>
                      </a:pPr>
                      <a:r>
                        <a:rPr sz="1700" b="1" i="0">
                          <a:solidFill>
                            <a:srgbClr val="111111"/>
                          </a:solidFill>
                          <a:latin typeface="Courier New"/>
                          <a:ea typeface="Courier New"/>
                          <a:cs typeface="Courier New"/>
                        </a:rPr>
                        <a:t>p1 || p2</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457200">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457200">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457200">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457200">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bl>
          </a:graphicData>
        </a:graphic>
      </p:graphicFrame>
      <p:sp>
        <p:nvSpPr>
          <p:cNvPr id="5" name="TextBox 4"/>
          <p:cNvSpPr txBox="1"/>
          <p:nvPr/>
        </p:nvSpPr>
        <p:spPr>
          <a:xfrm>
            <a:off x="5143500" y="1549400"/>
            <a:ext cx="6096000" cy="3810000"/>
          </a:xfrm>
          <a:prstGeom prst="rect">
            <a:avLst/>
          </a:prstGeom>
          <a:noFill/>
        </p:spPr>
        <p:txBody>
          <a:bodyPr wrap="square" lIns="0" tIns="0" rIns="0" bIns="0" anchor="t">
            <a:spAutoFit/>
          </a:bodyPr>
          <a:lstStyle/>
          <a:p>
            <a:pPr algn="l">
              <a:lnSpc>
                <a:spcPts val="2400"/>
              </a:lnSpc>
            </a:pPr>
            <a:r>
              <a:rPr sz="1900" b="1" i="0">
                <a:solidFill>
                  <a:srgbClr val="111111"/>
                </a:solidFill>
                <a:latin typeface="Times New Roman"/>
                <a:ea typeface="Times New Roman"/>
                <a:cs typeface="Times New Roman"/>
              </a:rPr>
              <a:t>Example (assume age = 24, gender = 'F')</a:t>
            </a:r>
          </a:p>
          <a:p>
            <a:pPr algn="l">
              <a:lnSpc>
                <a:spcPts val="2400"/>
              </a:lnSpc>
              <a:spcBef>
                <a:spcPts val="1400"/>
              </a:spcBef>
            </a:pPr>
            <a:r>
              <a:rPr sz="1900" b="0" i="0">
                <a:solidFill>
                  <a:srgbClr val="111111"/>
                </a:solidFill>
                <a:latin typeface="Times New Roman"/>
                <a:ea typeface="Times New Roman"/>
                <a:cs typeface="Times New Roman"/>
              </a:rPr>
              <a:t>(age &gt; 34) || (gender == 'F') is true, because (gender == 'F') is true.</a:t>
            </a:r>
          </a:p>
          <a:p>
            <a:pPr algn="l">
              <a:lnSpc>
                <a:spcPts val="2400"/>
              </a:lnSpc>
              <a:spcBef>
                <a:spcPts val="1400"/>
              </a:spcBef>
            </a:pPr>
            <a:r>
              <a:rPr sz="1900" b="0" i="0">
                <a:solidFill>
                  <a:srgbClr val="111111"/>
                </a:solidFill>
                <a:latin typeface="Times New Roman"/>
                <a:ea typeface="Times New Roman"/>
                <a:cs typeface="Times New Roman"/>
              </a:rPr>
              <a:t>(age &gt; 34) || (gender == 'M') is false, because (age &gt; 34) and (gender == 'M') are both false.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Truth Table for Operator ^</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06E0A4DB-0D92-4B34-929B-7E7FE0A824B6}" type="slidenum">
              <a:rPr sz="1200" b="0" i="0">
                <a:solidFill>
                  <a:srgbClr val="6B6B6B"/>
                </a:solidFill>
                <a:latin typeface="Source Sans 3"/>
                <a:ea typeface="Source Sans 3"/>
                <a:cs typeface="Source Sans 3"/>
              </a:rPr>
              <a:pPr algn="l">
                <a:lnSpc>
                  <a:spcPts val="1500"/>
                </a:lnSpc>
              </a:pPr>
              <a:t>43</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952500" y="1524000"/>
          <a:ext cx="3683000" cy="2286000"/>
        </p:xfrm>
        <a:graphic>
          <a:graphicData uri="http://schemas.openxmlformats.org/drawingml/2006/table">
            <a:tbl>
              <a:tblPr/>
              <a:tblGrid>
                <a:gridCol w="1016000">
                  <a:extLst>
                    <a:ext uri="{9D8B030D-6E8A-4147-A177-3AD203B41FA5}">
                      <a16:colId xmlns:a16="http://schemas.microsoft.com/office/drawing/2014/main" xmlns="" val="20000"/>
                    </a:ext>
                  </a:extLst>
                </a:gridCol>
                <a:gridCol w="1016000">
                  <a:extLst>
                    <a:ext uri="{9D8B030D-6E8A-4147-A177-3AD203B41FA5}">
                      <a16:colId xmlns:a16="http://schemas.microsoft.com/office/drawing/2014/main" xmlns="" val="20001"/>
                    </a:ext>
                  </a:extLst>
                </a:gridCol>
                <a:gridCol w="1651000">
                  <a:extLst>
                    <a:ext uri="{9D8B030D-6E8A-4147-A177-3AD203B41FA5}">
                      <a16:colId xmlns:a16="http://schemas.microsoft.com/office/drawing/2014/main" xmlns="" val="20002"/>
                    </a:ext>
                  </a:extLst>
                </a:gridCol>
              </a:tblGrid>
              <a:tr h="457200">
                <a:tc>
                  <a:txBody>
                    <a:bodyPr/>
                    <a:lstStyle/>
                    <a:p>
                      <a:pPr>
                        <a:lnSpc>
                          <a:spcPts val="2210"/>
                        </a:lnSpc>
                      </a:pPr>
                      <a:r>
                        <a:rPr sz="1700" b="1" i="0">
                          <a:solidFill>
                            <a:srgbClr val="111111"/>
                          </a:solidFill>
                          <a:latin typeface="Courier New"/>
                          <a:ea typeface="Courier New"/>
                          <a:cs typeface="Courier New"/>
                        </a:rPr>
                        <a:t>p1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210"/>
                        </a:lnSpc>
                      </a:pPr>
                      <a:r>
                        <a:rPr sz="1700" b="1" i="0">
                          <a:solidFill>
                            <a:srgbClr val="111111"/>
                          </a:solidFill>
                          <a:latin typeface="Courier New"/>
                          <a:ea typeface="Courier New"/>
                          <a:cs typeface="Courier New"/>
                        </a:rPr>
                        <a:t>p2</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210"/>
                        </a:lnSpc>
                      </a:pPr>
                      <a:r>
                        <a:rPr sz="1700" b="1" i="0">
                          <a:solidFill>
                            <a:srgbClr val="111111"/>
                          </a:solidFill>
                          <a:latin typeface="Courier New"/>
                          <a:ea typeface="Courier New"/>
                          <a:cs typeface="Courier New"/>
                        </a:rPr>
                        <a:t>p1 ^ p2</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457200">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457200">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457200">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457200">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true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210"/>
                        </a:lnSpc>
                      </a:pPr>
                      <a:r>
                        <a:rPr sz="1700" b="0" i="0">
                          <a:solidFill>
                            <a:srgbClr val="111111"/>
                          </a:solidFill>
                          <a:latin typeface="Courier New"/>
                          <a:ea typeface="Courier New"/>
                          <a:cs typeface="Courier New"/>
                        </a:rPr>
                        <a:t>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bl>
          </a:graphicData>
        </a:graphic>
      </p:graphicFrame>
      <p:sp>
        <p:nvSpPr>
          <p:cNvPr id="5" name="TextBox 4"/>
          <p:cNvSpPr txBox="1"/>
          <p:nvPr/>
        </p:nvSpPr>
        <p:spPr>
          <a:xfrm>
            <a:off x="5143500" y="1549400"/>
            <a:ext cx="6096000" cy="3810000"/>
          </a:xfrm>
          <a:prstGeom prst="rect">
            <a:avLst/>
          </a:prstGeom>
          <a:noFill/>
        </p:spPr>
        <p:txBody>
          <a:bodyPr wrap="square" lIns="0" tIns="0" rIns="0" bIns="0" anchor="t">
            <a:spAutoFit/>
          </a:bodyPr>
          <a:lstStyle/>
          <a:p>
            <a:pPr algn="l">
              <a:lnSpc>
                <a:spcPts val="2400"/>
              </a:lnSpc>
            </a:pPr>
            <a:r>
              <a:rPr sz="1900" b="1" i="0">
                <a:solidFill>
                  <a:srgbClr val="111111"/>
                </a:solidFill>
                <a:latin typeface="Times New Roman"/>
                <a:ea typeface="Times New Roman"/>
                <a:cs typeface="Times New Roman"/>
              </a:rPr>
              <a:t>Example (assume age = 24, gender = 'F')</a:t>
            </a:r>
          </a:p>
          <a:p>
            <a:pPr algn="l">
              <a:lnSpc>
                <a:spcPts val="2400"/>
              </a:lnSpc>
              <a:spcBef>
                <a:spcPts val="1400"/>
              </a:spcBef>
            </a:pPr>
            <a:r>
              <a:rPr sz="1900" b="0" i="0">
                <a:solidFill>
                  <a:srgbClr val="111111"/>
                </a:solidFill>
                <a:latin typeface="Times New Roman"/>
                <a:ea typeface="Times New Roman"/>
                <a:cs typeface="Times New Roman"/>
              </a:rPr>
              <a:t>(age &gt; 34) ^ (gender == 'F') is true, because (age &gt; 34) is false but (gender == 'F') is true.</a:t>
            </a:r>
          </a:p>
          <a:p>
            <a:pPr algn="l">
              <a:lnSpc>
                <a:spcPts val="2400"/>
              </a:lnSpc>
              <a:spcBef>
                <a:spcPts val="1400"/>
              </a:spcBef>
            </a:pPr>
            <a:r>
              <a:rPr sz="1900" b="0" i="0">
                <a:solidFill>
                  <a:srgbClr val="111111"/>
                </a:solidFill>
                <a:latin typeface="Times New Roman"/>
                <a:ea typeface="Times New Roman"/>
                <a:cs typeface="Times New Roman"/>
              </a:rPr>
              <a:t>(age &gt; 34) || (gender == 'M') is false, because (age &gt; 34) and (gender == 'M') are both false.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Examples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8054F85-4467-400B-98EE-2E97132A2F33}" type="slidenum">
              <a:rPr sz="1200" b="0" i="0">
                <a:solidFill>
                  <a:srgbClr val="6B6B6B"/>
                </a:solidFill>
                <a:latin typeface="Source Sans 3"/>
                <a:ea typeface="Source Sans 3"/>
                <a:cs typeface="Source Sans 3"/>
              </a:rPr>
              <a:pPr algn="l">
                <a:lnSpc>
                  <a:spcPts val="1500"/>
                </a:lnSpc>
              </a:pPr>
              <a:t>44</a:t>
            </a:fld>
            <a:endParaRPr sz="1200" b="0" i="0">
              <a:solidFill>
                <a:srgbClr val="6B6B6B"/>
              </a:solidFill>
              <a:latin typeface="Source Sans 3"/>
              <a:ea typeface="Source Sans 3"/>
              <a:cs typeface="Source Sans 3"/>
            </a:endParaRPr>
          </a:p>
        </p:txBody>
      </p:sp>
      <p:sp>
        <p:nvSpPr>
          <p:cNvPr id="4" name="TextBox 3"/>
          <p:cNvSpPr txBox="1"/>
          <p:nvPr/>
        </p:nvSpPr>
        <p:spPr>
          <a:xfrm>
            <a:off x="1079500" y="1524000"/>
            <a:ext cx="9227820" cy="284734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System.out.println("Is " + number + " divisible by 2 and 3? " +</a:t>
            </a:r>
          </a:p>
          <a:p>
            <a:pPr algn="l">
              <a:lnSpc>
                <a:spcPts val="2379"/>
              </a:lnSpc>
            </a:pPr>
            <a:r>
              <a:rPr sz="1700" b="1" i="0">
                <a:solidFill>
                  <a:srgbClr val="000000"/>
                </a:solidFill>
                <a:latin typeface="Courier New"/>
                <a:ea typeface="Courier New"/>
                <a:cs typeface="Courier New"/>
              </a:rPr>
              <a:t>  ((number % 2 == 0) &amp;&amp; (number % 3 == 0)));</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System.out.println("Is " + number + " divisible by 2 or 3? " +</a:t>
            </a:r>
          </a:p>
          <a:p>
            <a:pPr algn="l">
              <a:lnSpc>
                <a:spcPts val="2379"/>
              </a:lnSpc>
            </a:pPr>
            <a:r>
              <a:rPr sz="1700" b="1" i="0">
                <a:solidFill>
                  <a:srgbClr val="000000"/>
                </a:solidFill>
                <a:latin typeface="Courier New"/>
                <a:ea typeface="Courier New"/>
                <a:cs typeface="Courier New"/>
              </a:rPr>
              <a:t>  ((number % 2 == 0) || (number % 3 == 0)));</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System.out.println("Is " + number +</a:t>
            </a:r>
          </a:p>
          <a:p>
            <a:pPr algn="l">
              <a:lnSpc>
                <a:spcPts val="2379"/>
              </a:lnSpc>
            </a:pPr>
            <a:r>
              <a:rPr sz="1700" b="1" i="0">
                <a:solidFill>
                  <a:srgbClr val="000000"/>
                </a:solidFill>
                <a:latin typeface="Courier New"/>
                <a:ea typeface="Courier New"/>
                <a:cs typeface="Courier New"/>
              </a:rPr>
              <a:t>  " divisible by 2 or 3, but not both? " +</a:t>
            </a:r>
          </a:p>
          <a:p>
            <a:pPr algn="l">
              <a:lnSpc>
                <a:spcPts val="2379"/>
              </a:lnSpc>
            </a:pPr>
            <a:r>
              <a:rPr sz="1700" b="1" i="0">
                <a:solidFill>
                  <a:srgbClr val="000000"/>
                </a:solidFill>
                <a:latin typeface="Courier New"/>
                <a:ea typeface="Courier New"/>
                <a:cs typeface="Courier New"/>
              </a:rPr>
              <a:t>  ((number % 2 == 0) ^ (number % 3 == 0)));</a:t>
            </a:r>
          </a:p>
        </p:txBody>
      </p:sp>
      <p:sp>
        <p:nvSpPr>
          <p:cNvPr id="5" name="Rounded Rectangle 4"/>
          <p:cNvSpPr/>
          <p:nvPr/>
        </p:nvSpPr>
        <p:spPr>
          <a:xfrm>
            <a:off x="8775700" y="5732780"/>
            <a:ext cx="246380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TestBooleanOperators</a:t>
            </a:r>
            <a:endParaRPr sz="1400" b="1" i="0">
              <a:solidFill>
                <a:srgbClr val="222222"/>
              </a:solidFill>
              <a:latin typeface="Source Sans 3"/>
              <a:ea typeface="Source Sans 3"/>
              <a:cs typeface="Source Sans 3"/>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Courier New"/>
                <a:ea typeface="Courier New"/>
                <a:cs typeface="Courier New"/>
              </a:rPr>
              <a:t>switch</a:t>
            </a:r>
            <a:r>
              <a:rPr sz="3300" b="0" i="0">
                <a:solidFill>
                  <a:srgbClr val="111111"/>
                </a:solidFill>
                <a:latin typeface="Times New Roman"/>
                <a:ea typeface="Times New Roman"/>
                <a:cs typeface="Times New Roman"/>
              </a:rPr>
              <a:t> Statement Flow Chart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BFAE19E-04D0-4C21-B54E-4A70AA384FA4}" type="slidenum">
              <a:rPr sz="1200" b="0" i="0">
                <a:solidFill>
                  <a:srgbClr val="6B6B6B"/>
                </a:solidFill>
                <a:latin typeface="Source Sans 3"/>
                <a:ea typeface="Source Sans 3"/>
                <a:cs typeface="Source Sans 3"/>
              </a:rPr>
              <a:pPr algn="l">
                <a:lnSpc>
                  <a:spcPts val="1500"/>
                </a:lnSpc>
              </a:pPr>
              <a:t>45</a:t>
            </a:fld>
            <a:endParaRPr sz="1200" b="0" i="0">
              <a:solidFill>
                <a:srgbClr val="6B6B6B"/>
              </a:solidFill>
              <a:latin typeface="Source Sans 3"/>
              <a:ea typeface="Source Sans 3"/>
              <a:cs typeface="Source Sans 3"/>
            </a:endParaRPr>
          </a:p>
        </p:txBody>
      </p:sp>
      <p:pic>
        <p:nvPicPr>
          <p:cNvPr id="4" name="Picture 3" descr="switch_flow.png"/>
          <p:cNvPicPr>
            <a:picLocks noChangeAspect="1"/>
          </p:cNvPicPr>
          <p:nvPr/>
        </p:nvPicPr>
        <p:blipFill>
          <a:blip r:embed="rId2"/>
          <a:stretch>
            <a:fillRect/>
          </a:stretch>
        </p:blipFill>
        <p:spPr>
          <a:xfrm>
            <a:off x="3113448" y="1117600"/>
            <a:ext cx="5965104" cy="5080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Courier New"/>
                <a:ea typeface="Courier New"/>
                <a:cs typeface="Courier New"/>
              </a:rPr>
              <a:t>switch</a:t>
            </a:r>
            <a:r>
              <a:rPr sz="3300" b="0" i="0">
                <a:solidFill>
                  <a:srgbClr val="111111"/>
                </a:solidFill>
                <a:latin typeface="Times New Roman"/>
                <a:ea typeface="Times New Roman"/>
                <a:cs typeface="Times New Roman"/>
              </a:rPr>
              <a:t> Statement Rules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31C3ECF-61C5-48AB-ADCE-57FD2BCB9CD4}" type="slidenum">
              <a:rPr sz="1200" b="0" i="0">
                <a:solidFill>
                  <a:srgbClr val="6B6B6B"/>
                </a:solidFill>
                <a:latin typeface="Source Sans 3"/>
                <a:ea typeface="Source Sans 3"/>
                <a:cs typeface="Source Sans 3"/>
              </a:rPr>
              <a:pPr algn="l">
                <a:lnSpc>
                  <a:spcPts val="1500"/>
                </a:lnSpc>
              </a:pPr>
              <a:t>46</a:t>
            </a:fld>
            <a:endParaRPr sz="1200" b="0" i="0">
              <a:solidFill>
                <a:srgbClr val="6B6B6B"/>
              </a:solidFill>
              <a:latin typeface="Source Sans 3"/>
              <a:ea typeface="Source Sans 3"/>
              <a:cs typeface="Source Sans 3"/>
            </a:endParaRPr>
          </a:p>
        </p:txBody>
      </p:sp>
      <p:sp>
        <p:nvSpPr>
          <p:cNvPr id="4" name="TextBox 3"/>
          <p:cNvSpPr txBox="1"/>
          <p:nvPr/>
        </p:nvSpPr>
        <p:spPr>
          <a:xfrm>
            <a:off x="6096000" y="1651000"/>
            <a:ext cx="5181600" cy="2794000"/>
          </a:xfrm>
          <a:prstGeom prst="rect">
            <a:avLst/>
          </a:prstGeom>
          <a:noFill/>
        </p:spPr>
        <p:txBody>
          <a:bodyPr wrap="square" lIns="0" tIns="0" rIns="0" bIns="0" anchor="t">
            <a:spAutoFit/>
          </a:bodyPr>
          <a:lstStyle/>
          <a:p>
            <a:pPr algn="l">
              <a:lnSpc>
                <a:spcPts val="2100"/>
              </a:lnSpc>
            </a:pPr>
            <a:r>
              <a:rPr sz="1500" b="1" i="0">
                <a:solidFill>
                  <a:srgbClr val="000000"/>
                </a:solidFill>
                <a:latin typeface="Courier New"/>
                <a:ea typeface="Courier New"/>
                <a:cs typeface="Courier New"/>
              </a:rPr>
              <a:t>switch (switch-expression) {</a:t>
            </a:r>
          </a:p>
          <a:p>
            <a:pPr algn="l">
              <a:lnSpc>
                <a:spcPts val="2100"/>
              </a:lnSpc>
            </a:pPr>
            <a:r>
              <a:rPr sz="1500" b="1" i="0">
                <a:solidFill>
                  <a:srgbClr val="000000"/>
                </a:solidFill>
                <a:latin typeface="Courier New"/>
                <a:ea typeface="Courier New"/>
                <a:cs typeface="Courier New"/>
              </a:rPr>
              <a:t>  case value1: statement(s)1;</a:t>
            </a:r>
          </a:p>
          <a:p>
            <a:pPr algn="l">
              <a:lnSpc>
                <a:spcPts val="2100"/>
              </a:lnSpc>
            </a:pPr>
            <a:r>
              <a:rPr sz="1500" b="1" i="0">
                <a:solidFill>
                  <a:srgbClr val="000000"/>
                </a:solidFill>
                <a:latin typeface="Courier New"/>
                <a:ea typeface="Courier New"/>
                <a:cs typeface="Courier New"/>
              </a:rPr>
              <a:t>               break;</a:t>
            </a:r>
          </a:p>
          <a:p>
            <a:pPr algn="l">
              <a:lnSpc>
                <a:spcPts val="2100"/>
              </a:lnSpc>
            </a:pPr>
            <a:r>
              <a:rPr sz="1500" b="1" i="0">
                <a:solidFill>
                  <a:srgbClr val="000000"/>
                </a:solidFill>
                <a:latin typeface="Courier New"/>
                <a:ea typeface="Courier New"/>
                <a:cs typeface="Courier New"/>
              </a:rPr>
              <a:t>  case value2: statement(s)2;</a:t>
            </a:r>
          </a:p>
          <a:p>
            <a:pPr algn="l">
              <a:lnSpc>
                <a:spcPts val="2100"/>
              </a:lnSpc>
            </a:pPr>
            <a:r>
              <a:rPr sz="1500" b="1" i="0">
                <a:solidFill>
                  <a:srgbClr val="000000"/>
                </a:solidFill>
                <a:latin typeface="Courier New"/>
                <a:ea typeface="Courier New"/>
                <a:cs typeface="Courier New"/>
              </a:rPr>
              <a:t>               break;</a:t>
            </a:r>
          </a:p>
          <a:p>
            <a:pPr algn="l">
              <a:lnSpc>
                <a:spcPts val="2100"/>
              </a:lnSpc>
            </a:pPr>
            <a:r>
              <a:rPr sz="1500" b="1" i="0">
                <a:solidFill>
                  <a:srgbClr val="000000"/>
                </a:solidFill>
                <a:latin typeface="Courier New"/>
                <a:ea typeface="Courier New"/>
                <a:cs typeface="Courier New"/>
              </a:rPr>
              <a:t>  ...</a:t>
            </a:r>
          </a:p>
          <a:p>
            <a:pPr algn="l">
              <a:lnSpc>
                <a:spcPts val="2100"/>
              </a:lnSpc>
            </a:pPr>
            <a:r>
              <a:rPr sz="1500" b="1" i="0">
                <a:solidFill>
                  <a:srgbClr val="000000"/>
                </a:solidFill>
                <a:latin typeface="Courier New"/>
                <a:ea typeface="Courier New"/>
                <a:cs typeface="Courier New"/>
              </a:rPr>
              <a:t>  case valueN: statement(s)N;</a:t>
            </a:r>
          </a:p>
          <a:p>
            <a:pPr algn="l">
              <a:lnSpc>
                <a:spcPts val="2100"/>
              </a:lnSpc>
            </a:pPr>
            <a:r>
              <a:rPr sz="1500" b="1" i="0">
                <a:solidFill>
                  <a:srgbClr val="000000"/>
                </a:solidFill>
                <a:latin typeface="Courier New"/>
                <a:ea typeface="Courier New"/>
                <a:cs typeface="Courier New"/>
              </a:rPr>
              <a:t>               break;</a:t>
            </a:r>
          </a:p>
          <a:p>
            <a:pPr algn="l">
              <a:lnSpc>
                <a:spcPts val="2100"/>
              </a:lnSpc>
            </a:pPr>
            <a:r>
              <a:rPr sz="1500" b="1" i="0">
                <a:solidFill>
                  <a:srgbClr val="000000"/>
                </a:solidFill>
                <a:latin typeface="Courier New"/>
                <a:ea typeface="Courier New"/>
                <a:cs typeface="Courier New"/>
              </a:rPr>
              <a:t>  default: statement(s)-for-default;</a:t>
            </a:r>
          </a:p>
          <a:p>
            <a:pPr algn="l">
              <a:lnSpc>
                <a:spcPts val="2100"/>
              </a:lnSpc>
            </a:pPr>
            <a:r>
              <a:rPr sz="1500" b="1" i="0">
                <a:solidFill>
                  <a:srgbClr val="000000"/>
                </a:solidFill>
                <a:latin typeface="Courier New"/>
                <a:ea typeface="Courier New"/>
                <a:cs typeface="Courier New"/>
              </a:rPr>
              <a:t>}</a:t>
            </a:r>
          </a:p>
        </p:txBody>
      </p:sp>
      <p:sp>
        <p:nvSpPr>
          <p:cNvPr id="5" name="TextBox 4"/>
          <p:cNvSpPr txBox="1"/>
          <p:nvPr/>
        </p:nvSpPr>
        <p:spPr>
          <a:xfrm>
            <a:off x="952500" y="1270000"/>
            <a:ext cx="4572000" cy="791627"/>
          </a:xfrm>
          <a:prstGeom prst="rect">
            <a:avLst/>
          </a:prstGeom>
          <a:noFill/>
        </p:spPr>
        <p:txBody>
          <a:bodyPr wrap="square" lIns="0" tIns="0" rIns="0" bIns="0" anchor="t">
            <a:spAutoFit/>
          </a:bodyPr>
          <a:lstStyle/>
          <a:p>
            <a:pPr algn="l">
              <a:lnSpc>
                <a:spcPts val="2125"/>
              </a:lnSpc>
            </a:pPr>
            <a:r>
              <a:rPr sz="1700" b="0" i="0" dirty="0">
                <a:latin typeface="Times New Roman"/>
                <a:ea typeface="Times New Roman"/>
                <a:cs typeface="Times New Roman"/>
              </a:rPr>
              <a:t>The switch-expression must yield a value of char, byte, short, int, String or enum type and must always be enclosed in parentheses.</a:t>
            </a:r>
          </a:p>
        </p:txBody>
      </p:sp>
      <p:sp>
        <p:nvSpPr>
          <p:cNvPr id="6" name="TextBox 5"/>
          <p:cNvSpPr txBox="1"/>
          <p:nvPr/>
        </p:nvSpPr>
        <p:spPr>
          <a:xfrm>
            <a:off x="952500" y="2984500"/>
            <a:ext cx="4572000" cy="2138149"/>
          </a:xfrm>
          <a:prstGeom prst="rect">
            <a:avLst/>
          </a:prstGeom>
          <a:noFill/>
        </p:spPr>
        <p:txBody>
          <a:bodyPr wrap="square" lIns="0" tIns="0" rIns="0" bIns="0" anchor="t">
            <a:spAutoFit/>
          </a:bodyPr>
          <a:lstStyle/>
          <a:p>
            <a:pPr algn="just">
              <a:lnSpc>
                <a:spcPts val="2125"/>
              </a:lnSpc>
            </a:pPr>
            <a:r>
              <a:rPr sz="1700" b="0" i="0" dirty="0">
                <a:latin typeface="Times New Roman"/>
                <a:ea typeface="Times New Roman"/>
                <a:cs typeface="Times New Roman"/>
              </a:rPr>
              <a:t>The value1, ..., and </a:t>
            </a:r>
            <a:r>
              <a:rPr sz="1700" b="0" i="0" dirty="0" err="1">
                <a:latin typeface="Times New Roman"/>
                <a:ea typeface="Times New Roman"/>
                <a:cs typeface="Times New Roman"/>
              </a:rPr>
              <a:t>valueN</a:t>
            </a:r>
            <a:r>
              <a:rPr sz="1700" b="0" i="0" dirty="0">
                <a:latin typeface="Times New Roman"/>
                <a:ea typeface="Times New Roman"/>
                <a:cs typeface="Times New Roman"/>
              </a:rPr>
              <a:t> must have the same data type as the value of the switch-expression. The resulting statements in the case statement are executed when the value in the case statement matches the value of the switch-expression. Note that value1, ..., and </a:t>
            </a:r>
            <a:r>
              <a:rPr sz="1700" b="0" i="0" dirty="0" err="1">
                <a:latin typeface="Times New Roman"/>
                <a:ea typeface="Times New Roman"/>
                <a:cs typeface="Times New Roman"/>
              </a:rPr>
              <a:t>valueN</a:t>
            </a:r>
            <a:r>
              <a:rPr sz="1700" b="0" i="0" dirty="0">
                <a:latin typeface="Times New Roman"/>
                <a:ea typeface="Times New Roman"/>
                <a:cs typeface="Times New Roman"/>
              </a:rPr>
              <a:t> are constant expressions, meaning that they cannot contain variables in the expression, such as 1 + x.</a:t>
            </a:r>
          </a:p>
        </p:txBody>
      </p:sp>
      <p:cxnSp>
        <p:nvCxnSpPr>
          <p:cNvPr id="7" name="Connector 6"/>
          <p:cNvCxnSpPr/>
          <p:nvPr/>
        </p:nvCxnSpPr>
        <p:spPr>
          <a:xfrm>
            <a:off x="4191000" y="1422400"/>
            <a:ext cx="2781300" cy="387985"/>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5588000" y="2077085"/>
            <a:ext cx="1270000" cy="1072515"/>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5588000" y="2610485"/>
            <a:ext cx="1270000" cy="539115"/>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588000" y="3149600"/>
            <a:ext cx="1270000" cy="260985"/>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Courier New"/>
                <a:ea typeface="Courier New"/>
                <a:cs typeface="Courier New"/>
              </a:rPr>
              <a:t>switch</a:t>
            </a:r>
            <a:r>
              <a:rPr sz="3300" b="0" i="0">
                <a:solidFill>
                  <a:srgbClr val="111111"/>
                </a:solidFill>
                <a:latin typeface="Times New Roman"/>
                <a:ea typeface="Times New Roman"/>
                <a:cs typeface="Times New Roman"/>
              </a:rPr>
              <a:t> Statement Rules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D269880-AAD8-4D60-BAA5-00584DC8B668}" type="slidenum">
              <a:rPr sz="1200" b="0" i="0">
                <a:solidFill>
                  <a:srgbClr val="6B6B6B"/>
                </a:solidFill>
                <a:latin typeface="Source Sans 3"/>
                <a:ea typeface="Source Sans 3"/>
                <a:cs typeface="Source Sans 3"/>
              </a:rPr>
              <a:pPr algn="l">
                <a:lnSpc>
                  <a:spcPts val="1500"/>
                </a:lnSpc>
              </a:pPr>
              <a:t>47</a:t>
            </a:fld>
            <a:endParaRPr sz="1200" b="0" i="0">
              <a:solidFill>
                <a:srgbClr val="6B6B6B"/>
              </a:solidFill>
              <a:latin typeface="Source Sans 3"/>
              <a:ea typeface="Source Sans 3"/>
              <a:cs typeface="Source Sans 3"/>
            </a:endParaRPr>
          </a:p>
        </p:txBody>
      </p:sp>
      <p:sp>
        <p:nvSpPr>
          <p:cNvPr id="4" name="TextBox 3"/>
          <p:cNvSpPr txBox="1"/>
          <p:nvPr/>
        </p:nvSpPr>
        <p:spPr>
          <a:xfrm>
            <a:off x="6096000" y="1397000"/>
            <a:ext cx="5181600" cy="2794000"/>
          </a:xfrm>
          <a:prstGeom prst="rect">
            <a:avLst/>
          </a:prstGeom>
          <a:noFill/>
        </p:spPr>
        <p:txBody>
          <a:bodyPr wrap="square" lIns="0" tIns="0" rIns="0" bIns="0" anchor="t">
            <a:spAutoFit/>
          </a:bodyPr>
          <a:lstStyle/>
          <a:p>
            <a:pPr algn="l">
              <a:lnSpc>
                <a:spcPts val="2100"/>
              </a:lnSpc>
            </a:pPr>
            <a:r>
              <a:rPr sz="1500" b="1" i="0">
                <a:solidFill>
                  <a:srgbClr val="000000"/>
                </a:solidFill>
                <a:latin typeface="Courier New"/>
                <a:ea typeface="Courier New"/>
                <a:cs typeface="Courier New"/>
              </a:rPr>
              <a:t>switch (switch-expression) {</a:t>
            </a:r>
          </a:p>
          <a:p>
            <a:pPr algn="l">
              <a:lnSpc>
                <a:spcPts val="2100"/>
              </a:lnSpc>
            </a:pPr>
            <a:r>
              <a:rPr sz="1500" b="1" i="0">
                <a:solidFill>
                  <a:srgbClr val="000000"/>
                </a:solidFill>
                <a:latin typeface="Courier New"/>
                <a:ea typeface="Courier New"/>
                <a:cs typeface="Courier New"/>
              </a:rPr>
              <a:t>  case value1: statement(s)1;</a:t>
            </a:r>
          </a:p>
          <a:p>
            <a:pPr algn="l">
              <a:lnSpc>
                <a:spcPts val="2100"/>
              </a:lnSpc>
            </a:pPr>
            <a:r>
              <a:rPr sz="1500" b="1" i="0">
                <a:solidFill>
                  <a:srgbClr val="000000"/>
                </a:solidFill>
                <a:latin typeface="Courier New"/>
                <a:ea typeface="Courier New"/>
                <a:cs typeface="Courier New"/>
              </a:rPr>
              <a:t>               break;</a:t>
            </a:r>
          </a:p>
          <a:p>
            <a:pPr algn="l">
              <a:lnSpc>
                <a:spcPts val="2100"/>
              </a:lnSpc>
            </a:pPr>
            <a:r>
              <a:rPr sz="1500" b="1" i="0">
                <a:solidFill>
                  <a:srgbClr val="000000"/>
                </a:solidFill>
                <a:latin typeface="Courier New"/>
                <a:ea typeface="Courier New"/>
                <a:cs typeface="Courier New"/>
              </a:rPr>
              <a:t>  case value2: statement(s)2;</a:t>
            </a:r>
          </a:p>
          <a:p>
            <a:pPr algn="l">
              <a:lnSpc>
                <a:spcPts val="2100"/>
              </a:lnSpc>
            </a:pPr>
            <a:r>
              <a:rPr sz="1500" b="1" i="0">
                <a:solidFill>
                  <a:srgbClr val="000000"/>
                </a:solidFill>
                <a:latin typeface="Courier New"/>
                <a:ea typeface="Courier New"/>
                <a:cs typeface="Courier New"/>
              </a:rPr>
              <a:t>               break;</a:t>
            </a:r>
          </a:p>
          <a:p>
            <a:pPr algn="l">
              <a:lnSpc>
                <a:spcPts val="2100"/>
              </a:lnSpc>
            </a:pPr>
            <a:r>
              <a:rPr sz="1500" b="1" i="0">
                <a:solidFill>
                  <a:srgbClr val="000000"/>
                </a:solidFill>
                <a:latin typeface="Courier New"/>
                <a:ea typeface="Courier New"/>
                <a:cs typeface="Courier New"/>
              </a:rPr>
              <a:t>  ...</a:t>
            </a:r>
          </a:p>
          <a:p>
            <a:pPr algn="l">
              <a:lnSpc>
                <a:spcPts val="2100"/>
              </a:lnSpc>
            </a:pPr>
            <a:r>
              <a:rPr sz="1500" b="1" i="0">
                <a:solidFill>
                  <a:srgbClr val="000000"/>
                </a:solidFill>
                <a:latin typeface="Courier New"/>
                <a:ea typeface="Courier New"/>
                <a:cs typeface="Courier New"/>
              </a:rPr>
              <a:t>  case valueN: statement(s)N;</a:t>
            </a:r>
          </a:p>
          <a:p>
            <a:pPr algn="l">
              <a:lnSpc>
                <a:spcPts val="2100"/>
              </a:lnSpc>
            </a:pPr>
            <a:r>
              <a:rPr sz="1500" b="1" i="0">
                <a:solidFill>
                  <a:srgbClr val="000000"/>
                </a:solidFill>
                <a:latin typeface="Courier New"/>
                <a:ea typeface="Courier New"/>
                <a:cs typeface="Courier New"/>
              </a:rPr>
              <a:t>               break;</a:t>
            </a:r>
          </a:p>
          <a:p>
            <a:pPr algn="l">
              <a:lnSpc>
                <a:spcPts val="2100"/>
              </a:lnSpc>
            </a:pPr>
            <a:r>
              <a:rPr sz="1500" b="1" i="0">
                <a:solidFill>
                  <a:srgbClr val="000000"/>
                </a:solidFill>
                <a:latin typeface="Courier New"/>
                <a:ea typeface="Courier New"/>
                <a:cs typeface="Courier New"/>
              </a:rPr>
              <a:t>  default: statement(s)-for-default;</a:t>
            </a:r>
          </a:p>
          <a:p>
            <a:pPr algn="l">
              <a:lnSpc>
                <a:spcPts val="2100"/>
              </a:lnSpc>
            </a:pPr>
            <a:r>
              <a:rPr sz="1500" b="1" i="0">
                <a:solidFill>
                  <a:srgbClr val="000000"/>
                </a:solidFill>
                <a:latin typeface="Courier New"/>
                <a:ea typeface="Courier New"/>
                <a:cs typeface="Courier New"/>
              </a:rPr>
              <a:t>}</a:t>
            </a:r>
          </a:p>
        </p:txBody>
      </p:sp>
      <p:sp>
        <p:nvSpPr>
          <p:cNvPr id="5" name="TextBox 4"/>
          <p:cNvSpPr txBox="1"/>
          <p:nvPr/>
        </p:nvSpPr>
        <p:spPr>
          <a:xfrm>
            <a:off x="952500" y="1270000"/>
            <a:ext cx="4572000" cy="1330236"/>
          </a:xfrm>
          <a:prstGeom prst="rect">
            <a:avLst/>
          </a:prstGeom>
          <a:noFill/>
        </p:spPr>
        <p:txBody>
          <a:bodyPr wrap="square" lIns="0" tIns="0" rIns="0" bIns="0" anchor="t">
            <a:spAutoFit/>
          </a:bodyPr>
          <a:lstStyle/>
          <a:p>
            <a:pPr algn="just">
              <a:lnSpc>
                <a:spcPts val="2125"/>
              </a:lnSpc>
            </a:pPr>
            <a:r>
              <a:rPr sz="1700" b="0" i="0" dirty="0">
                <a:latin typeface="Times New Roman"/>
                <a:ea typeface="Times New Roman"/>
                <a:cs typeface="Times New Roman"/>
              </a:rPr>
              <a:t>The keyword break is optional, but it should be used at the end of each case in order to terminate the remainder of the switch statement. If the break statement is not present, the next case statement will be executed.</a:t>
            </a:r>
          </a:p>
        </p:txBody>
      </p:sp>
      <p:sp>
        <p:nvSpPr>
          <p:cNvPr id="6" name="TextBox 5"/>
          <p:cNvSpPr txBox="1"/>
          <p:nvPr/>
        </p:nvSpPr>
        <p:spPr>
          <a:xfrm>
            <a:off x="952500" y="3429000"/>
            <a:ext cx="4572000" cy="791627"/>
          </a:xfrm>
          <a:prstGeom prst="rect">
            <a:avLst/>
          </a:prstGeom>
          <a:noFill/>
        </p:spPr>
        <p:txBody>
          <a:bodyPr wrap="square" lIns="0" tIns="0" rIns="0" bIns="0" anchor="t">
            <a:spAutoFit/>
          </a:bodyPr>
          <a:lstStyle/>
          <a:p>
            <a:pPr algn="l">
              <a:lnSpc>
                <a:spcPts val="2125"/>
              </a:lnSpc>
            </a:pPr>
            <a:r>
              <a:rPr sz="1700" b="0" i="0" dirty="0">
                <a:latin typeface="Times New Roman"/>
                <a:ea typeface="Times New Roman"/>
                <a:cs typeface="Times New Roman"/>
              </a:rPr>
              <a:t>The default case, which is optional, can be used to perform actions when none of the specified cases matches the switch-expression.</a:t>
            </a:r>
          </a:p>
        </p:txBody>
      </p:sp>
      <p:sp>
        <p:nvSpPr>
          <p:cNvPr id="7" name="TextBox 6"/>
          <p:cNvSpPr txBox="1"/>
          <p:nvPr/>
        </p:nvSpPr>
        <p:spPr>
          <a:xfrm>
            <a:off x="5969000" y="4381500"/>
            <a:ext cx="5270500" cy="1330236"/>
          </a:xfrm>
          <a:prstGeom prst="rect">
            <a:avLst/>
          </a:prstGeom>
          <a:noFill/>
        </p:spPr>
        <p:txBody>
          <a:bodyPr wrap="square" lIns="0" tIns="0" rIns="0" bIns="0" anchor="t">
            <a:spAutoFit/>
          </a:bodyPr>
          <a:lstStyle/>
          <a:p>
            <a:pPr algn="just">
              <a:lnSpc>
                <a:spcPts val="2125"/>
              </a:lnSpc>
            </a:pPr>
            <a:r>
              <a:rPr sz="1700" b="0" i="0" dirty="0">
                <a:latin typeface="Times New Roman"/>
                <a:ea typeface="Times New Roman"/>
                <a:cs typeface="Times New Roman"/>
              </a:rPr>
              <a:t>The case statements are executed in sequential order, but the order of the cases (including the default case) does not matter. However, it is good programming style to follow the logical sequence of the cases and place the default case at the end.</a:t>
            </a:r>
          </a:p>
        </p:txBody>
      </p:sp>
      <p:cxnSp>
        <p:nvCxnSpPr>
          <p:cNvPr id="8" name="Connector 7"/>
          <p:cNvCxnSpPr/>
          <p:nvPr/>
        </p:nvCxnSpPr>
        <p:spPr>
          <a:xfrm>
            <a:off x="5461000" y="1651000"/>
            <a:ext cx="2311400" cy="438785"/>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461000" y="1651000"/>
            <a:ext cx="2311400" cy="972185"/>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461000" y="1651000"/>
            <a:ext cx="2311400" cy="1772285"/>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334000" y="3619500"/>
            <a:ext cx="952500" cy="70485"/>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switch</a:t>
            </a:r>
            <a:r>
              <a:rPr sz="3300" b="0" i="0">
                <a:solidFill>
                  <a:srgbClr val="111111"/>
                </a:solidFill>
                <a:latin typeface="Times New Roman"/>
                <a:ea typeface="Times New Roman"/>
                <a:cs typeface="Times New Roman"/>
              </a:rPr>
              <a:t> statement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E08D1D3-22D6-4579-BA60-C7AA03B342E3}" type="slidenum">
              <a:rPr sz="1200" b="0" i="0">
                <a:solidFill>
                  <a:srgbClr val="6B6B6B"/>
                </a:solidFill>
                <a:latin typeface="Source Sans 3"/>
                <a:ea typeface="Source Sans 3"/>
                <a:cs typeface="Source Sans 3"/>
              </a:rPr>
              <a:pPr algn="l">
                <a:lnSpc>
                  <a:spcPts val="1500"/>
                </a:lnSpc>
              </a:pPr>
              <a:t>48</a:t>
            </a:fld>
            <a:endParaRPr sz="1200" b="0" i="0">
              <a:solidFill>
                <a:srgbClr val="6B6B6B"/>
              </a:solidFill>
              <a:latin typeface="Source Sans 3"/>
              <a:ea typeface="Source Sans 3"/>
              <a:cs typeface="Source Sans 3"/>
            </a:endParaRPr>
          </a:p>
        </p:txBody>
      </p:sp>
      <p:sp>
        <p:nvSpPr>
          <p:cNvPr id="4" name="Rectangle 3"/>
          <p:cNvSpPr/>
          <p:nvPr/>
        </p:nvSpPr>
        <p:spPr>
          <a:xfrm>
            <a:off x="952500" y="1778000"/>
            <a:ext cx="4838700" cy="176530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079500" y="1905000"/>
            <a:ext cx="5600700" cy="163830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switch (ch) {</a:t>
            </a:r>
          </a:p>
          <a:p>
            <a:pPr algn="l">
              <a:lnSpc>
                <a:spcPts val="2379"/>
              </a:lnSpc>
            </a:pPr>
            <a:r>
              <a:rPr sz="1700" b="1" i="0">
                <a:solidFill>
                  <a:srgbClr val="000000"/>
                </a:solidFill>
                <a:latin typeface="Courier New"/>
                <a:ea typeface="Courier New"/>
                <a:cs typeface="Courier New"/>
              </a:rPr>
              <a:t>  case 'a': System.out.println(ch);</a:t>
            </a:r>
          </a:p>
          <a:p>
            <a:pPr algn="l">
              <a:lnSpc>
                <a:spcPts val="2379"/>
              </a:lnSpc>
            </a:pPr>
            <a:r>
              <a:rPr sz="1700" b="1" i="0">
                <a:solidFill>
                  <a:srgbClr val="000000"/>
                </a:solidFill>
                <a:latin typeface="Courier New"/>
                <a:ea typeface="Courier New"/>
                <a:cs typeface="Courier New"/>
              </a:rPr>
              <a:t>  case 'b': System.out.println(ch);</a:t>
            </a:r>
          </a:p>
          <a:p>
            <a:pPr algn="l">
              <a:lnSpc>
                <a:spcPts val="2379"/>
              </a:lnSpc>
            </a:pPr>
            <a:r>
              <a:rPr sz="1700" b="1" i="0">
                <a:solidFill>
                  <a:srgbClr val="000000"/>
                </a:solidFill>
                <a:latin typeface="Courier New"/>
                <a:ea typeface="Courier New"/>
                <a:cs typeface="Courier New"/>
              </a:rPr>
              <a:t>  case 'c': System.out.println(ch);</a:t>
            </a:r>
          </a:p>
          <a:p>
            <a:pPr algn="l">
              <a:lnSpc>
                <a:spcPts val="2379"/>
              </a:lnSpc>
            </a:pPr>
            <a:r>
              <a:rPr sz="1700" b="1" i="0">
                <a:solidFill>
                  <a:srgbClr val="000000"/>
                </a:solidFill>
                <a:latin typeface="Courier New"/>
                <a:ea typeface="Courier New"/>
                <a:cs typeface="Courier New"/>
              </a:rPr>
              <a:t>}</a:t>
            </a:r>
          </a:p>
        </p:txBody>
      </p:sp>
      <p:sp>
        <p:nvSpPr>
          <p:cNvPr id="6" name="Rectangle 5"/>
          <p:cNvSpPr/>
          <p:nvPr/>
        </p:nvSpPr>
        <p:spPr>
          <a:xfrm>
            <a:off x="6286500" y="1524000"/>
            <a:ext cx="4838700" cy="236982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413500" y="1651000"/>
            <a:ext cx="5600700" cy="224282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switch (ch) {</a:t>
            </a:r>
          </a:p>
          <a:p>
            <a:pPr algn="l">
              <a:lnSpc>
                <a:spcPts val="2379"/>
              </a:lnSpc>
            </a:pPr>
            <a:r>
              <a:rPr sz="1700" b="1" i="0">
                <a:solidFill>
                  <a:srgbClr val="000000"/>
                </a:solidFill>
                <a:latin typeface="Courier New"/>
                <a:ea typeface="Courier New"/>
                <a:cs typeface="Courier New"/>
              </a:rPr>
              <a:t>  case 'a': System.out.println(ch);</a:t>
            </a:r>
          </a:p>
          <a:p>
            <a:pPr algn="l">
              <a:lnSpc>
                <a:spcPts val="2379"/>
              </a:lnSpc>
            </a:pPr>
            <a:r>
              <a:rPr sz="1700" b="1" i="0">
                <a:solidFill>
                  <a:srgbClr val="000000"/>
                </a:solidFill>
                <a:latin typeface="Courier New"/>
                <a:ea typeface="Courier New"/>
                <a:cs typeface="Courier New"/>
              </a:rPr>
              <a:t>            break;</a:t>
            </a:r>
          </a:p>
          <a:p>
            <a:pPr algn="l">
              <a:lnSpc>
                <a:spcPts val="2379"/>
              </a:lnSpc>
            </a:pPr>
            <a:r>
              <a:rPr sz="1700" b="1" i="0">
                <a:solidFill>
                  <a:srgbClr val="000000"/>
                </a:solidFill>
                <a:latin typeface="Courier New"/>
                <a:ea typeface="Courier New"/>
                <a:cs typeface="Courier New"/>
              </a:rPr>
              <a:t>  case 'b': System.out.println(ch);</a:t>
            </a:r>
          </a:p>
          <a:p>
            <a:pPr algn="l">
              <a:lnSpc>
                <a:spcPts val="2379"/>
              </a:lnSpc>
            </a:pPr>
            <a:r>
              <a:rPr sz="1700" b="1" i="0">
                <a:solidFill>
                  <a:srgbClr val="000000"/>
                </a:solidFill>
                <a:latin typeface="Courier New"/>
                <a:ea typeface="Courier New"/>
                <a:cs typeface="Courier New"/>
              </a:rPr>
              <a:t>            break;</a:t>
            </a:r>
          </a:p>
          <a:p>
            <a:pPr algn="l">
              <a:lnSpc>
                <a:spcPts val="2379"/>
              </a:lnSpc>
            </a:pPr>
            <a:r>
              <a:rPr sz="1700" b="1" i="0">
                <a:solidFill>
                  <a:srgbClr val="000000"/>
                </a:solidFill>
                <a:latin typeface="Courier New"/>
                <a:ea typeface="Courier New"/>
                <a:cs typeface="Courier New"/>
              </a:rPr>
              <a:t>  case 'c': System.out.println(ch);</a:t>
            </a:r>
          </a:p>
          <a:p>
            <a:pPr algn="l">
              <a:lnSpc>
                <a:spcPts val="2379"/>
              </a:lnSpc>
            </a:pPr>
            <a:r>
              <a:rPr sz="1700" b="1" i="0">
                <a:solidFill>
                  <a:srgbClr val="000000"/>
                </a:solidFill>
                <a:latin typeface="Courier New"/>
                <a:ea typeface="Courier New"/>
                <a:cs typeface="Courier New"/>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Conditional Operator</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92C652D-F2B7-4222-A88D-B412DD9B5072}" type="slidenum">
              <a:rPr sz="1200" b="0" i="0">
                <a:solidFill>
                  <a:srgbClr val="6B6B6B"/>
                </a:solidFill>
                <a:latin typeface="Source Sans 3"/>
                <a:ea typeface="Source Sans 3"/>
                <a:cs typeface="Source Sans 3"/>
              </a:rPr>
              <a:pPr algn="l">
                <a:lnSpc>
                  <a:spcPts val="1500"/>
                </a:lnSpc>
              </a:pPr>
              <a:t>49</a:t>
            </a:fld>
            <a:endParaRPr sz="1200" b="0" i="0">
              <a:solidFill>
                <a:srgbClr val="6B6B6B"/>
              </a:solidFill>
              <a:latin typeface="Source Sans 3"/>
              <a:ea typeface="Source Sans 3"/>
              <a:cs typeface="Source Sans 3"/>
            </a:endParaRPr>
          </a:p>
        </p:txBody>
      </p:sp>
      <p:sp>
        <p:nvSpPr>
          <p:cNvPr id="4" name="TextBox 3"/>
          <p:cNvSpPr txBox="1"/>
          <p:nvPr/>
        </p:nvSpPr>
        <p:spPr>
          <a:xfrm>
            <a:off x="1079500" y="1295400"/>
            <a:ext cx="2590800" cy="1549400"/>
          </a:xfrm>
          <a:prstGeom prst="rect">
            <a:avLst/>
          </a:prstGeom>
          <a:noFill/>
        </p:spPr>
        <p:txBody>
          <a:bodyPr wrap="square" lIns="0" tIns="0" rIns="0" bIns="0" anchor="t">
            <a:spAutoFit/>
          </a:bodyPr>
          <a:lstStyle/>
          <a:p>
            <a:pPr algn="l">
              <a:lnSpc>
                <a:spcPts val="2800"/>
              </a:lnSpc>
            </a:pPr>
            <a:r>
              <a:rPr sz="2000" b="1" i="0">
                <a:solidFill>
                  <a:srgbClr val="000000"/>
                </a:solidFill>
                <a:latin typeface="Courier New"/>
                <a:ea typeface="Courier New"/>
                <a:cs typeface="Courier New"/>
              </a:rPr>
              <a:t>if (x &gt; 0)</a:t>
            </a:r>
          </a:p>
          <a:p>
            <a:pPr algn="l">
              <a:lnSpc>
                <a:spcPts val="2800"/>
              </a:lnSpc>
            </a:pPr>
            <a:r>
              <a:rPr sz="2000" b="1" i="0">
                <a:solidFill>
                  <a:srgbClr val="000000"/>
                </a:solidFill>
                <a:latin typeface="Courier New"/>
                <a:ea typeface="Courier New"/>
                <a:cs typeface="Courier New"/>
              </a:rPr>
              <a:t>  y = 1</a:t>
            </a:r>
          </a:p>
          <a:p>
            <a:pPr algn="l">
              <a:lnSpc>
                <a:spcPts val="2800"/>
              </a:lnSpc>
            </a:pPr>
            <a:r>
              <a:rPr sz="2000" b="1" i="0">
                <a:solidFill>
                  <a:srgbClr val="000000"/>
                </a:solidFill>
                <a:latin typeface="Courier New"/>
                <a:ea typeface="Courier New"/>
                <a:cs typeface="Courier New"/>
              </a:rPr>
              <a:t>else</a:t>
            </a:r>
          </a:p>
          <a:p>
            <a:pPr algn="l">
              <a:lnSpc>
                <a:spcPts val="2800"/>
              </a:lnSpc>
            </a:pPr>
            <a:r>
              <a:rPr sz="2000" b="1" i="0">
                <a:solidFill>
                  <a:srgbClr val="000000"/>
                </a:solidFill>
                <a:latin typeface="Courier New"/>
                <a:ea typeface="Courier New"/>
                <a:cs typeface="Courier New"/>
              </a:rPr>
              <a:t>  y = -1;</a:t>
            </a:r>
          </a:p>
        </p:txBody>
      </p:sp>
      <p:sp>
        <p:nvSpPr>
          <p:cNvPr id="5" name="TextBox 4"/>
          <p:cNvSpPr txBox="1"/>
          <p:nvPr/>
        </p:nvSpPr>
        <p:spPr>
          <a:xfrm>
            <a:off x="952500" y="2819400"/>
            <a:ext cx="5080000" cy="381000"/>
          </a:xfrm>
          <a:prstGeom prst="rect">
            <a:avLst/>
          </a:prstGeom>
          <a:noFill/>
        </p:spPr>
        <p:txBody>
          <a:bodyPr wrap="square" lIns="0" tIns="0" rIns="0" bIns="0" anchor="t">
            <a:spAutoFit/>
          </a:bodyPr>
          <a:lstStyle/>
          <a:p>
            <a:pPr algn="l">
              <a:lnSpc>
                <a:spcPts val="2875"/>
              </a:lnSpc>
            </a:pPr>
            <a:r>
              <a:rPr sz="2300" b="0" i="0">
                <a:solidFill>
                  <a:srgbClr val="111111"/>
                </a:solidFill>
                <a:latin typeface="Times New Roman"/>
                <a:ea typeface="Times New Roman"/>
                <a:cs typeface="Times New Roman"/>
              </a:rPr>
              <a:t>is equivalent to</a:t>
            </a:r>
          </a:p>
        </p:txBody>
      </p:sp>
      <p:sp>
        <p:nvSpPr>
          <p:cNvPr id="6" name="TextBox 5"/>
          <p:cNvSpPr txBox="1"/>
          <p:nvPr/>
        </p:nvSpPr>
        <p:spPr>
          <a:xfrm>
            <a:off x="1079500" y="3365500"/>
            <a:ext cx="4267200" cy="482600"/>
          </a:xfrm>
          <a:prstGeom prst="rect">
            <a:avLst/>
          </a:prstGeom>
          <a:noFill/>
        </p:spPr>
        <p:txBody>
          <a:bodyPr wrap="square" lIns="0" tIns="0" rIns="0" bIns="0" anchor="t">
            <a:spAutoFit/>
          </a:bodyPr>
          <a:lstStyle/>
          <a:p>
            <a:pPr algn="l">
              <a:lnSpc>
                <a:spcPts val="2800"/>
              </a:lnSpc>
            </a:pPr>
            <a:r>
              <a:rPr sz="2000" b="1" i="0">
                <a:solidFill>
                  <a:srgbClr val="000000"/>
                </a:solidFill>
                <a:latin typeface="Courier New"/>
                <a:ea typeface="Courier New"/>
                <a:cs typeface="Courier New"/>
              </a:rPr>
              <a:t>y = (x &gt; 0) ? 1 : -1;</a:t>
            </a:r>
          </a:p>
        </p:txBody>
      </p:sp>
      <p:sp>
        <p:nvSpPr>
          <p:cNvPr id="7" name="TextBox 6"/>
          <p:cNvSpPr txBox="1"/>
          <p:nvPr/>
        </p:nvSpPr>
        <p:spPr>
          <a:xfrm>
            <a:off x="1079500" y="4000500"/>
            <a:ext cx="8382000" cy="482600"/>
          </a:xfrm>
          <a:prstGeom prst="rect">
            <a:avLst/>
          </a:prstGeom>
          <a:noFill/>
        </p:spPr>
        <p:txBody>
          <a:bodyPr wrap="square" lIns="0" tIns="0" rIns="0" bIns="0" anchor="t">
            <a:spAutoFit/>
          </a:bodyPr>
          <a:lstStyle/>
          <a:p>
            <a:pPr algn="l">
              <a:lnSpc>
                <a:spcPts val="2800"/>
              </a:lnSpc>
            </a:pPr>
            <a:r>
              <a:rPr sz="2000" b="1" i="0">
                <a:solidFill>
                  <a:srgbClr val="000000"/>
                </a:solidFill>
                <a:latin typeface="Courier New"/>
                <a:ea typeface="Courier New"/>
                <a:cs typeface="Courier New"/>
              </a:rPr>
              <a:t>(boolean-expression) ? expression1 : expression2</a:t>
            </a:r>
          </a:p>
        </p:txBody>
      </p:sp>
      <p:sp>
        <p:nvSpPr>
          <p:cNvPr id="8" name="TextBox 7"/>
          <p:cNvSpPr txBox="1"/>
          <p:nvPr/>
        </p:nvSpPr>
        <p:spPr>
          <a:xfrm>
            <a:off x="952500" y="4889500"/>
            <a:ext cx="4064000" cy="5080000"/>
          </a:xfrm>
          <a:prstGeom prst="rect">
            <a:avLst/>
          </a:prstGeom>
          <a:noFill/>
        </p:spPr>
        <p:txBody>
          <a:bodyPr wrap="square" lIns="0" tIns="0" rIns="0" bIns="0" anchor="t">
            <a:spAutoFit/>
          </a:bodyPr>
          <a:lstStyle/>
          <a:p>
            <a:pPr algn="l">
              <a:lnSpc>
                <a:spcPts val="2625"/>
              </a:lnSpc>
            </a:pPr>
            <a:r>
              <a:rPr sz="2100" b="0" i="0">
                <a:solidFill>
                  <a:srgbClr val="111111"/>
                </a:solidFill>
                <a:latin typeface="Times New Roman"/>
                <a:ea typeface="Times New Roman"/>
                <a:cs typeface="Times New Roman"/>
              </a:rPr>
              <a:t>Ternary operator</a:t>
            </a:r>
          </a:p>
          <a:p>
            <a:pPr algn="l">
              <a:lnSpc>
                <a:spcPts val="2625"/>
              </a:lnSpc>
              <a:spcBef>
                <a:spcPts val="400"/>
              </a:spcBef>
            </a:pPr>
            <a:r>
              <a:rPr sz="2100" b="0" i="0">
                <a:solidFill>
                  <a:srgbClr val="111111"/>
                </a:solidFill>
                <a:latin typeface="Times New Roman"/>
                <a:ea typeface="Times New Roman"/>
                <a:cs typeface="Times New Roman"/>
              </a:rPr>
              <a:t>Binary operator</a:t>
            </a:r>
          </a:p>
          <a:p>
            <a:pPr algn="l">
              <a:lnSpc>
                <a:spcPts val="2625"/>
              </a:lnSpc>
              <a:spcBef>
                <a:spcPts val="400"/>
              </a:spcBef>
            </a:pPr>
            <a:r>
              <a:rPr sz="2100" b="0" i="0">
                <a:solidFill>
                  <a:srgbClr val="111111"/>
                </a:solidFill>
                <a:latin typeface="Times New Roman"/>
                <a:ea typeface="Times New Roman"/>
                <a:cs typeface="Times New Roman"/>
              </a:rPr>
              <a:t>Unary operator</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Conditional Operator</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868D09D-22DF-459F-B8F8-6219FFE42468}" type="slidenum">
              <a:rPr sz="1200" b="0" i="0">
                <a:solidFill>
                  <a:srgbClr val="6B6B6B"/>
                </a:solidFill>
                <a:latin typeface="Source Sans 3"/>
                <a:ea typeface="Source Sans 3"/>
                <a:cs typeface="Source Sans 3"/>
              </a:rPr>
              <a:pPr algn="l">
                <a:lnSpc>
                  <a:spcPts val="1500"/>
                </a:lnSpc>
              </a:pPr>
              <a:t>50</a:t>
            </a:fld>
            <a:endParaRPr sz="1200" b="0" i="0">
              <a:solidFill>
                <a:srgbClr val="6B6B6B"/>
              </a:solidFill>
              <a:latin typeface="Source Sans 3"/>
              <a:ea typeface="Source Sans 3"/>
              <a:cs typeface="Source Sans 3"/>
            </a:endParaRPr>
          </a:p>
        </p:txBody>
      </p:sp>
      <p:sp>
        <p:nvSpPr>
          <p:cNvPr id="4" name="TextBox 3"/>
          <p:cNvSpPr txBox="1"/>
          <p:nvPr/>
        </p:nvSpPr>
        <p:spPr>
          <a:xfrm>
            <a:off x="1079500" y="1524000"/>
            <a:ext cx="6568440" cy="1478280"/>
          </a:xfrm>
          <a:prstGeom prst="rect">
            <a:avLst/>
          </a:prstGeom>
          <a:noFill/>
        </p:spPr>
        <p:txBody>
          <a:bodyPr wrap="square" lIns="0" tIns="0" rIns="0" bIns="0" anchor="t">
            <a:spAutoFit/>
          </a:bodyPr>
          <a:lstStyle/>
          <a:p>
            <a:pPr algn="l">
              <a:lnSpc>
                <a:spcPts val="2660"/>
              </a:lnSpc>
            </a:pPr>
            <a:r>
              <a:rPr sz="1900" b="1" i="0">
                <a:solidFill>
                  <a:srgbClr val="000000"/>
                </a:solidFill>
                <a:latin typeface="Courier New"/>
                <a:ea typeface="Courier New"/>
                <a:cs typeface="Courier New"/>
              </a:rPr>
              <a:t>if (num % 2 == 0)</a:t>
            </a:r>
          </a:p>
          <a:p>
            <a:pPr algn="l">
              <a:lnSpc>
                <a:spcPts val="2660"/>
              </a:lnSpc>
            </a:pPr>
            <a:r>
              <a:rPr sz="1900" b="1" i="0">
                <a:solidFill>
                  <a:srgbClr val="000000"/>
                </a:solidFill>
                <a:latin typeface="Courier New"/>
                <a:ea typeface="Courier New"/>
                <a:cs typeface="Courier New"/>
              </a:rPr>
              <a:t>  System.out.println(num + "is even");</a:t>
            </a:r>
          </a:p>
          <a:p>
            <a:pPr algn="l">
              <a:lnSpc>
                <a:spcPts val="2660"/>
              </a:lnSpc>
            </a:pPr>
            <a:r>
              <a:rPr sz="1900" b="1" i="0">
                <a:solidFill>
                  <a:srgbClr val="000000"/>
                </a:solidFill>
                <a:latin typeface="Courier New"/>
                <a:ea typeface="Courier New"/>
                <a:cs typeface="Courier New"/>
              </a:rPr>
              <a:t>else</a:t>
            </a:r>
          </a:p>
          <a:p>
            <a:pPr algn="l">
              <a:lnSpc>
                <a:spcPts val="2660"/>
              </a:lnSpc>
            </a:pPr>
            <a:r>
              <a:rPr sz="1900" b="1" i="0">
                <a:solidFill>
                  <a:srgbClr val="000000"/>
                </a:solidFill>
                <a:latin typeface="Courier New"/>
                <a:ea typeface="Courier New"/>
                <a:cs typeface="Courier New"/>
              </a:rPr>
              <a:t>  System.out.println(num + "is odd");</a:t>
            </a:r>
          </a:p>
        </p:txBody>
      </p:sp>
      <p:sp>
        <p:nvSpPr>
          <p:cNvPr id="5" name="TextBox 4"/>
          <p:cNvSpPr txBox="1"/>
          <p:nvPr/>
        </p:nvSpPr>
        <p:spPr>
          <a:xfrm>
            <a:off x="1079500" y="3683000"/>
            <a:ext cx="6134100" cy="1140460"/>
          </a:xfrm>
          <a:prstGeom prst="rect">
            <a:avLst/>
          </a:prstGeom>
          <a:noFill/>
        </p:spPr>
        <p:txBody>
          <a:bodyPr wrap="square" lIns="0" tIns="0" rIns="0" bIns="0" anchor="t">
            <a:spAutoFit/>
          </a:bodyPr>
          <a:lstStyle/>
          <a:p>
            <a:pPr algn="l">
              <a:lnSpc>
                <a:spcPts val="2660"/>
              </a:lnSpc>
            </a:pPr>
            <a:r>
              <a:rPr sz="1900" b="1" i="0">
                <a:solidFill>
                  <a:srgbClr val="000000"/>
                </a:solidFill>
                <a:latin typeface="Courier New"/>
                <a:ea typeface="Courier New"/>
                <a:cs typeface="Courier New"/>
              </a:rPr>
              <a:t>System.out.println(</a:t>
            </a:r>
          </a:p>
          <a:p>
            <a:pPr algn="l">
              <a:lnSpc>
                <a:spcPts val="2660"/>
              </a:lnSpc>
            </a:pPr>
            <a:r>
              <a:rPr sz="1900" b="1" i="0">
                <a:solidFill>
                  <a:srgbClr val="000000"/>
                </a:solidFill>
                <a:latin typeface="Courier New"/>
                <a:ea typeface="Courier New"/>
                <a:cs typeface="Courier New"/>
              </a:rPr>
              <a:t>  (num % 2 == 0)? num + "is even" :</a:t>
            </a:r>
          </a:p>
          <a:p>
            <a:pPr algn="l">
              <a:lnSpc>
                <a:spcPts val="2660"/>
              </a:lnSpc>
            </a:pPr>
            <a:r>
              <a:rPr sz="1900" b="1" i="0">
                <a:solidFill>
                  <a:srgbClr val="000000"/>
                </a:solidFill>
                <a:latin typeface="Courier New"/>
                <a:ea typeface="Courier New"/>
                <a:cs typeface="Courier New"/>
              </a:rPr>
              <a:t>  num + "is odd");</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Formatting Output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3FE4DCF-14A7-4AE6-B7DC-9E29A882B307}" type="slidenum">
              <a:rPr sz="1200" b="0" i="0">
                <a:solidFill>
                  <a:srgbClr val="6B6B6B"/>
                </a:solidFill>
                <a:latin typeface="Source Sans 3"/>
                <a:ea typeface="Source Sans 3"/>
                <a:cs typeface="Source Sans 3"/>
              </a:rPr>
              <a:pPr algn="l">
                <a:lnSpc>
                  <a:spcPts val="1500"/>
                </a:lnSpc>
              </a:pPr>
              <a:t>51</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2628925"/>
          </a:xfrm>
          <a:prstGeom prst="rect">
            <a:avLst/>
          </a:prstGeom>
          <a:noFill/>
        </p:spPr>
        <p:txBody>
          <a:bodyPr wrap="square" lIns="0" tIns="0" rIns="0" bIns="0" anchor="t">
            <a:spAutoFit/>
          </a:bodyPr>
          <a:lstStyle/>
          <a:p>
            <a:pPr marL="279400" indent="-279400" algn="l">
              <a:lnSpc>
                <a:spcPts val="3000"/>
              </a:lnSpc>
            </a:pPr>
            <a:r>
              <a:rPr sz="2400" b="0" i="0">
                <a:solidFill>
                  <a:srgbClr val="111111"/>
                </a:solidFill>
                <a:latin typeface="Times New Roman"/>
                <a:ea typeface="Times New Roman"/>
                <a:cs typeface="Times New Roman"/>
              </a:rPr>
              <a:t>▫  Use the printf statement.</a:t>
            </a:r>
          </a:p>
          <a:p>
            <a:pPr marL="457200" indent="0" algn="l">
              <a:lnSpc>
                <a:spcPts val="2900"/>
              </a:lnSpc>
              <a:spcBef>
                <a:spcPts val="960"/>
              </a:spcBef>
            </a:pPr>
            <a:r>
              <a:rPr sz="2000" b="1" i="0">
                <a:solidFill>
                  <a:srgbClr val="111111"/>
                </a:solidFill>
                <a:latin typeface="Courier New"/>
                <a:ea typeface="Courier New"/>
                <a:cs typeface="Courier New"/>
              </a:rPr>
              <a:t>System.out.printf(format, items);</a:t>
            </a:r>
          </a:p>
          <a:p>
            <a:pPr marL="279400" indent="-279400" algn="just">
              <a:lnSpc>
                <a:spcPts val="3000"/>
              </a:lnSpc>
              <a:spcBef>
                <a:spcPts val="1600"/>
              </a:spcBef>
            </a:pPr>
            <a:r>
              <a:rPr sz="2400" b="0" i="0">
                <a:solidFill>
                  <a:srgbClr val="111111"/>
                </a:solidFill>
                <a:latin typeface="Times New Roman"/>
                <a:ea typeface="Times New Roman"/>
                <a:cs typeface="Times New Roman"/>
              </a:rPr>
              <a:t>▫  Where format is a string that may consist of substrings and format specifiers. A format specifier specifies how an item should be displayed. An item may be a numeric value, character, boolean value, or a string. Each specifier begins with a percent sign.</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Frequently-Used Specifiers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E1CBBF8-E307-446B-A149-1CF336D1465C}" type="slidenum">
              <a:rPr sz="1200" b="0" i="0">
                <a:solidFill>
                  <a:srgbClr val="6B6B6B"/>
                </a:solidFill>
                <a:latin typeface="Source Sans 3"/>
                <a:ea typeface="Source Sans 3"/>
                <a:cs typeface="Source Sans 3"/>
              </a:rPr>
              <a:pPr algn="l">
                <a:lnSpc>
                  <a:spcPts val="1500"/>
                </a:lnSpc>
              </a:pPr>
              <a:t>52</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1333500" y="1168400"/>
          <a:ext cx="9525000" cy="2738120"/>
        </p:xfrm>
        <a:graphic>
          <a:graphicData uri="http://schemas.openxmlformats.org/drawingml/2006/table">
            <a:tbl>
              <a:tblPr/>
              <a:tblGrid>
                <a:gridCol w="1397000">
                  <a:extLst>
                    <a:ext uri="{9D8B030D-6E8A-4147-A177-3AD203B41FA5}">
                      <a16:colId xmlns:a16="http://schemas.microsoft.com/office/drawing/2014/main" xmlns="" val="20000"/>
                    </a:ext>
                  </a:extLst>
                </a:gridCol>
                <a:gridCol w="4953000">
                  <a:extLst>
                    <a:ext uri="{9D8B030D-6E8A-4147-A177-3AD203B41FA5}">
                      <a16:colId xmlns:a16="http://schemas.microsoft.com/office/drawing/2014/main" xmlns="" val="20001"/>
                    </a:ext>
                  </a:extLst>
                </a:gridCol>
                <a:gridCol w="3175000">
                  <a:extLst>
                    <a:ext uri="{9D8B030D-6E8A-4147-A177-3AD203B41FA5}">
                      <a16:colId xmlns:a16="http://schemas.microsoft.com/office/drawing/2014/main" xmlns="" val="20002"/>
                    </a:ext>
                  </a:extLst>
                </a:gridCol>
              </a:tblGrid>
              <a:tr h="368300">
                <a:tc>
                  <a:txBody>
                    <a:bodyPr/>
                    <a:lstStyle/>
                    <a:p>
                      <a:pPr>
                        <a:lnSpc>
                          <a:spcPts val="1950"/>
                        </a:lnSpc>
                      </a:pPr>
                      <a:r>
                        <a:rPr sz="1500" b="1" i="0">
                          <a:solidFill>
                            <a:srgbClr val="111111"/>
                          </a:solidFill>
                          <a:latin typeface="Courier New"/>
                          <a:ea typeface="Courier New"/>
                          <a:cs typeface="Courier New"/>
                        </a:rPr>
                        <a:t>Specifier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1950"/>
                        </a:lnSpc>
                      </a:pPr>
                      <a:r>
                        <a:rPr sz="1500" b="1" i="0">
                          <a:solidFill>
                            <a:srgbClr val="111111"/>
                          </a:solidFill>
                          <a:latin typeface="Courier New"/>
                          <a:ea typeface="Courier New"/>
                          <a:cs typeface="Courier New"/>
                        </a:rPr>
                        <a:t>Output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1950"/>
                        </a:lnSpc>
                      </a:pPr>
                      <a:r>
                        <a:rPr sz="1500" b="1" i="0">
                          <a:solidFill>
                            <a:srgbClr val="111111"/>
                          </a:solidFill>
                          <a:latin typeface="Courier New"/>
                          <a:ea typeface="Courier New"/>
                          <a:cs typeface="Courier New"/>
                        </a:rPr>
                        <a:t>Example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368300">
                <a:tc>
                  <a:txBody>
                    <a:bodyPr/>
                    <a:lstStyle/>
                    <a:p>
                      <a:pPr>
                        <a:lnSpc>
                          <a:spcPts val="1950"/>
                        </a:lnSpc>
                      </a:pPr>
                      <a:r>
                        <a:rPr sz="1500" b="0" i="0">
                          <a:solidFill>
                            <a:srgbClr val="111111"/>
                          </a:solidFill>
                          <a:latin typeface="Courier New"/>
                          <a:ea typeface="Courier New"/>
                          <a:cs typeface="Courier New"/>
                        </a:rPr>
                        <a:t>%b</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a boolean value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true or false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368300">
                <a:tc>
                  <a:txBody>
                    <a:bodyPr/>
                    <a:lstStyle/>
                    <a:p>
                      <a:pPr>
                        <a:lnSpc>
                          <a:spcPts val="1950"/>
                        </a:lnSpc>
                      </a:pPr>
                      <a:r>
                        <a:rPr sz="1500" b="0" i="0">
                          <a:solidFill>
                            <a:srgbClr val="111111"/>
                          </a:solidFill>
                          <a:latin typeface="Courier New"/>
                          <a:ea typeface="Courier New"/>
                          <a:cs typeface="Courier New"/>
                        </a:rPr>
                        <a:t>%c</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a character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'a'</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368300">
                <a:tc>
                  <a:txBody>
                    <a:bodyPr/>
                    <a:lstStyle/>
                    <a:p>
                      <a:pPr>
                        <a:lnSpc>
                          <a:spcPts val="1950"/>
                        </a:lnSpc>
                      </a:pPr>
                      <a:r>
                        <a:rPr sz="1500" b="0" i="0">
                          <a:solidFill>
                            <a:srgbClr val="111111"/>
                          </a:solidFill>
                          <a:latin typeface="Courier New"/>
                          <a:ea typeface="Courier New"/>
                          <a:cs typeface="Courier New"/>
                        </a:rPr>
                        <a:t>%d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a decimal integer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200</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368300">
                <a:tc>
                  <a:txBody>
                    <a:bodyPr/>
                    <a:lstStyle/>
                    <a:p>
                      <a:pPr>
                        <a:lnSpc>
                          <a:spcPts val="1950"/>
                        </a:lnSpc>
                      </a:pPr>
                      <a:r>
                        <a:rPr sz="1500" b="0" i="0">
                          <a:solidFill>
                            <a:srgbClr val="111111"/>
                          </a:solidFill>
                          <a:latin typeface="Courier New"/>
                          <a:ea typeface="Courier New"/>
                          <a:cs typeface="Courier New"/>
                        </a:rPr>
                        <a:t>%f</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a floating-point number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45.460000</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r h="368300">
                <a:tc>
                  <a:txBody>
                    <a:bodyPr/>
                    <a:lstStyle/>
                    <a:p>
                      <a:pPr>
                        <a:lnSpc>
                          <a:spcPts val="1950"/>
                        </a:lnSpc>
                      </a:pPr>
                      <a:r>
                        <a:rPr sz="1500" b="0" i="0">
                          <a:solidFill>
                            <a:srgbClr val="111111"/>
                          </a:solidFill>
                          <a:latin typeface="Courier New"/>
                          <a:ea typeface="Courier New"/>
                          <a:cs typeface="Courier New"/>
                        </a:rPr>
                        <a:t>%e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a number in standard scientific notation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4.556000e+01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5"/>
                  </a:ext>
                </a:extLst>
              </a:tr>
              <a:tr h="368300">
                <a:tc>
                  <a:txBody>
                    <a:bodyPr/>
                    <a:lstStyle/>
                    <a:p>
                      <a:pPr>
                        <a:lnSpc>
                          <a:spcPts val="1950"/>
                        </a:lnSpc>
                      </a:pPr>
                      <a:r>
                        <a:rPr sz="1500" b="0" i="0">
                          <a:solidFill>
                            <a:srgbClr val="111111"/>
                          </a:solidFill>
                          <a:latin typeface="Courier New"/>
                          <a:ea typeface="Courier New"/>
                          <a:cs typeface="Courier New"/>
                        </a:rPr>
                        <a:t>%s</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a string</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Courier New"/>
                          <a:ea typeface="Courier New"/>
                          <a:cs typeface="Courier New"/>
                        </a:rPr>
                        <a:t>"Java is cool"</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6"/>
                  </a:ext>
                </a:extLst>
              </a:tr>
            </a:tbl>
          </a:graphicData>
        </a:graphic>
      </p:graphicFrame>
      <p:pic>
        <p:nvPicPr>
          <p:cNvPr id="5" name="Picture 4" descr="printf.png"/>
          <p:cNvPicPr>
            <a:picLocks noChangeAspect="1"/>
          </p:cNvPicPr>
          <p:nvPr/>
        </p:nvPicPr>
        <p:blipFill>
          <a:blip r:embed="rId2"/>
          <a:stretch>
            <a:fillRect/>
          </a:stretch>
        </p:blipFill>
        <p:spPr>
          <a:xfrm>
            <a:off x="1965498" y="4191000"/>
            <a:ext cx="8261004" cy="2032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Operator Precedence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2F4752C-835B-4A97-BCFD-BA2137179829}" type="slidenum">
              <a:rPr sz="1200" b="0" i="0">
                <a:solidFill>
                  <a:srgbClr val="6B6B6B"/>
                </a:solidFill>
                <a:latin typeface="Source Sans 3"/>
                <a:ea typeface="Source Sans 3"/>
                <a:cs typeface="Source Sans 3"/>
              </a:rPr>
              <a:pPr algn="l">
                <a:lnSpc>
                  <a:spcPts val="1500"/>
                </a:lnSpc>
              </a:pPr>
              <a:t>53</a:t>
            </a:fld>
            <a:endParaRPr sz="1200" b="0" i="0">
              <a:solidFill>
                <a:srgbClr val="6B6B6B"/>
              </a:solidFill>
              <a:latin typeface="Source Sans 3"/>
              <a:ea typeface="Source Sans 3"/>
              <a:cs typeface="Source Sans 3"/>
            </a:endParaRPr>
          </a:p>
        </p:txBody>
      </p:sp>
      <p:sp>
        <p:nvSpPr>
          <p:cNvPr id="4" name="TextBox 3"/>
          <p:cNvSpPr txBox="1"/>
          <p:nvPr/>
        </p:nvSpPr>
        <p:spPr>
          <a:xfrm>
            <a:off x="952500" y="1143000"/>
            <a:ext cx="10287000" cy="5080000"/>
          </a:xfrm>
          <a:prstGeom prst="rect">
            <a:avLst/>
          </a:prstGeom>
          <a:noFill/>
        </p:spPr>
        <p:txBody>
          <a:bodyPr wrap="square" lIns="0" tIns="0" rIns="0" bIns="0" anchor="t">
            <a:spAutoFit/>
          </a:bodyPr>
          <a:lstStyle/>
          <a:p>
            <a:pPr marL="279400" indent="-279400" algn="l">
              <a:lnSpc>
                <a:spcPts val="2375"/>
              </a:lnSpc>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var++</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var--</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(Unary plus and minus), </a:t>
            </a:r>
            <a:r>
              <a:rPr sz="1700" b="1" i="0">
                <a:solidFill>
                  <a:srgbClr val="111111"/>
                </a:solidFill>
                <a:latin typeface="Courier New"/>
                <a:ea typeface="Courier New"/>
                <a:cs typeface="Courier New"/>
              </a:rPr>
              <a:t>++var</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--var</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(type)</a:t>
            </a:r>
            <a:r>
              <a:rPr sz="1900" b="0" i="0">
                <a:solidFill>
                  <a:srgbClr val="111111"/>
                </a:solidFill>
                <a:latin typeface="Times New Roman"/>
                <a:ea typeface="Times New Roman"/>
                <a:cs typeface="Times New Roman"/>
              </a:rPr>
              <a:t> Casting</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(Not)</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(Multiplication, division, and remainder)</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(Binary addition and subtraction)</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&lt;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&lt;=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&gt;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&gt;=</a:t>
            </a:r>
            <a:r>
              <a:rPr sz="1900" b="0" i="0">
                <a:solidFill>
                  <a:srgbClr val="111111"/>
                </a:solidFill>
                <a:latin typeface="Times New Roman"/>
                <a:ea typeface="Times New Roman"/>
                <a:cs typeface="Times New Roman"/>
              </a:rPr>
              <a:t> (Comparison)</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(Equality)</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(Exclusive OR)</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&amp;&amp;</a:t>
            </a:r>
            <a:r>
              <a:rPr sz="1900" b="0" i="0">
                <a:solidFill>
                  <a:srgbClr val="111111"/>
                </a:solidFill>
                <a:latin typeface="Times New Roman"/>
                <a:ea typeface="Times New Roman"/>
                <a:cs typeface="Times New Roman"/>
              </a:rPr>
              <a:t> (Conditional AND) Short-circuit AND</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(Conditional OR) Short-circuit OR</a:t>
            </a:r>
          </a:p>
          <a:p>
            <a:pPr marL="279400" indent="-279400" algn="l">
              <a:lnSpc>
                <a:spcPts val="2375"/>
              </a:lnSpc>
              <a:spcBef>
                <a:spcPts val="400"/>
              </a:spcBef>
            </a:pP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t>
            </a:r>
            <a:r>
              <a:rPr sz="1700" b="1" i="0">
                <a:solidFill>
                  <a:srgbClr val="111111"/>
                </a:solidFill>
                <a:latin typeface="Courier New"/>
                <a:ea typeface="Courier New"/>
                <a:cs typeface="Courier New"/>
              </a:rPr>
              <a:t>%=</a:t>
            </a:r>
            <a:r>
              <a:rPr sz="1900" b="0" i="0">
                <a:solidFill>
                  <a:srgbClr val="111111"/>
                </a:solidFill>
                <a:latin typeface="Times New Roman"/>
                <a:ea typeface="Times New Roman"/>
                <a:cs typeface="Times New Roman"/>
              </a:rPr>
              <a:t> (Assignment operator)</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Operator Precedence and Associativity</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016523D-A17A-4CBB-81D3-A572BA6D9465}" type="slidenum">
              <a:rPr sz="1200" b="0" i="0">
                <a:solidFill>
                  <a:srgbClr val="6B6B6B"/>
                </a:solidFill>
                <a:latin typeface="Source Sans 3"/>
                <a:ea typeface="Source Sans 3"/>
                <a:cs typeface="Source Sans 3"/>
              </a:rPr>
              <a:pPr algn="l">
                <a:lnSpc>
                  <a:spcPts val="1500"/>
                </a:lnSpc>
              </a:pPr>
              <a:t>54</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3488134"/>
          </a:xfrm>
          <a:prstGeom prst="rect">
            <a:avLst/>
          </a:prstGeom>
          <a:noFill/>
        </p:spPr>
        <p:txBody>
          <a:bodyPr wrap="square" lIns="0" tIns="0" rIns="0" bIns="0" anchor="t">
            <a:spAutoFit/>
          </a:bodyPr>
          <a:lstStyle/>
          <a:p>
            <a:pPr algn="just">
              <a:lnSpc>
                <a:spcPts val="2625"/>
              </a:lnSpc>
            </a:pPr>
            <a:r>
              <a:rPr sz="2100" b="0" i="0">
                <a:solidFill>
                  <a:srgbClr val="111111"/>
                </a:solidFill>
                <a:latin typeface="Times New Roman"/>
                <a:ea typeface="Times New Roman"/>
                <a:cs typeface="Times New Roman"/>
              </a:rPr>
              <a:t>The expression in the parentheses is evaluated first. (Parentheses can be nested, in which case the expression in the inner parentheses is executed first.) When evaluating an expression without parentheses, the operators are applied according to the precedence rule and the associativity rule.</a:t>
            </a:r>
          </a:p>
          <a:p>
            <a:pPr algn="just">
              <a:lnSpc>
                <a:spcPts val="2625"/>
              </a:lnSpc>
              <a:spcBef>
                <a:spcPts val="1200"/>
              </a:spcBef>
            </a:pPr>
            <a:r>
              <a:rPr sz="2100" b="0" i="0">
                <a:solidFill>
                  <a:srgbClr val="111111"/>
                </a:solidFill>
                <a:latin typeface="Times New Roman"/>
                <a:ea typeface="Times New Roman"/>
                <a:cs typeface="Times New Roman"/>
              </a:rPr>
              <a:t>If operators with the same precedence are next to each other, their associativity determines the order of evaluation. All binary operators except assignment operators are left-associative.</a:t>
            </a:r>
          </a:p>
          <a:p>
            <a:pPr marL="457200" indent="0" algn="l">
              <a:lnSpc>
                <a:spcPts val="2610"/>
              </a:lnSpc>
              <a:spcBef>
                <a:spcPts val="719"/>
              </a:spcBef>
            </a:pPr>
            <a:r>
              <a:rPr sz="1800" b="1" i="0">
                <a:solidFill>
                  <a:srgbClr val="111111"/>
                </a:solidFill>
                <a:latin typeface="Courier New"/>
                <a:ea typeface="Courier New"/>
                <a:cs typeface="Courier New"/>
              </a:rPr>
              <a:t>a - b + c - d is equivalent to ((a - b) + c) - d</a:t>
            </a:r>
          </a:p>
          <a:p>
            <a:pPr algn="l">
              <a:lnSpc>
                <a:spcPts val="2625"/>
              </a:lnSpc>
              <a:spcBef>
                <a:spcPts val="1200"/>
              </a:spcBef>
            </a:pPr>
            <a:r>
              <a:rPr sz="2100" b="0" i="0">
                <a:solidFill>
                  <a:srgbClr val="111111"/>
                </a:solidFill>
                <a:latin typeface="Times New Roman"/>
                <a:ea typeface="Times New Roman"/>
                <a:cs typeface="Times New Roman"/>
              </a:rPr>
              <a:t>Assignment operators are right-associative. Therefore, the expression</a:t>
            </a:r>
          </a:p>
          <a:p>
            <a:pPr marL="457200" indent="0" algn="l">
              <a:lnSpc>
                <a:spcPts val="2610"/>
              </a:lnSpc>
              <a:spcBef>
                <a:spcPts val="719"/>
              </a:spcBef>
            </a:pPr>
            <a:r>
              <a:rPr sz="1800" b="1" i="0">
                <a:solidFill>
                  <a:srgbClr val="111111"/>
                </a:solidFill>
                <a:latin typeface="Courier New"/>
                <a:ea typeface="Courier New"/>
                <a:cs typeface="Courier New"/>
              </a:rPr>
              <a:t>a = b += c = 5 is equivalent to a = (b += (c = 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(GUI) Confirmation Dialogs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5E47C05-3D93-4357-9FA1-C2B11FE4D26D}" type="slidenum">
              <a:rPr sz="1200" b="0" i="0">
                <a:solidFill>
                  <a:srgbClr val="6B6B6B"/>
                </a:solidFill>
                <a:latin typeface="Source Sans 3"/>
                <a:ea typeface="Source Sans 3"/>
                <a:cs typeface="Source Sans 3"/>
              </a:rPr>
              <a:pPr algn="l">
                <a:lnSpc>
                  <a:spcPts val="1500"/>
                </a:lnSpc>
              </a:pPr>
              <a:t>55</a:t>
            </a:fld>
            <a:endParaRPr sz="1200" b="0" i="0">
              <a:solidFill>
                <a:srgbClr val="6B6B6B"/>
              </a:solidFill>
              <a:latin typeface="Source Sans 3"/>
              <a:ea typeface="Source Sans 3"/>
              <a:cs typeface="Source Sans 3"/>
            </a:endParaRPr>
          </a:p>
        </p:txBody>
      </p:sp>
      <p:sp>
        <p:nvSpPr>
          <p:cNvPr id="4" name="TextBox 3"/>
          <p:cNvSpPr txBox="1"/>
          <p:nvPr/>
        </p:nvSpPr>
        <p:spPr>
          <a:xfrm>
            <a:off x="1079500" y="1524000"/>
            <a:ext cx="7467600" cy="838200"/>
          </a:xfrm>
          <a:prstGeom prst="rect">
            <a:avLst/>
          </a:prstGeom>
          <a:noFill/>
        </p:spPr>
        <p:txBody>
          <a:bodyPr wrap="square" lIns="0" tIns="0" rIns="0" bIns="0" anchor="t">
            <a:spAutoFit/>
          </a:bodyPr>
          <a:lstStyle/>
          <a:p>
            <a:pPr algn="l">
              <a:lnSpc>
                <a:spcPts val="2800"/>
              </a:lnSpc>
            </a:pPr>
            <a:r>
              <a:rPr sz="2000" b="1" i="0">
                <a:solidFill>
                  <a:srgbClr val="000000"/>
                </a:solidFill>
                <a:latin typeface="Courier New"/>
                <a:ea typeface="Courier New"/>
                <a:cs typeface="Courier New"/>
              </a:rPr>
              <a:t>int option = JOptionPane.showConfirmDialog</a:t>
            </a:r>
          </a:p>
          <a:p>
            <a:pPr algn="l">
              <a:lnSpc>
                <a:spcPts val="2800"/>
              </a:lnSpc>
            </a:pPr>
            <a:r>
              <a:rPr sz="2000" b="1" i="0">
                <a:solidFill>
                  <a:srgbClr val="000000"/>
                </a:solidFill>
                <a:latin typeface="Courier New"/>
                <a:ea typeface="Courier New"/>
                <a:cs typeface="Courier New"/>
              </a:rPr>
              <a:t>  (null, "Continue");</a:t>
            </a:r>
          </a:p>
        </p:txBody>
      </p:sp>
      <p:pic>
        <p:nvPicPr>
          <p:cNvPr id="5" name="Picture 4" descr="confirm.png"/>
          <p:cNvPicPr>
            <a:picLocks noChangeAspect="1"/>
          </p:cNvPicPr>
          <p:nvPr/>
        </p:nvPicPr>
        <p:blipFill>
          <a:blip r:embed="rId2"/>
          <a:stretch>
            <a:fillRect/>
          </a:stretch>
        </p:blipFill>
        <p:spPr>
          <a:xfrm>
            <a:off x="4191000" y="2794000"/>
            <a:ext cx="4191000" cy="1975757"/>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900680"/>
            <a:ext cx="10883900" cy="1229360"/>
          </a:xfrm>
        </p:spPr>
        <p:txBody>
          <a:bodyPr lIns="0" tIns="0" rIns="0" bIns="0" anchor="t"/>
          <a:lstStyle/>
          <a:p>
            <a:pPr algn="l">
              <a:lnSpc>
                <a:spcPts val="4620"/>
              </a:lnSpc>
            </a:pPr>
            <a:r>
              <a:rPr sz="4400" b="0" i="0">
                <a:solidFill>
                  <a:srgbClr val="222222"/>
                </a:solidFill>
                <a:latin typeface="Times New Roman"/>
                <a:ea typeface="Times New Roman"/>
                <a:cs typeface="Times New Roman"/>
              </a:rPr>
              <a:t>Mathematical Functions, Characters, and Strings</a:t>
            </a:r>
          </a:p>
        </p:txBody>
      </p:sp>
      <p:sp>
        <p:nvSpPr>
          <p:cNvPr id="3" name="TextBox 2"/>
          <p:cNvSpPr txBox="1"/>
          <p:nvPr/>
        </p:nvSpPr>
        <p:spPr>
          <a:xfrm>
            <a:off x="812800" y="2456180"/>
            <a:ext cx="10883900" cy="292100"/>
          </a:xfrm>
          <a:prstGeom prst="rect">
            <a:avLst/>
          </a:prstGeom>
          <a:noFill/>
        </p:spPr>
        <p:txBody>
          <a:bodyPr wrap="square" lIns="0" tIns="0" rIns="0" bIns="0" anchor="t">
            <a:spAutoFit/>
          </a:bodyPr>
          <a:lstStyle/>
          <a:p>
            <a:pPr algn="l">
              <a:lnSpc>
                <a:spcPts val="1875"/>
              </a:lnSpc>
            </a:pPr>
            <a:r>
              <a:rPr sz="1500" b="1" i="0">
                <a:solidFill>
                  <a:srgbClr val="B5500F"/>
                </a:solidFill>
                <a:latin typeface="Source Sans 3"/>
                <a:ea typeface="Source Sans 3"/>
                <a:cs typeface="Source Sans 3"/>
              </a:rPr>
              <a:t>Java basics</a:t>
            </a:r>
          </a:p>
        </p:txBody>
      </p:sp>
      <p:sp>
        <p:nvSpPr>
          <p:cNvPr id="4" name="Rectangle 3"/>
          <p:cNvSpPr/>
          <p:nvPr/>
        </p:nvSpPr>
        <p:spPr>
          <a:xfrm>
            <a:off x="812800" y="4251960"/>
            <a:ext cx="1524000" cy="38100"/>
          </a:xfrm>
          <a:prstGeom prst="rect">
            <a:avLst/>
          </a:prstGeom>
          <a:solidFill>
            <a:srgbClr val="E87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3F8295B-E187-40A4-A1DD-062EB4308384}" type="slidenum">
              <a:rPr sz="1200" b="0" i="0">
                <a:solidFill>
                  <a:srgbClr val="6B6B6B"/>
                </a:solidFill>
                <a:latin typeface="Source Sans 3"/>
                <a:ea typeface="Source Sans 3"/>
                <a:cs typeface="Source Sans 3"/>
              </a:rPr>
              <a:pPr algn="l">
                <a:lnSpc>
                  <a:spcPts val="1500"/>
                </a:lnSpc>
              </a:pPr>
              <a:t>56</a:t>
            </a:fld>
            <a:endParaRPr sz="1200" b="0" i="0">
              <a:solidFill>
                <a:srgbClr val="6B6B6B"/>
              </a:solidFill>
              <a:latin typeface="Source Sans 3"/>
              <a:ea typeface="Source Sans 3"/>
              <a:cs typeface="Source Sans 3"/>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Mathematical Functions and the </a:t>
            </a:r>
            <a:r>
              <a:rPr sz="3300" b="0" i="0">
                <a:solidFill>
                  <a:srgbClr val="111111"/>
                </a:solidFill>
                <a:latin typeface="Courier New"/>
                <a:ea typeface="Courier New"/>
                <a:cs typeface="Courier New"/>
              </a:rPr>
              <a:t>Math</a:t>
            </a:r>
            <a:r>
              <a:rPr sz="3300" b="0" i="0">
                <a:solidFill>
                  <a:srgbClr val="111111"/>
                </a:solidFill>
                <a:latin typeface="Times New Roman"/>
                <a:ea typeface="Times New Roman"/>
                <a:cs typeface="Times New Roman"/>
              </a:rPr>
              <a:t> Class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697BF15C-14B6-493C-9D5F-F622907D39AC}" type="slidenum">
              <a:rPr sz="1200" b="0" i="0">
                <a:solidFill>
                  <a:srgbClr val="6B6B6B"/>
                </a:solidFill>
                <a:latin typeface="Source Sans 3"/>
                <a:ea typeface="Source Sans 3"/>
                <a:cs typeface="Source Sans 3"/>
              </a:rPr>
              <a:pPr algn="l">
                <a:lnSpc>
                  <a:spcPts val="1500"/>
                </a:lnSpc>
              </a:pPr>
              <a:t>57</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3000"/>
              </a:lnSpc>
            </a:pPr>
            <a:r>
              <a:rPr sz="2400" b="0" i="0">
                <a:solidFill>
                  <a:srgbClr val="111111"/>
                </a:solidFill>
                <a:latin typeface="Times New Roman"/>
                <a:ea typeface="Times New Roman"/>
                <a:cs typeface="Times New Roman"/>
              </a:rPr>
              <a:t>Java provides many useful methods in the </a:t>
            </a:r>
            <a:r>
              <a:rPr sz="2200" b="1" i="0">
                <a:solidFill>
                  <a:srgbClr val="111111"/>
                </a:solidFill>
                <a:latin typeface="Courier New"/>
                <a:ea typeface="Courier New"/>
                <a:cs typeface="Courier New"/>
              </a:rPr>
              <a:t>Math</a:t>
            </a:r>
            <a:r>
              <a:rPr sz="2400" b="0" i="0">
                <a:solidFill>
                  <a:srgbClr val="111111"/>
                </a:solidFill>
                <a:latin typeface="Times New Roman"/>
                <a:ea typeface="Times New Roman"/>
                <a:cs typeface="Times New Roman"/>
              </a:rPr>
              <a:t> class for performing common mathematical functions.</a:t>
            </a:r>
          </a:p>
          <a:p>
            <a:pPr marL="279400" indent="-279400" algn="l">
              <a:lnSpc>
                <a:spcPts val="3000"/>
              </a:lnSpc>
              <a:spcBef>
                <a:spcPts val="1000"/>
              </a:spcBef>
            </a:pPr>
            <a:r>
              <a:rPr sz="2400" b="0" i="0">
                <a:solidFill>
                  <a:srgbClr val="111111"/>
                </a:solidFill>
                <a:latin typeface="Times New Roman"/>
                <a:ea typeface="Times New Roman"/>
                <a:cs typeface="Times New Roman"/>
              </a:rPr>
              <a:t>▫  Class constants:</a:t>
            </a:r>
          </a:p>
          <a:p>
            <a:pPr marL="736600" indent="-254000" algn="l">
              <a:lnSpc>
                <a:spcPts val="2500"/>
              </a:lnSpc>
              <a:spcBef>
                <a:spcPts val="600"/>
              </a:spcBef>
            </a:pPr>
            <a:r>
              <a:rPr sz="2000" b="0" i="0">
                <a:solidFill>
                  <a:srgbClr val="111111"/>
                </a:solidFill>
                <a:latin typeface="Times New Roman"/>
                <a:ea typeface="Times New Roman"/>
                <a:cs typeface="Times New Roman"/>
              </a:rPr>
              <a:t>–  </a:t>
            </a:r>
            <a:r>
              <a:rPr sz="1800" b="1" i="0">
                <a:solidFill>
                  <a:srgbClr val="111111"/>
                </a:solidFill>
                <a:latin typeface="Courier New"/>
                <a:ea typeface="Courier New"/>
                <a:cs typeface="Courier New"/>
              </a:rPr>
              <a:t>PI</a:t>
            </a:r>
          </a:p>
          <a:p>
            <a:pPr marL="736600" indent="-254000" algn="l">
              <a:lnSpc>
                <a:spcPts val="2500"/>
              </a:lnSpc>
              <a:spcBef>
                <a:spcPts val="600"/>
              </a:spcBef>
            </a:pPr>
            <a:r>
              <a:rPr sz="2000" b="0" i="0">
                <a:solidFill>
                  <a:srgbClr val="111111"/>
                </a:solidFill>
                <a:latin typeface="Times New Roman"/>
                <a:ea typeface="Times New Roman"/>
                <a:cs typeface="Times New Roman"/>
              </a:rPr>
              <a:t>–  </a:t>
            </a:r>
            <a:r>
              <a:rPr sz="1800" b="1" i="0">
                <a:solidFill>
                  <a:srgbClr val="111111"/>
                </a:solidFill>
                <a:latin typeface="Courier New"/>
                <a:ea typeface="Courier New"/>
                <a:cs typeface="Courier New"/>
              </a:rPr>
              <a:t>E</a:t>
            </a:r>
          </a:p>
          <a:p>
            <a:pPr marL="279400" indent="-279400" algn="l">
              <a:lnSpc>
                <a:spcPts val="3000"/>
              </a:lnSpc>
              <a:spcBef>
                <a:spcPts val="1000"/>
              </a:spcBef>
            </a:pPr>
            <a:r>
              <a:rPr sz="2400" b="0" i="0">
                <a:solidFill>
                  <a:srgbClr val="111111"/>
                </a:solidFill>
                <a:latin typeface="Times New Roman"/>
                <a:ea typeface="Times New Roman"/>
                <a:cs typeface="Times New Roman"/>
              </a:rPr>
              <a:t>▫  Class methods:</a:t>
            </a:r>
          </a:p>
          <a:p>
            <a:pPr marL="736600" indent="-254000" algn="l">
              <a:lnSpc>
                <a:spcPts val="2500"/>
              </a:lnSpc>
              <a:spcBef>
                <a:spcPts val="600"/>
              </a:spcBef>
            </a:pPr>
            <a:r>
              <a:rPr sz="2000" b="0" i="0">
                <a:solidFill>
                  <a:srgbClr val="111111"/>
                </a:solidFill>
                <a:latin typeface="Times New Roman"/>
                <a:ea typeface="Times New Roman"/>
                <a:cs typeface="Times New Roman"/>
              </a:rPr>
              <a:t>–  Trigonometric Methods</a:t>
            </a:r>
          </a:p>
          <a:p>
            <a:pPr marL="736600" indent="-254000" algn="l">
              <a:lnSpc>
                <a:spcPts val="2500"/>
              </a:lnSpc>
              <a:spcBef>
                <a:spcPts val="600"/>
              </a:spcBef>
            </a:pPr>
            <a:r>
              <a:rPr sz="2000" b="0" i="0">
                <a:solidFill>
                  <a:srgbClr val="111111"/>
                </a:solidFill>
                <a:latin typeface="Times New Roman"/>
                <a:ea typeface="Times New Roman"/>
                <a:cs typeface="Times New Roman"/>
              </a:rPr>
              <a:t>–  Exponent Methods</a:t>
            </a:r>
          </a:p>
          <a:p>
            <a:pPr marL="736600" indent="-254000" algn="l">
              <a:lnSpc>
                <a:spcPts val="2500"/>
              </a:lnSpc>
              <a:spcBef>
                <a:spcPts val="600"/>
              </a:spcBef>
            </a:pPr>
            <a:r>
              <a:rPr sz="2000" b="0" i="0">
                <a:solidFill>
                  <a:srgbClr val="111111"/>
                </a:solidFill>
                <a:latin typeface="Times New Roman"/>
                <a:ea typeface="Times New Roman"/>
                <a:cs typeface="Times New Roman"/>
              </a:rPr>
              <a:t>–  Rounding Methods</a:t>
            </a:r>
          </a:p>
          <a:p>
            <a:pPr marL="736600" indent="-254000" algn="l">
              <a:lnSpc>
                <a:spcPts val="2500"/>
              </a:lnSpc>
              <a:spcBef>
                <a:spcPts val="600"/>
              </a:spcBef>
            </a:pPr>
            <a:r>
              <a:rPr sz="2000" b="0" i="0">
                <a:solidFill>
                  <a:srgbClr val="111111"/>
                </a:solidFill>
                <a:latin typeface="Times New Roman"/>
                <a:ea typeface="Times New Roman"/>
                <a:cs typeface="Times New Roman"/>
              </a:rPr>
              <a:t>–  </a:t>
            </a:r>
            <a:r>
              <a:rPr sz="1800" b="1" i="0">
                <a:solidFill>
                  <a:srgbClr val="111111"/>
                </a:solidFill>
                <a:latin typeface="Courier New"/>
                <a:ea typeface="Courier New"/>
                <a:cs typeface="Courier New"/>
              </a:rPr>
              <a:t>min</a:t>
            </a:r>
            <a:r>
              <a:rPr sz="2000" b="0" i="0">
                <a:solidFill>
                  <a:srgbClr val="111111"/>
                </a:solidFill>
                <a:latin typeface="Times New Roman"/>
                <a:ea typeface="Times New Roman"/>
                <a:cs typeface="Times New Roman"/>
              </a:rPr>
              <a:t>, </a:t>
            </a:r>
            <a:r>
              <a:rPr sz="1800" b="1" i="0">
                <a:solidFill>
                  <a:srgbClr val="111111"/>
                </a:solidFill>
                <a:latin typeface="Courier New"/>
                <a:ea typeface="Courier New"/>
                <a:cs typeface="Courier New"/>
              </a:rPr>
              <a:t>max</a:t>
            </a:r>
            <a:r>
              <a:rPr sz="2000" b="0" i="0">
                <a:solidFill>
                  <a:srgbClr val="111111"/>
                </a:solidFill>
                <a:latin typeface="Times New Roman"/>
                <a:ea typeface="Times New Roman"/>
                <a:cs typeface="Times New Roman"/>
              </a:rPr>
              <a:t>, </a:t>
            </a:r>
            <a:r>
              <a:rPr sz="1800" b="1" i="0">
                <a:solidFill>
                  <a:srgbClr val="111111"/>
                </a:solidFill>
                <a:latin typeface="Courier New"/>
                <a:ea typeface="Courier New"/>
                <a:cs typeface="Courier New"/>
              </a:rPr>
              <a:t>abs</a:t>
            </a:r>
            <a:r>
              <a:rPr sz="2000" b="0" i="0">
                <a:solidFill>
                  <a:srgbClr val="111111"/>
                </a:solidFill>
                <a:latin typeface="Times New Roman"/>
                <a:ea typeface="Times New Roman"/>
                <a:cs typeface="Times New Roman"/>
              </a:rPr>
              <a:t>, and </a:t>
            </a:r>
            <a:r>
              <a:rPr sz="1800" b="1" i="0">
                <a:solidFill>
                  <a:srgbClr val="111111"/>
                </a:solidFill>
                <a:latin typeface="Courier New"/>
                <a:ea typeface="Courier New"/>
                <a:cs typeface="Courier New"/>
              </a:rPr>
              <a:t>random</a:t>
            </a:r>
            <a:r>
              <a:rPr sz="2000" b="0" i="0">
                <a:solidFill>
                  <a:srgbClr val="111111"/>
                </a:solidFill>
                <a:latin typeface="Times New Roman"/>
                <a:ea typeface="Times New Roman"/>
                <a:cs typeface="Times New Roman"/>
              </a:rPr>
              <a:t> Methods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Trigonometric Methods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E6080E4-9155-4076-B5FC-EA7A90ED1F87}" type="slidenum">
              <a:rPr sz="1200" b="0" i="0">
                <a:solidFill>
                  <a:srgbClr val="6B6B6B"/>
                </a:solidFill>
                <a:latin typeface="Source Sans 3"/>
                <a:ea typeface="Source Sans 3"/>
                <a:cs typeface="Source Sans 3"/>
              </a:rPr>
              <a:pPr algn="l">
                <a:lnSpc>
                  <a:spcPts val="1500"/>
                </a:lnSpc>
              </a:pPr>
              <a:t>58</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4826000" cy="5080000"/>
          </a:xfrm>
          <a:prstGeom prst="rect">
            <a:avLst/>
          </a:prstGeom>
          <a:noFill/>
        </p:spPr>
        <p:txBody>
          <a:bodyPr wrap="square" lIns="0" tIns="0" rIns="0" bIns="0" anchor="t">
            <a:spAutoFit/>
          </a:bodyPr>
          <a:lstStyle/>
          <a:p>
            <a:pPr marL="457200" indent="0" algn="l">
              <a:lnSpc>
                <a:spcPts val="2900"/>
              </a:lnSpc>
            </a:pPr>
            <a:r>
              <a:rPr sz="2000" b="1" i="0">
                <a:solidFill>
                  <a:srgbClr val="111111"/>
                </a:solidFill>
                <a:latin typeface="Courier New"/>
                <a:ea typeface="Courier New"/>
                <a:cs typeface="Courier New"/>
              </a:rPr>
              <a:t>sin(double a)</a:t>
            </a:r>
          </a:p>
          <a:p>
            <a:pPr marL="457200" indent="0" algn="l">
              <a:lnSpc>
                <a:spcPts val="2900"/>
              </a:lnSpc>
            </a:pPr>
            <a:r>
              <a:rPr sz="2000" b="1" i="0">
                <a:solidFill>
                  <a:srgbClr val="111111"/>
                </a:solidFill>
                <a:latin typeface="Courier New"/>
                <a:ea typeface="Courier New"/>
                <a:cs typeface="Courier New"/>
              </a:rPr>
              <a:t>cos(double a)</a:t>
            </a:r>
          </a:p>
          <a:p>
            <a:pPr marL="457200" indent="0" algn="l">
              <a:lnSpc>
                <a:spcPts val="2900"/>
              </a:lnSpc>
            </a:pPr>
            <a:r>
              <a:rPr sz="2000" b="1" i="0">
                <a:solidFill>
                  <a:srgbClr val="111111"/>
                </a:solidFill>
                <a:latin typeface="Courier New"/>
                <a:ea typeface="Courier New"/>
                <a:cs typeface="Courier New"/>
              </a:rPr>
              <a:t>tan(double a)</a:t>
            </a:r>
          </a:p>
          <a:p>
            <a:pPr marL="457200" indent="0" algn="l">
              <a:lnSpc>
                <a:spcPts val="2900"/>
              </a:lnSpc>
            </a:pPr>
            <a:r>
              <a:rPr sz="2000" b="1" i="0">
                <a:solidFill>
                  <a:srgbClr val="111111"/>
                </a:solidFill>
                <a:latin typeface="Courier New"/>
                <a:ea typeface="Courier New"/>
                <a:cs typeface="Courier New"/>
              </a:rPr>
              <a:t>acos(double a)</a:t>
            </a:r>
          </a:p>
          <a:p>
            <a:pPr marL="457200" indent="0" algn="l">
              <a:lnSpc>
                <a:spcPts val="2900"/>
              </a:lnSpc>
            </a:pPr>
            <a:r>
              <a:rPr sz="2000" b="1" i="0">
                <a:solidFill>
                  <a:srgbClr val="111111"/>
                </a:solidFill>
                <a:latin typeface="Courier New"/>
                <a:ea typeface="Courier New"/>
                <a:cs typeface="Courier New"/>
              </a:rPr>
              <a:t>asin(double a)</a:t>
            </a:r>
          </a:p>
          <a:p>
            <a:pPr marL="457200" indent="0" algn="l">
              <a:lnSpc>
                <a:spcPts val="2900"/>
              </a:lnSpc>
            </a:pPr>
            <a:r>
              <a:rPr sz="2000" b="1" i="0">
                <a:solidFill>
                  <a:srgbClr val="111111"/>
                </a:solidFill>
                <a:latin typeface="Courier New"/>
                <a:ea typeface="Courier New"/>
                <a:cs typeface="Courier New"/>
              </a:rPr>
              <a:t>atan(double a)</a:t>
            </a:r>
          </a:p>
          <a:p>
            <a:pPr algn="l">
              <a:lnSpc>
                <a:spcPts val="2500"/>
              </a:lnSpc>
              <a:spcBef>
                <a:spcPts val="800"/>
              </a:spcBef>
            </a:pPr>
            <a:endParaRPr sz="2000" b="1" i="0">
              <a:solidFill>
                <a:srgbClr val="111111"/>
              </a:solidFill>
              <a:latin typeface="Courier New"/>
              <a:ea typeface="Courier New"/>
              <a:cs typeface="Courier New"/>
            </a:endParaRPr>
          </a:p>
          <a:p>
            <a:pPr algn="l">
              <a:lnSpc>
                <a:spcPts val="2500"/>
              </a:lnSpc>
              <a:spcBef>
                <a:spcPts val="800"/>
              </a:spcBef>
            </a:pPr>
            <a:r>
              <a:rPr sz="2000" b="0" i="0">
                <a:solidFill>
                  <a:srgbClr val="111111"/>
                </a:solidFill>
                <a:latin typeface="Times New Roman"/>
                <a:ea typeface="Times New Roman"/>
                <a:cs typeface="Times New Roman"/>
              </a:rPr>
              <a:t>Radians</a:t>
            </a:r>
          </a:p>
          <a:p>
            <a:pPr marL="457200" indent="0" algn="l">
              <a:lnSpc>
                <a:spcPts val="2610"/>
              </a:lnSpc>
              <a:spcBef>
                <a:spcPts val="480"/>
              </a:spcBef>
            </a:pPr>
            <a:r>
              <a:rPr sz="1800" b="1" i="0">
                <a:solidFill>
                  <a:srgbClr val="111111"/>
                </a:solidFill>
                <a:latin typeface="Courier New"/>
                <a:ea typeface="Courier New"/>
                <a:cs typeface="Courier New"/>
              </a:rPr>
              <a:t>toRadians(90)</a:t>
            </a:r>
          </a:p>
        </p:txBody>
      </p:sp>
      <p:sp>
        <p:nvSpPr>
          <p:cNvPr id="5" name="Rectangle 4"/>
          <p:cNvSpPr/>
          <p:nvPr/>
        </p:nvSpPr>
        <p:spPr>
          <a:xfrm>
            <a:off x="5969000" y="1168400"/>
            <a:ext cx="5270500" cy="3982720"/>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146800" y="1320800"/>
            <a:ext cx="4914900" cy="4826000"/>
          </a:xfrm>
          <a:prstGeom prst="rect">
            <a:avLst/>
          </a:prstGeom>
          <a:noFill/>
        </p:spPr>
        <p:txBody>
          <a:bodyPr wrap="square" lIns="0" tIns="0" rIns="0" bIns="0" anchor="t">
            <a:spAutoFit/>
          </a:bodyPr>
          <a:lstStyle/>
          <a:p>
            <a:pPr algn="l">
              <a:lnSpc>
                <a:spcPts val="2550"/>
              </a:lnSpc>
            </a:pPr>
            <a:r>
              <a:rPr sz="1700" b="1" i="0">
                <a:solidFill>
                  <a:srgbClr val="111111"/>
                </a:solidFill>
                <a:latin typeface="Courier New"/>
                <a:ea typeface="Courier New"/>
                <a:cs typeface="Courier New"/>
              </a:rPr>
              <a:t>Examples:</a:t>
            </a:r>
          </a:p>
          <a:p>
            <a:pPr algn="l">
              <a:lnSpc>
                <a:spcPts val="1360"/>
              </a:lnSpc>
            </a:pPr>
            <a:r>
              <a:rPr sz="1700" b="0" i="0">
                <a:solidFill>
                  <a:srgbClr val="111111"/>
                </a:solidFill>
                <a:latin typeface="Courier New"/>
                <a:ea typeface="Courier New"/>
                <a:cs typeface="Courier New"/>
              </a:rPr>
              <a:t> </a:t>
            </a:r>
          </a:p>
          <a:p>
            <a:pPr algn="l">
              <a:lnSpc>
                <a:spcPts val="2465"/>
              </a:lnSpc>
            </a:pPr>
            <a:r>
              <a:rPr sz="1700" b="1" i="0">
                <a:solidFill>
                  <a:srgbClr val="111111"/>
                </a:solidFill>
                <a:latin typeface="Courier New"/>
                <a:ea typeface="Courier New"/>
                <a:cs typeface="Courier New"/>
              </a:rPr>
              <a:t>Math.sin(0) returns 0.0</a:t>
            </a:r>
          </a:p>
          <a:p>
            <a:pPr algn="l">
              <a:lnSpc>
                <a:spcPts val="2465"/>
              </a:lnSpc>
            </a:pPr>
            <a:r>
              <a:rPr sz="1700" b="1" i="0">
                <a:solidFill>
                  <a:srgbClr val="111111"/>
                </a:solidFill>
                <a:latin typeface="Courier New"/>
                <a:ea typeface="Courier New"/>
                <a:cs typeface="Courier New"/>
              </a:rPr>
              <a:t>Math.sin(Math.PI / 6)</a:t>
            </a:r>
          </a:p>
          <a:p>
            <a:pPr algn="l">
              <a:lnSpc>
                <a:spcPts val="2465"/>
              </a:lnSpc>
            </a:pPr>
            <a:r>
              <a:rPr sz="1700" b="1" i="0">
                <a:solidFill>
                  <a:srgbClr val="111111"/>
                </a:solidFill>
                <a:latin typeface="Courier New"/>
                <a:ea typeface="Courier New"/>
                <a:cs typeface="Courier New"/>
              </a:rPr>
              <a:t>  returns 0.5</a:t>
            </a:r>
          </a:p>
          <a:p>
            <a:pPr algn="l">
              <a:lnSpc>
                <a:spcPts val="2465"/>
              </a:lnSpc>
            </a:pPr>
            <a:r>
              <a:rPr sz="1700" b="1" i="0">
                <a:solidFill>
                  <a:srgbClr val="111111"/>
                </a:solidFill>
                <a:latin typeface="Courier New"/>
                <a:ea typeface="Courier New"/>
                <a:cs typeface="Courier New"/>
              </a:rPr>
              <a:t>Math.sin(Math.PI / 2)</a:t>
            </a:r>
          </a:p>
          <a:p>
            <a:pPr algn="l">
              <a:lnSpc>
                <a:spcPts val="2465"/>
              </a:lnSpc>
            </a:pPr>
            <a:r>
              <a:rPr sz="1700" b="1" i="0">
                <a:solidFill>
                  <a:srgbClr val="111111"/>
                </a:solidFill>
                <a:latin typeface="Courier New"/>
                <a:ea typeface="Courier New"/>
                <a:cs typeface="Courier New"/>
              </a:rPr>
              <a:t>  returns 1.0</a:t>
            </a:r>
          </a:p>
          <a:p>
            <a:pPr algn="l">
              <a:lnSpc>
                <a:spcPts val="2465"/>
              </a:lnSpc>
            </a:pPr>
            <a:r>
              <a:rPr sz="1700" b="1" i="0">
                <a:solidFill>
                  <a:srgbClr val="111111"/>
                </a:solidFill>
                <a:latin typeface="Courier New"/>
                <a:ea typeface="Courier New"/>
                <a:cs typeface="Courier New"/>
              </a:rPr>
              <a:t>Math.cos(0) returns 1.0</a:t>
            </a:r>
          </a:p>
          <a:p>
            <a:pPr algn="l">
              <a:lnSpc>
                <a:spcPts val="2465"/>
              </a:lnSpc>
            </a:pPr>
            <a:r>
              <a:rPr sz="1700" b="1" i="0">
                <a:solidFill>
                  <a:srgbClr val="111111"/>
                </a:solidFill>
                <a:latin typeface="Courier New"/>
                <a:ea typeface="Courier New"/>
                <a:cs typeface="Courier New"/>
              </a:rPr>
              <a:t>Math.cos(Math.PI / 6)</a:t>
            </a:r>
          </a:p>
          <a:p>
            <a:pPr algn="l">
              <a:lnSpc>
                <a:spcPts val="2465"/>
              </a:lnSpc>
            </a:pPr>
            <a:r>
              <a:rPr sz="1700" b="1" i="0">
                <a:solidFill>
                  <a:srgbClr val="111111"/>
                </a:solidFill>
                <a:latin typeface="Courier New"/>
                <a:ea typeface="Courier New"/>
                <a:cs typeface="Courier New"/>
              </a:rPr>
              <a:t>  returns 0.866</a:t>
            </a:r>
          </a:p>
          <a:p>
            <a:pPr algn="l">
              <a:lnSpc>
                <a:spcPts val="2465"/>
              </a:lnSpc>
            </a:pPr>
            <a:r>
              <a:rPr sz="1700" b="1" i="0">
                <a:solidFill>
                  <a:srgbClr val="111111"/>
                </a:solidFill>
                <a:latin typeface="Courier New"/>
                <a:ea typeface="Courier New"/>
                <a:cs typeface="Courier New"/>
              </a:rPr>
              <a:t>Math.cos(Math.PI / 2)</a:t>
            </a:r>
          </a:p>
          <a:p>
            <a:pPr algn="l">
              <a:lnSpc>
                <a:spcPts val="2465"/>
              </a:lnSpc>
            </a:pPr>
            <a:r>
              <a:rPr sz="1700" b="1" i="0">
                <a:solidFill>
                  <a:srgbClr val="111111"/>
                </a:solidFill>
                <a:latin typeface="Courier New"/>
                <a:ea typeface="Courier New"/>
                <a:cs typeface="Courier New"/>
              </a:rPr>
              <a:t>  returns 0</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Exponent Methods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83FE75D-AA3D-4620-A213-B7F159A1F0FE}" type="slidenum">
              <a:rPr sz="1200" b="0" i="0">
                <a:solidFill>
                  <a:srgbClr val="6B6B6B"/>
                </a:solidFill>
                <a:latin typeface="Source Sans 3"/>
                <a:ea typeface="Source Sans 3"/>
                <a:cs typeface="Source Sans 3"/>
              </a:rPr>
              <a:pPr algn="l">
                <a:lnSpc>
                  <a:spcPts val="1500"/>
                </a:lnSpc>
              </a:pPr>
              <a:t>59</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5207000" cy="5080000"/>
          </a:xfrm>
          <a:prstGeom prst="rect">
            <a:avLst/>
          </a:prstGeom>
          <a:noFill/>
        </p:spPr>
        <p:txBody>
          <a:bodyPr wrap="square" lIns="0" tIns="0" rIns="0" bIns="0" anchor="t">
            <a:spAutoFit/>
          </a:bodyPr>
          <a:lstStyle/>
          <a:p>
            <a:pPr marL="457200" indent="0" algn="l">
              <a:lnSpc>
                <a:spcPts val="2610"/>
              </a:lnSpc>
            </a:pPr>
            <a:r>
              <a:rPr sz="1800" b="1" i="0">
                <a:solidFill>
                  <a:srgbClr val="111111"/>
                </a:solidFill>
                <a:latin typeface="Courier New"/>
                <a:ea typeface="Courier New"/>
                <a:cs typeface="Courier New"/>
              </a:rPr>
              <a:t>exp(double a)</a:t>
            </a:r>
          </a:p>
          <a:p>
            <a:pPr marL="457200" indent="0" algn="l">
              <a:lnSpc>
                <a:spcPts val="2125"/>
              </a:lnSpc>
              <a:spcBef>
                <a:spcPts val="400"/>
              </a:spcBef>
            </a:pPr>
            <a:r>
              <a:rPr sz="1700" b="0" i="0">
                <a:solidFill>
                  <a:srgbClr val="111111"/>
                </a:solidFill>
                <a:latin typeface="Times New Roman"/>
                <a:ea typeface="Times New Roman"/>
                <a:cs typeface="Times New Roman"/>
              </a:rPr>
              <a:t>Returns e raised to the power of a.</a:t>
            </a:r>
          </a:p>
          <a:p>
            <a:pPr marL="457200" indent="0" algn="l">
              <a:lnSpc>
                <a:spcPts val="2610"/>
              </a:lnSpc>
              <a:spcBef>
                <a:spcPts val="480"/>
              </a:spcBef>
            </a:pPr>
            <a:r>
              <a:rPr sz="1800" b="1" i="0">
                <a:solidFill>
                  <a:srgbClr val="111111"/>
                </a:solidFill>
                <a:latin typeface="Courier New"/>
                <a:ea typeface="Courier New"/>
                <a:cs typeface="Courier New"/>
              </a:rPr>
              <a:t>log(double a)</a:t>
            </a:r>
          </a:p>
          <a:p>
            <a:pPr marL="457200" indent="0" algn="l">
              <a:lnSpc>
                <a:spcPts val="2125"/>
              </a:lnSpc>
              <a:spcBef>
                <a:spcPts val="400"/>
              </a:spcBef>
            </a:pPr>
            <a:r>
              <a:rPr sz="1700" b="0" i="0">
                <a:solidFill>
                  <a:srgbClr val="111111"/>
                </a:solidFill>
                <a:latin typeface="Times New Roman"/>
                <a:ea typeface="Times New Roman"/>
                <a:cs typeface="Times New Roman"/>
              </a:rPr>
              <a:t>Returns the natural logarithm of a.</a:t>
            </a:r>
          </a:p>
          <a:p>
            <a:pPr marL="457200" indent="0" algn="l">
              <a:lnSpc>
                <a:spcPts val="2610"/>
              </a:lnSpc>
              <a:spcBef>
                <a:spcPts val="480"/>
              </a:spcBef>
            </a:pPr>
            <a:r>
              <a:rPr sz="1800" b="1" i="0">
                <a:solidFill>
                  <a:srgbClr val="111111"/>
                </a:solidFill>
                <a:latin typeface="Courier New"/>
                <a:ea typeface="Courier New"/>
                <a:cs typeface="Courier New"/>
              </a:rPr>
              <a:t>log10(double a)</a:t>
            </a:r>
          </a:p>
          <a:p>
            <a:pPr marL="457200" indent="0" algn="l">
              <a:lnSpc>
                <a:spcPts val="2125"/>
              </a:lnSpc>
              <a:spcBef>
                <a:spcPts val="400"/>
              </a:spcBef>
            </a:pPr>
            <a:r>
              <a:rPr sz="1700" b="0" i="0">
                <a:solidFill>
                  <a:srgbClr val="111111"/>
                </a:solidFill>
                <a:latin typeface="Times New Roman"/>
                <a:ea typeface="Times New Roman"/>
                <a:cs typeface="Times New Roman"/>
              </a:rPr>
              <a:t>Returns the 10-based logarithm of a.</a:t>
            </a:r>
          </a:p>
          <a:p>
            <a:pPr marL="457200" indent="0" algn="l">
              <a:lnSpc>
                <a:spcPts val="2610"/>
              </a:lnSpc>
              <a:spcBef>
                <a:spcPts val="480"/>
              </a:spcBef>
            </a:pPr>
            <a:r>
              <a:rPr sz="1800" b="1" i="0">
                <a:solidFill>
                  <a:srgbClr val="111111"/>
                </a:solidFill>
                <a:latin typeface="Courier New"/>
                <a:ea typeface="Courier New"/>
                <a:cs typeface="Courier New"/>
              </a:rPr>
              <a:t>pow(double a, double b)</a:t>
            </a:r>
          </a:p>
          <a:p>
            <a:pPr marL="457200" indent="0" algn="l">
              <a:lnSpc>
                <a:spcPts val="2125"/>
              </a:lnSpc>
              <a:spcBef>
                <a:spcPts val="400"/>
              </a:spcBef>
            </a:pPr>
            <a:r>
              <a:rPr sz="1700" b="0" i="0">
                <a:solidFill>
                  <a:srgbClr val="111111"/>
                </a:solidFill>
                <a:latin typeface="Times New Roman"/>
                <a:ea typeface="Times New Roman"/>
                <a:cs typeface="Times New Roman"/>
              </a:rPr>
              <a:t>Returns a raised to the power of b.</a:t>
            </a:r>
          </a:p>
          <a:p>
            <a:pPr marL="457200" indent="0" algn="l">
              <a:lnSpc>
                <a:spcPts val="2610"/>
              </a:lnSpc>
              <a:spcBef>
                <a:spcPts val="480"/>
              </a:spcBef>
            </a:pPr>
            <a:r>
              <a:rPr sz="1800" b="1" i="0">
                <a:solidFill>
                  <a:srgbClr val="111111"/>
                </a:solidFill>
                <a:latin typeface="Courier New"/>
                <a:ea typeface="Courier New"/>
                <a:cs typeface="Courier New"/>
              </a:rPr>
              <a:t>sqrt(double a)</a:t>
            </a:r>
          </a:p>
          <a:p>
            <a:pPr marL="457200" indent="0" algn="l">
              <a:lnSpc>
                <a:spcPts val="2125"/>
              </a:lnSpc>
              <a:spcBef>
                <a:spcPts val="400"/>
              </a:spcBef>
            </a:pPr>
            <a:r>
              <a:rPr sz="1700" b="0" i="0">
                <a:solidFill>
                  <a:srgbClr val="111111"/>
                </a:solidFill>
                <a:latin typeface="Times New Roman"/>
                <a:ea typeface="Times New Roman"/>
                <a:cs typeface="Times New Roman"/>
              </a:rPr>
              <a:t>Returns the square root of a.</a:t>
            </a:r>
          </a:p>
        </p:txBody>
      </p:sp>
      <p:sp>
        <p:nvSpPr>
          <p:cNvPr id="5" name="Rectangle 4"/>
          <p:cNvSpPr/>
          <p:nvPr/>
        </p:nvSpPr>
        <p:spPr>
          <a:xfrm>
            <a:off x="6350000" y="1168400"/>
            <a:ext cx="4889500" cy="3356610"/>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527800" y="1320800"/>
            <a:ext cx="4533900" cy="4826000"/>
          </a:xfrm>
          <a:prstGeom prst="rect">
            <a:avLst/>
          </a:prstGeom>
          <a:noFill/>
        </p:spPr>
        <p:txBody>
          <a:bodyPr wrap="square" lIns="0" tIns="0" rIns="0" bIns="0" anchor="t">
            <a:spAutoFit/>
          </a:bodyPr>
          <a:lstStyle/>
          <a:p>
            <a:pPr algn="l">
              <a:lnSpc>
                <a:spcPts val="2550"/>
              </a:lnSpc>
            </a:pPr>
            <a:r>
              <a:rPr sz="1700" b="1" i="0">
                <a:solidFill>
                  <a:srgbClr val="111111"/>
                </a:solidFill>
                <a:latin typeface="Courier New"/>
                <a:ea typeface="Courier New"/>
                <a:cs typeface="Courier New"/>
              </a:rPr>
              <a:t>Examples:</a:t>
            </a:r>
          </a:p>
          <a:p>
            <a:pPr algn="l">
              <a:lnSpc>
                <a:spcPts val="1360"/>
              </a:lnSpc>
            </a:pPr>
            <a:r>
              <a:rPr sz="1700" b="0" i="0">
                <a:solidFill>
                  <a:srgbClr val="111111"/>
                </a:solidFill>
                <a:latin typeface="Courier New"/>
                <a:ea typeface="Courier New"/>
                <a:cs typeface="Courier New"/>
              </a:rPr>
              <a:t> </a:t>
            </a:r>
          </a:p>
          <a:p>
            <a:pPr algn="l">
              <a:lnSpc>
                <a:spcPts val="2465"/>
              </a:lnSpc>
            </a:pPr>
            <a:r>
              <a:rPr sz="1700" b="1" i="0">
                <a:solidFill>
                  <a:srgbClr val="111111"/>
                </a:solidFill>
                <a:latin typeface="Courier New"/>
                <a:ea typeface="Courier New"/>
                <a:cs typeface="Courier New"/>
              </a:rPr>
              <a:t>Math.exp(1) returns 2.71</a:t>
            </a:r>
          </a:p>
          <a:p>
            <a:pPr algn="l">
              <a:lnSpc>
                <a:spcPts val="2465"/>
              </a:lnSpc>
            </a:pPr>
            <a:r>
              <a:rPr sz="1700" b="1" i="0">
                <a:solidFill>
                  <a:srgbClr val="111111"/>
                </a:solidFill>
                <a:latin typeface="Courier New"/>
                <a:ea typeface="Courier New"/>
                <a:cs typeface="Courier New"/>
              </a:rPr>
              <a:t>Math.log(2.71) returns 1.0</a:t>
            </a:r>
          </a:p>
          <a:p>
            <a:pPr algn="l">
              <a:lnSpc>
                <a:spcPts val="2465"/>
              </a:lnSpc>
            </a:pPr>
            <a:r>
              <a:rPr sz="1700" b="1" i="0">
                <a:solidFill>
                  <a:srgbClr val="111111"/>
                </a:solidFill>
                <a:latin typeface="Courier New"/>
                <a:ea typeface="Courier New"/>
                <a:cs typeface="Courier New"/>
              </a:rPr>
              <a:t>Math.pow(2, 3) returns 8.0</a:t>
            </a:r>
          </a:p>
          <a:p>
            <a:pPr algn="l">
              <a:lnSpc>
                <a:spcPts val="2465"/>
              </a:lnSpc>
            </a:pPr>
            <a:r>
              <a:rPr sz="1700" b="1" i="0">
                <a:solidFill>
                  <a:srgbClr val="111111"/>
                </a:solidFill>
                <a:latin typeface="Courier New"/>
                <a:ea typeface="Courier New"/>
                <a:cs typeface="Courier New"/>
              </a:rPr>
              <a:t>Math.pow(3, 2) returns 9.0</a:t>
            </a:r>
          </a:p>
          <a:p>
            <a:pPr algn="l">
              <a:lnSpc>
                <a:spcPts val="2465"/>
              </a:lnSpc>
            </a:pPr>
            <a:r>
              <a:rPr sz="1700" b="1" i="0">
                <a:solidFill>
                  <a:srgbClr val="111111"/>
                </a:solidFill>
                <a:latin typeface="Courier New"/>
                <a:ea typeface="Courier New"/>
                <a:cs typeface="Courier New"/>
              </a:rPr>
              <a:t>Math.pow(3.5, 2.5) returns</a:t>
            </a:r>
          </a:p>
          <a:p>
            <a:pPr algn="l">
              <a:lnSpc>
                <a:spcPts val="2465"/>
              </a:lnSpc>
            </a:pPr>
            <a:r>
              <a:rPr sz="1700" b="1" i="0">
                <a:solidFill>
                  <a:srgbClr val="111111"/>
                </a:solidFill>
                <a:latin typeface="Courier New"/>
                <a:ea typeface="Courier New"/>
                <a:cs typeface="Courier New"/>
              </a:rPr>
              <a:t>  22.91765</a:t>
            </a:r>
          </a:p>
          <a:p>
            <a:pPr algn="l">
              <a:lnSpc>
                <a:spcPts val="2465"/>
              </a:lnSpc>
            </a:pPr>
            <a:r>
              <a:rPr sz="1700" b="1" i="0">
                <a:solidFill>
                  <a:srgbClr val="111111"/>
                </a:solidFill>
                <a:latin typeface="Courier New"/>
                <a:ea typeface="Courier New"/>
                <a:cs typeface="Courier New"/>
              </a:rPr>
              <a:t>Math.sqrt(4) returns 2.0</a:t>
            </a:r>
          </a:p>
          <a:p>
            <a:pPr algn="l">
              <a:lnSpc>
                <a:spcPts val="2465"/>
              </a:lnSpc>
            </a:pPr>
            <a:r>
              <a:rPr sz="1700" b="1" i="0">
                <a:solidFill>
                  <a:srgbClr val="111111"/>
                </a:solidFill>
                <a:latin typeface="Courier New"/>
                <a:ea typeface="Courier New"/>
                <a:cs typeface="Courier New"/>
              </a:rPr>
              <a:t>Math.sqrt(10.5) returns 3.24</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Rounding Methods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86B9A85-4AFB-4954-813C-415D6AAEF636}" type="slidenum">
              <a:rPr sz="1200" b="0" i="0">
                <a:solidFill>
                  <a:srgbClr val="6B6B6B"/>
                </a:solidFill>
                <a:latin typeface="Source Sans 3"/>
                <a:ea typeface="Source Sans 3"/>
                <a:cs typeface="Source Sans 3"/>
              </a:rPr>
              <a:pPr algn="l">
                <a:lnSpc>
                  <a:spcPts val="1500"/>
                </a:lnSpc>
              </a:pPr>
              <a:t>60</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marL="457200" indent="0" algn="l">
              <a:lnSpc>
                <a:spcPts val="2610"/>
              </a:lnSpc>
            </a:pPr>
            <a:r>
              <a:rPr sz="1800" b="1" i="0">
                <a:solidFill>
                  <a:srgbClr val="111111"/>
                </a:solidFill>
                <a:latin typeface="Courier New"/>
                <a:ea typeface="Courier New"/>
                <a:cs typeface="Courier New"/>
              </a:rPr>
              <a:t>double ceil(double x)</a:t>
            </a:r>
          </a:p>
          <a:p>
            <a:pPr marL="457200" indent="0" algn="l">
              <a:lnSpc>
                <a:spcPts val="2250"/>
              </a:lnSpc>
              <a:spcBef>
                <a:spcPts val="400"/>
              </a:spcBef>
            </a:pPr>
            <a:r>
              <a:rPr sz="1800" b="0" i="0">
                <a:solidFill>
                  <a:srgbClr val="111111"/>
                </a:solidFill>
                <a:latin typeface="Times New Roman"/>
                <a:ea typeface="Times New Roman"/>
                <a:cs typeface="Times New Roman"/>
              </a:rPr>
              <a:t>x rounded up to its nearest integer. This integer is returned as a double value.</a:t>
            </a:r>
          </a:p>
          <a:p>
            <a:pPr marL="457200" indent="0" algn="l">
              <a:lnSpc>
                <a:spcPts val="2610"/>
              </a:lnSpc>
              <a:spcBef>
                <a:spcPts val="480"/>
              </a:spcBef>
            </a:pPr>
            <a:r>
              <a:rPr sz="1800" b="1" i="0">
                <a:solidFill>
                  <a:srgbClr val="111111"/>
                </a:solidFill>
                <a:latin typeface="Courier New"/>
                <a:ea typeface="Courier New"/>
                <a:cs typeface="Courier New"/>
              </a:rPr>
              <a:t>double floor(double x)</a:t>
            </a:r>
          </a:p>
          <a:p>
            <a:pPr marL="457200" indent="0" algn="l">
              <a:lnSpc>
                <a:spcPts val="2250"/>
              </a:lnSpc>
              <a:spcBef>
                <a:spcPts val="400"/>
              </a:spcBef>
            </a:pPr>
            <a:r>
              <a:rPr sz="1800" b="0" i="0">
                <a:solidFill>
                  <a:srgbClr val="111111"/>
                </a:solidFill>
                <a:latin typeface="Times New Roman"/>
                <a:ea typeface="Times New Roman"/>
                <a:cs typeface="Times New Roman"/>
              </a:rPr>
              <a:t>x is rounded down to its nearest integer. This integer is returned as a double value.</a:t>
            </a:r>
          </a:p>
          <a:p>
            <a:pPr marL="457200" indent="0" algn="l">
              <a:lnSpc>
                <a:spcPts val="2610"/>
              </a:lnSpc>
              <a:spcBef>
                <a:spcPts val="480"/>
              </a:spcBef>
            </a:pPr>
            <a:r>
              <a:rPr sz="1800" b="1" i="0">
                <a:solidFill>
                  <a:srgbClr val="111111"/>
                </a:solidFill>
                <a:latin typeface="Courier New"/>
                <a:ea typeface="Courier New"/>
                <a:cs typeface="Courier New"/>
              </a:rPr>
              <a:t>double rint(double x)</a:t>
            </a:r>
          </a:p>
          <a:p>
            <a:pPr marL="457200" indent="0" algn="l">
              <a:lnSpc>
                <a:spcPts val="2250"/>
              </a:lnSpc>
              <a:spcBef>
                <a:spcPts val="400"/>
              </a:spcBef>
            </a:pPr>
            <a:r>
              <a:rPr sz="1800" b="0" i="0">
                <a:solidFill>
                  <a:srgbClr val="111111"/>
                </a:solidFill>
                <a:latin typeface="Times New Roman"/>
                <a:ea typeface="Times New Roman"/>
                <a:cs typeface="Times New Roman"/>
              </a:rPr>
              <a:t>x is rounded to its nearest integer. If x is equally close to two integers, the even one is returned as a double.</a:t>
            </a:r>
          </a:p>
          <a:p>
            <a:pPr marL="457200" indent="0" algn="l">
              <a:lnSpc>
                <a:spcPts val="2610"/>
              </a:lnSpc>
              <a:spcBef>
                <a:spcPts val="480"/>
              </a:spcBef>
            </a:pPr>
            <a:r>
              <a:rPr sz="1800" b="1" i="0">
                <a:solidFill>
                  <a:srgbClr val="111111"/>
                </a:solidFill>
                <a:latin typeface="Courier New"/>
                <a:ea typeface="Courier New"/>
                <a:cs typeface="Courier New"/>
              </a:rPr>
              <a:t>int round(float x)</a:t>
            </a:r>
          </a:p>
          <a:p>
            <a:pPr marL="457200" indent="0" algn="l">
              <a:lnSpc>
                <a:spcPts val="2250"/>
              </a:lnSpc>
              <a:spcBef>
                <a:spcPts val="400"/>
              </a:spcBef>
            </a:pPr>
            <a:r>
              <a:rPr sz="1800" b="0" i="0">
                <a:solidFill>
                  <a:srgbClr val="111111"/>
                </a:solidFill>
                <a:latin typeface="Times New Roman"/>
                <a:ea typeface="Times New Roman"/>
                <a:cs typeface="Times New Roman"/>
              </a:rPr>
              <a:t>Return </a:t>
            </a:r>
            <a:r>
              <a:rPr sz="1600" b="1" i="0">
                <a:solidFill>
                  <a:srgbClr val="111111"/>
                </a:solidFill>
                <a:latin typeface="Courier New"/>
                <a:ea typeface="Courier New"/>
                <a:cs typeface="Courier New"/>
              </a:rPr>
              <a:t>(int)Math.floor(x+0.5)</a:t>
            </a:r>
            <a:r>
              <a:rPr sz="1800" b="0" i="0">
                <a:solidFill>
                  <a:srgbClr val="111111"/>
                </a:solidFill>
                <a:latin typeface="Times New Roman"/>
                <a:ea typeface="Times New Roman"/>
                <a:cs typeface="Times New Roman"/>
              </a:rPr>
              <a:t>.</a:t>
            </a:r>
          </a:p>
          <a:p>
            <a:pPr marL="457200" indent="0" algn="l">
              <a:lnSpc>
                <a:spcPts val="2610"/>
              </a:lnSpc>
              <a:spcBef>
                <a:spcPts val="480"/>
              </a:spcBef>
            </a:pPr>
            <a:r>
              <a:rPr sz="1800" b="1" i="0">
                <a:solidFill>
                  <a:srgbClr val="111111"/>
                </a:solidFill>
                <a:latin typeface="Courier New"/>
                <a:ea typeface="Courier New"/>
                <a:cs typeface="Courier New"/>
              </a:rPr>
              <a:t>long round(double x)</a:t>
            </a:r>
          </a:p>
          <a:p>
            <a:pPr marL="457200" indent="0" algn="l">
              <a:lnSpc>
                <a:spcPts val="2250"/>
              </a:lnSpc>
              <a:spcBef>
                <a:spcPts val="400"/>
              </a:spcBef>
            </a:pPr>
            <a:r>
              <a:rPr sz="1800" b="0" i="0">
                <a:solidFill>
                  <a:srgbClr val="111111"/>
                </a:solidFill>
                <a:latin typeface="Times New Roman"/>
                <a:ea typeface="Times New Roman"/>
                <a:cs typeface="Times New Roman"/>
              </a:rPr>
              <a:t>Return </a:t>
            </a:r>
            <a:r>
              <a:rPr sz="1600" b="1" i="0">
                <a:solidFill>
                  <a:srgbClr val="111111"/>
                </a:solidFill>
                <a:latin typeface="Courier New"/>
                <a:ea typeface="Courier New"/>
                <a:cs typeface="Courier New"/>
              </a:rPr>
              <a:t>(long)Math.floor(x+0.5)</a:t>
            </a:r>
            <a:r>
              <a:rPr sz="1800" b="0" i="0">
                <a:solidFill>
                  <a:srgbClr val="111111"/>
                </a:solidFill>
                <a:latin typeface="Times New Roman"/>
                <a:ea typeface="Times New Roman"/>
                <a:cs typeface="Times New Roman"/>
              </a:rPr>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Rounding Methods Examples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20601123-E9D1-4385-9108-204F9BF5784F}" type="slidenum">
              <a:rPr sz="1200" b="0" i="0">
                <a:solidFill>
                  <a:srgbClr val="6B6B6B"/>
                </a:solidFill>
                <a:latin typeface="Source Sans 3"/>
                <a:ea typeface="Source Sans 3"/>
                <a:cs typeface="Source Sans 3"/>
              </a:rPr>
              <a:pPr algn="l">
                <a:lnSpc>
                  <a:spcPts val="1500"/>
                </a:lnSpc>
              </a:pPr>
              <a:t>61</a:t>
            </a:fld>
            <a:endParaRPr sz="1200" b="0" i="0">
              <a:solidFill>
                <a:srgbClr val="6B6B6B"/>
              </a:solidFill>
              <a:latin typeface="Source Sans 3"/>
              <a:ea typeface="Source Sans 3"/>
              <a:cs typeface="Source Sans 3"/>
            </a:endParaRPr>
          </a:p>
        </p:txBody>
      </p:sp>
      <p:sp>
        <p:nvSpPr>
          <p:cNvPr id="4" name="TextBox 3"/>
          <p:cNvSpPr txBox="1"/>
          <p:nvPr/>
        </p:nvSpPr>
        <p:spPr>
          <a:xfrm>
            <a:off x="1079500" y="1397000"/>
            <a:ext cx="4823460" cy="254508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Math.ceil(2.1) returns 3.0</a:t>
            </a:r>
          </a:p>
          <a:p>
            <a:pPr algn="l">
              <a:lnSpc>
                <a:spcPts val="2379"/>
              </a:lnSpc>
            </a:pPr>
            <a:r>
              <a:rPr sz="1700" b="1" i="0">
                <a:solidFill>
                  <a:srgbClr val="000000"/>
                </a:solidFill>
                <a:latin typeface="Courier New"/>
                <a:ea typeface="Courier New"/>
                <a:cs typeface="Courier New"/>
              </a:rPr>
              <a:t>Math.ceil(2.0) returns 2.0</a:t>
            </a:r>
          </a:p>
          <a:p>
            <a:pPr algn="l">
              <a:lnSpc>
                <a:spcPts val="2379"/>
              </a:lnSpc>
            </a:pPr>
            <a:r>
              <a:rPr sz="1700" b="1" i="0">
                <a:solidFill>
                  <a:srgbClr val="000000"/>
                </a:solidFill>
                <a:latin typeface="Courier New"/>
                <a:ea typeface="Courier New"/>
                <a:cs typeface="Courier New"/>
              </a:rPr>
              <a:t>Math.ceil(-2.0) returns -2.0</a:t>
            </a:r>
          </a:p>
          <a:p>
            <a:pPr algn="l">
              <a:lnSpc>
                <a:spcPts val="2379"/>
              </a:lnSpc>
            </a:pPr>
            <a:r>
              <a:rPr sz="1700" b="1" i="0">
                <a:solidFill>
                  <a:srgbClr val="000000"/>
                </a:solidFill>
                <a:latin typeface="Courier New"/>
                <a:ea typeface="Courier New"/>
                <a:cs typeface="Courier New"/>
              </a:rPr>
              <a:t>Math.ceil(-2.1) returns -2.0</a:t>
            </a:r>
          </a:p>
          <a:p>
            <a:pPr algn="l">
              <a:lnSpc>
                <a:spcPts val="2379"/>
              </a:lnSpc>
            </a:pPr>
            <a:r>
              <a:rPr sz="1700" b="1" i="0">
                <a:solidFill>
                  <a:srgbClr val="000000"/>
                </a:solidFill>
                <a:latin typeface="Courier New"/>
                <a:ea typeface="Courier New"/>
                <a:cs typeface="Courier New"/>
              </a:rPr>
              <a:t>Math.floor(2.1) returns 2.0</a:t>
            </a:r>
          </a:p>
          <a:p>
            <a:pPr algn="l">
              <a:lnSpc>
                <a:spcPts val="2379"/>
              </a:lnSpc>
            </a:pPr>
            <a:r>
              <a:rPr sz="1700" b="1" i="0">
                <a:solidFill>
                  <a:srgbClr val="000000"/>
                </a:solidFill>
                <a:latin typeface="Courier New"/>
                <a:ea typeface="Courier New"/>
                <a:cs typeface="Courier New"/>
              </a:rPr>
              <a:t>Math.floor(2.0) returns 2.0</a:t>
            </a:r>
          </a:p>
          <a:p>
            <a:pPr algn="l">
              <a:lnSpc>
                <a:spcPts val="2379"/>
              </a:lnSpc>
            </a:pPr>
            <a:r>
              <a:rPr sz="1700" b="1" i="0">
                <a:solidFill>
                  <a:srgbClr val="000000"/>
                </a:solidFill>
                <a:latin typeface="Courier New"/>
                <a:ea typeface="Courier New"/>
                <a:cs typeface="Courier New"/>
              </a:rPr>
              <a:t>Math.floor(-2.0) returns -2.0</a:t>
            </a:r>
          </a:p>
          <a:p>
            <a:pPr algn="l">
              <a:lnSpc>
                <a:spcPts val="2379"/>
              </a:lnSpc>
            </a:pPr>
            <a:r>
              <a:rPr sz="1700" b="1" i="0">
                <a:solidFill>
                  <a:srgbClr val="000000"/>
                </a:solidFill>
                <a:latin typeface="Courier New"/>
                <a:ea typeface="Courier New"/>
                <a:cs typeface="Courier New"/>
              </a:rPr>
              <a:t>Math.floor(-2.1) returns -3.0</a:t>
            </a:r>
          </a:p>
        </p:txBody>
      </p:sp>
      <p:sp>
        <p:nvSpPr>
          <p:cNvPr id="5" name="TextBox 4"/>
          <p:cNvSpPr txBox="1"/>
          <p:nvPr/>
        </p:nvSpPr>
        <p:spPr>
          <a:xfrm>
            <a:off x="6223000" y="1397000"/>
            <a:ext cx="4693920" cy="314960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Math.rint(2.1) returns 2.0</a:t>
            </a:r>
          </a:p>
          <a:p>
            <a:pPr algn="l">
              <a:lnSpc>
                <a:spcPts val="2379"/>
              </a:lnSpc>
            </a:pPr>
            <a:r>
              <a:rPr sz="1700" b="1" i="0">
                <a:solidFill>
                  <a:srgbClr val="000000"/>
                </a:solidFill>
                <a:latin typeface="Courier New"/>
                <a:ea typeface="Courier New"/>
                <a:cs typeface="Courier New"/>
              </a:rPr>
              <a:t>Math.rint(2.0) returns 2.0</a:t>
            </a:r>
          </a:p>
          <a:p>
            <a:pPr algn="l">
              <a:lnSpc>
                <a:spcPts val="2379"/>
              </a:lnSpc>
            </a:pPr>
            <a:r>
              <a:rPr sz="1700" b="1" i="0">
                <a:solidFill>
                  <a:srgbClr val="000000"/>
                </a:solidFill>
                <a:latin typeface="Courier New"/>
                <a:ea typeface="Courier New"/>
                <a:cs typeface="Courier New"/>
              </a:rPr>
              <a:t>Math.rint(-2.0) returns -2.0</a:t>
            </a:r>
          </a:p>
          <a:p>
            <a:pPr algn="l">
              <a:lnSpc>
                <a:spcPts val="2379"/>
              </a:lnSpc>
            </a:pPr>
            <a:r>
              <a:rPr sz="1700" b="1" i="0">
                <a:solidFill>
                  <a:srgbClr val="000000"/>
                </a:solidFill>
                <a:latin typeface="Courier New"/>
                <a:ea typeface="Courier New"/>
                <a:cs typeface="Courier New"/>
              </a:rPr>
              <a:t>Math.rint(-2.1) returns -2.0</a:t>
            </a:r>
          </a:p>
          <a:p>
            <a:pPr algn="l">
              <a:lnSpc>
                <a:spcPts val="2379"/>
              </a:lnSpc>
            </a:pPr>
            <a:r>
              <a:rPr sz="1700" b="1" i="0">
                <a:solidFill>
                  <a:srgbClr val="000000"/>
                </a:solidFill>
                <a:latin typeface="Courier New"/>
                <a:ea typeface="Courier New"/>
                <a:cs typeface="Courier New"/>
              </a:rPr>
              <a:t>Math.rint(2.5) returns 2.0</a:t>
            </a:r>
          </a:p>
          <a:p>
            <a:pPr algn="l">
              <a:lnSpc>
                <a:spcPts val="2379"/>
              </a:lnSpc>
            </a:pPr>
            <a:r>
              <a:rPr sz="1700" b="1" i="0">
                <a:solidFill>
                  <a:srgbClr val="000000"/>
                </a:solidFill>
                <a:latin typeface="Courier New"/>
                <a:ea typeface="Courier New"/>
                <a:cs typeface="Courier New"/>
              </a:rPr>
              <a:t>Math.rint(-2.5) returns -2.0</a:t>
            </a:r>
          </a:p>
          <a:p>
            <a:pPr algn="l">
              <a:lnSpc>
                <a:spcPts val="2379"/>
              </a:lnSpc>
            </a:pPr>
            <a:r>
              <a:rPr sz="1700" b="1" i="0">
                <a:solidFill>
                  <a:srgbClr val="000000"/>
                </a:solidFill>
                <a:latin typeface="Courier New"/>
                <a:ea typeface="Courier New"/>
                <a:cs typeface="Courier New"/>
              </a:rPr>
              <a:t>Math.round(2.6f) returns 3</a:t>
            </a:r>
          </a:p>
          <a:p>
            <a:pPr algn="l">
              <a:lnSpc>
                <a:spcPts val="2379"/>
              </a:lnSpc>
            </a:pPr>
            <a:r>
              <a:rPr sz="1700" b="1" i="0">
                <a:solidFill>
                  <a:srgbClr val="000000"/>
                </a:solidFill>
                <a:latin typeface="Courier New"/>
                <a:ea typeface="Courier New"/>
                <a:cs typeface="Courier New"/>
              </a:rPr>
              <a:t>Math.round(2.0) returns 2</a:t>
            </a:r>
          </a:p>
          <a:p>
            <a:pPr algn="l">
              <a:lnSpc>
                <a:spcPts val="2379"/>
              </a:lnSpc>
            </a:pPr>
            <a:r>
              <a:rPr sz="1700" b="1" i="0">
                <a:solidFill>
                  <a:srgbClr val="000000"/>
                </a:solidFill>
                <a:latin typeface="Courier New"/>
                <a:ea typeface="Courier New"/>
                <a:cs typeface="Courier New"/>
              </a:rPr>
              <a:t>Math.round(-2.0f) returns -2</a:t>
            </a:r>
          </a:p>
          <a:p>
            <a:pPr algn="l">
              <a:lnSpc>
                <a:spcPts val="2379"/>
              </a:lnSpc>
            </a:pPr>
            <a:r>
              <a:rPr sz="1700" b="1" i="0">
                <a:solidFill>
                  <a:srgbClr val="000000"/>
                </a:solidFill>
                <a:latin typeface="Courier New"/>
                <a:ea typeface="Courier New"/>
                <a:cs typeface="Courier New"/>
              </a:rPr>
              <a:t>Math.round(-2.6) returns -3</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Courier New"/>
                <a:ea typeface="Courier New"/>
                <a:cs typeface="Courier New"/>
              </a:rPr>
              <a:t>min</a:t>
            </a:r>
            <a:r>
              <a:rPr sz="3300" b="0" i="0">
                <a:solidFill>
                  <a:srgbClr val="111111"/>
                </a:solidFill>
                <a:latin typeface="Times New Roman"/>
                <a:ea typeface="Times New Roman"/>
                <a:cs typeface="Times New Roman"/>
              </a:rPr>
              <a:t>, </a:t>
            </a:r>
            <a:r>
              <a:rPr sz="3300" b="0" i="0">
                <a:solidFill>
                  <a:srgbClr val="111111"/>
                </a:solidFill>
                <a:latin typeface="Courier New"/>
                <a:ea typeface="Courier New"/>
                <a:cs typeface="Courier New"/>
              </a:rPr>
              <a:t>max</a:t>
            </a:r>
            <a:r>
              <a:rPr sz="3300" b="0" i="0">
                <a:solidFill>
                  <a:srgbClr val="111111"/>
                </a:solidFill>
                <a:latin typeface="Times New Roman"/>
                <a:ea typeface="Times New Roman"/>
                <a:cs typeface="Times New Roman"/>
              </a:rPr>
              <a:t>, and </a:t>
            </a:r>
            <a:r>
              <a:rPr sz="3300" b="0" i="0">
                <a:solidFill>
                  <a:srgbClr val="111111"/>
                </a:solidFill>
                <a:latin typeface="Courier New"/>
                <a:ea typeface="Courier New"/>
                <a:cs typeface="Courier New"/>
              </a:rPr>
              <a:t>abs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56D0664-457F-464A-90F9-B5A663195F28}" type="slidenum">
              <a:rPr sz="1200" b="0" i="0">
                <a:solidFill>
                  <a:srgbClr val="6B6B6B"/>
                </a:solidFill>
                <a:latin typeface="Source Sans 3"/>
                <a:ea typeface="Source Sans 3"/>
                <a:cs typeface="Source Sans 3"/>
              </a:rPr>
              <a:pPr algn="l">
                <a:lnSpc>
                  <a:spcPts val="1500"/>
                </a:lnSpc>
              </a:pPr>
              <a:t>62</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5461000" cy="5080000"/>
          </a:xfrm>
          <a:prstGeom prst="rect">
            <a:avLst/>
          </a:prstGeom>
          <a:noFill/>
        </p:spPr>
        <p:txBody>
          <a:bodyPr wrap="square" lIns="0" tIns="0" rIns="0" bIns="0" anchor="t">
            <a:spAutoFit/>
          </a:bodyPr>
          <a:lstStyle/>
          <a:p>
            <a:pPr marL="457200" indent="0" algn="l">
              <a:lnSpc>
                <a:spcPts val="2610"/>
              </a:lnSpc>
            </a:pPr>
            <a:r>
              <a:rPr sz="1800" b="1" i="0">
                <a:solidFill>
                  <a:srgbClr val="111111"/>
                </a:solidFill>
                <a:latin typeface="Courier New"/>
                <a:ea typeface="Courier New"/>
                <a:cs typeface="Courier New"/>
              </a:rPr>
              <a:t>max(a, b) and min(a, b)</a:t>
            </a:r>
          </a:p>
          <a:p>
            <a:pPr marL="457200" indent="0" algn="l">
              <a:lnSpc>
                <a:spcPts val="2250"/>
              </a:lnSpc>
              <a:spcBef>
                <a:spcPts val="400"/>
              </a:spcBef>
            </a:pPr>
            <a:r>
              <a:rPr sz="1800" b="0" i="0">
                <a:solidFill>
                  <a:srgbClr val="111111"/>
                </a:solidFill>
                <a:latin typeface="Times New Roman"/>
                <a:ea typeface="Times New Roman"/>
                <a:cs typeface="Times New Roman"/>
              </a:rPr>
              <a:t>Returns the maximum or minimum of two parameters.</a:t>
            </a:r>
          </a:p>
          <a:p>
            <a:pPr marL="457200" indent="0" algn="l">
              <a:lnSpc>
                <a:spcPts val="2610"/>
              </a:lnSpc>
              <a:spcBef>
                <a:spcPts val="480"/>
              </a:spcBef>
            </a:pPr>
            <a:r>
              <a:rPr sz="1800" b="1" i="0">
                <a:solidFill>
                  <a:srgbClr val="111111"/>
                </a:solidFill>
                <a:latin typeface="Courier New"/>
                <a:ea typeface="Courier New"/>
                <a:cs typeface="Courier New"/>
              </a:rPr>
              <a:t>abs(a)</a:t>
            </a:r>
          </a:p>
          <a:p>
            <a:pPr marL="457200" indent="0" algn="l">
              <a:lnSpc>
                <a:spcPts val="2250"/>
              </a:lnSpc>
              <a:spcBef>
                <a:spcPts val="400"/>
              </a:spcBef>
            </a:pPr>
            <a:r>
              <a:rPr sz="1800" b="0" i="0">
                <a:solidFill>
                  <a:srgbClr val="111111"/>
                </a:solidFill>
                <a:latin typeface="Times New Roman"/>
                <a:ea typeface="Times New Roman"/>
                <a:cs typeface="Times New Roman"/>
              </a:rPr>
              <a:t>Returns the absolute value of the parameter.</a:t>
            </a:r>
          </a:p>
          <a:p>
            <a:pPr marL="457200" indent="0" algn="l">
              <a:lnSpc>
                <a:spcPts val="2610"/>
              </a:lnSpc>
              <a:spcBef>
                <a:spcPts val="480"/>
              </a:spcBef>
            </a:pPr>
            <a:r>
              <a:rPr sz="1800" b="1" i="0">
                <a:solidFill>
                  <a:srgbClr val="111111"/>
                </a:solidFill>
                <a:latin typeface="Courier New"/>
                <a:ea typeface="Courier New"/>
                <a:cs typeface="Courier New"/>
              </a:rPr>
              <a:t>random()</a:t>
            </a:r>
          </a:p>
          <a:p>
            <a:pPr marL="457200" indent="0" algn="l">
              <a:lnSpc>
                <a:spcPts val="2250"/>
              </a:lnSpc>
              <a:spcBef>
                <a:spcPts val="400"/>
              </a:spcBef>
            </a:pPr>
            <a:r>
              <a:rPr sz="1800" b="0" i="0">
                <a:solidFill>
                  <a:srgbClr val="111111"/>
                </a:solidFill>
                <a:latin typeface="Times New Roman"/>
                <a:ea typeface="Times New Roman"/>
                <a:cs typeface="Times New Roman"/>
              </a:rPr>
              <a:t>Returns a random </a:t>
            </a:r>
            <a:r>
              <a:rPr sz="1600" b="1" i="0">
                <a:solidFill>
                  <a:srgbClr val="111111"/>
                </a:solidFill>
                <a:latin typeface="Courier New"/>
                <a:ea typeface="Courier New"/>
                <a:cs typeface="Courier New"/>
              </a:rPr>
              <a:t>double</a:t>
            </a:r>
            <a:r>
              <a:rPr sz="1800" b="0" i="0">
                <a:solidFill>
                  <a:srgbClr val="111111"/>
                </a:solidFill>
                <a:latin typeface="Times New Roman"/>
                <a:ea typeface="Times New Roman"/>
                <a:cs typeface="Times New Roman"/>
              </a:rPr>
              <a:t> value in the range [0.0, 1.0).</a:t>
            </a:r>
          </a:p>
        </p:txBody>
      </p:sp>
      <p:sp>
        <p:nvSpPr>
          <p:cNvPr id="5" name="Rectangle 4"/>
          <p:cNvSpPr/>
          <p:nvPr/>
        </p:nvSpPr>
        <p:spPr>
          <a:xfrm>
            <a:off x="6604000" y="1168400"/>
            <a:ext cx="4635500" cy="3356610"/>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781800" y="1320800"/>
            <a:ext cx="4279900" cy="4826000"/>
          </a:xfrm>
          <a:prstGeom prst="rect">
            <a:avLst/>
          </a:prstGeom>
          <a:noFill/>
        </p:spPr>
        <p:txBody>
          <a:bodyPr wrap="square" lIns="0" tIns="0" rIns="0" bIns="0" anchor="t">
            <a:spAutoFit/>
          </a:bodyPr>
          <a:lstStyle/>
          <a:p>
            <a:pPr algn="l">
              <a:lnSpc>
                <a:spcPts val="2550"/>
              </a:lnSpc>
            </a:pPr>
            <a:r>
              <a:rPr sz="1700" b="1" i="0">
                <a:solidFill>
                  <a:srgbClr val="111111"/>
                </a:solidFill>
                <a:latin typeface="Courier New"/>
                <a:ea typeface="Courier New"/>
                <a:cs typeface="Courier New"/>
              </a:rPr>
              <a:t>Examples:</a:t>
            </a:r>
          </a:p>
          <a:p>
            <a:pPr algn="l">
              <a:lnSpc>
                <a:spcPts val="1360"/>
              </a:lnSpc>
            </a:pPr>
            <a:r>
              <a:rPr sz="1700" b="0" i="0">
                <a:solidFill>
                  <a:srgbClr val="111111"/>
                </a:solidFill>
                <a:latin typeface="Courier New"/>
                <a:ea typeface="Courier New"/>
                <a:cs typeface="Courier New"/>
              </a:rPr>
              <a:t> </a:t>
            </a:r>
          </a:p>
          <a:p>
            <a:pPr algn="l">
              <a:lnSpc>
                <a:spcPts val="2465"/>
              </a:lnSpc>
            </a:pPr>
            <a:r>
              <a:rPr sz="1700" b="1" i="0">
                <a:solidFill>
                  <a:srgbClr val="111111"/>
                </a:solidFill>
                <a:latin typeface="Courier New"/>
                <a:ea typeface="Courier New"/>
                <a:cs typeface="Courier New"/>
              </a:rPr>
              <a:t>Math.max(2, 3) returns 3</a:t>
            </a:r>
          </a:p>
          <a:p>
            <a:pPr algn="l">
              <a:lnSpc>
                <a:spcPts val="2465"/>
              </a:lnSpc>
            </a:pPr>
            <a:r>
              <a:rPr sz="1700" b="1" i="0">
                <a:solidFill>
                  <a:srgbClr val="111111"/>
                </a:solidFill>
                <a:latin typeface="Courier New"/>
                <a:ea typeface="Courier New"/>
                <a:cs typeface="Courier New"/>
              </a:rPr>
              <a:t>Math.max(2.5, 3) returns</a:t>
            </a:r>
          </a:p>
          <a:p>
            <a:pPr algn="l">
              <a:lnSpc>
                <a:spcPts val="2465"/>
              </a:lnSpc>
            </a:pPr>
            <a:r>
              <a:rPr sz="1700" b="1" i="0">
                <a:solidFill>
                  <a:srgbClr val="111111"/>
                </a:solidFill>
                <a:latin typeface="Courier New"/>
                <a:ea typeface="Courier New"/>
                <a:cs typeface="Courier New"/>
              </a:rPr>
              <a:t>  3.0</a:t>
            </a:r>
          </a:p>
          <a:p>
            <a:pPr algn="l">
              <a:lnSpc>
                <a:spcPts val="2465"/>
              </a:lnSpc>
            </a:pPr>
            <a:r>
              <a:rPr sz="1700" b="1" i="0">
                <a:solidFill>
                  <a:srgbClr val="111111"/>
                </a:solidFill>
                <a:latin typeface="Courier New"/>
                <a:ea typeface="Courier New"/>
                <a:cs typeface="Courier New"/>
              </a:rPr>
              <a:t>Math.min(2.5, 3.6)</a:t>
            </a:r>
          </a:p>
          <a:p>
            <a:pPr algn="l">
              <a:lnSpc>
                <a:spcPts val="2465"/>
              </a:lnSpc>
            </a:pPr>
            <a:r>
              <a:rPr sz="1700" b="1" i="0">
                <a:solidFill>
                  <a:srgbClr val="111111"/>
                </a:solidFill>
                <a:latin typeface="Courier New"/>
                <a:ea typeface="Courier New"/>
                <a:cs typeface="Courier New"/>
              </a:rPr>
              <a:t>  returns 2.5</a:t>
            </a:r>
          </a:p>
          <a:p>
            <a:pPr algn="l">
              <a:lnSpc>
                <a:spcPts val="2465"/>
              </a:lnSpc>
            </a:pPr>
            <a:r>
              <a:rPr sz="1700" b="1" i="0">
                <a:solidFill>
                  <a:srgbClr val="111111"/>
                </a:solidFill>
                <a:latin typeface="Courier New"/>
                <a:ea typeface="Courier New"/>
                <a:cs typeface="Courier New"/>
              </a:rPr>
              <a:t>Math.abs(-2) returns 2</a:t>
            </a:r>
          </a:p>
          <a:p>
            <a:pPr algn="l">
              <a:lnSpc>
                <a:spcPts val="2465"/>
              </a:lnSpc>
            </a:pPr>
            <a:r>
              <a:rPr sz="1700" b="1" i="0">
                <a:solidFill>
                  <a:srgbClr val="111111"/>
                </a:solidFill>
                <a:latin typeface="Courier New"/>
                <a:ea typeface="Courier New"/>
                <a:cs typeface="Courier New"/>
              </a:rPr>
              <a:t>Math.abs(-2.1) returns</a:t>
            </a:r>
          </a:p>
          <a:p>
            <a:pPr algn="l">
              <a:lnSpc>
                <a:spcPts val="2465"/>
              </a:lnSpc>
            </a:pPr>
            <a:r>
              <a:rPr sz="1700" b="1" i="0">
                <a:solidFill>
                  <a:srgbClr val="111111"/>
                </a:solidFill>
                <a:latin typeface="Courier New"/>
                <a:ea typeface="Courier New"/>
                <a:cs typeface="Courier New"/>
              </a:rPr>
              <a:t>  2.1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The </a:t>
            </a:r>
            <a:r>
              <a:rPr sz="3300" b="0" i="0">
                <a:solidFill>
                  <a:srgbClr val="111111"/>
                </a:solidFill>
                <a:latin typeface="Courier New"/>
                <a:ea typeface="Courier New"/>
                <a:cs typeface="Courier New"/>
              </a:rPr>
              <a:t>random</a:t>
            </a:r>
            <a:r>
              <a:rPr sz="3300" b="0" i="0">
                <a:solidFill>
                  <a:srgbClr val="111111"/>
                </a:solidFill>
                <a:latin typeface="Times New Roman"/>
                <a:ea typeface="Times New Roman"/>
                <a:cs typeface="Times New Roman"/>
              </a:rPr>
              <a:t> Method</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78C21BE-52B7-4A43-B049-20651C78E160}" type="slidenum">
              <a:rPr sz="1200" b="0" i="0">
                <a:solidFill>
                  <a:srgbClr val="6B6B6B"/>
                </a:solidFill>
                <a:latin typeface="Source Sans 3"/>
                <a:ea typeface="Source Sans 3"/>
                <a:cs typeface="Source Sans 3"/>
              </a:rPr>
              <a:pPr algn="l">
                <a:lnSpc>
                  <a:spcPts val="1500"/>
                </a:lnSpc>
              </a:pPr>
              <a:t>63</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Generates a random </a:t>
            </a:r>
            <a:r>
              <a:rPr sz="2000" b="1" i="0">
                <a:solidFill>
                  <a:srgbClr val="111111"/>
                </a:solidFill>
                <a:latin typeface="Courier New"/>
                <a:ea typeface="Courier New"/>
                <a:cs typeface="Courier New"/>
              </a:rPr>
              <a:t>double</a:t>
            </a:r>
            <a:r>
              <a:rPr sz="2200" b="0" i="0">
                <a:solidFill>
                  <a:srgbClr val="111111"/>
                </a:solidFill>
                <a:latin typeface="Times New Roman"/>
                <a:ea typeface="Times New Roman"/>
                <a:cs typeface="Times New Roman"/>
              </a:rPr>
              <a:t> value greater than or equal to 0.0 and less than 1.0 (</a:t>
            </a:r>
            <a:r>
              <a:rPr sz="2000" b="1" i="0">
                <a:solidFill>
                  <a:srgbClr val="111111"/>
                </a:solidFill>
                <a:latin typeface="Courier New"/>
                <a:ea typeface="Courier New"/>
                <a:cs typeface="Courier New"/>
              </a:rPr>
              <a:t>0 &lt;= Math.random() &lt; 1.0</a:t>
            </a:r>
            <a:r>
              <a:rPr sz="2200" b="0" i="0">
                <a:solidFill>
                  <a:srgbClr val="111111"/>
                </a:solidFill>
                <a:latin typeface="Times New Roman"/>
                <a:ea typeface="Times New Roman"/>
                <a:cs typeface="Times New Roman"/>
              </a:rPr>
              <a:t>).</a:t>
            </a:r>
          </a:p>
          <a:p>
            <a:pPr algn="l">
              <a:lnSpc>
                <a:spcPts val="2750"/>
              </a:lnSpc>
              <a:spcBef>
                <a:spcPts val="1400"/>
              </a:spcBef>
            </a:pPr>
            <a:r>
              <a:rPr sz="2200" b="0" i="0">
                <a:solidFill>
                  <a:srgbClr val="111111"/>
                </a:solidFill>
                <a:latin typeface="Times New Roman"/>
                <a:ea typeface="Times New Roman"/>
                <a:cs typeface="Times New Roman"/>
              </a:rPr>
              <a:t>Examples:</a:t>
            </a:r>
          </a:p>
        </p:txBody>
      </p:sp>
      <p:pic>
        <p:nvPicPr>
          <p:cNvPr id="5" name="Picture 4" descr="random1.png"/>
          <p:cNvPicPr>
            <a:picLocks noChangeAspect="1"/>
          </p:cNvPicPr>
          <p:nvPr/>
        </p:nvPicPr>
        <p:blipFill>
          <a:blip r:embed="rId2"/>
          <a:stretch>
            <a:fillRect/>
          </a:stretch>
        </p:blipFill>
        <p:spPr>
          <a:xfrm>
            <a:off x="1397000" y="2540000"/>
            <a:ext cx="8128000" cy="1452102"/>
          </a:xfrm>
          <a:prstGeom prst="rect">
            <a:avLst/>
          </a:prstGeom>
        </p:spPr>
      </p:pic>
      <p:sp>
        <p:nvSpPr>
          <p:cNvPr id="6" name="TextBox 5"/>
          <p:cNvSpPr txBox="1"/>
          <p:nvPr/>
        </p:nvSpPr>
        <p:spPr>
          <a:xfrm>
            <a:off x="952500" y="4191000"/>
            <a:ext cx="3810000" cy="381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In general,</a:t>
            </a:r>
          </a:p>
        </p:txBody>
      </p:sp>
      <p:pic>
        <p:nvPicPr>
          <p:cNvPr id="7" name="Picture 6" descr="random2.png"/>
          <p:cNvPicPr>
            <a:picLocks noChangeAspect="1"/>
          </p:cNvPicPr>
          <p:nvPr/>
        </p:nvPicPr>
        <p:blipFill>
          <a:blip r:embed="rId3"/>
          <a:stretch>
            <a:fillRect/>
          </a:stretch>
        </p:blipFill>
        <p:spPr>
          <a:xfrm>
            <a:off x="1397000" y="4762500"/>
            <a:ext cx="8255000" cy="676029"/>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Character Data Type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594E009-836E-4B3A-A04C-F9DD8543AE50}" type="slidenum">
              <a:rPr sz="1200" b="0" i="0">
                <a:solidFill>
                  <a:srgbClr val="6B6B6B"/>
                </a:solidFill>
                <a:latin typeface="Source Sans 3"/>
                <a:ea typeface="Source Sans 3"/>
                <a:cs typeface="Source Sans 3"/>
              </a:rPr>
              <a:pPr algn="l">
                <a:lnSpc>
                  <a:spcPts val="1500"/>
                </a:lnSpc>
              </a:pPr>
              <a:t>64</a:t>
            </a:fld>
            <a:endParaRPr sz="1200" b="0" i="0">
              <a:solidFill>
                <a:srgbClr val="6B6B6B"/>
              </a:solidFill>
              <a:latin typeface="Source Sans 3"/>
              <a:ea typeface="Source Sans 3"/>
              <a:cs typeface="Source Sans 3"/>
            </a:endParaRPr>
          </a:p>
        </p:txBody>
      </p:sp>
      <p:sp>
        <p:nvSpPr>
          <p:cNvPr id="4" name="TextBox 3"/>
          <p:cNvSpPr txBox="1"/>
          <p:nvPr/>
        </p:nvSpPr>
        <p:spPr>
          <a:xfrm>
            <a:off x="1079500" y="1333500"/>
            <a:ext cx="5989320" cy="1478280"/>
          </a:xfrm>
          <a:prstGeom prst="rect">
            <a:avLst/>
          </a:prstGeom>
          <a:noFill/>
        </p:spPr>
        <p:txBody>
          <a:bodyPr wrap="square" lIns="0" tIns="0" rIns="0" bIns="0" anchor="t">
            <a:spAutoFit/>
          </a:bodyPr>
          <a:lstStyle/>
          <a:p>
            <a:pPr algn="l">
              <a:lnSpc>
                <a:spcPts val="2660"/>
              </a:lnSpc>
            </a:pPr>
            <a:r>
              <a:rPr sz="1900" b="1" i="0">
                <a:solidFill>
                  <a:srgbClr val="000000"/>
                </a:solidFill>
                <a:latin typeface="Courier New"/>
                <a:ea typeface="Courier New"/>
                <a:cs typeface="Courier New"/>
              </a:rPr>
              <a:t>char letter = 'A'; (ASCII)</a:t>
            </a:r>
          </a:p>
          <a:p>
            <a:pPr algn="l">
              <a:lnSpc>
                <a:spcPts val="2660"/>
              </a:lnSpc>
            </a:pPr>
            <a:r>
              <a:rPr sz="1900" b="1" i="0">
                <a:solidFill>
                  <a:srgbClr val="000000"/>
                </a:solidFill>
                <a:latin typeface="Courier New"/>
                <a:ea typeface="Courier New"/>
                <a:cs typeface="Courier New"/>
              </a:rPr>
              <a:t>char numChar = '4'; (ASCII)</a:t>
            </a:r>
          </a:p>
          <a:p>
            <a:pPr algn="l">
              <a:lnSpc>
                <a:spcPts val="2660"/>
              </a:lnSpc>
            </a:pPr>
            <a:r>
              <a:rPr sz="1900" b="1" i="0">
                <a:solidFill>
                  <a:srgbClr val="000000"/>
                </a:solidFill>
                <a:latin typeface="Courier New"/>
                <a:ea typeface="Courier New"/>
                <a:cs typeface="Courier New"/>
              </a:rPr>
              <a:t>char letter = '\u0041'; (Unicode)</a:t>
            </a:r>
          </a:p>
          <a:p>
            <a:pPr algn="l">
              <a:lnSpc>
                <a:spcPts val="2660"/>
              </a:lnSpc>
            </a:pPr>
            <a:r>
              <a:rPr sz="1900" b="1" i="0">
                <a:solidFill>
                  <a:srgbClr val="000000"/>
                </a:solidFill>
                <a:latin typeface="Courier New"/>
                <a:ea typeface="Courier New"/>
                <a:cs typeface="Courier New"/>
              </a:rPr>
              <a:t>char numChar = '\u0034'; (Unicode)</a:t>
            </a:r>
          </a:p>
        </p:txBody>
      </p:sp>
      <p:sp>
        <p:nvSpPr>
          <p:cNvPr id="5" name="TextBox 4"/>
          <p:cNvSpPr txBox="1"/>
          <p:nvPr/>
        </p:nvSpPr>
        <p:spPr>
          <a:xfrm>
            <a:off x="7112000" y="1270000"/>
            <a:ext cx="3556000" cy="762000"/>
          </a:xfrm>
          <a:prstGeom prst="rect">
            <a:avLst/>
          </a:prstGeom>
          <a:noFill/>
        </p:spPr>
        <p:txBody>
          <a:bodyPr wrap="square" lIns="0" tIns="0" rIns="0" bIns="0" anchor="t">
            <a:spAutoFit/>
          </a:bodyPr>
          <a:lstStyle/>
          <a:p>
            <a:pPr algn="l">
              <a:lnSpc>
                <a:spcPts val="2250"/>
              </a:lnSpc>
            </a:pPr>
            <a:r>
              <a:rPr sz="1800" b="0" i="0">
                <a:solidFill>
                  <a:srgbClr val="C00000"/>
                </a:solidFill>
                <a:latin typeface="Times New Roman"/>
                <a:ea typeface="Times New Roman"/>
                <a:cs typeface="Times New Roman"/>
              </a:rPr>
              <a:t>Four hexadecimal digits.</a:t>
            </a:r>
          </a:p>
        </p:txBody>
      </p:sp>
      <p:cxnSp>
        <p:nvCxnSpPr>
          <p:cNvPr id="6" name="Connector 5"/>
          <p:cNvCxnSpPr/>
          <p:nvPr/>
        </p:nvCxnSpPr>
        <p:spPr>
          <a:xfrm flipH="1">
            <a:off x="3830320" y="1422400"/>
            <a:ext cx="3281680" cy="665861"/>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52500" y="3111500"/>
            <a:ext cx="10287000" cy="508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NOTE: The increment and decrement operators can also be used on </a:t>
            </a:r>
            <a:r>
              <a:rPr sz="2000" b="1" i="0">
                <a:solidFill>
                  <a:srgbClr val="111111"/>
                </a:solidFill>
                <a:latin typeface="Courier New"/>
                <a:ea typeface="Courier New"/>
                <a:cs typeface="Courier New"/>
              </a:rPr>
              <a:t>char</a:t>
            </a:r>
            <a:r>
              <a:rPr sz="2200" b="0" i="0">
                <a:solidFill>
                  <a:srgbClr val="111111"/>
                </a:solidFill>
                <a:latin typeface="Times New Roman"/>
                <a:ea typeface="Times New Roman"/>
                <a:cs typeface="Times New Roman"/>
              </a:rPr>
              <a:t> variables to get the next or preceding Unicode character. For example, the following statements display character b.</a:t>
            </a:r>
          </a:p>
          <a:p>
            <a:pPr marL="457200" indent="0" algn="l">
              <a:lnSpc>
                <a:spcPts val="2610"/>
              </a:lnSpc>
              <a:spcBef>
                <a:spcPts val="480"/>
              </a:spcBef>
            </a:pPr>
            <a:r>
              <a:rPr sz="1800" b="1" i="0">
                <a:solidFill>
                  <a:srgbClr val="111111"/>
                </a:solidFill>
                <a:latin typeface="Courier New"/>
                <a:ea typeface="Courier New"/>
                <a:cs typeface="Courier New"/>
              </a:rPr>
              <a:t>char ch = 'a';</a:t>
            </a:r>
          </a:p>
          <a:p>
            <a:pPr marL="457200" indent="0" algn="l">
              <a:lnSpc>
                <a:spcPts val="2610"/>
              </a:lnSpc>
            </a:pPr>
            <a:r>
              <a:rPr sz="1800" b="1" i="0">
                <a:solidFill>
                  <a:srgbClr val="111111"/>
                </a:solidFill>
                <a:latin typeface="Courier New"/>
                <a:ea typeface="Courier New"/>
                <a:cs typeface="Courier New"/>
              </a:rPr>
              <a:t>System.out.println(++ch);</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Unicode Format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726943C-D530-4733-A506-631C388A5C07}" type="slidenum">
              <a:rPr sz="1200" b="0" i="0">
                <a:solidFill>
                  <a:srgbClr val="6B6B6B"/>
                </a:solidFill>
                <a:latin typeface="Source Sans 3"/>
                <a:ea typeface="Source Sans 3"/>
                <a:cs typeface="Source Sans 3"/>
              </a:rPr>
              <a:pPr algn="l">
                <a:lnSpc>
                  <a:spcPts val="1500"/>
                </a:lnSpc>
              </a:pPr>
              <a:t>65</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771767"/>
          </a:xfrm>
          <a:prstGeom prst="rect">
            <a:avLst/>
          </a:prstGeom>
          <a:noFill/>
        </p:spPr>
        <p:txBody>
          <a:bodyPr wrap="square" lIns="0" tIns="0" rIns="0" bIns="0" anchor="t">
            <a:spAutoFit/>
          </a:bodyPr>
          <a:lstStyle/>
          <a:p>
            <a:pPr algn="just">
              <a:lnSpc>
                <a:spcPts val="2750"/>
              </a:lnSpc>
            </a:pPr>
            <a:r>
              <a:rPr sz="2200" b="0" i="0">
                <a:solidFill>
                  <a:srgbClr val="111111"/>
                </a:solidFill>
                <a:latin typeface="Times New Roman"/>
                <a:ea typeface="Times New Roman"/>
                <a:cs typeface="Times New Roman"/>
              </a:rPr>
              <a:t>Java characters use Unicode, a 16-bit encoding scheme established by the Unicode Consortium to support the interchange, processing, and display of written texts in the world’s diverse languages. Unicode takes two bytes, preceded by \u, expressed in four hexadecimal numbers that run from </a:t>
            </a:r>
            <a:r>
              <a:rPr sz="2000" b="1" i="0">
                <a:solidFill>
                  <a:srgbClr val="111111"/>
                </a:solidFill>
                <a:latin typeface="Courier New"/>
                <a:ea typeface="Courier New"/>
                <a:cs typeface="Courier New"/>
              </a:rPr>
              <a:t>'\u0000'</a:t>
            </a:r>
            <a:r>
              <a:rPr sz="2200" b="0" i="0">
                <a:solidFill>
                  <a:srgbClr val="111111"/>
                </a:solidFill>
                <a:latin typeface="Times New Roman"/>
                <a:ea typeface="Times New Roman"/>
                <a:cs typeface="Times New Roman"/>
              </a:rPr>
              <a:t> to </a:t>
            </a:r>
            <a:r>
              <a:rPr sz="2000" b="1" i="0">
                <a:solidFill>
                  <a:srgbClr val="111111"/>
                </a:solidFill>
                <a:latin typeface="Courier New"/>
                <a:ea typeface="Courier New"/>
                <a:cs typeface="Courier New"/>
              </a:rPr>
              <a:t>'\uFFFF'</a:t>
            </a:r>
            <a:r>
              <a:rPr sz="2200" b="0" i="0">
                <a:solidFill>
                  <a:srgbClr val="111111"/>
                </a:solidFill>
                <a:latin typeface="Times New Roman"/>
                <a:ea typeface="Times New Roman"/>
                <a:cs typeface="Times New Roman"/>
              </a:rPr>
              <a:t>. So, Unicode can represent 65535 + 1 characters.</a:t>
            </a:r>
          </a:p>
        </p:txBody>
      </p:sp>
      <p:sp>
        <p:nvSpPr>
          <p:cNvPr id="5" name="TextBox 4"/>
          <p:cNvSpPr txBox="1"/>
          <p:nvPr/>
        </p:nvSpPr>
        <p:spPr>
          <a:xfrm>
            <a:off x="1079500" y="3937000"/>
            <a:ext cx="7802880" cy="42926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Unicode \u03b1 \u03b2 \u03b3 for three Greek letters</a:t>
            </a:r>
          </a:p>
        </p:txBody>
      </p:sp>
      <p:pic>
        <p:nvPicPr>
          <p:cNvPr id="6" name="Picture 5" descr="greek.png"/>
          <p:cNvPicPr>
            <a:picLocks noChangeAspect="1"/>
          </p:cNvPicPr>
          <p:nvPr/>
        </p:nvPicPr>
        <p:blipFill>
          <a:blip r:embed="rId2"/>
          <a:stretch>
            <a:fillRect/>
          </a:stretch>
        </p:blipFill>
        <p:spPr>
          <a:xfrm>
            <a:off x="7112000" y="4381500"/>
            <a:ext cx="3175000" cy="1440089"/>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Escape Sequences for Special Characters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470DB1D-20DD-4F8F-9467-D226DF247080}" type="slidenum">
              <a:rPr sz="1200" b="0" i="0">
                <a:solidFill>
                  <a:srgbClr val="6B6B6B"/>
                </a:solidFill>
                <a:latin typeface="Source Sans 3"/>
                <a:ea typeface="Source Sans 3"/>
                <a:cs typeface="Source Sans 3"/>
              </a:rPr>
              <a:pPr algn="l">
                <a:lnSpc>
                  <a:spcPts val="1500"/>
                </a:lnSpc>
              </a:pPr>
              <a:t>66</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2159000" y="1270000"/>
          <a:ext cx="7874000" cy="4064000"/>
        </p:xfrm>
        <a:graphic>
          <a:graphicData uri="http://schemas.openxmlformats.org/drawingml/2006/table">
            <a:tbl>
              <a:tblPr/>
              <a:tblGrid>
                <a:gridCol w="3048000">
                  <a:extLst>
                    <a:ext uri="{9D8B030D-6E8A-4147-A177-3AD203B41FA5}">
                      <a16:colId xmlns:a16="http://schemas.microsoft.com/office/drawing/2014/main" xmlns="" val="20000"/>
                    </a:ext>
                  </a:extLst>
                </a:gridCol>
                <a:gridCol w="2540000">
                  <a:extLst>
                    <a:ext uri="{9D8B030D-6E8A-4147-A177-3AD203B41FA5}">
                      <a16:colId xmlns:a16="http://schemas.microsoft.com/office/drawing/2014/main" xmlns="" val="20001"/>
                    </a:ext>
                  </a:extLst>
                </a:gridCol>
                <a:gridCol w="2286000">
                  <a:extLst>
                    <a:ext uri="{9D8B030D-6E8A-4147-A177-3AD203B41FA5}">
                      <a16:colId xmlns:a16="http://schemas.microsoft.com/office/drawing/2014/main" xmlns="" val="20002"/>
                    </a:ext>
                  </a:extLst>
                </a:gridCol>
              </a:tblGrid>
              <a:tr h="508000">
                <a:tc>
                  <a:txBody>
                    <a:bodyPr/>
                    <a:lstStyle/>
                    <a:p>
                      <a:pPr>
                        <a:lnSpc>
                          <a:spcPts val="2340"/>
                        </a:lnSpc>
                      </a:pPr>
                      <a:r>
                        <a:rPr sz="1800" b="1" i="0">
                          <a:solidFill>
                            <a:srgbClr val="111111"/>
                          </a:solidFill>
                          <a:latin typeface="Times New Roman"/>
                          <a:ea typeface="Times New Roman"/>
                          <a:cs typeface="Times New Roman"/>
                        </a:rPr>
                        <a:t>Description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340"/>
                        </a:lnSpc>
                      </a:pPr>
                      <a:r>
                        <a:rPr sz="1800" b="1" i="0">
                          <a:solidFill>
                            <a:srgbClr val="111111"/>
                          </a:solidFill>
                          <a:latin typeface="Courier New"/>
                          <a:ea typeface="Courier New"/>
                          <a:cs typeface="Courier New"/>
                        </a:rPr>
                        <a:t>Escape Sequence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340"/>
                        </a:lnSpc>
                      </a:pPr>
                      <a:r>
                        <a:rPr sz="1800" b="1" i="0">
                          <a:solidFill>
                            <a:srgbClr val="111111"/>
                          </a:solidFill>
                          <a:latin typeface="Courier New"/>
                          <a:ea typeface="Courier New"/>
                          <a:cs typeface="Courier New"/>
                        </a:rPr>
                        <a:t>Unicode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508000">
                <a:tc>
                  <a:txBody>
                    <a:bodyPr/>
                    <a:lstStyle/>
                    <a:p>
                      <a:pPr>
                        <a:lnSpc>
                          <a:spcPts val="2340"/>
                        </a:lnSpc>
                      </a:pPr>
                      <a:r>
                        <a:rPr sz="1800" b="0" i="0">
                          <a:solidFill>
                            <a:srgbClr val="111111"/>
                          </a:solidFill>
                          <a:latin typeface="Times New Roman"/>
                          <a:ea typeface="Times New Roman"/>
                          <a:cs typeface="Times New Roman"/>
                        </a:rPr>
                        <a:t>Backspace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\b</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\u0008</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508000">
                <a:tc>
                  <a:txBody>
                    <a:bodyPr/>
                    <a:lstStyle/>
                    <a:p>
                      <a:pPr>
                        <a:lnSpc>
                          <a:spcPts val="2340"/>
                        </a:lnSpc>
                      </a:pPr>
                      <a:r>
                        <a:rPr sz="1800" b="0" i="0">
                          <a:solidFill>
                            <a:srgbClr val="111111"/>
                          </a:solidFill>
                          <a:latin typeface="Times New Roman"/>
                          <a:ea typeface="Times New Roman"/>
                          <a:cs typeface="Times New Roman"/>
                        </a:rPr>
                        <a:t>Tab</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\u0009</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508000">
                <a:tc>
                  <a:txBody>
                    <a:bodyPr/>
                    <a:lstStyle/>
                    <a:p>
                      <a:pPr>
                        <a:lnSpc>
                          <a:spcPts val="2340"/>
                        </a:lnSpc>
                      </a:pPr>
                      <a:r>
                        <a:rPr sz="1800" b="0" i="0">
                          <a:solidFill>
                            <a:srgbClr val="111111"/>
                          </a:solidFill>
                          <a:latin typeface="Times New Roman"/>
                          <a:ea typeface="Times New Roman"/>
                          <a:cs typeface="Times New Roman"/>
                        </a:rPr>
                        <a:t>Linefeed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\u000A</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508000">
                <a:tc>
                  <a:txBody>
                    <a:bodyPr/>
                    <a:lstStyle/>
                    <a:p>
                      <a:pPr>
                        <a:lnSpc>
                          <a:spcPts val="2340"/>
                        </a:lnSpc>
                      </a:pPr>
                      <a:r>
                        <a:rPr sz="1800" b="0" i="0">
                          <a:solidFill>
                            <a:srgbClr val="111111"/>
                          </a:solidFill>
                          <a:latin typeface="Times New Roman"/>
                          <a:ea typeface="Times New Roman"/>
                          <a:cs typeface="Times New Roman"/>
                        </a:rPr>
                        <a:t>Carriage return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\u000D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r h="508000">
                <a:tc>
                  <a:txBody>
                    <a:bodyPr/>
                    <a:lstStyle/>
                    <a:p>
                      <a:pPr>
                        <a:lnSpc>
                          <a:spcPts val="2340"/>
                        </a:lnSpc>
                      </a:pPr>
                      <a:r>
                        <a:rPr sz="1800" b="0" i="0">
                          <a:solidFill>
                            <a:srgbClr val="111111"/>
                          </a:solidFill>
                          <a:latin typeface="Times New Roman"/>
                          <a:ea typeface="Times New Roman"/>
                          <a:cs typeface="Times New Roman"/>
                        </a:rPr>
                        <a:t>Backslash</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\u005C</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5"/>
                  </a:ext>
                </a:extLst>
              </a:tr>
              <a:tr h="508000">
                <a:tc>
                  <a:txBody>
                    <a:bodyPr/>
                    <a:lstStyle/>
                    <a:p>
                      <a:pPr>
                        <a:lnSpc>
                          <a:spcPts val="2340"/>
                        </a:lnSpc>
                      </a:pPr>
                      <a:r>
                        <a:rPr sz="1800" b="0" i="0">
                          <a:solidFill>
                            <a:srgbClr val="111111"/>
                          </a:solidFill>
                          <a:latin typeface="Times New Roman"/>
                          <a:ea typeface="Times New Roman"/>
                          <a:cs typeface="Times New Roman"/>
                        </a:rPr>
                        <a:t>Single Quote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\u0027</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6"/>
                  </a:ext>
                </a:extLst>
              </a:tr>
              <a:tr h="508000">
                <a:tc>
                  <a:txBody>
                    <a:bodyPr/>
                    <a:lstStyle/>
                    <a:p>
                      <a:pPr>
                        <a:lnSpc>
                          <a:spcPts val="2340"/>
                        </a:lnSpc>
                      </a:pPr>
                      <a:r>
                        <a:rPr sz="1800" b="0" i="0">
                          <a:solidFill>
                            <a:srgbClr val="111111"/>
                          </a:solidFill>
                          <a:latin typeface="Times New Roman"/>
                          <a:ea typeface="Times New Roman"/>
                          <a:cs typeface="Times New Roman"/>
                        </a:rPr>
                        <a:t>Double Quote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340"/>
                        </a:lnSpc>
                      </a:pPr>
                      <a:r>
                        <a:rPr sz="1800" b="0" i="0">
                          <a:solidFill>
                            <a:srgbClr val="111111"/>
                          </a:solidFill>
                          <a:latin typeface="Courier New"/>
                          <a:ea typeface="Courier New"/>
                          <a:cs typeface="Courier New"/>
                        </a:rPr>
                        <a:t>\u0022</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7"/>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Casting between </a:t>
            </a:r>
            <a:r>
              <a:rPr sz="3300" b="0" i="0">
                <a:solidFill>
                  <a:srgbClr val="111111"/>
                </a:solidFill>
                <a:latin typeface="Courier New"/>
                <a:ea typeface="Courier New"/>
                <a:cs typeface="Courier New"/>
              </a:rPr>
              <a:t>char</a:t>
            </a:r>
            <a:r>
              <a:rPr sz="3300" b="0" i="0">
                <a:solidFill>
                  <a:srgbClr val="111111"/>
                </a:solidFill>
                <a:latin typeface="Times New Roman"/>
                <a:ea typeface="Times New Roman"/>
                <a:cs typeface="Times New Roman"/>
              </a:rPr>
              <a:t> and Numeric Types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251FBFC-147C-4DEF-BB6E-7FC37989DECD}" type="slidenum">
              <a:rPr sz="1200" b="0" i="0">
                <a:solidFill>
                  <a:srgbClr val="6B6B6B"/>
                </a:solidFill>
                <a:latin typeface="Source Sans 3"/>
                <a:ea typeface="Source Sans 3"/>
                <a:cs typeface="Source Sans 3"/>
              </a:rPr>
              <a:pPr algn="l">
                <a:lnSpc>
                  <a:spcPts val="1500"/>
                </a:lnSpc>
              </a:pPr>
              <a:t>67</a:t>
            </a:fld>
            <a:endParaRPr sz="1200" b="0" i="0">
              <a:solidFill>
                <a:srgbClr val="6B6B6B"/>
              </a:solidFill>
              <a:latin typeface="Source Sans 3"/>
              <a:ea typeface="Source Sans 3"/>
              <a:cs typeface="Source Sans 3"/>
            </a:endParaRPr>
          </a:p>
        </p:txBody>
      </p:sp>
      <p:sp>
        <p:nvSpPr>
          <p:cNvPr id="4" name="TextBox 3"/>
          <p:cNvSpPr txBox="1"/>
          <p:nvPr/>
        </p:nvSpPr>
        <p:spPr>
          <a:xfrm>
            <a:off x="1079500" y="2032000"/>
            <a:ext cx="8107680" cy="130048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 = 'a'; // Same as int i = (int)'a';</a:t>
            </a:r>
          </a:p>
          <a:p>
            <a:pPr algn="l">
              <a:lnSpc>
                <a:spcPts val="3079"/>
              </a:lnSpc>
            </a:pPr>
            <a:r>
              <a:rPr sz="2200" b="1" i="0">
                <a:solidFill>
                  <a:srgbClr val="000000"/>
                </a:solidFill>
                <a:latin typeface="Courier New"/>
                <a:ea typeface="Courier New"/>
                <a:cs typeface="Courier New"/>
              </a:rPr>
              <a:t> </a:t>
            </a:r>
          </a:p>
          <a:p>
            <a:pPr algn="l">
              <a:lnSpc>
                <a:spcPts val="3079"/>
              </a:lnSpc>
            </a:pPr>
            <a:r>
              <a:rPr sz="2200" b="1" i="0">
                <a:solidFill>
                  <a:srgbClr val="000000"/>
                </a:solidFill>
                <a:latin typeface="Courier New"/>
                <a:ea typeface="Courier New"/>
                <a:cs typeface="Courier New"/>
              </a:rPr>
              <a:t>char c = 97; // Same as char c = (char)97;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Comparing and Testing Characters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634C2D3-3FDA-4601-9AEE-9746E1FB7563}" type="slidenum">
              <a:rPr sz="1200" b="0" i="0">
                <a:solidFill>
                  <a:srgbClr val="6B6B6B"/>
                </a:solidFill>
                <a:latin typeface="Source Sans 3"/>
                <a:ea typeface="Source Sans 3"/>
                <a:cs typeface="Source Sans 3"/>
              </a:rPr>
              <a:pPr algn="l">
                <a:lnSpc>
                  <a:spcPts val="1500"/>
                </a:lnSpc>
              </a:pPr>
              <a:t>68</a:t>
            </a:fld>
            <a:endParaRPr sz="1200" b="0" i="0">
              <a:solidFill>
                <a:srgbClr val="6B6B6B"/>
              </a:solidFill>
              <a:latin typeface="Source Sans 3"/>
              <a:ea typeface="Source Sans 3"/>
              <a:cs typeface="Source Sans 3"/>
            </a:endParaRPr>
          </a:p>
        </p:txBody>
      </p:sp>
      <p:sp>
        <p:nvSpPr>
          <p:cNvPr id="4" name="TextBox 3"/>
          <p:cNvSpPr txBox="1"/>
          <p:nvPr/>
        </p:nvSpPr>
        <p:spPr>
          <a:xfrm>
            <a:off x="1079500" y="1651000"/>
            <a:ext cx="8740140" cy="2153920"/>
          </a:xfrm>
          <a:prstGeom prst="rect">
            <a:avLst/>
          </a:prstGeom>
          <a:noFill/>
        </p:spPr>
        <p:txBody>
          <a:bodyPr wrap="square" lIns="0" tIns="0" rIns="0" bIns="0" anchor="t">
            <a:spAutoFit/>
          </a:bodyPr>
          <a:lstStyle/>
          <a:p>
            <a:pPr algn="l">
              <a:lnSpc>
                <a:spcPts val="2660"/>
              </a:lnSpc>
            </a:pPr>
            <a:r>
              <a:rPr sz="1900" b="1" i="0">
                <a:solidFill>
                  <a:srgbClr val="000000"/>
                </a:solidFill>
                <a:latin typeface="Courier New"/>
                <a:ea typeface="Courier New"/>
                <a:cs typeface="Courier New"/>
              </a:rPr>
              <a:t>if (ch &gt;= 'A' &amp;&amp; ch &lt;= 'Z')</a:t>
            </a:r>
          </a:p>
          <a:p>
            <a:pPr algn="l">
              <a:lnSpc>
                <a:spcPts val="2660"/>
              </a:lnSpc>
            </a:pPr>
            <a:r>
              <a:rPr sz="1900" b="1" i="0">
                <a:solidFill>
                  <a:srgbClr val="000000"/>
                </a:solidFill>
                <a:latin typeface="Courier New"/>
                <a:ea typeface="Courier New"/>
                <a:cs typeface="Courier New"/>
              </a:rPr>
              <a:t>  System.out.println(ch + " is an uppercase letter");</a:t>
            </a:r>
          </a:p>
          <a:p>
            <a:pPr algn="l">
              <a:lnSpc>
                <a:spcPts val="2660"/>
              </a:lnSpc>
            </a:pPr>
            <a:r>
              <a:rPr sz="1900" b="1" i="0">
                <a:solidFill>
                  <a:srgbClr val="000000"/>
                </a:solidFill>
                <a:latin typeface="Courier New"/>
                <a:ea typeface="Courier New"/>
                <a:cs typeface="Courier New"/>
              </a:rPr>
              <a:t>else if (ch &gt;= 'a' &amp;&amp; ch &lt;= 'z')</a:t>
            </a:r>
          </a:p>
          <a:p>
            <a:pPr algn="l">
              <a:lnSpc>
                <a:spcPts val="2660"/>
              </a:lnSpc>
            </a:pPr>
            <a:r>
              <a:rPr sz="1900" b="1" i="0">
                <a:solidFill>
                  <a:srgbClr val="000000"/>
                </a:solidFill>
                <a:latin typeface="Courier New"/>
                <a:ea typeface="Courier New"/>
                <a:cs typeface="Courier New"/>
              </a:rPr>
              <a:t>  System.out.println(ch + " is a lowercase letter");</a:t>
            </a:r>
          </a:p>
          <a:p>
            <a:pPr algn="l">
              <a:lnSpc>
                <a:spcPts val="2660"/>
              </a:lnSpc>
            </a:pPr>
            <a:r>
              <a:rPr sz="1900" b="1" i="0">
                <a:solidFill>
                  <a:srgbClr val="000000"/>
                </a:solidFill>
                <a:latin typeface="Courier New"/>
                <a:ea typeface="Courier New"/>
                <a:cs typeface="Courier New"/>
              </a:rPr>
              <a:t>else if (ch &gt;= '0' &amp;&amp; ch &lt;= '9')</a:t>
            </a:r>
          </a:p>
          <a:p>
            <a:pPr algn="l">
              <a:lnSpc>
                <a:spcPts val="2660"/>
              </a:lnSpc>
            </a:pPr>
            <a:r>
              <a:rPr sz="1900" b="1" i="0">
                <a:solidFill>
                  <a:srgbClr val="000000"/>
                </a:solidFill>
                <a:latin typeface="Courier New"/>
                <a:ea typeface="Courier New"/>
                <a:cs typeface="Courier New"/>
              </a:rPr>
              <a:t>  System.out.println(ch + " is a numeric character");</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Methods in the </a:t>
            </a:r>
            <a:r>
              <a:rPr sz="3300" b="0" i="0">
                <a:solidFill>
                  <a:srgbClr val="111111"/>
                </a:solidFill>
                <a:latin typeface="Courier New"/>
                <a:ea typeface="Courier New"/>
                <a:cs typeface="Courier New"/>
              </a:rPr>
              <a:t>Character</a:t>
            </a:r>
            <a:r>
              <a:rPr sz="3300" b="0" i="0">
                <a:solidFill>
                  <a:srgbClr val="111111"/>
                </a:solidFill>
                <a:latin typeface="Times New Roman"/>
                <a:ea typeface="Times New Roman"/>
                <a:cs typeface="Times New Roman"/>
              </a:rPr>
              <a:t> Class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0BB69B8-F8F2-42C3-8456-E496960066F8}" type="slidenum">
              <a:rPr sz="1200" b="0" i="0">
                <a:solidFill>
                  <a:srgbClr val="6B6B6B"/>
                </a:solidFill>
                <a:latin typeface="Source Sans 3"/>
                <a:ea typeface="Source Sans 3"/>
                <a:cs typeface="Source Sans 3"/>
              </a:rPr>
              <a:pPr algn="l">
                <a:lnSpc>
                  <a:spcPts val="1500"/>
                </a:lnSpc>
              </a:pPr>
              <a:t>69</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952500" y="1270000"/>
          <a:ext cx="10287000" cy="3860800"/>
        </p:xfrm>
        <a:graphic>
          <a:graphicData uri="http://schemas.openxmlformats.org/drawingml/2006/table">
            <a:tbl>
              <a:tblPr/>
              <a:tblGrid>
                <a:gridCol w="2921000">
                  <a:extLst>
                    <a:ext uri="{9D8B030D-6E8A-4147-A177-3AD203B41FA5}">
                      <a16:colId xmlns:a16="http://schemas.microsoft.com/office/drawing/2014/main" xmlns="" val="20000"/>
                    </a:ext>
                  </a:extLst>
                </a:gridCol>
                <a:gridCol w="7366000">
                  <a:extLst>
                    <a:ext uri="{9D8B030D-6E8A-4147-A177-3AD203B41FA5}">
                      <a16:colId xmlns:a16="http://schemas.microsoft.com/office/drawing/2014/main" xmlns="" val="20001"/>
                    </a:ext>
                  </a:extLst>
                </a:gridCol>
              </a:tblGrid>
              <a:tr h="482600">
                <a:tc>
                  <a:txBody>
                    <a:bodyPr/>
                    <a:lstStyle/>
                    <a:p>
                      <a:pPr>
                        <a:lnSpc>
                          <a:spcPts val="2080"/>
                        </a:lnSpc>
                      </a:pPr>
                      <a:r>
                        <a:rPr sz="1600" b="1" i="0">
                          <a:solidFill>
                            <a:srgbClr val="111111"/>
                          </a:solidFill>
                          <a:latin typeface="Courier New"/>
                          <a:ea typeface="Courier New"/>
                          <a:cs typeface="Courier New"/>
                        </a:rPr>
                        <a:t>Method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080"/>
                        </a:lnSpc>
                      </a:pPr>
                      <a:r>
                        <a:rPr sz="1600" b="1" i="0">
                          <a:solidFill>
                            <a:srgbClr val="111111"/>
                          </a:solidFill>
                          <a:latin typeface="Times New Roman"/>
                          <a:ea typeface="Times New Roman"/>
                          <a:cs typeface="Times New Roman"/>
                        </a:rPr>
                        <a:t>Description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482600">
                <a:tc>
                  <a:txBody>
                    <a:bodyPr/>
                    <a:lstStyle/>
                    <a:p>
                      <a:pPr>
                        <a:lnSpc>
                          <a:spcPts val="2080"/>
                        </a:lnSpc>
                      </a:pPr>
                      <a:r>
                        <a:rPr sz="1600" b="0" i="0">
                          <a:solidFill>
                            <a:srgbClr val="111111"/>
                          </a:solidFill>
                          <a:latin typeface="Courier New"/>
                          <a:ea typeface="Courier New"/>
                          <a:cs typeface="Courier New"/>
                        </a:rPr>
                        <a:t>isDigit(ch)</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true if the specified character is a digit.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482600">
                <a:tc>
                  <a:txBody>
                    <a:bodyPr/>
                    <a:lstStyle/>
                    <a:p>
                      <a:pPr>
                        <a:lnSpc>
                          <a:spcPts val="2080"/>
                        </a:lnSpc>
                      </a:pPr>
                      <a:r>
                        <a:rPr sz="1600" b="0" i="0">
                          <a:solidFill>
                            <a:srgbClr val="111111"/>
                          </a:solidFill>
                          <a:latin typeface="Courier New"/>
                          <a:ea typeface="Courier New"/>
                          <a:cs typeface="Courier New"/>
                        </a:rPr>
                        <a:t>isLetter(ch)</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true if the specified character is a letter.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482600">
                <a:tc>
                  <a:txBody>
                    <a:bodyPr/>
                    <a:lstStyle/>
                    <a:p>
                      <a:pPr>
                        <a:lnSpc>
                          <a:spcPts val="2080"/>
                        </a:lnSpc>
                      </a:pPr>
                      <a:r>
                        <a:rPr sz="1600" b="0" i="0">
                          <a:solidFill>
                            <a:srgbClr val="111111"/>
                          </a:solidFill>
                          <a:latin typeface="Courier New"/>
                          <a:ea typeface="Courier New"/>
                          <a:cs typeface="Courier New"/>
                        </a:rPr>
                        <a:t>isLetterOfDigit(ch)</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true if the specified character is a letter or digit.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482600">
                <a:tc>
                  <a:txBody>
                    <a:bodyPr/>
                    <a:lstStyle/>
                    <a:p>
                      <a:pPr>
                        <a:lnSpc>
                          <a:spcPts val="2080"/>
                        </a:lnSpc>
                      </a:pPr>
                      <a:r>
                        <a:rPr sz="1600" b="0" i="0">
                          <a:solidFill>
                            <a:srgbClr val="111111"/>
                          </a:solidFill>
                          <a:latin typeface="Courier New"/>
                          <a:ea typeface="Courier New"/>
                          <a:cs typeface="Courier New"/>
                        </a:rPr>
                        <a:t>isLowerCase(ch)</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true if the specified character is a lowercase letter.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r h="482600">
                <a:tc>
                  <a:txBody>
                    <a:bodyPr/>
                    <a:lstStyle/>
                    <a:p>
                      <a:pPr>
                        <a:lnSpc>
                          <a:spcPts val="2080"/>
                        </a:lnSpc>
                      </a:pPr>
                      <a:r>
                        <a:rPr sz="1600" b="0" i="0">
                          <a:solidFill>
                            <a:srgbClr val="111111"/>
                          </a:solidFill>
                          <a:latin typeface="Courier New"/>
                          <a:ea typeface="Courier New"/>
                          <a:cs typeface="Courier New"/>
                        </a:rPr>
                        <a:t>isUpperCase(ch)</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true if the specified character is an uppercase letter.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5"/>
                  </a:ext>
                </a:extLst>
              </a:tr>
              <a:tr h="482600">
                <a:tc>
                  <a:txBody>
                    <a:bodyPr/>
                    <a:lstStyle/>
                    <a:p>
                      <a:pPr>
                        <a:lnSpc>
                          <a:spcPts val="2080"/>
                        </a:lnSpc>
                      </a:pPr>
                      <a:r>
                        <a:rPr sz="1600" b="0" i="0">
                          <a:solidFill>
                            <a:srgbClr val="111111"/>
                          </a:solidFill>
                          <a:latin typeface="Courier New"/>
                          <a:ea typeface="Courier New"/>
                          <a:cs typeface="Courier New"/>
                        </a:rPr>
                        <a:t>toLowerCase(ch)</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the lowercase of the specified character.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6"/>
                  </a:ext>
                </a:extLst>
              </a:tr>
              <a:tr h="482600">
                <a:tc>
                  <a:txBody>
                    <a:bodyPr/>
                    <a:lstStyle/>
                    <a:p>
                      <a:pPr>
                        <a:lnSpc>
                          <a:spcPts val="2080"/>
                        </a:lnSpc>
                      </a:pPr>
                      <a:r>
                        <a:rPr sz="1600" b="0" i="0">
                          <a:solidFill>
                            <a:srgbClr val="111111"/>
                          </a:solidFill>
                          <a:latin typeface="Courier New"/>
                          <a:ea typeface="Courier New"/>
                          <a:cs typeface="Courier New"/>
                        </a:rPr>
                        <a:t>toUpperCase(ch)</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the uppercase of the specified character.</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7"/>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The </a:t>
            </a:r>
            <a:r>
              <a:rPr sz="3300" b="0" i="0">
                <a:solidFill>
                  <a:srgbClr val="111111"/>
                </a:solidFill>
                <a:latin typeface="Courier New"/>
                <a:ea typeface="Courier New"/>
                <a:cs typeface="Courier New"/>
              </a:rPr>
              <a:t>String</a:t>
            </a:r>
            <a:r>
              <a:rPr sz="3300" b="0" i="0">
                <a:solidFill>
                  <a:srgbClr val="111111"/>
                </a:solidFill>
                <a:latin typeface="Times New Roman"/>
                <a:ea typeface="Times New Roman"/>
                <a:cs typeface="Times New Roman"/>
              </a:rPr>
              <a:t> Type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C6EC877-7D71-44E8-9607-54835626668C}" type="slidenum">
              <a:rPr sz="1200" b="0" i="0">
                <a:solidFill>
                  <a:srgbClr val="6B6B6B"/>
                </a:solidFill>
                <a:latin typeface="Source Sans 3"/>
                <a:ea typeface="Source Sans 3"/>
                <a:cs typeface="Source Sans 3"/>
              </a:rPr>
              <a:pPr algn="l">
                <a:lnSpc>
                  <a:spcPts val="1500"/>
                </a:lnSpc>
              </a:pPr>
              <a:t>70</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910779"/>
          </a:xfrm>
          <a:prstGeom prst="rect">
            <a:avLst/>
          </a:prstGeom>
          <a:noFill/>
        </p:spPr>
        <p:txBody>
          <a:bodyPr wrap="square" lIns="0" tIns="0" rIns="0" bIns="0" anchor="t">
            <a:spAutoFit/>
          </a:bodyPr>
          <a:lstStyle/>
          <a:p>
            <a:pPr algn="l">
              <a:lnSpc>
                <a:spcPts val="2625"/>
              </a:lnSpc>
            </a:pPr>
            <a:r>
              <a:rPr sz="2100" b="0" i="0">
                <a:solidFill>
                  <a:srgbClr val="111111"/>
                </a:solidFill>
                <a:latin typeface="Times New Roman"/>
                <a:ea typeface="Times New Roman"/>
                <a:cs typeface="Times New Roman"/>
              </a:rPr>
              <a:t>The </a:t>
            </a:r>
            <a:r>
              <a:rPr sz="1900" b="1" i="0">
                <a:solidFill>
                  <a:srgbClr val="111111"/>
                </a:solidFill>
                <a:latin typeface="Courier New"/>
                <a:ea typeface="Courier New"/>
                <a:cs typeface="Courier New"/>
              </a:rPr>
              <a:t>char</a:t>
            </a:r>
            <a:r>
              <a:rPr sz="2100" b="0" i="0">
                <a:solidFill>
                  <a:srgbClr val="111111"/>
                </a:solidFill>
                <a:latin typeface="Times New Roman"/>
                <a:ea typeface="Times New Roman"/>
                <a:cs typeface="Times New Roman"/>
              </a:rPr>
              <a:t> type only represents one character. To represent a string of characters, use the data type called </a:t>
            </a:r>
            <a:r>
              <a:rPr sz="1900" b="1" i="0">
                <a:solidFill>
                  <a:srgbClr val="111111"/>
                </a:solidFill>
                <a:latin typeface="Courier New"/>
                <a:ea typeface="Courier New"/>
                <a:cs typeface="Courier New"/>
              </a:rPr>
              <a:t>String</a:t>
            </a:r>
            <a:r>
              <a:rPr sz="2100" b="0" i="0">
                <a:solidFill>
                  <a:srgbClr val="111111"/>
                </a:solidFill>
                <a:latin typeface="Times New Roman"/>
                <a:ea typeface="Times New Roman"/>
                <a:cs typeface="Times New Roman"/>
              </a:rPr>
              <a:t>. For example,</a:t>
            </a:r>
          </a:p>
          <a:p>
            <a:pPr marL="457200" indent="0" algn="l">
              <a:lnSpc>
                <a:spcPts val="2610"/>
              </a:lnSpc>
              <a:spcBef>
                <a:spcPts val="719"/>
              </a:spcBef>
            </a:pPr>
            <a:r>
              <a:rPr sz="1800" b="1" i="0">
                <a:solidFill>
                  <a:srgbClr val="111111"/>
                </a:solidFill>
                <a:latin typeface="Courier New"/>
                <a:ea typeface="Courier New"/>
                <a:cs typeface="Courier New"/>
              </a:rPr>
              <a:t>String message = "Welcome to Java";</a:t>
            </a:r>
          </a:p>
          <a:p>
            <a:pPr algn="just">
              <a:lnSpc>
                <a:spcPts val="2625"/>
              </a:lnSpc>
              <a:spcBef>
                <a:spcPts val="1200"/>
              </a:spcBef>
            </a:pPr>
            <a:r>
              <a:rPr sz="1900" b="1" i="0">
                <a:solidFill>
                  <a:srgbClr val="111111"/>
                </a:solidFill>
                <a:latin typeface="Courier New"/>
                <a:ea typeface="Courier New"/>
                <a:cs typeface="Courier New"/>
              </a:rPr>
              <a:t>String</a:t>
            </a:r>
            <a:r>
              <a:rPr sz="2100" b="0" i="0">
                <a:solidFill>
                  <a:srgbClr val="111111"/>
                </a:solidFill>
                <a:latin typeface="Times New Roman"/>
                <a:ea typeface="Times New Roman"/>
                <a:cs typeface="Times New Roman"/>
              </a:rPr>
              <a:t> is actually </a:t>
            </a:r>
            <a:r>
              <a:rPr sz="2100" b="1" i="0" u="sng">
                <a:solidFill>
                  <a:srgbClr val="111111"/>
                </a:solidFill>
                <a:latin typeface="Times New Roman"/>
                <a:ea typeface="Times New Roman"/>
                <a:cs typeface="Times New Roman"/>
              </a:rPr>
              <a:t>a predefined class </a:t>
            </a:r>
            <a:r>
              <a:rPr sz="2100" b="0" i="0">
                <a:solidFill>
                  <a:srgbClr val="111111"/>
                </a:solidFill>
                <a:latin typeface="Times New Roman"/>
                <a:ea typeface="Times New Roman"/>
                <a:cs typeface="Times New Roman"/>
              </a:rPr>
              <a:t>in the Java library just like </a:t>
            </a:r>
            <a:r>
              <a:rPr sz="2100" b="1" i="0">
                <a:solidFill>
                  <a:srgbClr val="111111"/>
                </a:solidFill>
                <a:latin typeface="Times New Roman"/>
                <a:ea typeface="Times New Roman"/>
                <a:cs typeface="Times New Roman"/>
              </a:rPr>
              <a:t>the </a:t>
            </a:r>
            <a:r>
              <a:rPr sz="1900" b="1" i="0">
                <a:solidFill>
                  <a:srgbClr val="111111"/>
                </a:solidFill>
                <a:latin typeface="Courier New"/>
                <a:ea typeface="Courier New"/>
                <a:cs typeface="Courier New"/>
              </a:rPr>
              <a:t>System</a:t>
            </a:r>
            <a:r>
              <a:rPr sz="2100" b="1" i="0">
                <a:solidFill>
                  <a:srgbClr val="111111"/>
                </a:solidFill>
                <a:latin typeface="Times New Roman"/>
                <a:ea typeface="Times New Roman"/>
                <a:cs typeface="Times New Roman"/>
              </a:rPr>
              <a:t> class </a:t>
            </a:r>
            <a:r>
              <a:rPr sz="2100" b="0" i="0">
                <a:solidFill>
                  <a:srgbClr val="111111"/>
                </a:solidFill>
                <a:latin typeface="Times New Roman"/>
                <a:ea typeface="Times New Roman"/>
                <a:cs typeface="Times New Roman"/>
              </a:rPr>
              <a:t>and </a:t>
            </a:r>
            <a:r>
              <a:rPr sz="1900" b="1" i="0">
                <a:solidFill>
                  <a:srgbClr val="111111"/>
                </a:solidFill>
                <a:latin typeface="Courier New"/>
                <a:ea typeface="Courier New"/>
                <a:cs typeface="Courier New"/>
              </a:rPr>
              <a:t>JOptionPane</a:t>
            </a:r>
            <a:r>
              <a:rPr sz="2100" b="1" i="0">
                <a:solidFill>
                  <a:srgbClr val="111111"/>
                </a:solidFill>
                <a:latin typeface="Times New Roman"/>
                <a:ea typeface="Times New Roman"/>
                <a:cs typeface="Times New Roman"/>
              </a:rPr>
              <a:t> class</a:t>
            </a:r>
            <a:r>
              <a:rPr sz="2100" b="0" i="0">
                <a:solidFill>
                  <a:srgbClr val="111111"/>
                </a:solidFill>
                <a:latin typeface="Times New Roman"/>
                <a:ea typeface="Times New Roman"/>
                <a:cs typeface="Times New Roman"/>
              </a:rPr>
              <a:t>. The </a:t>
            </a:r>
            <a:r>
              <a:rPr sz="1900" b="1" i="0">
                <a:solidFill>
                  <a:srgbClr val="111111"/>
                </a:solidFill>
                <a:latin typeface="Courier New"/>
                <a:ea typeface="Courier New"/>
                <a:cs typeface="Courier New"/>
              </a:rPr>
              <a:t>String</a:t>
            </a:r>
            <a:r>
              <a:rPr sz="2100" b="0" i="0">
                <a:solidFill>
                  <a:srgbClr val="111111"/>
                </a:solidFill>
                <a:latin typeface="Times New Roman"/>
                <a:ea typeface="Times New Roman"/>
                <a:cs typeface="Times New Roman"/>
              </a:rPr>
              <a:t> type is not a primitive type. </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Simple Methods for </a:t>
            </a:r>
            <a:r>
              <a:rPr sz="3300" b="0" i="0">
                <a:solidFill>
                  <a:srgbClr val="111111"/>
                </a:solidFill>
                <a:latin typeface="Courier New"/>
                <a:ea typeface="Courier New"/>
                <a:cs typeface="Courier New"/>
              </a:rPr>
              <a:t>String</a:t>
            </a:r>
            <a:r>
              <a:rPr sz="3300" b="0" i="0">
                <a:solidFill>
                  <a:srgbClr val="111111"/>
                </a:solidFill>
                <a:latin typeface="Times New Roman"/>
                <a:ea typeface="Times New Roman"/>
                <a:cs typeface="Times New Roman"/>
              </a:rPr>
              <a:t> Objects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A397FA4-9DDC-44BB-A00D-4130B7CFB7B5}" type="slidenum">
              <a:rPr sz="1200" b="0" i="0">
                <a:solidFill>
                  <a:srgbClr val="6B6B6B"/>
                </a:solidFill>
                <a:latin typeface="Source Sans 3"/>
                <a:ea typeface="Source Sans 3"/>
                <a:cs typeface="Source Sans 3"/>
              </a:rPr>
              <a:pPr algn="l">
                <a:lnSpc>
                  <a:spcPts val="1500"/>
                </a:lnSpc>
              </a:pPr>
              <a:t>71</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952500" y="1270000"/>
          <a:ext cx="10287000" cy="3556000"/>
        </p:xfrm>
        <a:graphic>
          <a:graphicData uri="http://schemas.openxmlformats.org/drawingml/2006/table">
            <a:tbl>
              <a:tblPr/>
              <a:tblGrid>
                <a:gridCol w="2286000">
                  <a:extLst>
                    <a:ext uri="{9D8B030D-6E8A-4147-A177-3AD203B41FA5}">
                      <a16:colId xmlns:a16="http://schemas.microsoft.com/office/drawing/2014/main" xmlns="" val="20000"/>
                    </a:ext>
                  </a:extLst>
                </a:gridCol>
                <a:gridCol w="8001000">
                  <a:extLst>
                    <a:ext uri="{9D8B030D-6E8A-4147-A177-3AD203B41FA5}">
                      <a16:colId xmlns:a16="http://schemas.microsoft.com/office/drawing/2014/main" xmlns="" val="20001"/>
                    </a:ext>
                  </a:extLst>
                </a:gridCol>
              </a:tblGrid>
              <a:tr h="508000">
                <a:tc>
                  <a:txBody>
                    <a:bodyPr/>
                    <a:lstStyle/>
                    <a:p>
                      <a:pPr>
                        <a:lnSpc>
                          <a:spcPts val="2080"/>
                        </a:lnSpc>
                      </a:pPr>
                      <a:r>
                        <a:rPr sz="1600" b="1" i="0">
                          <a:solidFill>
                            <a:srgbClr val="111111"/>
                          </a:solidFill>
                          <a:latin typeface="Courier New"/>
                          <a:ea typeface="Courier New"/>
                          <a:cs typeface="Courier New"/>
                        </a:rPr>
                        <a:t>Method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2080"/>
                        </a:lnSpc>
                      </a:pPr>
                      <a:r>
                        <a:rPr sz="1600" b="1" i="0">
                          <a:solidFill>
                            <a:srgbClr val="111111"/>
                          </a:solidFill>
                          <a:latin typeface="Times New Roman"/>
                          <a:ea typeface="Times New Roman"/>
                          <a:cs typeface="Times New Roman"/>
                        </a:rPr>
                        <a:t>Description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508000">
                <a:tc>
                  <a:txBody>
                    <a:bodyPr/>
                    <a:lstStyle/>
                    <a:p>
                      <a:pPr>
                        <a:lnSpc>
                          <a:spcPts val="2080"/>
                        </a:lnSpc>
                      </a:pPr>
                      <a:r>
                        <a:rPr sz="1600" b="0" i="0">
                          <a:solidFill>
                            <a:srgbClr val="111111"/>
                          </a:solidFill>
                          <a:latin typeface="Courier New"/>
                          <a:ea typeface="Courier New"/>
                          <a:cs typeface="Courier New"/>
                        </a:rPr>
                        <a:t>length()</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the number of characters in this string.</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508000">
                <a:tc>
                  <a:txBody>
                    <a:bodyPr/>
                    <a:lstStyle/>
                    <a:p>
                      <a:pPr>
                        <a:lnSpc>
                          <a:spcPts val="2080"/>
                        </a:lnSpc>
                      </a:pPr>
                      <a:r>
                        <a:rPr sz="1600" b="0" i="0">
                          <a:solidFill>
                            <a:srgbClr val="111111"/>
                          </a:solidFill>
                          <a:latin typeface="Courier New"/>
                          <a:ea typeface="Courier New"/>
                          <a:cs typeface="Courier New"/>
                        </a:rPr>
                        <a:t>charAt(index)</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the character at the specified index from this string.</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508000">
                <a:tc>
                  <a:txBody>
                    <a:bodyPr/>
                    <a:lstStyle/>
                    <a:p>
                      <a:pPr>
                        <a:lnSpc>
                          <a:spcPts val="2080"/>
                        </a:lnSpc>
                      </a:pPr>
                      <a:r>
                        <a:rPr sz="1600" b="0" i="0">
                          <a:solidFill>
                            <a:srgbClr val="111111"/>
                          </a:solidFill>
                          <a:latin typeface="Courier New"/>
                          <a:ea typeface="Courier New"/>
                          <a:cs typeface="Courier New"/>
                        </a:rPr>
                        <a:t>concat(s1)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a new string that concatenates this string with string s1.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508000">
                <a:tc>
                  <a:txBody>
                    <a:bodyPr/>
                    <a:lstStyle/>
                    <a:p>
                      <a:pPr>
                        <a:lnSpc>
                          <a:spcPts val="2080"/>
                        </a:lnSpc>
                      </a:pPr>
                      <a:r>
                        <a:rPr sz="1600" b="0" i="0">
                          <a:solidFill>
                            <a:srgbClr val="111111"/>
                          </a:solidFill>
                          <a:latin typeface="Courier New"/>
                          <a:ea typeface="Courier New"/>
                          <a:cs typeface="Courier New"/>
                        </a:rPr>
                        <a:t>toUpperCase()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a new string with all letters in uppercase.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r h="508000">
                <a:tc>
                  <a:txBody>
                    <a:bodyPr/>
                    <a:lstStyle/>
                    <a:p>
                      <a:pPr>
                        <a:lnSpc>
                          <a:spcPts val="2080"/>
                        </a:lnSpc>
                      </a:pPr>
                      <a:r>
                        <a:rPr sz="1600" b="0" i="0">
                          <a:solidFill>
                            <a:srgbClr val="111111"/>
                          </a:solidFill>
                          <a:latin typeface="Courier New"/>
                          <a:ea typeface="Courier New"/>
                          <a:cs typeface="Courier New"/>
                        </a:rPr>
                        <a:t>toLowerCase()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a new string with all letters in lowercase.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5"/>
                  </a:ext>
                </a:extLst>
              </a:tr>
              <a:tr h="508000">
                <a:tc>
                  <a:txBody>
                    <a:bodyPr/>
                    <a:lstStyle/>
                    <a:p>
                      <a:pPr>
                        <a:lnSpc>
                          <a:spcPts val="2080"/>
                        </a:lnSpc>
                      </a:pPr>
                      <a:r>
                        <a:rPr sz="1600" b="0" i="0">
                          <a:solidFill>
                            <a:srgbClr val="111111"/>
                          </a:solidFill>
                          <a:latin typeface="Courier New"/>
                          <a:ea typeface="Courier New"/>
                          <a:cs typeface="Courier New"/>
                        </a:rPr>
                        <a:t>trim()</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2080"/>
                        </a:lnSpc>
                      </a:pPr>
                      <a:r>
                        <a:rPr sz="1600" b="0" i="0">
                          <a:solidFill>
                            <a:srgbClr val="111111"/>
                          </a:solidFill>
                          <a:latin typeface="Times New Roman"/>
                          <a:ea typeface="Times New Roman"/>
                          <a:cs typeface="Times New Roman"/>
                        </a:rPr>
                        <a:t>Returns a new string with whitespace characters trimmed on both sides.</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6"/>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Getting String Length</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B79E6250-2313-44AD-AA24-EE8D6279BD75}" type="slidenum">
              <a:rPr sz="1200" b="0" i="0">
                <a:solidFill>
                  <a:srgbClr val="6B6B6B"/>
                </a:solidFill>
                <a:latin typeface="Source Sans 3"/>
                <a:ea typeface="Source Sans 3"/>
                <a:cs typeface="Source Sans 3"/>
              </a:rPr>
              <a:pPr algn="l">
                <a:lnSpc>
                  <a:spcPts val="1500"/>
                </a:lnSpc>
              </a:pPr>
              <a:t>72</a:t>
            </a:fld>
            <a:endParaRPr sz="1200" b="0" i="0">
              <a:solidFill>
                <a:srgbClr val="6B6B6B"/>
              </a:solidFill>
              <a:latin typeface="Source Sans 3"/>
              <a:ea typeface="Source Sans 3"/>
              <a:cs typeface="Source Sans 3"/>
            </a:endParaRPr>
          </a:p>
        </p:txBody>
      </p:sp>
      <p:sp>
        <p:nvSpPr>
          <p:cNvPr id="4" name="TextBox 3"/>
          <p:cNvSpPr txBox="1"/>
          <p:nvPr/>
        </p:nvSpPr>
        <p:spPr>
          <a:xfrm>
            <a:off x="1079500" y="2032000"/>
            <a:ext cx="9296400" cy="1193800"/>
          </a:xfrm>
          <a:prstGeom prst="rect">
            <a:avLst/>
          </a:prstGeom>
          <a:noFill/>
        </p:spPr>
        <p:txBody>
          <a:bodyPr wrap="square" lIns="0" tIns="0" rIns="0" bIns="0" anchor="t">
            <a:spAutoFit/>
          </a:bodyPr>
          <a:lstStyle/>
          <a:p>
            <a:pPr algn="l">
              <a:lnSpc>
                <a:spcPts val="2800"/>
              </a:lnSpc>
            </a:pPr>
            <a:r>
              <a:rPr sz="2000" b="1" i="0">
                <a:solidFill>
                  <a:srgbClr val="000000"/>
                </a:solidFill>
                <a:latin typeface="Courier New"/>
                <a:ea typeface="Courier New"/>
                <a:cs typeface="Courier New"/>
              </a:rPr>
              <a:t>String message = "Welcome to Java";</a:t>
            </a:r>
          </a:p>
          <a:p>
            <a:pPr algn="l">
              <a:lnSpc>
                <a:spcPts val="2800"/>
              </a:lnSpc>
            </a:pPr>
            <a:r>
              <a:rPr sz="2000" b="1" i="0">
                <a:solidFill>
                  <a:srgbClr val="000000"/>
                </a:solidFill>
                <a:latin typeface="Courier New"/>
                <a:ea typeface="Courier New"/>
                <a:cs typeface="Courier New"/>
              </a:rPr>
              <a:t>System.out.println("The length of " + message + " is "</a:t>
            </a:r>
          </a:p>
          <a:p>
            <a:pPr algn="l">
              <a:lnSpc>
                <a:spcPts val="2800"/>
              </a:lnSpc>
            </a:pPr>
            <a:r>
              <a:rPr sz="2000" b="1" i="0">
                <a:solidFill>
                  <a:srgbClr val="000000"/>
                </a:solidFill>
                <a:latin typeface="Courier New"/>
                <a:ea typeface="Courier New"/>
                <a:cs typeface="Courier New"/>
              </a:rPr>
              <a:t>  + message.length());</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String Concatenation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5C818D8-DAA0-4C12-A541-9963CBE98E89}" type="slidenum">
              <a:rPr sz="1200" b="0" i="0">
                <a:solidFill>
                  <a:srgbClr val="6B6B6B"/>
                </a:solidFill>
                <a:latin typeface="Source Sans 3"/>
                <a:ea typeface="Source Sans 3"/>
                <a:cs typeface="Source Sans 3"/>
              </a:rPr>
              <a:pPr algn="l">
                <a:lnSpc>
                  <a:spcPts val="1500"/>
                </a:lnSpc>
              </a:pPr>
              <a:t>73</a:t>
            </a:fld>
            <a:endParaRPr sz="1200" b="0" i="0">
              <a:solidFill>
                <a:srgbClr val="6B6B6B"/>
              </a:solidFill>
              <a:latin typeface="Source Sans 3"/>
              <a:ea typeface="Source Sans 3"/>
              <a:cs typeface="Source Sans 3"/>
            </a:endParaRPr>
          </a:p>
        </p:txBody>
      </p:sp>
      <p:sp>
        <p:nvSpPr>
          <p:cNvPr id="4" name="TextBox 3"/>
          <p:cNvSpPr txBox="1"/>
          <p:nvPr/>
        </p:nvSpPr>
        <p:spPr>
          <a:xfrm>
            <a:off x="1079500" y="1333500"/>
            <a:ext cx="8450580" cy="314960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String s3 = s1.concat(s2); or String s3 = s1 + s2;</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 Three strings are concatenated</a:t>
            </a:r>
          </a:p>
          <a:p>
            <a:pPr algn="l">
              <a:lnSpc>
                <a:spcPts val="2379"/>
              </a:lnSpc>
            </a:pPr>
            <a:r>
              <a:rPr sz="1700" b="1" i="0">
                <a:solidFill>
                  <a:srgbClr val="000000"/>
                </a:solidFill>
                <a:latin typeface="Courier New"/>
                <a:ea typeface="Courier New"/>
                <a:cs typeface="Courier New"/>
              </a:rPr>
              <a:t>String message = "Welcome " + "to " + "Java";</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 String Chapter is concatenated with number 2</a:t>
            </a:r>
          </a:p>
          <a:p>
            <a:pPr algn="l">
              <a:lnSpc>
                <a:spcPts val="2379"/>
              </a:lnSpc>
            </a:pPr>
            <a:r>
              <a:rPr sz="1700" b="1" i="0">
                <a:solidFill>
                  <a:srgbClr val="000000"/>
                </a:solidFill>
                <a:latin typeface="Courier New"/>
                <a:ea typeface="Courier New"/>
                <a:cs typeface="Courier New"/>
              </a:rPr>
              <a:t>String s = "Chapter" + 2; // s becomes Chapter2</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 String Supplement is concatenated with character B</a:t>
            </a:r>
          </a:p>
          <a:p>
            <a:pPr algn="l">
              <a:lnSpc>
                <a:spcPts val="2379"/>
              </a:lnSpc>
            </a:pPr>
            <a:r>
              <a:rPr sz="1700" b="1" i="0">
                <a:solidFill>
                  <a:srgbClr val="000000"/>
                </a:solidFill>
                <a:latin typeface="Courier New"/>
                <a:ea typeface="Courier New"/>
                <a:cs typeface="Courier New"/>
              </a:rPr>
              <a:t>String s1 = "Supplement" + 'B'; // s1 becomes SupplementB</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Comparing Strings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3CA992B-7968-4A1C-A3A5-452F0BA89BBA}" type="slidenum">
              <a:rPr sz="1200" b="0" i="0">
                <a:solidFill>
                  <a:srgbClr val="6B6B6B"/>
                </a:solidFill>
                <a:latin typeface="Source Sans 3"/>
                <a:ea typeface="Source Sans 3"/>
                <a:cs typeface="Source Sans 3"/>
              </a:rPr>
              <a:pPr algn="l">
                <a:lnSpc>
                  <a:spcPts val="1500"/>
                </a:lnSpc>
              </a:pPr>
              <a:t>74</a:t>
            </a:fld>
            <a:endParaRPr sz="1200" b="0" i="0">
              <a:solidFill>
                <a:srgbClr val="6B6B6B"/>
              </a:solidFill>
              <a:latin typeface="Source Sans 3"/>
              <a:ea typeface="Source Sans 3"/>
              <a:cs typeface="Source Sans 3"/>
            </a:endParaRPr>
          </a:p>
        </p:txBody>
      </p:sp>
      <p:graphicFrame>
        <p:nvGraphicFramePr>
          <p:cNvPr id="4" name="Table 3"/>
          <p:cNvGraphicFramePr>
            <a:graphicFrameLocks noGrp="1"/>
          </p:cNvGraphicFramePr>
          <p:nvPr/>
        </p:nvGraphicFramePr>
        <p:xfrm>
          <a:off x="952500" y="1206500"/>
          <a:ext cx="10287000" cy="3845560"/>
        </p:xfrm>
        <a:graphic>
          <a:graphicData uri="http://schemas.openxmlformats.org/drawingml/2006/table">
            <a:tbl>
              <a:tblPr/>
              <a:tblGrid>
                <a:gridCol w="3175000">
                  <a:extLst>
                    <a:ext uri="{9D8B030D-6E8A-4147-A177-3AD203B41FA5}">
                      <a16:colId xmlns:a16="http://schemas.microsoft.com/office/drawing/2014/main" xmlns="" val="20000"/>
                    </a:ext>
                  </a:extLst>
                </a:gridCol>
                <a:gridCol w="7112000">
                  <a:extLst>
                    <a:ext uri="{9D8B030D-6E8A-4147-A177-3AD203B41FA5}">
                      <a16:colId xmlns:a16="http://schemas.microsoft.com/office/drawing/2014/main" xmlns="" val="20001"/>
                    </a:ext>
                  </a:extLst>
                </a:gridCol>
              </a:tblGrid>
              <a:tr h="457200">
                <a:tc>
                  <a:txBody>
                    <a:bodyPr/>
                    <a:lstStyle/>
                    <a:p>
                      <a:pPr>
                        <a:lnSpc>
                          <a:spcPts val="1950"/>
                        </a:lnSpc>
                      </a:pPr>
                      <a:r>
                        <a:rPr sz="1500" b="1" i="0">
                          <a:solidFill>
                            <a:srgbClr val="111111"/>
                          </a:solidFill>
                          <a:latin typeface="Courier New"/>
                          <a:ea typeface="Courier New"/>
                          <a:cs typeface="Courier New"/>
                        </a:rPr>
                        <a:t>Method</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tc>
                  <a:txBody>
                    <a:bodyPr/>
                    <a:lstStyle/>
                    <a:p>
                      <a:pPr>
                        <a:lnSpc>
                          <a:spcPts val="1950"/>
                        </a:lnSpc>
                      </a:pPr>
                      <a:r>
                        <a:rPr sz="1500" b="1" i="0">
                          <a:solidFill>
                            <a:srgbClr val="111111"/>
                          </a:solidFill>
                          <a:latin typeface="Times New Roman"/>
                          <a:ea typeface="Times New Roman"/>
                          <a:cs typeface="Times New Roman"/>
                        </a:rPr>
                        <a:t>Description</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ECECEC"/>
                    </a:solidFill>
                  </a:tcPr>
                </a:tc>
                <a:extLst>
                  <a:ext uri="{0D108BD9-81ED-4DB2-BD59-A6C34878D82A}">
                    <a16:rowId xmlns:a16="http://schemas.microsoft.com/office/drawing/2014/main" xmlns="" val="10000"/>
                  </a:ext>
                </a:extLst>
              </a:tr>
              <a:tr h="457200">
                <a:tc>
                  <a:txBody>
                    <a:bodyPr/>
                    <a:lstStyle/>
                    <a:p>
                      <a:pPr>
                        <a:lnSpc>
                          <a:spcPts val="1950"/>
                        </a:lnSpc>
                      </a:pPr>
                      <a:r>
                        <a:rPr sz="1500" b="0" i="0">
                          <a:solidFill>
                            <a:srgbClr val="111111"/>
                          </a:solidFill>
                          <a:latin typeface="Courier New"/>
                          <a:ea typeface="Courier New"/>
                          <a:cs typeface="Courier New"/>
                        </a:rPr>
                        <a:t>equals(s1)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Times New Roman"/>
                          <a:ea typeface="Times New Roman"/>
                          <a:cs typeface="Times New Roman"/>
                        </a:rPr>
                        <a:t>Returns true if this string is equal to string s1.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1"/>
                  </a:ext>
                </a:extLst>
              </a:tr>
              <a:tr h="457200">
                <a:tc>
                  <a:txBody>
                    <a:bodyPr/>
                    <a:lstStyle/>
                    <a:p>
                      <a:pPr>
                        <a:lnSpc>
                          <a:spcPts val="1950"/>
                        </a:lnSpc>
                      </a:pPr>
                      <a:r>
                        <a:rPr sz="1500" b="0" i="0">
                          <a:solidFill>
                            <a:srgbClr val="111111"/>
                          </a:solidFill>
                          <a:latin typeface="Courier New"/>
                          <a:ea typeface="Courier New"/>
                          <a:cs typeface="Courier New"/>
                        </a:rPr>
                        <a:t>equalsIgnoreCase(s1)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Times New Roman"/>
                          <a:ea typeface="Times New Roman"/>
                          <a:cs typeface="Times New Roman"/>
                        </a:rPr>
                        <a:t>Returns true if this string is equal to string s1; it is case insensitive.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2"/>
                  </a:ext>
                </a:extLst>
              </a:tr>
              <a:tr h="457200">
                <a:tc>
                  <a:txBody>
                    <a:bodyPr/>
                    <a:lstStyle/>
                    <a:p>
                      <a:pPr>
                        <a:lnSpc>
                          <a:spcPts val="1950"/>
                        </a:lnSpc>
                      </a:pPr>
                      <a:r>
                        <a:rPr sz="1500" b="0" i="0">
                          <a:solidFill>
                            <a:srgbClr val="111111"/>
                          </a:solidFill>
                          <a:latin typeface="Courier New"/>
                          <a:ea typeface="Courier New"/>
                          <a:cs typeface="Courier New"/>
                        </a:rPr>
                        <a:t>compareTo(s1)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Times New Roman"/>
                          <a:ea typeface="Times New Roman"/>
                          <a:cs typeface="Times New Roman"/>
                        </a:rPr>
                        <a:t>Returns an integer greater than 0, equal to 0, or less than 0 to indicate whether this string is greater than, equal to, or less than s1.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3"/>
                  </a:ext>
                </a:extLst>
              </a:tr>
              <a:tr h="457200">
                <a:tc>
                  <a:txBody>
                    <a:bodyPr/>
                    <a:lstStyle/>
                    <a:p>
                      <a:pPr>
                        <a:lnSpc>
                          <a:spcPts val="1950"/>
                        </a:lnSpc>
                      </a:pPr>
                      <a:r>
                        <a:rPr sz="1500" b="0" i="0">
                          <a:solidFill>
                            <a:srgbClr val="111111"/>
                          </a:solidFill>
                          <a:latin typeface="Courier New"/>
                          <a:ea typeface="Courier New"/>
                          <a:cs typeface="Courier New"/>
                        </a:rPr>
                        <a:t>compareToIgnoreCase(s1)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Times New Roman"/>
                          <a:ea typeface="Times New Roman"/>
                          <a:cs typeface="Times New Roman"/>
                        </a:rPr>
                        <a:t>Same as compareTo except that the comparison is case insensitive.</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4"/>
                  </a:ext>
                </a:extLst>
              </a:tr>
              <a:tr h="457200">
                <a:tc>
                  <a:txBody>
                    <a:bodyPr/>
                    <a:lstStyle/>
                    <a:p>
                      <a:pPr>
                        <a:lnSpc>
                          <a:spcPts val="1950"/>
                        </a:lnSpc>
                      </a:pPr>
                      <a:r>
                        <a:rPr sz="1500" b="0" i="0">
                          <a:solidFill>
                            <a:srgbClr val="111111"/>
                          </a:solidFill>
                          <a:latin typeface="Courier New"/>
                          <a:ea typeface="Courier New"/>
                          <a:cs typeface="Courier New"/>
                        </a:rPr>
                        <a:t>startsWith(prefix)</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Times New Roman"/>
                          <a:ea typeface="Times New Roman"/>
                          <a:cs typeface="Times New Roman"/>
                        </a:rPr>
                        <a:t>Returns true if this string starts with the specified prefix.</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5"/>
                  </a:ext>
                </a:extLst>
              </a:tr>
              <a:tr h="457200">
                <a:tc>
                  <a:txBody>
                    <a:bodyPr/>
                    <a:lstStyle/>
                    <a:p>
                      <a:pPr>
                        <a:lnSpc>
                          <a:spcPts val="1950"/>
                        </a:lnSpc>
                      </a:pPr>
                      <a:r>
                        <a:rPr sz="1500" b="0" i="0">
                          <a:solidFill>
                            <a:srgbClr val="111111"/>
                          </a:solidFill>
                          <a:latin typeface="Courier New"/>
                          <a:ea typeface="Courier New"/>
                          <a:cs typeface="Courier New"/>
                        </a:rPr>
                        <a:t>endsWith(suffix)</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Times New Roman"/>
                          <a:ea typeface="Times New Roman"/>
                          <a:cs typeface="Times New Roman"/>
                        </a:rPr>
                        <a:t>Returns true if this string ends with the specified suffix.</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6"/>
                  </a:ext>
                </a:extLst>
              </a:tr>
              <a:tr h="457200">
                <a:tc>
                  <a:txBody>
                    <a:bodyPr/>
                    <a:lstStyle/>
                    <a:p>
                      <a:pPr>
                        <a:lnSpc>
                          <a:spcPts val="1950"/>
                        </a:lnSpc>
                      </a:pPr>
                      <a:r>
                        <a:rPr sz="1500" b="0" i="0">
                          <a:solidFill>
                            <a:srgbClr val="111111"/>
                          </a:solidFill>
                          <a:latin typeface="Courier New"/>
                          <a:ea typeface="Courier New"/>
                          <a:cs typeface="Courier New"/>
                        </a:rPr>
                        <a:t>==</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tc>
                  <a:txBody>
                    <a:bodyPr/>
                    <a:lstStyle/>
                    <a:p>
                      <a:pPr>
                        <a:lnSpc>
                          <a:spcPts val="1950"/>
                        </a:lnSpc>
                      </a:pPr>
                      <a:r>
                        <a:rPr sz="1500" b="0" i="0">
                          <a:solidFill>
                            <a:srgbClr val="111111"/>
                          </a:solidFill>
                          <a:latin typeface="Times New Roman"/>
                          <a:ea typeface="Times New Roman"/>
                          <a:cs typeface="Times New Roman"/>
                        </a:rPr>
                        <a:t>Never use == to compare strings: it compares references, not content. Use equals(s1).</a:t>
                      </a:r>
                    </a:p>
                  </a:txBody>
                  <a:tcPr marL="101600" marR="101600" marT="68580" marB="68580">
                    <a:lnL w="12700">
                      <a:solidFill>
                        <a:srgbClr val="BCBCBC"/>
                      </a:solidFill>
                    </a:lnL>
                    <a:lnR w="12700">
                      <a:solidFill>
                        <a:srgbClr val="BCBCBC"/>
                      </a:solidFill>
                    </a:lnR>
                    <a:lnT w="12700">
                      <a:solidFill>
                        <a:srgbClr val="BCBCBC"/>
                      </a:solidFill>
                    </a:lnT>
                    <a:lnB w="12700">
                      <a:solidFill>
                        <a:srgbClr val="BCBCBC"/>
                      </a:solidFill>
                    </a:lnB>
                    <a:solidFill>
                      <a:srgbClr val="FFFFFF"/>
                    </a:solidFill>
                  </a:tcPr>
                </a:tc>
                <a:extLst>
                  <a:ext uri="{0D108BD9-81ED-4DB2-BD59-A6C34878D82A}">
                    <a16:rowId xmlns:a16="http://schemas.microsoft.com/office/drawing/2014/main" xmlns="" val="10006"/>
                  </a:ext>
                </a:extLst>
              </a:tr>
            </a:tbl>
          </a:graphicData>
        </a:graphic>
      </p:graphicFrame>
      <p:sp>
        <p:nvSpPr>
          <p:cNvPr id="5" name="Rounded Rectangle 4"/>
          <p:cNvSpPr/>
          <p:nvPr/>
        </p:nvSpPr>
        <p:spPr>
          <a:xfrm>
            <a:off x="9354820" y="5732780"/>
            <a:ext cx="188468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OrderTwoCities</a:t>
            </a:r>
            <a:endParaRPr sz="1400" b="1" i="0">
              <a:solidFill>
                <a:srgbClr val="222222"/>
              </a:solidFill>
              <a:latin typeface="Source Sans 3"/>
              <a:ea typeface="Source Sans 3"/>
              <a:cs typeface="Source Sans 3"/>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900680"/>
            <a:ext cx="10883900" cy="768350"/>
          </a:xfrm>
        </p:spPr>
        <p:txBody>
          <a:bodyPr lIns="0" tIns="0" rIns="0" bIns="0" anchor="t"/>
          <a:lstStyle/>
          <a:p>
            <a:pPr algn="l">
              <a:lnSpc>
                <a:spcPts val="5775"/>
              </a:lnSpc>
            </a:pPr>
            <a:r>
              <a:rPr sz="5500" b="0" i="0">
                <a:solidFill>
                  <a:srgbClr val="222222"/>
                </a:solidFill>
                <a:latin typeface="Times New Roman"/>
                <a:ea typeface="Times New Roman"/>
                <a:cs typeface="Times New Roman"/>
              </a:rPr>
              <a:t>Loops</a:t>
            </a:r>
          </a:p>
        </p:txBody>
      </p:sp>
      <p:sp>
        <p:nvSpPr>
          <p:cNvPr id="3" name="TextBox 2"/>
          <p:cNvSpPr txBox="1"/>
          <p:nvPr/>
        </p:nvSpPr>
        <p:spPr>
          <a:xfrm>
            <a:off x="812800" y="2456180"/>
            <a:ext cx="10883900" cy="292100"/>
          </a:xfrm>
          <a:prstGeom prst="rect">
            <a:avLst/>
          </a:prstGeom>
          <a:noFill/>
        </p:spPr>
        <p:txBody>
          <a:bodyPr wrap="square" lIns="0" tIns="0" rIns="0" bIns="0" anchor="t">
            <a:spAutoFit/>
          </a:bodyPr>
          <a:lstStyle/>
          <a:p>
            <a:pPr algn="l">
              <a:lnSpc>
                <a:spcPts val="1875"/>
              </a:lnSpc>
            </a:pPr>
            <a:r>
              <a:rPr sz="1500" b="1" i="0">
                <a:solidFill>
                  <a:srgbClr val="B5500F"/>
                </a:solidFill>
                <a:latin typeface="Source Sans 3"/>
                <a:ea typeface="Source Sans 3"/>
                <a:cs typeface="Source Sans 3"/>
              </a:rPr>
              <a:t>Java basics</a:t>
            </a:r>
          </a:p>
        </p:txBody>
      </p:sp>
      <p:sp>
        <p:nvSpPr>
          <p:cNvPr id="4" name="Rectangle 3"/>
          <p:cNvSpPr/>
          <p:nvPr/>
        </p:nvSpPr>
        <p:spPr>
          <a:xfrm>
            <a:off x="812800" y="3811905"/>
            <a:ext cx="1524000" cy="38100"/>
          </a:xfrm>
          <a:prstGeom prst="rect">
            <a:avLst/>
          </a:prstGeom>
          <a:solidFill>
            <a:srgbClr val="E87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2D2C097-A2FB-4719-AD17-08F62FCC5FE8}" type="slidenum">
              <a:rPr sz="1200" b="0" i="0">
                <a:solidFill>
                  <a:srgbClr val="6B6B6B"/>
                </a:solidFill>
                <a:latin typeface="Source Sans 3"/>
                <a:ea typeface="Source Sans 3"/>
                <a:cs typeface="Source Sans 3"/>
              </a:rPr>
              <a:pPr algn="l">
                <a:lnSpc>
                  <a:spcPts val="1500"/>
                </a:lnSpc>
              </a:pPr>
              <a:t>75</a:t>
            </a:fld>
            <a:endParaRPr sz="1200" b="0" i="0">
              <a:solidFill>
                <a:srgbClr val="6B6B6B"/>
              </a:solidFill>
              <a:latin typeface="Source Sans 3"/>
              <a:ea typeface="Source Sans 3"/>
              <a:cs typeface="Source Sans 3"/>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8DACE20-68F8-4831-BD8D-0C11678B6CAE}" type="slidenum">
              <a:rPr sz="1200" b="0" i="0">
                <a:solidFill>
                  <a:srgbClr val="6B6B6B"/>
                </a:solidFill>
                <a:latin typeface="Source Sans 3"/>
                <a:ea typeface="Source Sans 3"/>
                <a:cs typeface="Source Sans 3"/>
              </a:rPr>
              <a:pPr algn="l">
                <a:lnSpc>
                  <a:spcPts val="1500"/>
                </a:lnSpc>
              </a:pPr>
              <a:t>76</a:t>
            </a:fld>
            <a:endParaRPr sz="1200" b="0" i="0">
              <a:solidFill>
                <a:srgbClr val="6B6B6B"/>
              </a:solidFill>
              <a:latin typeface="Source Sans 3"/>
              <a:ea typeface="Source Sans 3"/>
              <a:cs typeface="Source Sans 3"/>
            </a:endParaRPr>
          </a:p>
        </p:txBody>
      </p:sp>
      <p:sp>
        <p:nvSpPr>
          <p:cNvPr id="4" name="TextBox 3"/>
          <p:cNvSpPr txBox="1"/>
          <p:nvPr/>
        </p:nvSpPr>
        <p:spPr>
          <a:xfrm>
            <a:off x="952499" y="821778"/>
            <a:ext cx="9546167" cy="384721"/>
          </a:xfrm>
          <a:prstGeom prst="rect">
            <a:avLst/>
          </a:prstGeom>
          <a:noFill/>
        </p:spPr>
        <p:txBody>
          <a:bodyPr wrap="square" lIns="0" tIns="0" rIns="0" bIns="0" anchor="t">
            <a:spAutoFit/>
          </a:bodyPr>
          <a:lstStyle/>
          <a:p>
            <a:pPr algn="l">
              <a:lnSpc>
                <a:spcPts val="3000"/>
              </a:lnSpc>
            </a:pPr>
            <a:r>
              <a:rPr sz="2400" b="0" i="0">
                <a:solidFill>
                  <a:srgbClr val="111111"/>
                </a:solidFill>
                <a:latin typeface="Times New Roman"/>
                <a:ea typeface="Times New Roman"/>
                <a:cs typeface="Times New Roman"/>
              </a:rPr>
              <a:t>Problem</a:t>
            </a:r>
            <a:r>
              <a:rPr sz="2400" b="0" i="0" smtClean="0">
                <a:solidFill>
                  <a:srgbClr val="111111"/>
                </a:solidFill>
                <a:latin typeface="Times New Roman"/>
                <a:ea typeface="Times New Roman"/>
                <a:cs typeface="Times New Roman"/>
              </a:rPr>
              <a:t>:</a:t>
            </a:r>
            <a:r>
              <a:rPr lang="en-US" sz="2400" b="0" i="0" dirty="0" smtClean="0">
                <a:solidFill>
                  <a:srgbClr val="111111"/>
                </a:solidFill>
                <a:latin typeface="Times New Roman"/>
                <a:ea typeface="Times New Roman"/>
                <a:cs typeface="Times New Roman"/>
              </a:rPr>
              <a:t> Printing “Welcome to Java” 100 times  </a:t>
            </a:r>
            <a:endParaRPr sz="2400" b="0" i="0">
              <a:solidFill>
                <a:srgbClr val="111111"/>
              </a:solidFill>
              <a:latin typeface="Times New Roman"/>
              <a:ea typeface="Times New Roman"/>
              <a:cs typeface="Times New Roman"/>
            </a:endParaRPr>
          </a:p>
        </p:txBody>
      </p:sp>
      <p:sp>
        <p:nvSpPr>
          <p:cNvPr id="5" name="TextBox 4"/>
          <p:cNvSpPr txBox="1"/>
          <p:nvPr/>
        </p:nvSpPr>
        <p:spPr>
          <a:xfrm>
            <a:off x="3937000" y="1651000"/>
            <a:ext cx="5524500" cy="3327400"/>
          </a:xfrm>
          <a:prstGeom prst="rect">
            <a:avLst/>
          </a:prstGeom>
          <a:noFill/>
        </p:spPr>
        <p:txBody>
          <a:bodyPr wrap="square" lIns="0" tIns="0" rIns="0" bIns="0" anchor="t">
            <a:spAutoFit/>
          </a:bodyPr>
          <a:lstStyle/>
          <a:p>
            <a:pPr algn="l">
              <a:lnSpc>
                <a:spcPts val="2100"/>
              </a:lnSpc>
            </a:pPr>
            <a:r>
              <a:rPr sz="1500" b="1" i="0">
                <a:solidFill>
                  <a:srgbClr val="000000"/>
                </a:solidFill>
                <a:latin typeface="Courier New"/>
                <a:ea typeface="Courier New"/>
                <a:cs typeface="Courier New"/>
              </a:rPr>
              <a:t>System.out.println("Welcome to Java!");</a:t>
            </a:r>
          </a:p>
          <a:p>
            <a:pPr algn="l">
              <a:lnSpc>
                <a:spcPts val="2100"/>
              </a:lnSpc>
            </a:pPr>
            <a:r>
              <a:rPr sz="1500" b="1" i="0">
                <a:solidFill>
                  <a:srgbClr val="000000"/>
                </a:solidFill>
                <a:latin typeface="Courier New"/>
                <a:ea typeface="Courier New"/>
                <a:cs typeface="Courier New"/>
              </a:rPr>
              <a:t>System.out.println("Welcome to Java!");</a:t>
            </a:r>
          </a:p>
          <a:p>
            <a:pPr algn="l">
              <a:lnSpc>
                <a:spcPts val="2100"/>
              </a:lnSpc>
            </a:pPr>
            <a:r>
              <a:rPr sz="1500" b="1" i="0">
                <a:solidFill>
                  <a:srgbClr val="000000"/>
                </a:solidFill>
                <a:latin typeface="Courier New"/>
                <a:ea typeface="Courier New"/>
                <a:cs typeface="Courier New"/>
              </a:rPr>
              <a:t>System.out.println("Welcome to Java!");</a:t>
            </a:r>
          </a:p>
          <a:p>
            <a:pPr algn="l">
              <a:lnSpc>
                <a:spcPts val="2100"/>
              </a:lnSpc>
            </a:pPr>
            <a:r>
              <a:rPr sz="1500" b="1" i="0">
                <a:solidFill>
                  <a:srgbClr val="000000"/>
                </a:solidFill>
                <a:latin typeface="Courier New"/>
                <a:ea typeface="Courier New"/>
                <a:cs typeface="Courier New"/>
              </a:rPr>
              <a:t>System.out.println("Welcome to Java!");</a:t>
            </a:r>
          </a:p>
          <a:p>
            <a:pPr algn="l">
              <a:lnSpc>
                <a:spcPts val="2100"/>
              </a:lnSpc>
            </a:pPr>
            <a:r>
              <a:rPr sz="1500" b="1" i="0">
                <a:solidFill>
                  <a:srgbClr val="000000"/>
                </a:solidFill>
                <a:latin typeface="Courier New"/>
                <a:ea typeface="Courier New"/>
                <a:cs typeface="Courier New"/>
              </a:rPr>
              <a:t>System.out.println("Welcome to Java!");</a:t>
            </a:r>
          </a:p>
          <a:p>
            <a:pPr algn="l">
              <a:lnSpc>
                <a:spcPts val="2100"/>
              </a:lnSpc>
            </a:pPr>
            <a:r>
              <a:rPr sz="1500" b="1" i="0">
                <a:solidFill>
                  <a:srgbClr val="000000"/>
                </a:solidFill>
                <a:latin typeface="Courier New"/>
                <a:ea typeface="Courier New"/>
                <a:cs typeface="Courier New"/>
              </a:rPr>
              <a:t>System.out.println("Welcome to Java!");</a:t>
            </a:r>
          </a:p>
          <a:p>
            <a:pPr algn="l">
              <a:lnSpc>
                <a:spcPts val="2100"/>
              </a:lnSpc>
            </a:pPr>
            <a:r>
              <a:rPr sz="1500" b="1" i="0">
                <a:solidFill>
                  <a:srgbClr val="000000"/>
                </a:solidFill>
                <a:latin typeface="Courier New"/>
                <a:ea typeface="Courier New"/>
                <a:cs typeface="Courier New"/>
              </a:rPr>
              <a:t>...</a:t>
            </a:r>
          </a:p>
          <a:p>
            <a:pPr algn="l">
              <a:lnSpc>
                <a:spcPts val="2100"/>
              </a:lnSpc>
            </a:pPr>
            <a:r>
              <a:rPr sz="1500" b="1" i="0">
                <a:solidFill>
                  <a:srgbClr val="000000"/>
                </a:solidFill>
                <a:latin typeface="Courier New"/>
                <a:ea typeface="Courier New"/>
                <a:cs typeface="Courier New"/>
              </a:rPr>
              <a:t>...</a:t>
            </a:r>
          </a:p>
          <a:p>
            <a:pPr algn="l">
              <a:lnSpc>
                <a:spcPts val="2100"/>
              </a:lnSpc>
            </a:pPr>
            <a:r>
              <a:rPr sz="1500" b="1" i="0">
                <a:solidFill>
                  <a:srgbClr val="000000"/>
                </a:solidFill>
                <a:latin typeface="Courier New"/>
                <a:ea typeface="Courier New"/>
                <a:cs typeface="Courier New"/>
              </a:rPr>
              <a:t>...</a:t>
            </a:r>
          </a:p>
          <a:p>
            <a:pPr algn="l">
              <a:lnSpc>
                <a:spcPts val="2100"/>
              </a:lnSpc>
            </a:pPr>
            <a:r>
              <a:rPr sz="1500" b="1" i="0">
                <a:solidFill>
                  <a:srgbClr val="000000"/>
                </a:solidFill>
                <a:latin typeface="Courier New"/>
                <a:ea typeface="Courier New"/>
                <a:cs typeface="Courier New"/>
              </a:rPr>
              <a:t>System.out.println("Welcome to Java!");</a:t>
            </a:r>
          </a:p>
          <a:p>
            <a:pPr algn="l">
              <a:lnSpc>
                <a:spcPts val="2100"/>
              </a:lnSpc>
            </a:pPr>
            <a:r>
              <a:rPr sz="1500" b="1" i="0">
                <a:solidFill>
                  <a:srgbClr val="000000"/>
                </a:solidFill>
                <a:latin typeface="Courier New"/>
                <a:ea typeface="Courier New"/>
                <a:cs typeface="Courier New"/>
              </a:rPr>
              <a:t>System.out.println("Welcome to Java!");</a:t>
            </a:r>
          </a:p>
          <a:p>
            <a:pPr algn="l">
              <a:lnSpc>
                <a:spcPts val="2100"/>
              </a:lnSpc>
            </a:pPr>
            <a:r>
              <a:rPr sz="1500" b="1" i="0">
                <a:solidFill>
                  <a:srgbClr val="000000"/>
                </a:solidFill>
                <a:latin typeface="Courier New"/>
                <a:ea typeface="Courier New"/>
                <a:cs typeface="Courier New"/>
              </a:rPr>
              <a:t>System.out.println("Welcome to Java!");</a:t>
            </a:r>
          </a:p>
        </p:txBody>
      </p:sp>
      <p:sp>
        <p:nvSpPr>
          <p:cNvPr id="6" name="TextBox 5"/>
          <p:cNvSpPr txBox="1"/>
          <p:nvPr/>
        </p:nvSpPr>
        <p:spPr>
          <a:xfrm>
            <a:off x="2349500" y="2933700"/>
            <a:ext cx="1143000" cy="762000"/>
          </a:xfrm>
          <a:prstGeom prst="rect">
            <a:avLst/>
          </a:prstGeom>
          <a:noFill/>
        </p:spPr>
        <p:txBody>
          <a:bodyPr wrap="square" lIns="0" tIns="0" rIns="0" bIns="0" anchor="t">
            <a:spAutoFit/>
          </a:bodyPr>
          <a:lstStyle/>
          <a:p>
            <a:pPr algn="ctr">
              <a:lnSpc>
                <a:spcPts val="2250"/>
              </a:lnSpc>
            </a:pPr>
            <a:r>
              <a:rPr sz="1800" b="1" i="0">
                <a:solidFill>
                  <a:srgbClr val="111111"/>
                </a:solidFill>
                <a:latin typeface="Courier New"/>
                <a:ea typeface="Courier New"/>
                <a:cs typeface="Courier New"/>
              </a:rPr>
              <a:t>100</a:t>
            </a:r>
          </a:p>
          <a:p>
            <a:pPr algn="ctr">
              <a:lnSpc>
                <a:spcPts val="2250"/>
              </a:lnSpc>
            </a:pPr>
            <a:r>
              <a:rPr sz="1800" b="1" i="0">
                <a:solidFill>
                  <a:srgbClr val="111111"/>
                </a:solidFill>
                <a:latin typeface="Courier New"/>
                <a:ea typeface="Courier New"/>
                <a:cs typeface="Courier New"/>
              </a:rPr>
              <a:t>times</a:t>
            </a:r>
          </a:p>
        </p:txBody>
      </p:sp>
      <p:sp>
        <p:nvSpPr>
          <p:cNvPr id="7" name="Left Brace 6"/>
          <p:cNvSpPr/>
          <p:nvPr/>
        </p:nvSpPr>
        <p:spPr>
          <a:xfrm>
            <a:off x="3556000" y="1625600"/>
            <a:ext cx="177800" cy="3200400"/>
          </a:xfrm>
          <a:prstGeom prst="leftBrace">
            <a:avLst/>
          </a:prstGeom>
          <a:noFill/>
          <a:ln w="127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Courier New"/>
                <a:ea typeface="Courier New"/>
                <a:cs typeface="Courier New"/>
              </a:rPr>
              <a:t>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3224434-317F-4798-ACBB-1D833DCDD1B0}" type="slidenum">
              <a:rPr sz="1200" b="0" i="0">
                <a:solidFill>
                  <a:srgbClr val="6B6B6B"/>
                </a:solidFill>
                <a:latin typeface="Source Sans 3"/>
                <a:ea typeface="Source Sans 3"/>
                <a:cs typeface="Source Sans 3"/>
              </a:rPr>
              <a:pPr algn="l">
                <a:lnSpc>
                  <a:spcPts val="1500"/>
                </a:lnSpc>
              </a:pPr>
              <a:t>77</a:t>
            </a:fld>
            <a:endParaRPr sz="1200" b="0" i="0">
              <a:solidFill>
                <a:srgbClr val="6B6B6B"/>
              </a:solidFill>
              <a:latin typeface="Source Sans 3"/>
              <a:ea typeface="Source Sans 3"/>
              <a:cs typeface="Source Sans 3"/>
            </a:endParaRPr>
          </a:p>
        </p:txBody>
      </p:sp>
      <p:sp>
        <p:nvSpPr>
          <p:cNvPr id="4" name="TextBox 3"/>
          <p:cNvSpPr txBox="1"/>
          <p:nvPr/>
        </p:nvSpPr>
        <p:spPr>
          <a:xfrm>
            <a:off x="1079500" y="1295400"/>
            <a:ext cx="5577840" cy="126492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while (loop-continuation-condition) {</a:t>
            </a:r>
          </a:p>
          <a:p>
            <a:pPr algn="l">
              <a:lnSpc>
                <a:spcPts val="2240"/>
              </a:lnSpc>
            </a:pPr>
            <a:r>
              <a:rPr sz="1600" b="1" i="0">
                <a:solidFill>
                  <a:srgbClr val="000000"/>
                </a:solidFill>
                <a:latin typeface="Courier New"/>
                <a:ea typeface="Courier New"/>
                <a:cs typeface="Courier New"/>
              </a:rPr>
              <a:t>  // loop-body;</a:t>
            </a:r>
          </a:p>
          <a:p>
            <a:pPr algn="l">
              <a:lnSpc>
                <a:spcPts val="2240"/>
              </a:lnSpc>
            </a:pPr>
            <a:r>
              <a:rPr sz="1600" b="1" i="0">
                <a:solidFill>
                  <a:srgbClr val="000000"/>
                </a:solidFill>
                <a:latin typeface="Courier New"/>
                <a:ea typeface="Courier New"/>
                <a:cs typeface="Courier New"/>
              </a:rPr>
              <a:t>  Statement(s);</a:t>
            </a:r>
          </a:p>
          <a:p>
            <a:pPr algn="l">
              <a:lnSpc>
                <a:spcPts val="2240"/>
              </a:lnSpc>
            </a:pPr>
            <a:r>
              <a:rPr sz="1600" b="1" i="0">
                <a:solidFill>
                  <a:srgbClr val="000000"/>
                </a:solidFill>
                <a:latin typeface="Courier New"/>
                <a:ea typeface="Courier New"/>
                <a:cs typeface="Courier New"/>
              </a:rPr>
              <a:t>}</a:t>
            </a:r>
          </a:p>
        </p:txBody>
      </p:sp>
      <p:sp>
        <p:nvSpPr>
          <p:cNvPr id="5" name="TextBox 4"/>
          <p:cNvSpPr txBox="1"/>
          <p:nvPr/>
        </p:nvSpPr>
        <p:spPr>
          <a:xfrm>
            <a:off x="6731000" y="1295400"/>
            <a:ext cx="6065520" cy="154940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int count = 0;</a:t>
            </a:r>
          </a:p>
          <a:p>
            <a:pPr algn="l">
              <a:lnSpc>
                <a:spcPts val="2240"/>
              </a:lnSpc>
            </a:pPr>
            <a:r>
              <a:rPr sz="1600" b="1" i="0">
                <a:solidFill>
                  <a:srgbClr val="000000"/>
                </a:solidFill>
                <a:latin typeface="Courier New"/>
                <a:ea typeface="Courier New"/>
                <a:cs typeface="Courier New"/>
              </a:rPr>
              <a:t>while (count &lt; 100) {</a:t>
            </a:r>
          </a:p>
          <a:p>
            <a:pPr algn="l">
              <a:lnSpc>
                <a:spcPts val="2240"/>
              </a:lnSpc>
            </a:pPr>
            <a:r>
              <a:rPr sz="1600" b="1" i="0">
                <a:solidFill>
                  <a:srgbClr val="000000"/>
                </a:solidFill>
                <a:latin typeface="Courier New"/>
                <a:ea typeface="Courier New"/>
                <a:cs typeface="Courier New"/>
              </a:rPr>
              <a:t>  System.out.println("Welcome to Java!");</a:t>
            </a:r>
          </a:p>
          <a:p>
            <a:pPr algn="l">
              <a:lnSpc>
                <a:spcPts val="2240"/>
              </a:lnSpc>
            </a:pPr>
            <a:r>
              <a:rPr sz="1600" b="1" i="0">
                <a:solidFill>
                  <a:srgbClr val="000000"/>
                </a:solidFill>
                <a:latin typeface="Courier New"/>
                <a:ea typeface="Courier New"/>
                <a:cs typeface="Courier New"/>
              </a:rPr>
              <a:t>  count++;</a:t>
            </a:r>
          </a:p>
          <a:p>
            <a:pPr algn="l">
              <a:lnSpc>
                <a:spcPts val="2240"/>
              </a:lnSpc>
            </a:pPr>
            <a:r>
              <a:rPr sz="1600" b="1" i="0">
                <a:solidFill>
                  <a:srgbClr val="000000"/>
                </a:solidFill>
                <a:latin typeface="Courier New"/>
                <a:ea typeface="Courier New"/>
                <a:cs typeface="Courier New"/>
              </a:rPr>
              <a:t>}</a:t>
            </a:r>
          </a:p>
        </p:txBody>
      </p:sp>
      <p:pic>
        <p:nvPicPr>
          <p:cNvPr id="6" name="Picture 5" descr="while_flow.png"/>
          <p:cNvPicPr>
            <a:picLocks noChangeAspect="1"/>
          </p:cNvPicPr>
          <p:nvPr/>
        </p:nvPicPr>
        <p:blipFill>
          <a:blip r:embed="rId2"/>
          <a:stretch>
            <a:fillRect/>
          </a:stretch>
        </p:blipFill>
        <p:spPr>
          <a:xfrm>
            <a:off x="2842659" y="3111500"/>
            <a:ext cx="6506682" cy="31115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BEF8695-530C-475A-B5B2-DB128A2A8674}" type="slidenum">
              <a:rPr sz="1200" b="0" i="0">
                <a:solidFill>
                  <a:srgbClr val="6B6B6B"/>
                </a:solidFill>
                <a:latin typeface="Source Sans 3"/>
                <a:ea typeface="Source Sans 3"/>
                <a:cs typeface="Source Sans 3"/>
              </a:rPr>
              <a:pPr algn="l">
                <a:lnSpc>
                  <a:spcPts val="1500"/>
                </a:lnSpc>
              </a:pPr>
              <a:t>78</a:t>
            </a:fld>
            <a:endParaRPr sz="1200" b="0" i="0">
              <a:solidFill>
                <a:srgbClr val="6B6B6B"/>
              </a:solidFill>
              <a:latin typeface="Source Sans 3"/>
              <a:ea typeface="Source Sans 3"/>
              <a:cs typeface="Source Sans 3"/>
            </a:endParaRPr>
          </a:p>
        </p:txBody>
      </p:sp>
      <p:sp>
        <p:nvSpPr>
          <p:cNvPr id="4" name="Rectangle 3"/>
          <p:cNvSpPr/>
          <p:nvPr/>
        </p:nvSpPr>
        <p:spPr>
          <a:xfrm>
            <a:off x="1485900" y="2714498"/>
            <a:ext cx="242316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208280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count = 0;</a:t>
            </a:r>
          </a:p>
          <a:p>
            <a:pPr algn="l">
              <a:lnSpc>
                <a:spcPts val="3079"/>
              </a:lnSpc>
            </a:pPr>
            <a:r>
              <a:rPr sz="2200" b="1" i="0">
                <a:solidFill>
                  <a:srgbClr val="000000"/>
                </a:solidFill>
                <a:latin typeface="Courier New"/>
                <a:ea typeface="Courier New"/>
                <a:cs typeface="Courier New"/>
              </a:rPr>
              <a:t>while (count &lt; 2)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  count++;</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Initialize count</a:t>
            </a:r>
          </a:p>
        </p:txBody>
      </p:sp>
      <p:cxnSp>
        <p:nvCxnSpPr>
          <p:cNvPr id="8" name="Connector 7"/>
          <p:cNvCxnSpPr/>
          <p:nvPr/>
        </p:nvCxnSpPr>
        <p:spPr>
          <a:xfrm flipH="1">
            <a:off x="3909060" y="1704340"/>
            <a:ext cx="4625340" cy="119938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2A4716B-CB06-40D7-821E-8764862B5F7C}" type="slidenum">
              <a:rPr sz="1200" b="0" i="0">
                <a:solidFill>
                  <a:srgbClr val="6B6B6B"/>
                </a:solidFill>
                <a:latin typeface="Source Sans 3"/>
                <a:ea typeface="Source Sans 3"/>
                <a:cs typeface="Source Sans 3"/>
              </a:rPr>
              <a:pPr algn="l">
                <a:lnSpc>
                  <a:spcPts val="1500"/>
                </a:lnSpc>
              </a:pPr>
              <a:t>79</a:t>
            </a:fld>
            <a:endParaRPr sz="1200" b="0" i="0">
              <a:solidFill>
                <a:srgbClr val="6B6B6B"/>
              </a:solidFill>
              <a:latin typeface="Source Sans 3"/>
              <a:ea typeface="Source Sans 3"/>
              <a:cs typeface="Source Sans 3"/>
            </a:endParaRPr>
          </a:p>
        </p:txBody>
      </p:sp>
      <p:sp>
        <p:nvSpPr>
          <p:cNvPr id="4" name="Rectangle 3"/>
          <p:cNvSpPr/>
          <p:nvPr/>
        </p:nvSpPr>
        <p:spPr>
          <a:xfrm>
            <a:off x="1485900" y="3105658"/>
            <a:ext cx="326136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208280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count = 0;</a:t>
            </a:r>
          </a:p>
          <a:p>
            <a:pPr algn="l">
              <a:lnSpc>
                <a:spcPts val="3079"/>
              </a:lnSpc>
            </a:pPr>
            <a:r>
              <a:rPr sz="2200" b="1" i="0">
                <a:solidFill>
                  <a:srgbClr val="000000"/>
                </a:solidFill>
                <a:latin typeface="Courier New"/>
                <a:ea typeface="Courier New"/>
                <a:cs typeface="Courier New"/>
              </a:rPr>
              <a:t>while (count &lt; 2)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  count++;</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(count &lt; 2) is true</a:t>
            </a:r>
          </a:p>
        </p:txBody>
      </p:sp>
      <p:cxnSp>
        <p:nvCxnSpPr>
          <p:cNvPr id="8" name="Connector 7"/>
          <p:cNvCxnSpPr/>
          <p:nvPr/>
        </p:nvCxnSpPr>
        <p:spPr>
          <a:xfrm flipH="1">
            <a:off x="4747260" y="1704340"/>
            <a:ext cx="3787140" cy="159054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1746B57-E1B7-4996-9B5D-1D975CA20B37}" type="slidenum">
              <a:rPr sz="1200" b="0" i="0">
                <a:solidFill>
                  <a:srgbClr val="6B6B6B"/>
                </a:solidFill>
                <a:latin typeface="Source Sans 3"/>
                <a:ea typeface="Source Sans 3"/>
                <a:cs typeface="Source Sans 3"/>
              </a:rPr>
              <a:pPr algn="l">
                <a:lnSpc>
                  <a:spcPts val="1500"/>
                </a:lnSpc>
              </a:pPr>
              <a:t>80</a:t>
            </a:fld>
            <a:endParaRPr sz="1200" b="0" i="0">
              <a:solidFill>
                <a:srgbClr val="6B6B6B"/>
              </a:solidFill>
              <a:latin typeface="Source Sans 3"/>
              <a:ea typeface="Source Sans 3"/>
              <a:cs typeface="Source Sans 3"/>
            </a:endParaRPr>
          </a:p>
        </p:txBody>
      </p:sp>
      <p:sp>
        <p:nvSpPr>
          <p:cNvPr id="4" name="Rectangle 3"/>
          <p:cNvSpPr/>
          <p:nvPr/>
        </p:nvSpPr>
        <p:spPr>
          <a:xfrm>
            <a:off x="1821180" y="3496818"/>
            <a:ext cx="661416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208280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count = 0;</a:t>
            </a:r>
          </a:p>
          <a:p>
            <a:pPr algn="l">
              <a:lnSpc>
                <a:spcPts val="3079"/>
              </a:lnSpc>
            </a:pPr>
            <a:r>
              <a:rPr sz="2200" b="1" i="0">
                <a:solidFill>
                  <a:srgbClr val="000000"/>
                </a:solidFill>
                <a:latin typeface="Courier New"/>
                <a:ea typeface="Courier New"/>
                <a:cs typeface="Courier New"/>
              </a:rPr>
              <a:t>while (count &lt; 2)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  count++;</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Print Welcome to Java</a:t>
            </a:r>
          </a:p>
        </p:txBody>
      </p:sp>
      <p:cxnSp>
        <p:nvCxnSpPr>
          <p:cNvPr id="8" name="Connector 7"/>
          <p:cNvCxnSpPr/>
          <p:nvPr/>
        </p:nvCxnSpPr>
        <p:spPr>
          <a:xfrm flipH="1">
            <a:off x="8435340" y="1704340"/>
            <a:ext cx="99060" cy="19817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EA78A5C-8D37-4BCD-8BF1-8D225FDAD98C}" type="slidenum">
              <a:rPr sz="1200" b="0" i="0">
                <a:solidFill>
                  <a:srgbClr val="6B6B6B"/>
                </a:solidFill>
                <a:latin typeface="Source Sans 3"/>
                <a:ea typeface="Source Sans 3"/>
                <a:cs typeface="Source Sans 3"/>
              </a:rPr>
              <a:pPr algn="l">
                <a:lnSpc>
                  <a:spcPts val="1500"/>
                </a:lnSpc>
              </a:pPr>
              <a:t>81</a:t>
            </a:fld>
            <a:endParaRPr sz="1200" b="0" i="0">
              <a:solidFill>
                <a:srgbClr val="6B6B6B"/>
              </a:solidFill>
              <a:latin typeface="Source Sans 3"/>
              <a:ea typeface="Source Sans 3"/>
              <a:cs typeface="Source Sans 3"/>
            </a:endParaRPr>
          </a:p>
        </p:txBody>
      </p:sp>
      <p:sp>
        <p:nvSpPr>
          <p:cNvPr id="4" name="Rectangle 3"/>
          <p:cNvSpPr/>
          <p:nvPr/>
        </p:nvSpPr>
        <p:spPr>
          <a:xfrm>
            <a:off x="1821180" y="3887978"/>
            <a:ext cx="141732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208280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count = 0;</a:t>
            </a:r>
          </a:p>
          <a:p>
            <a:pPr algn="l">
              <a:lnSpc>
                <a:spcPts val="3079"/>
              </a:lnSpc>
            </a:pPr>
            <a:r>
              <a:rPr sz="2200" b="1" i="0">
                <a:solidFill>
                  <a:srgbClr val="000000"/>
                </a:solidFill>
                <a:latin typeface="Courier New"/>
                <a:ea typeface="Courier New"/>
                <a:cs typeface="Courier New"/>
              </a:rPr>
              <a:t>while (count &lt; 2)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  count++;</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Increase count by 1</a:t>
            </a:r>
          </a:p>
          <a:p>
            <a:pPr algn="ctr">
              <a:lnSpc>
                <a:spcPts val="2520"/>
              </a:lnSpc>
            </a:pPr>
            <a:r>
              <a:rPr sz="1800" b="0" i="0">
                <a:solidFill>
                  <a:srgbClr val="111111"/>
                </a:solidFill>
                <a:latin typeface="Times New Roman"/>
                <a:ea typeface="Times New Roman"/>
                <a:cs typeface="Times New Roman"/>
              </a:rPr>
              <a:t>count is 1 now</a:t>
            </a:r>
          </a:p>
        </p:txBody>
      </p:sp>
      <p:cxnSp>
        <p:nvCxnSpPr>
          <p:cNvPr id="8" name="Connector 7"/>
          <p:cNvCxnSpPr/>
          <p:nvPr/>
        </p:nvCxnSpPr>
        <p:spPr>
          <a:xfrm flipH="1">
            <a:off x="3238500" y="2024380"/>
            <a:ext cx="5295900" cy="205282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6D282F8D-D722-4C82-8930-2BE56254A938}" type="slidenum">
              <a:rPr sz="1200" b="0" i="0">
                <a:solidFill>
                  <a:srgbClr val="6B6B6B"/>
                </a:solidFill>
                <a:latin typeface="Source Sans 3"/>
                <a:ea typeface="Source Sans 3"/>
                <a:cs typeface="Source Sans 3"/>
              </a:rPr>
              <a:pPr algn="l">
                <a:lnSpc>
                  <a:spcPts val="1500"/>
                </a:lnSpc>
              </a:pPr>
              <a:t>82</a:t>
            </a:fld>
            <a:endParaRPr sz="1200" b="0" i="0">
              <a:solidFill>
                <a:srgbClr val="6B6B6B"/>
              </a:solidFill>
              <a:latin typeface="Source Sans 3"/>
              <a:ea typeface="Source Sans 3"/>
              <a:cs typeface="Source Sans 3"/>
            </a:endParaRPr>
          </a:p>
        </p:txBody>
      </p:sp>
      <p:sp>
        <p:nvSpPr>
          <p:cNvPr id="4" name="Rectangle 3"/>
          <p:cNvSpPr/>
          <p:nvPr/>
        </p:nvSpPr>
        <p:spPr>
          <a:xfrm>
            <a:off x="1485900" y="3105658"/>
            <a:ext cx="326136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208280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count = 0;</a:t>
            </a:r>
          </a:p>
          <a:p>
            <a:pPr algn="l">
              <a:lnSpc>
                <a:spcPts val="3079"/>
              </a:lnSpc>
            </a:pPr>
            <a:r>
              <a:rPr sz="2200" b="1" i="0">
                <a:solidFill>
                  <a:srgbClr val="000000"/>
                </a:solidFill>
                <a:latin typeface="Courier New"/>
                <a:ea typeface="Courier New"/>
                <a:cs typeface="Courier New"/>
              </a:rPr>
              <a:t>while (count &lt; 2)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  count++;</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(count &lt; 2) is still true since count</a:t>
            </a:r>
          </a:p>
          <a:p>
            <a:pPr algn="ctr">
              <a:lnSpc>
                <a:spcPts val="2520"/>
              </a:lnSpc>
            </a:pPr>
            <a:r>
              <a:rPr sz="1800" b="0" i="0">
                <a:solidFill>
                  <a:srgbClr val="111111"/>
                </a:solidFill>
                <a:latin typeface="Times New Roman"/>
                <a:ea typeface="Times New Roman"/>
                <a:cs typeface="Times New Roman"/>
              </a:rPr>
              <a:t>is 1</a:t>
            </a:r>
          </a:p>
        </p:txBody>
      </p:sp>
      <p:cxnSp>
        <p:nvCxnSpPr>
          <p:cNvPr id="8" name="Connector 7"/>
          <p:cNvCxnSpPr/>
          <p:nvPr/>
        </p:nvCxnSpPr>
        <p:spPr>
          <a:xfrm flipH="1">
            <a:off x="4747260" y="2024380"/>
            <a:ext cx="3787140" cy="12705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0C76401-B286-4006-9E25-13B09640C788}" type="slidenum">
              <a:rPr sz="1200" b="0" i="0">
                <a:solidFill>
                  <a:srgbClr val="6B6B6B"/>
                </a:solidFill>
                <a:latin typeface="Source Sans 3"/>
                <a:ea typeface="Source Sans 3"/>
                <a:cs typeface="Source Sans 3"/>
              </a:rPr>
              <a:pPr algn="l">
                <a:lnSpc>
                  <a:spcPts val="1500"/>
                </a:lnSpc>
              </a:pPr>
              <a:t>83</a:t>
            </a:fld>
            <a:endParaRPr sz="1200" b="0" i="0">
              <a:solidFill>
                <a:srgbClr val="6B6B6B"/>
              </a:solidFill>
              <a:latin typeface="Source Sans 3"/>
              <a:ea typeface="Source Sans 3"/>
              <a:cs typeface="Source Sans 3"/>
            </a:endParaRPr>
          </a:p>
        </p:txBody>
      </p:sp>
      <p:sp>
        <p:nvSpPr>
          <p:cNvPr id="4" name="Rectangle 3"/>
          <p:cNvSpPr/>
          <p:nvPr/>
        </p:nvSpPr>
        <p:spPr>
          <a:xfrm>
            <a:off x="1821180" y="3496818"/>
            <a:ext cx="661416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208280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count = 0;</a:t>
            </a:r>
          </a:p>
          <a:p>
            <a:pPr algn="l">
              <a:lnSpc>
                <a:spcPts val="3079"/>
              </a:lnSpc>
            </a:pPr>
            <a:r>
              <a:rPr sz="2200" b="1" i="0">
                <a:solidFill>
                  <a:srgbClr val="000000"/>
                </a:solidFill>
                <a:latin typeface="Courier New"/>
                <a:ea typeface="Courier New"/>
                <a:cs typeface="Courier New"/>
              </a:rPr>
              <a:t>while (count &lt; 2)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  count++;</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Print Welcome to Java</a:t>
            </a:r>
          </a:p>
        </p:txBody>
      </p:sp>
      <p:cxnSp>
        <p:nvCxnSpPr>
          <p:cNvPr id="8" name="Connector 7"/>
          <p:cNvCxnSpPr/>
          <p:nvPr/>
        </p:nvCxnSpPr>
        <p:spPr>
          <a:xfrm flipH="1">
            <a:off x="8435340" y="1704340"/>
            <a:ext cx="99060" cy="19817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A690085-7670-4BB3-9016-50471F0C9BE3}" type="slidenum">
              <a:rPr sz="1200" b="0" i="0">
                <a:solidFill>
                  <a:srgbClr val="6B6B6B"/>
                </a:solidFill>
                <a:latin typeface="Source Sans 3"/>
                <a:ea typeface="Source Sans 3"/>
                <a:cs typeface="Source Sans 3"/>
              </a:rPr>
              <a:pPr algn="l">
                <a:lnSpc>
                  <a:spcPts val="1500"/>
                </a:lnSpc>
              </a:pPr>
              <a:t>84</a:t>
            </a:fld>
            <a:endParaRPr sz="1200" b="0" i="0">
              <a:solidFill>
                <a:srgbClr val="6B6B6B"/>
              </a:solidFill>
              <a:latin typeface="Source Sans 3"/>
              <a:ea typeface="Source Sans 3"/>
              <a:cs typeface="Source Sans 3"/>
            </a:endParaRPr>
          </a:p>
        </p:txBody>
      </p:sp>
      <p:sp>
        <p:nvSpPr>
          <p:cNvPr id="4" name="Rectangle 3"/>
          <p:cNvSpPr/>
          <p:nvPr/>
        </p:nvSpPr>
        <p:spPr>
          <a:xfrm>
            <a:off x="1821180" y="3887978"/>
            <a:ext cx="141732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208280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count = 0;</a:t>
            </a:r>
          </a:p>
          <a:p>
            <a:pPr algn="l">
              <a:lnSpc>
                <a:spcPts val="3079"/>
              </a:lnSpc>
            </a:pPr>
            <a:r>
              <a:rPr sz="2200" b="1" i="0">
                <a:solidFill>
                  <a:srgbClr val="000000"/>
                </a:solidFill>
                <a:latin typeface="Courier New"/>
                <a:ea typeface="Courier New"/>
                <a:cs typeface="Courier New"/>
              </a:rPr>
              <a:t>while (count &lt; 2)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  count++;</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Increase count by 1</a:t>
            </a:r>
          </a:p>
          <a:p>
            <a:pPr algn="ctr">
              <a:lnSpc>
                <a:spcPts val="2520"/>
              </a:lnSpc>
            </a:pPr>
            <a:r>
              <a:rPr sz="1800" b="0" i="0">
                <a:solidFill>
                  <a:srgbClr val="111111"/>
                </a:solidFill>
                <a:latin typeface="Times New Roman"/>
                <a:ea typeface="Times New Roman"/>
                <a:cs typeface="Times New Roman"/>
              </a:rPr>
              <a:t>count is 2 now</a:t>
            </a:r>
          </a:p>
        </p:txBody>
      </p:sp>
      <p:cxnSp>
        <p:nvCxnSpPr>
          <p:cNvPr id="8" name="Connector 7"/>
          <p:cNvCxnSpPr/>
          <p:nvPr/>
        </p:nvCxnSpPr>
        <p:spPr>
          <a:xfrm flipH="1">
            <a:off x="3238500" y="2024380"/>
            <a:ext cx="5295900" cy="205282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DA41CB1-BBBF-4938-9CC8-2F06318A4AD2}" type="slidenum">
              <a:rPr sz="1200" b="0" i="0">
                <a:solidFill>
                  <a:srgbClr val="6B6B6B"/>
                </a:solidFill>
                <a:latin typeface="Source Sans 3"/>
                <a:ea typeface="Source Sans 3"/>
                <a:cs typeface="Source Sans 3"/>
              </a:rPr>
              <a:pPr algn="l">
                <a:lnSpc>
                  <a:spcPts val="1500"/>
                </a:lnSpc>
              </a:pPr>
              <a:t>85</a:t>
            </a:fld>
            <a:endParaRPr sz="1200" b="0" i="0">
              <a:solidFill>
                <a:srgbClr val="6B6B6B"/>
              </a:solidFill>
              <a:latin typeface="Source Sans 3"/>
              <a:ea typeface="Source Sans 3"/>
              <a:cs typeface="Source Sans 3"/>
            </a:endParaRPr>
          </a:p>
        </p:txBody>
      </p:sp>
      <p:sp>
        <p:nvSpPr>
          <p:cNvPr id="4" name="Rectangle 3"/>
          <p:cNvSpPr/>
          <p:nvPr/>
        </p:nvSpPr>
        <p:spPr>
          <a:xfrm>
            <a:off x="1485900" y="3105658"/>
            <a:ext cx="326136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208280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count = 0;</a:t>
            </a:r>
          </a:p>
          <a:p>
            <a:pPr algn="l">
              <a:lnSpc>
                <a:spcPts val="3079"/>
              </a:lnSpc>
            </a:pPr>
            <a:r>
              <a:rPr sz="2200" b="1" i="0">
                <a:solidFill>
                  <a:srgbClr val="000000"/>
                </a:solidFill>
                <a:latin typeface="Courier New"/>
                <a:ea typeface="Courier New"/>
                <a:cs typeface="Courier New"/>
              </a:rPr>
              <a:t>while (count &lt; 2)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  count++;</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(count &lt; 2) is false since count is 2</a:t>
            </a:r>
          </a:p>
          <a:p>
            <a:pPr algn="ctr">
              <a:lnSpc>
                <a:spcPts val="2520"/>
              </a:lnSpc>
            </a:pPr>
            <a:r>
              <a:rPr sz="1800" b="0" i="0">
                <a:solidFill>
                  <a:srgbClr val="111111"/>
                </a:solidFill>
                <a:latin typeface="Times New Roman"/>
                <a:ea typeface="Times New Roman"/>
                <a:cs typeface="Times New Roman"/>
              </a:rPr>
              <a:t>now</a:t>
            </a:r>
          </a:p>
        </p:txBody>
      </p:sp>
      <p:cxnSp>
        <p:nvCxnSpPr>
          <p:cNvPr id="8" name="Connector 7"/>
          <p:cNvCxnSpPr/>
          <p:nvPr/>
        </p:nvCxnSpPr>
        <p:spPr>
          <a:xfrm flipH="1">
            <a:off x="4747260" y="2024380"/>
            <a:ext cx="3787140" cy="12705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F430EC6-17D6-4CEA-A9CC-CF713731BE28}" type="slidenum">
              <a:rPr sz="1200" b="0" i="0">
                <a:solidFill>
                  <a:srgbClr val="6B6B6B"/>
                </a:solidFill>
                <a:latin typeface="Source Sans 3"/>
                <a:ea typeface="Source Sans 3"/>
                <a:cs typeface="Source Sans 3"/>
              </a:rPr>
              <a:pPr algn="l">
                <a:lnSpc>
                  <a:spcPts val="1500"/>
                </a:lnSpc>
              </a:pPr>
              <a:t>86</a:t>
            </a:fld>
            <a:endParaRPr sz="1200" b="0" i="0">
              <a:solidFill>
                <a:srgbClr val="6B6B6B"/>
              </a:solidFill>
              <a:latin typeface="Source Sans 3"/>
              <a:ea typeface="Source Sans 3"/>
              <a:cs typeface="Source Sans 3"/>
            </a:endParaRPr>
          </a:p>
        </p:txBody>
      </p:sp>
      <p:sp>
        <p:nvSpPr>
          <p:cNvPr id="4" name="TextBox 3"/>
          <p:cNvSpPr txBox="1"/>
          <p:nvPr/>
        </p:nvSpPr>
        <p:spPr>
          <a:xfrm>
            <a:off x="1524000" y="2667000"/>
            <a:ext cx="7940040" cy="208280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count = 0;</a:t>
            </a:r>
          </a:p>
          <a:p>
            <a:pPr algn="l">
              <a:lnSpc>
                <a:spcPts val="3079"/>
              </a:lnSpc>
            </a:pPr>
            <a:r>
              <a:rPr sz="2200" b="1" i="0">
                <a:solidFill>
                  <a:srgbClr val="000000"/>
                </a:solidFill>
                <a:latin typeface="Courier New"/>
                <a:ea typeface="Courier New"/>
                <a:cs typeface="Courier New"/>
              </a:rPr>
              <a:t>while (count &lt; 2)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  count++;</a:t>
            </a:r>
          </a:p>
          <a:p>
            <a:pPr algn="l">
              <a:lnSpc>
                <a:spcPts val="3079"/>
              </a:lnSpc>
            </a:pPr>
            <a:r>
              <a:rPr sz="2200" b="1" i="0">
                <a:solidFill>
                  <a:srgbClr val="000000"/>
                </a:solidFill>
                <a:latin typeface="Courier New"/>
                <a:ea typeface="Courier New"/>
                <a:cs typeface="Courier New"/>
              </a:rPr>
              <a:t>}</a:t>
            </a:r>
          </a:p>
        </p:txBody>
      </p:sp>
      <p:sp>
        <p:nvSpPr>
          <p:cNvPr id="5" name="Rectangle 4"/>
          <p:cNvSpPr/>
          <p:nvPr/>
        </p:nvSpPr>
        <p:spPr>
          <a:xfrm>
            <a:off x="1397000" y="4699000"/>
            <a:ext cx="4572000" cy="3911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The loop exits. Execute the next</a:t>
            </a:r>
          </a:p>
          <a:p>
            <a:pPr algn="ctr">
              <a:lnSpc>
                <a:spcPts val="2520"/>
              </a:lnSpc>
            </a:pPr>
            <a:r>
              <a:rPr sz="1800" b="0" i="0">
                <a:solidFill>
                  <a:srgbClr val="111111"/>
                </a:solidFill>
                <a:latin typeface="Times New Roman"/>
                <a:ea typeface="Times New Roman"/>
                <a:cs typeface="Times New Roman"/>
              </a:rPr>
              <a:t>statement after the loop.</a:t>
            </a:r>
          </a:p>
        </p:txBody>
      </p:sp>
      <p:cxnSp>
        <p:nvCxnSpPr>
          <p:cNvPr id="8" name="Connector 7"/>
          <p:cNvCxnSpPr/>
          <p:nvPr/>
        </p:nvCxnSpPr>
        <p:spPr>
          <a:xfrm flipH="1">
            <a:off x="5207000" y="2024380"/>
            <a:ext cx="3327400" cy="28702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Ending a Loop with a Sentinel Value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BB496B02-F20A-4A2B-B282-892800BD51A0}" type="slidenum">
              <a:rPr sz="1200" b="0" i="0">
                <a:solidFill>
                  <a:srgbClr val="6B6B6B"/>
                </a:solidFill>
                <a:latin typeface="Source Sans 3"/>
                <a:ea typeface="Source Sans 3"/>
                <a:cs typeface="Source Sans 3"/>
              </a:rPr>
              <a:pPr algn="l">
                <a:lnSpc>
                  <a:spcPts val="1500"/>
                </a:lnSpc>
              </a:pPr>
              <a:t>87</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3000"/>
              </a:lnSpc>
            </a:pPr>
            <a:r>
              <a:rPr sz="2400" b="0" i="0">
                <a:solidFill>
                  <a:srgbClr val="111111"/>
                </a:solidFill>
                <a:latin typeface="Times New Roman"/>
                <a:ea typeface="Times New Roman"/>
                <a:cs typeface="Times New Roman"/>
              </a:rPr>
              <a:t>Often the number of times a loop is executed is not predetermined. You may use an input value to signify the end of the loop. Such a value is known as a sentinel value.</a:t>
            </a:r>
          </a:p>
          <a:p>
            <a:pPr algn="l">
              <a:lnSpc>
                <a:spcPts val="3000"/>
              </a:lnSpc>
              <a:spcBef>
                <a:spcPts val="2000"/>
              </a:spcBef>
            </a:pPr>
            <a:r>
              <a:rPr sz="2400" b="0" i="0">
                <a:solidFill>
                  <a:srgbClr val="111111"/>
                </a:solidFill>
                <a:latin typeface="Times New Roman"/>
                <a:ea typeface="Times New Roman"/>
                <a:cs typeface="Times New Roman"/>
              </a:rPr>
              <a:t>Write a program that reads and calculates the sum of an unspecified number of integers. The input 0 signifies the end of the input.</a:t>
            </a:r>
          </a:p>
        </p:txBody>
      </p:sp>
      <p:sp>
        <p:nvSpPr>
          <p:cNvPr id="5" name="Rounded Rectangle 4"/>
          <p:cNvSpPr/>
          <p:nvPr/>
        </p:nvSpPr>
        <p:spPr>
          <a:xfrm>
            <a:off x="9451340" y="5732780"/>
            <a:ext cx="178816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SentinelValue</a:t>
            </a:r>
            <a:endParaRPr sz="1400" b="1" i="0">
              <a:solidFill>
                <a:srgbClr val="222222"/>
              </a:solidFill>
              <a:latin typeface="Source Sans 3"/>
              <a:ea typeface="Source Sans 3"/>
              <a:cs typeface="Source Sans 3"/>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Caution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650881D0-64D7-46F6-80F5-98507E378610}" type="slidenum">
              <a:rPr sz="1200" b="0" i="0">
                <a:solidFill>
                  <a:srgbClr val="6B6B6B"/>
                </a:solidFill>
                <a:latin typeface="Source Sans 3"/>
                <a:ea typeface="Source Sans 3"/>
                <a:cs typeface="Source Sans 3"/>
              </a:rPr>
              <a:pPr algn="l">
                <a:lnSpc>
                  <a:spcPts val="1500"/>
                </a:lnSpc>
              </a:pPr>
              <a:t>88</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375"/>
              </a:lnSpc>
            </a:pPr>
            <a:r>
              <a:rPr sz="1900" b="0" i="0">
                <a:solidFill>
                  <a:srgbClr val="111111"/>
                </a:solidFill>
                <a:latin typeface="Times New Roman"/>
                <a:ea typeface="Times New Roman"/>
                <a:cs typeface="Times New Roman"/>
              </a:rPr>
              <a:t>Don’t use floating-point values for equality checking in a loop control. Since floating-point values are approximations for some values, using them could result in imprecise counter values and inaccurate results. Consider the following code for computing 1 + 0.9 + 0.8 + ... + 0.1:</a:t>
            </a:r>
          </a:p>
          <a:p>
            <a:pPr marL="457200" indent="0" algn="l">
              <a:lnSpc>
                <a:spcPts val="2175"/>
              </a:lnSpc>
              <a:spcBef>
                <a:spcPts val="480"/>
              </a:spcBef>
            </a:pPr>
            <a:r>
              <a:rPr sz="1500" b="1" i="0">
                <a:solidFill>
                  <a:srgbClr val="111111"/>
                </a:solidFill>
                <a:latin typeface="Courier New"/>
                <a:ea typeface="Courier New"/>
                <a:cs typeface="Courier New"/>
              </a:rPr>
              <a:t>double item = 1; double sum = 0;</a:t>
            </a:r>
          </a:p>
          <a:p>
            <a:pPr marL="457200" indent="0" algn="l">
              <a:lnSpc>
                <a:spcPts val="2175"/>
              </a:lnSpc>
            </a:pPr>
            <a:r>
              <a:rPr sz="1500" b="1" i="0">
                <a:solidFill>
                  <a:srgbClr val="111111"/>
                </a:solidFill>
                <a:latin typeface="Courier New"/>
                <a:ea typeface="Courier New"/>
                <a:cs typeface="Courier New"/>
              </a:rPr>
              <a:t>while (item != 0) { // No guarantee item will be 0</a:t>
            </a:r>
          </a:p>
          <a:p>
            <a:pPr marL="457200" indent="0" algn="l">
              <a:lnSpc>
                <a:spcPts val="2175"/>
              </a:lnSpc>
            </a:pPr>
            <a:r>
              <a:rPr sz="1500" b="1" i="0">
                <a:solidFill>
                  <a:srgbClr val="111111"/>
                </a:solidFill>
                <a:latin typeface="Courier New"/>
                <a:ea typeface="Courier New"/>
                <a:cs typeface="Courier New"/>
              </a:rPr>
              <a:t>  sum += item;</a:t>
            </a:r>
          </a:p>
          <a:p>
            <a:pPr marL="457200" indent="0" algn="l">
              <a:lnSpc>
                <a:spcPts val="2175"/>
              </a:lnSpc>
            </a:pPr>
            <a:r>
              <a:rPr sz="1500" b="1" i="0">
                <a:solidFill>
                  <a:srgbClr val="111111"/>
                </a:solidFill>
                <a:latin typeface="Courier New"/>
                <a:ea typeface="Courier New"/>
                <a:cs typeface="Courier New"/>
              </a:rPr>
              <a:t>  item -= 0.1;</a:t>
            </a:r>
          </a:p>
          <a:p>
            <a:pPr marL="457200" indent="0" algn="l">
              <a:lnSpc>
                <a:spcPts val="2175"/>
              </a:lnSpc>
            </a:pPr>
            <a:r>
              <a:rPr sz="1500" b="1" i="0">
                <a:solidFill>
                  <a:srgbClr val="111111"/>
                </a:solidFill>
                <a:latin typeface="Courier New"/>
                <a:ea typeface="Courier New"/>
                <a:cs typeface="Courier New"/>
              </a:rPr>
              <a:t>}</a:t>
            </a:r>
          </a:p>
          <a:p>
            <a:pPr marL="457200" indent="0" algn="l">
              <a:lnSpc>
                <a:spcPts val="2175"/>
              </a:lnSpc>
            </a:pPr>
            <a:r>
              <a:rPr sz="1500" b="1" i="0">
                <a:solidFill>
                  <a:srgbClr val="111111"/>
                </a:solidFill>
                <a:latin typeface="Courier New"/>
                <a:ea typeface="Courier New"/>
                <a:cs typeface="Courier New"/>
              </a:rPr>
              <a:t>System.out.println(sum);</a:t>
            </a:r>
          </a:p>
          <a:p>
            <a:pPr algn="l">
              <a:lnSpc>
                <a:spcPts val="2375"/>
              </a:lnSpc>
              <a:spcBef>
                <a:spcPts val="800"/>
              </a:spcBef>
            </a:pPr>
            <a:r>
              <a:rPr sz="1900" b="0" i="0">
                <a:solidFill>
                  <a:srgbClr val="111111"/>
                </a:solidFill>
                <a:latin typeface="Times New Roman"/>
                <a:ea typeface="Times New Roman"/>
                <a:cs typeface="Times New Roman"/>
              </a:rPr>
              <a:t>Variable </a:t>
            </a:r>
            <a:r>
              <a:rPr sz="1700" b="1" i="0">
                <a:solidFill>
                  <a:srgbClr val="111111"/>
                </a:solidFill>
                <a:latin typeface="Courier New"/>
                <a:ea typeface="Courier New"/>
                <a:cs typeface="Courier New"/>
              </a:rPr>
              <a:t>item</a:t>
            </a:r>
            <a:r>
              <a:rPr sz="1900" b="0" i="0">
                <a:solidFill>
                  <a:srgbClr val="111111"/>
                </a:solidFill>
                <a:latin typeface="Times New Roman"/>
                <a:ea typeface="Times New Roman"/>
                <a:cs typeface="Times New Roman"/>
              </a:rPr>
              <a:t> starts with 1 and is reduced by 0.1 every time the loop body is executed. The loop should terminate when </a:t>
            </a:r>
            <a:r>
              <a:rPr sz="1700" b="1" i="0">
                <a:solidFill>
                  <a:srgbClr val="111111"/>
                </a:solidFill>
                <a:latin typeface="Courier New"/>
                <a:ea typeface="Courier New"/>
                <a:cs typeface="Courier New"/>
              </a:rPr>
              <a:t>item</a:t>
            </a:r>
            <a:r>
              <a:rPr sz="1900" b="0" i="0">
                <a:solidFill>
                  <a:srgbClr val="111111"/>
                </a:solidFill>
                <a:latin typeface="Times New Roman"/>
                <a:ea typeface="Times New Roman"/>
                <a:cs typeface="Times New Roman"/>
              </a:rPr>
              <a:t> becomes 0. However, there is no guarantee that </a:t>
            </a:r>
            <a:r>
              <a:rPr sz="1700" b="1" i="0">
                <a:solidFill>
                  <a:srgbClr val="111111"/>
                </a:solidFill>
                <a:latin typeface="Courier New"/>
                <a:ea typeface="Courier New"/>
                <a:cs typeface="Courier New"/>
              </a:rPr>
              <a:t>item</a:t>
            </a:r>
            <a:r>
              <a:rPr sz="1900" b="0" i="0">
                <a:solidFill>
                  <a:srgbClr val="111111"/>
                </a:solidFill>
                <a:latin typeface="Times New Roman"/>
                <a:ea typeface="Times New Roman"/>
                <a:cs typeface="Times New Roman"/>
              </a:rPr>
              <a:t> will be exactly 0, because the floating-point arithmetic is approximated. This loop seems OK on the surface, but it is actually an infinite loop.</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Courier New"/>
                <a:ea typeface="Courier New"/>
                <a:cs typeface="Courier New"/>
              </a:rPr>
              <a:t>do-while</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65A65B8F-2B22-4927-A195-7E43B8E40BDB}" type="slidenum">
              <a:rPr sz="1200" b="0" i="0">
                <a:solidFill>
                  <a:srgbClr val="6B6B6B"/>
                </a:solidFill>
                <a:latin typeface="Source Sans 3"/>
                <a:ea typeface="Source Sans 3"/>
                <a:cs typeface="Source Sans 3"/>
              </a:rPr>
              <a:pPr algn="l">
                <a:lnSpc>
                  <a:spcPts val="1500"/>
                </a:lnSpc>
              </a:pPr>
              <a:t>89</a:t>
            </a:fld>
            <a:endParaRPr sz="1200" b="0" i="0">
              <a:solidFill>
                <a:srgbClr val="6B6B6B"/>
              </a:solidFill>
              <a:latin typeface="Source Sans 3"/>
              <a:ea typeface="Source Sans 3"/>
              <a:cs typeface="Source Sans 3"/>
            </a:endParaRPr>
          </a:p>
        </p:txBody>
      </p:sp>
      <p:sp>
        <p:nvSpPr>
          <p:cNvPr id="4" name="TextBox 3"/>
          <p:cNvSpPr txBox="1"/>
          <p:nvPr/>
        </p:nvSpPr>
        <p:spPr>
          <a:xfrm>
            <a:off x="1079500" y="2667000"/>
            <a:ext cx="6278880" cy="1407160"/>
          </a:xfrm>
          <a:prstGeom prst="rect">
            <a:avLst/>
          </a:prstGeom>
          <a:noFill/>
        </p:spPr>
        <p:txBody>
          <a:bodyPr wrap="square" lIns="0" tIns="0" rIns="0" bIns="0" anchor="t">
            <a:spAutoFit/>
          </a:bodyPr>
          <a:lstStyle/>
          <a:p>
            <a:pPr algn="l">
              <a:lnSpc>
                <a:spcPts val="2520"/>
              </a:lnSpc>
            </a:pPr>
            <a:r>
              <a:rPr sz="1800" b="1" i="0">
                <a:solidFill>
                  <a:srgbClr val="000000"/>
                </a:solidFill>
                <a:latin typeface="Courier New"/>
                <a:ea typeface="Courier New"/>
                <a:cs typeface="Courier New"/>
              </a:rPr>
              <a:t>do {</a:t>
            </a:r>
          </a:p>
          <a:p>
            <a:pPr algn="l">
              <a:lnSpc>
                <a:spcPts val="2520"/>
              </a:lnSpc>
            </a:pPr>
            <a:r>
              <a:rPr sz="1800" b="1" i="0">
                <a:solidFill>
                  <a:srgbClr val="000000"/>
                </a:solidFill>
                <a:latin typeface="Courier New"/>
                <a:ea typeface="Courier New"/>
                <a:cs typeface="Courier New"/>
              </a:rPr>
              <a:t>  // Loop body;</a:t>
            </a:r>
          </a:p>
          <a:p>
            <a:pPr algn="l">
              <a:lnSpc>
                <a:spcPts val="2520"/>
              </a:lnSpc>
            </a:pPr>
            <a:r>
              <a:rPr sz="1800" b="1" i="0">
                <a:solidFill>
                  <a:srgbClr val="000000"/>
                </a:solidFill>
                <a:latin typeface="Courier New"/>
                <a:ea typeface="Courier New"/>
                <a:cs typeface="Courier New"/>
              </a:rPr>
              <a:t>  Statement(s);</a:t>
            </a:r>
          </a:p>
          <a:p>
            <a:pPr algn="l">
              <a:lnSpc>
                <a:spcPts val="2520"/>
              </a:lnSpc>
            </a:pPr>
            <a:r>
              <a:rPr sz="1800" b="1" i="0">
                <a:solidFill>
                  <a:srgbClr val="000000"/>
                </a:solidFill>
                <a:latin typeface="Courier New"/>
                <a:ea typeface="Courier New"/>
                <a:cs typeface="Courier New"/>
              </a:rPr>
              <a:t>} while (loop-continuation-condition);</a:t>
            </a:r>
          </a:p>
        </p:txBody>
      </p:sp>
      <p:pic>
        <p:nvPicPr>
          <p:cNvPr id="5" name="Picture 4" descr="dowhile_flow.png"/>
          <p:cNvPicPr>
            <a:picLocks noChangeAspect="1"/>
          </p:cNvPicPr>
          <p:nvPr/>
        </p:nvPicPr>
        <p:blipFill>
          <a:blip r:embed="rId2"/>
          <a:stretch>
            <a:fillRect/>
          </a:stretch>
        </p:blipFill>
        <p:spPr>
          <a:xfrm>
            <a:off x="7620000" y="1117600"/>
            <a:ext cx="3840680" cy="50165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9AE1B3B-3E65-401F-A975-C8AB4AC00252}" type="slidenum">
              <a:rPr sz="1200" b="0" i="0">
                <a:solidFill>
                  <a:srgbClr val="6B6B6B"/>
                </a:solidFill>
                <a:latin typeface="Source Sans 3"/>
                <a:ea typeface="Source Sans 3"/>
                <a:cs typeface="Source Sans 3"/>
              </a:rPr>
              <a:pPr algn="l">
                <a:lnSpc>
                  <a:spcPts val="1500"/>
                </a:lnSpc>
              </a:pPr>
              <a:t>90</a:t>
            </a:fld>
            <a:endParaRPr sz="1200" b="0" i="0">
              <a:solidFill>
                <a:srgbClr val="6B6B6B"/>
              </a:solidFill>
              <a:latin typeface="Source Sans 3"/>
              <a:ea typeface="Source Sans 3"/>
              <a:cs typeface="Source Sans 3"/>
            </a:endParaRPr>
          </a:p>
        </p:txBody>
      </p:sp>
      <p:sp>
        <p:nvSpPr>
          <p:cNvPr id="4" name="TextBox 3"/>
          <p:cNvSpPr txBox="1"/>
          <p:nvPr/>
        </p:nvSpPr>
        <p:spPr>
          <a:xfrm>
            <a:off x="1079500" y="1295400"/>
            <a:ext cx="6667500" cy="1460500"/>
          </a:xfrm>
          <a:prstGeom prst="rect">
            <a:avLst/>
          </a:prstGeom>
          <a:noFill/>
        </p:spPr>
        <p:txBody>
          <a:bodyPr wrap="square" lIns="0" tIns="0" rIns="0" bIns="0" anchor="t">
            <a:spAutoFit/>
          </a:bodyPr>
          <a:lstStyle/>
          <a:p>
            <a:pPr algn="l">
              <a:lnSpc>
                <a:spcPts val="2100"/>
              </a:lnSpc>
            </a:pPr>
            <a:r>
              <a:rPr sz="1500" b="1" i="0">
                <a:solidFill>
                  <a:srgbClr val="000000"/>
                </a:solidFill>
                <a:latin typeface="Courier New"/>
                <a:ea typeface="Courier New"/>
                <a:cs typeface="Courier New"/>
              </a:rPr>
              <a:t>for (initial-action; loop-continuation-condition;</a:t>
            </a:r>
          </a:p>
          <a:p>
            <a:pPr algn="l">
              <a:lnSpc>
                <a:spcPts val="2100"/>
              </a:lnSpc>
            </a:pPr>
            <a:r>
              <a:rPr sz="1500" b="1" i="0">
                <a:solidFill>
                  <a:srgbClr val="000000"/>
                </a:solidFill>
                <a:latin typeface="Courier New"/>
                <a:ea typeface="Courier New"/>
                <a:cs typeface="Courier New"/>
              </a:rPr>
              <a:t>     action-after-each-iteration) {</a:t>
            </a:r>
          </a:p>
          <a:p>
            <a:pPr algn="l">
              <a:lnSpc>
                <a:spcPts val="2100"/>
              </a:lnSpc>
            </a:pPr>
            <a:r>
              <a:rPr sz="1500" b="1" i="0">
                <a:solidFill>
                  <a:srgbClr val="000000"/>
                </a:solidFill>
                <a:latin typeface="Courier New"/>
                <a:ea typeface="Courier New"/>
                <a:cs typeface="Courier New"/>
              </a:rPr>
              <a:t>  // loop body;</a:t>
            </a:r>
          </a:p>
          <a:p>
            <a:pPr algn="l">
              <a:lnSpc>
                <a:spcPts val="2100"/>
              </a:lnSpc>
            </a:pPr>
            <a:r>
              <a:rPr sz="1500" b="1" i="0">
                <a:solidFill>
                  <a:srgbClr val="000000"/>
                </a:solidFill>
                <a:latin typeface="Courier New"/>
                <a:ea typeface="Courier New"/>
                <a:cs typeface="Courier New"/>
              </a:rPr>
              <a:t>  Statement(s);</a:t>
            </a:r>
          </a:p>
          <a:p>
            <a:pPr algn="l">
              <a:lnSpc>
                <a:spcPts val="2100"/>
              </a:lnSpc>
            </a:pPr>
            <a:r>
              <a:rPr sz="1500" b="1" i="0">
                <a:solidFill>
                  <a:srgbClr val="000000"/>
                </a:solidFill>
                <a:latin typeface="Courier New"/>
                <a:ea typeface="Courier New"/>
                <a:cs typeface="Courier New"/>
              </a:rPr>
              <a:t>}</a:t>
            </a:r>
          </a:p>
        </p:txBody>
      </p:sp>
      <p:sp>
        <p:nvSpPr>
          <p:cNvPr id="5" name="TextBox 4"/>
          <p:cNvSpPr txBox="1"/>
          <p:nvPr/>
        </p:nvSpPr>
        <p:spPr>
          <a:xfrm>
            <a:off x="7747000" y="1295400"/>
            <a:ext cx="4152900" cy="1460500"/>
          </a:xfrm>
          <a:prstGeom prst="rect">
            <a:avLst/>
          </a:prstGeom>
          <a:noFill/>
        </p:spPr>
        <p:txBody>
          <a:bodyPr wrap="square" lIns="0" tIns="0" rIns="0" bIns="0" anchor="t">
            <a:spAutoFit/>
          </a:bodyPr>
          <a:lstStyle/>
          <a:p>
            <a:pPr algn="l">
              <a:lnSpc>
                <a:spcPts val="2100"/>
              </a:lnSpc>
            </a:pPr>
            <a:r>
              <a:rPr sz="1500" b="1" i="0">
                <a:solidFill>
                  <a:srgbClr val="000000"/>
                </a:solidFill>
                <a:latin typeface="Courier New"/>
                <a:ea typeface="Courier New"/>
                <a:cs typeface="Courier New"/>
              </a:rPr>
              <a:t>int i;</a:t>
            </a:r>
          </a:p>
          <a:p>
            <a:pPr algn="l">
              <a:lnSpc>
                <a:spcPts val="2100"/>
              </a:lnSpc>
            </a:pPr>
            <a:r>
              <a:rPr sz="1500" b="1" i="0">
                <a:solidFill>
                  <a:srgbClr val="000000"/>
                </a:solidFill>
                <a:latin typeface="Courier New"/>
                <a:ea typeface="Courier New"/>
                <a:cs typeface="Courier New"/>
              </a:rPr>
              <a:t>for (i = 0; i &lt; 100; i++) {</a:t>
            </a:r>
          </a:p>
          <a:p>
            <a:pPr algn="l">
              <a:lnSpc>
                <a:spcPts val="2100"/>
              </a:lnSpc>
            </a:pPr>
            <a:r>
              <a:rPr sz="1500" b="1" i="0">
                <a:solidFill>
                  <a:srgbClr val="000000"/>
                </a:solidFill>
                <a:latin typeface="Courier New"/>
                <a:ea typeface="Courier New"/>
                <a:cs typeface="Courier New"/>
              </a:rPr>
              <a:t>  System.out.println(</a:t>
            </a:r>
          </a:p>
          <a:p>
            <a:pPr algn="l">
              <a:lnSpc>
                <a:spcPts val="2100"/>
              </a:lnSpc>
            </a:pPr>
            <a:r>
              <a:rPr sz="1500" b="1" i="0">
                <a:solidFill>
                  <a:srgbClr val="000000"/>
                </a:solidFill>
                <a:latin typeface="Courier New"/>
                <a:ea typeface="Courier New"/>
                <a:cs typeface="Courier New"/>
              </a:rPr>
              <a:t>    "Welcome to Java!");</a:t>
            </a:r>
          </a:p>
          <a:p>
            <a:pPr algn="l">
              <a:lnSpc>
                <a:spcPts val="2100"/>
              </a:lnSpc>
            </a:pPr>
            <a:r>
              <a:rPr sz="1500" b="1" i="0">
                <a:solidFill>
                  <a:srgbClr val="000000"/>
                </a:solidFill>
                <a:latin typeface="Courier New"/>
                <a:ea typeface="Courier New"/>
                <a:cs typeface="Courier New"/>
              </a:rPr>
              <a:t>}</a:t>
            </a:r>
          </a:p>
        </p:txBody>
      </p:sp>
      <p:pic>
        <p:nvPicPr>
          <p:cNvPr id="6" name="Picture 5" descr="for_flow.png"/>
          <p:cNvPicPr>
            <a:picLocks noChangeAspect="1"/>
          </p:cNvPicPr>
          <p:nvPr/>
        </p:nvPicPr>
        <p:blipFill>
          <a:blip r:embed="rId2"/>
          <a:stretch>
            <a:fillRect/>
          </a:stretch>
        </p:blipFill>
        <p:spPr>
          <a:xfrm>
            <a:off x="3545001" y="2857500"/>
            <a:ext cx="5101999" cy="33655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8A0B001-04BB-45F2-8BC6-080E0E85A3BB}" type="slidenum">
              <a:rPr sz="1200" b="0" i="0">
                <a:solidFill>
                  <a:srgbClr val="6B6B6B"/>
                </a:solidFill>
                <a:latin typeface="Source Sans 3"/>
                <a:ea typeface="Source Sans 3"/>
                <a:cs typeface="Source Sans 3"/>
              </a:rPr>
              <a:pPr algn="l">
                <a:lnSpc>
                  <a:spcPts val="1500"/>
                </a:lnSpc>
              </a:pPr>
              <a:t>91</a:t>
            </a:fld>
            <a:endParaRPr sz="1200" b="0" i="0">
              <a:solidFill>
                <a:srgbClr val="6B6B6B"/>
              </a:solidFill>
              <a:latin typeface="Source Sans 3"/>
              <a:ea typeface="Source Sans 3"/>
              <a:cs typeface="Source Sans 3"/>
            </a:endParaRPr>
          </a:p>
        </p:txBody>
      </p:sp>
      <p:sp>
        <p:nvSpPr>
          <p:cNvPr id="4" name="Rectangle 3"/>
          <p:cNvSpPr/>
          <p:nvPr/>
        </p:nvSpPr>
        <p:spPr>
          <a:xfrm>
            <a:off x="1485900" y="2714498"/>
            <a:ext cx="108204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a:t>
            </a:r>
          </a:p>
          <a:p>
            <a:pPr algn="l">
              <a:lnSpc>
                <a:spcPts val="3079"/>
              </a:lnSpc>
            </a:pPr>
            <a:r>
              <a:rPr sz="2200" b="1" i="0">
                <a:solidFill>
                  <a:srgbClr val="000000"/>
                </a:solidFill>
                <a:latin typeface="Courier New"/>
                <a:ea typeface="Courier New"/>
                <a:cs typeface="Courier New"/>
              </a:rPr>
              <a:t>for (i = 0; i &lt; 2; i++)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Declare i</a:t>
            </a:r>
          </a:p>
        </p:txBody>
      </p:sp>
      <p:cxnSp>
        <p:nvCxnSpPr>
          <p:cNvPr id="8" name="Connector 7"/>
          <p:cNvCxnSpPr/>
          <p:nvPr/>
        </p:nvCxnSpPr>
        <p:spPr>
          <a:xfrm flipH="1">
            <a:off x="2567940" y="1704340"/>
            <a:ext cx="5966460" cy="119938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1E49CF9-7975-49F6-AC3D-1B959BC776BC}" type="slidenum">
              <a:rPr sz="1200" b="0" i="0">
                <a:solidFill>
                  <a:srgbClr val="6B6B6B"/>
                </a:solidFill>
                <a:latin typeface="Source Sans 3"/>
                <a:ea typeface="Source Sans 3"/>
                <a:cs typeface="Source Sans 3"/>
              </a:rPr>
              <a:pPr algn="l">
                <a:lnSpc>
                  <a:spcPts val="1500"/>
                </a:lnSpc>
              </a:pPr>
              <a:t>92</a:t>
            </a:fld>
            <a:endParaRPr sz="1200" b="0" i="0">
              <a:solidFill>
                <a:srgbClr val="6B6B6B"/>
              </a:solidFill>
              <a:latin typeface="Source Sans 3"/>
              <a:ea typeface="Source Sans 3"/>
              <a:cs typeface="Source Sans 3"/>
            </a:endParaRPr>
          </a:p>
        </p:txBody>
      </p:sp>
      <p:sp>
        <p:nvSpPr>
          <p:cNvPr id="4" name="Rectangle 3"/>
          <p:cNvSpPr/>
          <p:nvPr/>
        </p:nvSpPr>
        <p:spPr>
          <a:xfrm>
            <a:off x="2324100" y="3105658"/>
            <a:ext cx="91440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a:t>
            </a:r>
          </a:p>
          <a:p>
            <a:pPr algn="l">
              <a:lnSpc>
                <a:spcPts val="3079"/>
              </a:lnSpc>
            </a:pPr>
            <a:r>
              <a:rPr sz="2200" b="1" i="0">
                <a:solidFill>
                  <a:srgbClr val="000000"/>
                </a:solidFill>
                <a:latin typeface="Courier New"/>
                <a:ea typeface="Courier New"/>
                <a:cs typeface="Courier New"/>
              </a:rPr>
              <a:t>for (i = 0; i &lt; 2; i++)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Execute initializer</a:t>
            </a:r>
          </a:p>
          <a:p>
            <a:pPr algn="ctr">
              <a:lnSpc>
                <a:spcPts val="2520"/>
              </a:lnSpc>
            </a:pPr>
            <a:r>
              <a:rPr sz="1800" b="0" i="0">
                <a:solidFill>
                  <a:srgbClr val="111111"/>
                </a:solidFill>
                <a:latin typeface="Times New Roman"/>
                <a:ea typeface="Times New Roman"/>
                <a:cs typeface="Times New Roman"/>
              </a:rPr>
              <a:t>i is now 0</a:t>
            </a:r>
          </a:p>
        </p:txBody>
      </p:sp>
      <p:cxnSp>
        <p:nvCxnSpPr>
          <p:cNvPr id="8" name="Connector 7"/>
          <p:cNvCxnSpPr/>
          <p:nvPr/>
        </p:nvCxnSpPr>
        <p:spPr>
          <a:xfrm flipH="1">
            <a:off x="3238500" y="2024380"/>
            <a:ext cx="5295900" cy="12705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13F9D04-7384-4A9A-B6F2-DB52C01D6568}" type="slidenum">
              <a:rPr sz="1200" b="0" i="0">
                <a:solidFill>
                  <a:srgbClr val="6B6B6B"/>
                </a:solidFill>
                <a:latin typeface="Source Sans 3"/>
                <a:ea typeface="Source Sans 3"/>
                <a:cs typeface="Source Sans 3"/>
              </a:rPr>
              <a:pPr algn="l">
                <a:lnSpc>
                  <a:spcPts val="1500"/>
                </a:lnSpc>
              </a:pPr>
              <a:t>93</a:t>
            </a:fld>
            <a:endParaRPr sz="1200" b="0" i="0">
              <a:solidFill>
                <a:srgbClr val="6B6B6B"/>
              </a:solidFill>
              <a:latin typeface="Source Sans 3"/>
              <a:ea typeface="Source Sans 3"/>
              <a:cs typeface="Source Sans 3"/>
            </a:endParaRPr>
          </a:p>
        </p:txBody>
      </p:sp>
      <p:sp>
        <p:nvSpPr>
          <p:cNvPr id="4" name="Rectangle 3"/>
          <p:cNvSpPr/>
          <p:nvPr/>
        </p:nvSpPr>
        <p:spPr>
          <a:xfrm>
            <a:off x="3497580" y="3105658"/>
            <a:ext cx="91440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a:t>
            </a:r>
          </a:p>
          <a:p>
            <a:pPr algn="l">
              <a:lnSpc>
                <a:spcPts val="3079"/>
              </a:lnSpc>
            </a:pPr>
            <a:r>
              <a:rPr sz="2200" b="1" i="0">
                <a:solidFill>
                  <a:srgbClr val="000000"/>
                </a:solidFill>
                <a:latin typeface="Courier New"/>
                <a:ea typeface="Courier New"/>
                <a:cs typeface="Courier New"/>
              </a:rPr>
              <a:t>for (i = 0; i &lt; 2; i++)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 &lt; 2) is true</a:t>
            </a:r>
          </a:p>
          <a:p>
            <a:pPr algn="ctr">
              <a:lnSpc>
                <a:spcPts val="2520"/>
              </a:lnSpc>
            </a:pPr>
            <a:r>
              <a:rPr sz="1800" b="0" i="0">
                <a:solidFill>
                  <a:srgbClr val="111111"/>
                </a:solidFill>
                <a:latin typeface="Times New Roman"/>
                <a:ea typeface="Times New Roman"/>
                <a:cs typeface="Times New Roman"/>
              </a:rPr>
              <a:t>since i is 0</a:t>
            </a:r>
          </a:p>
        </p:txBody>
      </p:sp>
      <p:cxnSp>
        <p:nvCxnSpPr>
          <p:cNvPr id="8" name="Connector 7"/>
          <p:cNvCxnSpPr/>
          <p:nvPr/>
        </p:nvCxnSpPr>
        <p:spPr>
          <a:xfrm flipH="1">
            <a:off x="4411980" y="2024380"/>
            <a:ext cx="4122420" cy="12705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C1AAF20-2184-4615-AF30-BE85261F9F48}" type="slidenum">
              <a:rPr sz="1200" b="0" i="0">
                <a:solidFill>
                  <a:srgbClr val="6B6B6B"/>
                </a:solidFill>
                <a:latin typeface="Source Sans 3"/>
                <a:ea typeface="Source Sans 3"/>
                <a:cs typeface="Source Sans 3"/>
              </a:rPr>
              <a:pPr algn="l">
                <a:lnSpc>
                  <a:spcPts val="1500"/>
                </a:lnSpc>
              </a:pPr>
              <a:t>94</a:t>
            </a:fld>
            <a:endParaRPr sz="1200" b="0" i="0">
              <a:solidFill>
                <a:srgbClr val="6B6B6B"/>
              </a:solidFill>
              <a:latin typeface="Source Sans 3"/>
              <a:ea typeface="Source Sans 3"/>
              <a:cs typeface="Source Sans 3"/>
            </a:endParaRPr>
          </a:p>
        </p:txBody>
      </p:sp>
      <p:sp>
        <p:nvSpPr>
          <p:cNvPr id="4" name="Rectangle 3"/>
          <p:cNvSpPr/>
          <p:nvPr/>
        </p:nvSpPr>
        <p:spPr>
          <a:xfrm>
            <a:off x="1821180" y="3496818"/>
            <a:ext cx="661416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a:t>
            </a:r>
          </a:p>
          <a:p>
            <a:pPr algn="l">
              <a:lnSpc>
                <a:spcPts val="3079"/>
              </a:lnSpc>
            </a:pPr>
            <a:r>
              <a:rPr sz="2200" b="1" i="0">
                <a:solidFill>
                  <a:srgbClr val="000000"/>
                </a:solidFill>
                <a:latin typeface="Courier New"/>
                <a:ea typeface="Courier New"/>
                <a:cs typeface="Courier New"/>
              </a:rPr>
              <a:t>for (i = 0; i &lt; 2; i++)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Print Welcome to Java</a:t>
            </a:r>
          </a:p>
        </p:txBody>
      </p:sp>
      <p:cxnSp>
        <p:nvCxnSpPr>
          <p:cNvPr id="8" name="Connector 7"/>
          <p:cNvCxnSpPr/>
          <p:nvPr/>
        </p:nvCxnSpPr>
        <p:spPr>
          <a:xfrm flipH="1">
            <a:off x="8435340" y="1704340"/>
            <a:ext cx="99060" cy="19817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99FD4CB-E007-4FCF-AD49-02D9E3CAC81D}" type="slidenum">
              <a:rPr sz="1200" b="0" i="0">
                <a:solidFill>
                  <a:srgbClr val="6B6B6B"/>
                </a:solidFill>
                <a:latin typeface="Source Sans 3"/>
                <a:ea typeface="Source Sans 3"/>
                <a:cs typeface="Source Sans 3"/>
              </a:rPr>
              <a:pPr algn="l">
                <a:lnSpc>
                  <a:spcPts val="1500"/>
                </a:lnSpc>
              </a:pPr>
              <a:t>95</a:t>
            </a:fld>
            <a:endParaRPr sz="1200" b="0" i="0">
              <a:solidFill>
                <a:srgbClr val="6B6B6B"/>
              </a:solidFill>
              <a:latin typeface="Source Sans 3"/>
              <a:ea typeface="Source Sans 3"/>
              <a:cs typeface="Source Sans 3"/>
            </a:endParaRPr>
          </a:p>
        </p:txBody>
      </p:sp>
      <p:sp>
        <p:nvSpPr>
          <p:cNvPr id="4" name="Rectangle 3"/>
          <p:cNvSpPr/>
          <p:nvPr/>
        </p:nvSpPr>
        <p:spPr>
          <a:xfrm>
            <a:off x="4671060" y="3105658"/>
            <a:ext cx="57912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a:t>
            </a:r>
          </a:p>
          <a:p>
            <a:pPr algn="l">
              <a:lnSpc>
                <a:spcPts val="3079"/>
              </a:lnSpc>
            </a:pPr>
            <a:r>
              <a:rPr sz="2200" b="1" i="0">
                <a:solidFill>
                  <a:srgbClr val="000000"/>
                </a:solidFill>
                <a:latin typeface="Courier New"/>
                <a:ea typeface="Courier New"/>
                <a:cs typeface="Courier New"/>
              </a:rPr>
              <a:t>for (i = 0; i &lt; 2; i++)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Execute adjustment statement</a:t>
            </a:r>
          </a:p>
          <a:p>
            <a:pPr algn="ctr">
              <a:lnSpc>
                <a:spcPts val="2520"/>
              </a:lnSpc>
            </a:pPr>
            <a:r>
              <a:rPr sz="1800" b="0" i="0">
                <a:solidFill>
                  <a:srgbClr val="111111"/>
                </a:solidFill>
                <a:latin typeface="Times New Roman"/>
                <a:ea typeface="Times New Roman"/>
                <a:cs typeface="Times New Roman"/>
              </a:rPr>
              <a:t>i now is 1</a:t>
            </a:r>
          </a:p>
        </p:txBody>
      </p:sp>
      <p:cxnSp>
        <p:nvCxnSpPr>
          <p:cNvPr id="8" name="Connector 7"/>
          <p:cNvCxnSpPr/>
          <p:nvPr/>
        </p:nvCxnSpPr>
        <p:spPr>
          <a:xfrm flipH="1">
            <a:off x="5250180" y="2024380"/>
            <a:ext cx="3284220" cy="12705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B59CE425-7DBC-4F88-A7A4-4EDCFE2E6AAE}" type="slidenum">
              <a:rPr sz="1200" b="0" i="0">
                <a:solidFill>
                  <a:srgbClr val="6B6B6B"/>
                </a:solidFill>
                <a:latin typeface="Source Sans 3"/>
                <a:ea typeface="Source Sans 3"/>
                <a:cs typeface="Source Sans 3"/>
              </a:rPr>
              <a:pPr algn="l">
                <a:lnSpc>
                  <a:spcPts val="1500"/>
                </a:lnSpc>
              </a:pPr>
              <a:t>96</a:t>
            </a:fld>
            <a:endParaRPr sz="1200" b="0" i="0">
              <a:solidFill>
                <a:srgbClr val="6B6B6B"/>
              </a:solidFill>
              <a:latin typeface="Source Sans 3"/>
              <a:ea typeface="Source Sans 3"/>
              <a:cs typeface="Source Sans 3"/>
            </a:endParaRPr>
          </a:p>
        </p:txBody>
      </p:sp>
      <p:sp>
        <p:nvSpPr>
          <p:cNvPr id="4" name="Rectangle 3"/>
          <p:cNvSpPr/>
          <p:nvPr/>
        </p:nvSpPr>
        <p:spPr>
          <a:xfrm>
            <a:off x="3497580" y="3105658"/>
            <a:ext cx="91440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a:t>
            </a:r>
          </a:p>
          <a:p>
            <a:pPr algn="l">
              <a:lnSpc>
                <a:spcPts val="3079"/>
              </a:lnSpc>
            </a:pPr>
            <a:r>
              <a:rPr sz="2200" b="1" i="0">
                <a:solidFill>
                  <a:srgbClr val="000000"/>
                </a:solidFill>
                <a:latin typeface="Courier New"/>
                <a:ea typeface="Courier New"/>
                <a:cs typeface="Courier New"/>
              </a:rPr>
              <a:t>for (i = 0; i &lt; 2; i++)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 &lt; 2) is still true</a:t>
            </a:r>
          </a:p>
          <a:p>
            <a:pPr algn="ctr">
              <a:lnSpc>
                <a:spcPts val="2520"/>
              </a:lnSpc>
            </a:pPr>
            <a:r>
              <a:rPr sz="1800" b="0" i="0">
                <a:solidFill>
                  <a:srgbClr val="111111"/>
                </a:solidFill>
                <a:latin typeface="Times New Roman"/>
                <a:ea typeface="Times New Roman"/>
                <a:cs typeface="Times New Roman"/>
              </a:rPr>
              <a:t>since i is 1</a:t>
            </a:r>
          </a:p>
        </p:txBody>
      </p:sp>
      <p:cxnSp>
        <p:nvCxnSpPr>
          <p:cNvPr id="8" name="Connector 7"/>
          <p:cNvCxnSpPr/>
          <p:nvPr/>
        </p:nvCxnSpPr>
        <p:spPr>
          <a:xfrm flipH="1">
            <a:off x="4411980" y="2024380"/>
            <a:ext cx="4122420" cy="12705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7FB3405-6EF7-4A9F-A3EF-4AF3E5072F11}" type="slidenum">
              <a:rPr sz="1200" b="0" i="0">
                <a:solidFill>
                  <a:srgbClr val="6B6B6B"/>
                </a:solidFill>
                <a:latin typeface="Source Sans 3"/>
                <a:ea typeface="Source Sans 3"/>
                <a:cs typeface="Source Sans 3"/>
              </a:rPr>
              <a:pPr algn="l">
                <a:lnSpc>
                  <a:spcPts val="1500"/>
                </a:lnSpc>
              </a:pPr>
              <a:t>97</a:t>
            </a:fld>
            <a:endParaRPr sz="1200" b="0" i="0">
              <a:solidFill>
                <a:srgbClr val="6B6B6B"/>
              </a:solidFill>
              <a:latin typeface="Source Sans 3"/>
              <a:ea typeface="Source Sans 3"/>
              <a:cs typeface="Source Sans 3"/>
            </a:endParaRPr>
          </a:p>
        </p:txBody>
      </p:sp>
      <p:sp>
        <p:nvSpPr>
          <p:cNvPr id="4" name="Rectangle 3"/>
          <p:cNvSpPr/>
          <p:nvPr/>
        </p:nvSpPr>
        <p:spPr>
          <a:xfrm>
            <a:off x="1821180" y="3496818"/>
            <a:ext cx="661416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a:t>
            </a:r>
          </a:p>
          <a:p>
            <a:pPr algn="l">
              <a:lnSpc>
                <a:spcPts val="3079"/>
              </a:lnSpc>
            </a:pPr>
            <a:r>
              <a:rPr sz="2200" b="1" i="0">
                <a:solidFill>
                  <a:srgbClr val="000000"/>
                </a:solidFill>
                <a:latin typeface="Courier New"/>
                <a:ea typeface="Courier New"/>
                <a:cs typeface="Courier New"/>
              </a:rPr>
              <a:t>for (i = 0; i &lt; 2; i++)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Print Welcome to Java</a:t>
            </a:r>
          </a:p>
        </p:txBody>
      </p:sp>
      <p:cxnSp>
        <p:nvCxnSpPr>
          <p:cNvPr id="8" name="Connector 7"/>
          <p:cNvCxnSpPr/>
          <p:nvPr/>
        </p:nvCxnSpPr>
        <p:spPr>
          <a:xfrm flipH="1">
            <a:off x="8435340" y="1704340"/>
            <a:ext cx="99060" cy="19817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A328021-6FAC-4B6E-B053-6BA23E028567}" type="slidenum">
              <a:rPr sz="1200" b="0" i="0">
                <a:solidFill>
                  <a:srgbClr val="6B6B6B"/>
                </a:solidFill>
                <a:latin typeface="Source Sans 3"/>
                <a:ea typeface="Source Sans 3"/>
                <a:cs typeface="Source Sans 3"/>
              </a:rPr>
              <a:pPr algn="l">
                <a:lnSpc>
                  <a:spcPts val="1500"/>
                </a:lnSpc>
              </a:pPr>
              <a:t>98</a:t>
            </a:fld>
            <a:endParaRPr sz="1200" b="0" i="0">
              <a:solidFill>
                <a:srgbClr val="6B6B6B"/>
              </a:solidFill>
              <a:latin typeface="Source Sans 3"/>
              <a:ea typeface="Source Sans 3"/>
              <a:cs typeface="Source Sans 3"/>
            </a:endParaRPr>
          </a:p>
        </p:txBody>
      </p:sp>
      <p:sp>
        <p:nvSpPr>
          <p:cNvPr id="4" name="Rectangle 3"/>
          <p:cNvSpPr/>
          <p:nvPr/>
        </p:nvSpPr>
        <p:spPr>
          <a:xfrm>
            <a:off x="4671060" y="3105658"/>
            <a:ext cx="57912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a:t>
            </a:r>
          </a:p>
          <a:p>
            <a:pPr algn="l">
              <a:lnSpc>
                <a:spcPts val="3079"/>
              </a:lnSpc>
            </a:pPr>
            <a:r>
              <a:rPr sz="2200" b="1" i="0">
                <a:solidFill>
                  <a:srgbClr val="000000"/>
                </a:solidFill>
                <a:latin typeface="Courier New"/>
                <a:ea typeface="Courier New"/>
                <a:cs typeface="Courier New"/>
              </a:rPr>
              <a:t>for (i = 0; i &lt; 2; i++)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Execute adjustment statement</a:t>
            </a:r>
          </a:p>
          <a:p>
            <a:pPr algn="ctr">
              <a:lnSpc>
                <a:spcPts val="2520"/>
              </a:lnSpc>
            </a:pPr>
            <a:r>
              <a:rPr sz="1800" b="0" i="0">
                <a:solidFill>
                  <a:srgbClr val="111111"/>
                </a:solidFill>
                <a:latin typeface="Times New Roman"/>
                <a:ea typeface="Times New Roman"/>
                <a:cs typeface="Times New Roman"/>
              </a:rPr>
              <a:t>i now is 2</a:t>
            </a:r>
          </a:p>
        </p:txBody>
      </p:sp>
      <p:cxnSp>
        <p:nvCxnSpPr>
          <p:cNvPr id="8" name="Connector 7"/>
          <p:cNvCxnSpPr/>
          <p:nvPr/>
        </p:nvCxnSpPr>
        <p:spPr>
          <a:xfrm flipH="1">
            <a:off x="5250180" y="2024380"/>
            <a:ext cx="3284220" cy="12705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89504BD-58FB-43AB-81D9-8921F177C77A}" type="slidenum">
              <a:rPr sz="1200" b="0" i="0">
                <a:solidFill>
                  <a:srgbClr val="6B6B6B"/>
                </a:solidFill>
                <a:latin typeface="Source Sans 3"/>
                <a:ea typeface="Source Sans 3"/>
                <a:cs typeface="Source Sans 3"/>
              </a:rPr>
              <a:pPr algn="l">
                <a:lnSpc>
                  <a:spcPts val="1500"/>
                </a:lnSpc>
              </a:pPr>
              <a:t>99</a:t>
            </a:fld>
            <a:endParaRPr sz="1200" b="0" i="0">
              <a:solidFill>
                <a:srgbClr val="6B6B6B"/>
              </a:solidFill>
              <a:latin typeface="Source Sans 3"/>
              <a:ea typeface="Source Sans 3"/>
              <a:cs typeface="Source Sans 3"/>
            </a:endParaRPr>
          </a:p>
        </p:txBody>
      </p:sp>
      <p:sp>
        <p:nvSpPr>
          <p:cNvPr id="4" name="Rectangle 3"/>
          <p:cNvSpPr/>
          <p:nvPr/>
        </p:nvSpPr>
        <p:spPr>
          <a:xfrm>
            <a:off x="3497580" y="3105658"/>
            <a:ext cx="914400" cy="3784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1524000" y="2667000"/>
            <a:ext cx="79400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a:t>
            </a:r>
          </a:p>
          <a:p>
            <a:pPr algn="l">
              <a:lnSpc>
                <a:spcPts val="3079"/>
              </a:lnSpc>
            </a:pPr>
            <a:r>
              <a:rPr sz="2200" b="1" i="0">
                <a:solidFill>
                  <a:srgbClr val="000000"/>
                </a:solidFill>
                <a:latin typeface="Courier New"/>
                <a:ea typeface="Courier New"/>
                <a:cs typeface="Courier New"/>
              </a:rPr>
              <a:t>for (i = 0; i &lt; 2; i++)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a:t>
            </a: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 &lt; 2) is false</a:t>
            </a:r>
          </a:p>
          <a:p>
            <a:pPr algn="ctr">
              <a:lnSpc>
                <a:spcPts val="2520"/>
              </a:lnSpc>
            </a:pPr>
            <a:r>
              <a:rPr sz="1800" b="0" i="0">
                <a:solidFill>
                  <a:srgbClr val="111111"/>
                </a:solidFill>
                <a:latin typeface="Times New Roman"/>
                <a:ea typeface="Times New Roman"/>
                <a:cs typeface="Times New Roman"/>
              </a:rPr>
              <a:t>since i is 2</a:t>
            </a:r>
          </a:p>
        </p:txBody>
      </p:sp>
      <p:cxnSp>
        <p:nvCxnSpPr>
          <p:cNvPr id="8" name="Connector 7"/>
          <p:cNvCxnSpPr/>
          <p:nvPr/>
        </p:nvCxnSpPr>
        <p:spPr>
          <a:xfrm flipH="1">
            <a:off x="4411980" y="2024380"/>
            <a:ext cx="4122420" cy="1270508"/>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a:t>
            </a:r>
            <a:r>
              <a:rPr sz="3300" b="0" i="0">
                <a:solidFill>
                  <a:srgbClr val="111111"/>
                </a:solidFill>
                <a:latin typeface="Courier New"/>
                <a:ea typeface="Courier New"/>
                <a:cs typeface="Courier New"/>
              </a:rPr>
              <a:t>for</a:t>
            </a:r>
            <a:r>
              <a:rPr sz="3300" b="0" i="0">
                <a:solidFill>
                  <a:srgbClr val="111111"/>
                </a:solidFill>
                <a:latin typeface="Times New Roman"/>
                <a:ea typeface="Times New Roman"/>
                <a:cs typeface="Times New Roman"/>
              </a:rPr>
              <a:t>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622ED76-981D-4E87-91B3-C6C880888488}" type="slidenum">
              <a:rPr sz="1200" b="0" i="0">
                <a:solidFill>
                  <a:srgbClr val="6B6B6B"/>
                </a:solidFill>
                <a:latin typeface="Source Sans 3"/>
                <a:ea typeface="Source Sans 3"/>
                <a:cs typeface="Source Sans 3"/>
              </a:rPr>
              <a:pPr algn="l">
                <a:lnSpc>
                  <a:spcPts val="1500"/>
                </a:lnSpc>
              </a:pPr>
              <a:t>100</a:t>
            </a:fld>
            <a:endParaRPr sz="1200" b="0" i="0">
              <a:solidFill>
                <a:srgbClr val="6B6B6B"/>
              </a:solidFill>
              <a:latin typeface="Source Sans 3"/>
              <a:ea typeface="Source Sans 3"/>
              <a:cs typeface="Source Sans 3"/>
            </a:endParaRPr>
          </a:p>
        </p:txBody>
      </p:sp>
      <p:sp>
        <p:nvSpPr>
          <p:cNvPr id="4" name="TextBox 3"/>
          <p:cNvSpPr txBox="1"/>
          <p:nvPr/>
        </p:nvSpPr>
        <p:spPr>
          <a:xfrm>
            <a:off x="1524000" y="2667000"/>
            <a:ext cx="7940040" cy="169164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i;</a:t>
            </a:r>
          </a:p>
          <a:p>
            <a:pPr algn="l">
              <a:lnSpc>
                <a:spcPts val="3079"/>
              </a:lnSpc>
            </a:pPr>
            <a:r>
              <a:rPr sz="2200" b="1" i="0">
                <a:solidFill>
                  <a:srgbClr val="000000"/>
                </a:solidFill>
                <a:latin typeface="Courier New"/>
                <a:ea typeface="Courier New"/>
                <a:cs typeface="Courier New"/>
              </a:rPr>
              <a:t>for (i = 0; i &lt; 2; i++) {</a:t>
            </a:r>
          </a:p>
          <a:p>
            <a:pPr algn="l">
              <a:lnSpc>
                <a:spcPts val="3079"/>
              </a:lnSpc>
            </a:pPr>
            <a:r>
              <a:rPr sz="2200" b="1" i="0">
                <a:solidFill>
                  <a:srgbClr val="000000"/>
                </a:solidFill>
                <a:latin typeface="Courier New"/>
                <a:ea typeface="Courier New"/>
                <a:cs typeface="Courier New"/>
              </a:rPr>
              <a:t>  System.out.println("Welcome to Java!");</a:t>
            </a:r>
          </a:p>
          <a:p>
            <a:pPr algn="l">
              <a:lnSpc>
                <a:spcPts val="3079"/>
              </a:lnSpc>
            </a:pPr>
            <a:r>
              <a:rPr sz="2200" b="1" i="0">
                <a:solidFill>
                  <a:srgbClr val="000000"/>
                </a:solidFill>
                <a:latin typeface="Courier New"/>
                <a:ea typeface="Courier New"/>
                <a:cs typeface="Courier New"/>
              </a:rPr>
              <a:t>}</a:t>
            </a:r>
          </a:p>
        </p:txBody>
      </p:sp>
      <p:sp>
        <p:nvSpPr>
          <p:cNvPr id="5" name="Rectangle 4"/>
          <p:cNvSpPr/>
          <p:nvPr/>
        </p:nvSpPr>
        <p:spPr>
          <a:xfrm>
            <a:off x="1397000" y="4307840"/>
            <a:ext cx="4572000" cy="3911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ounded Rectangle 5"/>
          <p:cNvSpPr/>
          <p:nvPr/>
        </p:nvSpPr>
        <p:spPr>
          <a:xfrm>
            <a:off x="7112000" y="1206500"/>
            <a:ext cx="4064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162800" y="1295400"/>
            <a:ext cx="3962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Exit the loop. Execute the next</a:t>
            </a:r>
          </a:p>
          <a:p>
            <a:pPr algn="ctr">
              <a:lnSpc>
                <a:spcPts val="2520"/>
              </a:lnSpc>
            </a:pPr>
            <a:r>
              <a:rPr sz="1800" b="0" i="0">
                <a:solidFill>
                  <a:srgbClr val="111111"/>
                </a:solidFill>
                <a:latin typeface="Times New Roman"/>
                <a:ea typeface="Times New Roman"/>
                <a:cs typeface="Times New Roman"/>
              </a:rPr>
              <a:t>statement after the loop</a:t>
            </a:r>
          </a:p>
        </p:txBody>
      </p:sp>
      <p:cxnSp>
        <p:nvCxnSpPr>
          <p:cNvPr id="8" name="Connector 7"/>
          <p:cNvCxnSpPr/>
          <p:nvPr/>
        </p:nvCxnSpPr>
        <p:spPr>
          <a:xfrm flipH="1">
            <a:off x="5207000" y="2024380"/>
            <a:ext cx="3327400" cy="247904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Note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26E7EF6-5B9A-4132-BE9A-9E8214911162}" type="slidenum">
              <a:rPr sz="1200" b="0" i="0">
                <a:solidFill>
                  <a:srgbClr val="6B6B6B"/>
                </a:solidFill>
                <a:latin typeface="Source Sans 3"/>
                <a:ea typeface="Source Sans 3"/>
                <a:cs typeface="Source Sans 3"/>
              </a:rPr>
              <a:pPr algn="l">
                <a:lnSpc>
                  <a:spcPts val="1500"/>
                </a:lnSpc>
              </a:pPr>
              <a:t>101</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3244478"/>
          </a:xfrm>
          <a:prstGeom prst="rect">
            <a:avLst/>
          </a:prstGeom>
          <a:noFill/>
        </p:spPr>
        <p:txBody>
          <a:bodyPr wrap="square" lIns="0" tIns="0" rIns="0" bIns="0" anchor="t">
            <a:spAutoFit/>
          </a:bodyPr>
          <a:lstStyle/>
          <a:p>
            <a:pPr algn="just">
              <a:lnSpc>
                <a:spcPts val="2750"/>
              </a:lnSpc>
            </a:pPr>
            <a:r>
              <a:rPr sz="2200" b="0" i="0">
                <a:solidFill>
                  <a:srgbClr val="111111"/>
                </a:solidFill>
                <a:latin typeface="Times New Roman"/>
                <a:ea typeface="Times New Roman"/>
                <a:cs typeface="Times New Roman"/>
              </a:rPr>
              <a:t>The initial-action in a </a:t>
            </a:r>
            <a:r>
              <a:rPr sz="2000" b="1" i="0">
                <a:solidFill>
                  <a:srgbClr val="111111"/>
                </a:solidFill>
                <a:latin typeface="Courier New"/>
                <a:ea typeface="Courier New"/>
                <a:cs typeface="Courier New"/>
              </a:rPr>
              <a:t>for</a:t>
            </a:r>
            <a:r>
              <a:rPr sz="2200" b="0" i="0">
                <a:solidFill>
                  <a:srgbClr val="111111"/>
                </a:solidFill>
                <a:latin typeface="Times New Roman"/>
                <a:ea typeface="Times New Roman"/>
                <a:cs typeface="Times New Roman"/>
              </a:rPr>
              <a:t> loop can be a list of zero or more comma-separated expressions. The action-after-each-iteration in a </a:t>
            </a:r>
            <a:r>
              <a:rPr sz="2000" b="1" i="0">
                <a:solidFill>
                  <a:srgbClr val="111111"/>
                </a:solidFill>
                <a:latin typeface="Courier New"/>
                <a:ea typeface="Courier New"/>
                <a:cs typeface="Courier New"/>
              </a:rPr>
              <a:t>for</a:t>
            </a:r>
            <a:r>
              <a:rPr sz="2200" b="0" i="0">
                <a:solidFill>
                  <a:srgbClr val="111111"/>
                </a:solidFill>
                <a:latin typeface="Times New Roman"/>
                <a:ea typeface="Times New Roman"/>
                <a:cs typeface="Times New Roman"/>
              </a:rPr>
              <a:t> loop can be a list of zero or more comma-separated statements. Therefore, the following two </a:t>
            </a:r>
            <a:r>
              <a:rPr sz="2000" b="1" i="0">
                <a:solidFill>
                  <a:srgbClr val="111111"/>
                </a:solidFill>
                <a:latin typeface="Courier New"/>
                <a:ea typeface="Courier New"/>
                <a:cs typeface="Courier New"/>
              </a:rPr>
              <a:t>for</a:t>
            </a:r>
            <a:r>
              <a:rPr sz="2200" b="0" i="0">
                <a:solidFill>
                  <a:srgbClr val="111111"/>
                </a:solidFill>
                <a:latin typeface="Times New Roman"/>
                <a:ea typeface="Times New Roman"/>
                <a:cs typeface="Times New Roman"/>
              </a:rPr>
              <a:t> loops are correct. They are rarely used in practice, however.</a:t>
            </a:r>
          </a:p>
          <a:p>
            <a:pPr marL="457200" indent="0" algn="l">
              <a:lnSpc>
                <a:spcPts val="2610"/>
              </a:lnSpc>
              <a:spcBef>
                <a:spcPts val="1080"/>
              </a:spcBef>
            </a:pPr>
            <a:r>
              <a:rPr sz="1800" b="1" i="0">
                <a:solidFill>
                  <a:srgbClr val="111111"/>
                </a:solidFill>
                <a:latin typeface="Courier New"/>
                <a:ea typeface="Courier New"/>
                <a:cs typeface="Courier New"/>
              </a:rPr>
              <a:t>for (int i = 1; i &lt; 100; System.out.println(i++));</a:t>
            </a:r>
          </a:p>
          <a:p>
            <a:pPr marL="457200" indent="0" algn="l">
              <a:lnSpc>
                <a:spcPts val="2610"/>
              </a:lnSpc>
            </a:pPr>
            <a:r>
              <a:rPr sz="1800" b="1" i="0">
                <a:solidFill>
                  <a:srgbClr val="111111"/>
                </a:solidFill>
                <a:latin typeface="Courier New"/>
                <a:ea typeface="Courier New"/>
                <a:cs typeface="Courier New"/>
              </a:rPr>
              <a:t> </a:t>
            </a:r>
          </a:p>
          <a:p>
            <a:pPr marL="457200" indent="0" algn="l">
              <a:lnSpc>
                <a:spcPts val="2610"/>
              </a:lnSpc>
            </a:pPr>
            <a:r>
              <a:rPr sz="1800" b="1" i="0">
                <a:solidFill>
                  <a:srgbClr val="111111"/>
                </a:solidFill>
                <a:latin typeface="Courier New"/>
                <a:ea typeface="Courier New"/>
                <a:cs typeface="Courier New"/>
              </a:rPr>
              <a:t>for (int i = 0, j = 0; (i + j &lt; 10); i++, j++) {</a:t>
            </a:r>
          </a:p>
          <a:p>
            <a:pPr marL="457200" indent="0" algn="l">
              <a:lnSpc>
                <a:spcPts val="2610"/>
              </a:lnSpc>
            </a:pPr>
            <a:r>
              <a:rPr sz="1800" b="1" i="0">
                <a:solidFill>
                  <a:srgbClr val="111111"/>
                </a:solidFill>
                <a:latin typeface="Courier New"/>
                <a:ea typeface="Courier New"/>
                <a:cs typeface="Courier New"/>
              </a:rPr>
              <a:t>  // Do something</a:t>
            </a:r>
          </a:p>
          <a:p>
            <a:pPr marL="457200" indent="0" algn="l">
              <a:lnSpc>
                <a:spcPts val="2610"/>
              </a:lnSpc>
            </a:pPr>
            <a:r>
              <a:rPr sz="1800" b="1" i="0">
                <a:solidFill>
                  <a:srgbClr val="111111"/>
                </a:solidFill>
                <a:latin typeface="Courier New"/>
                <a:ea typeface="Courier New"/>
                <a:cs typeface="Courier New"/>
              </a:rPr>
              <a:t>}</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Note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269C7F4-C1A8-430D-B502-BA00DEB69B88}" type="slidenum">
              <a:rPr sz="1200" b="0" i="0">
                <a:solidFill>
                  <a:srgbClr val="6B6B6B"/>
                </a:solidFill>
                <a:latin typeface="Source Sans 3"/>
                <a:ea typeface="Source Sans 3"/>
                <a:cs typeface="Source Sans 3"/>
              </a:rPr>
              <a:pPr algn="l">
                <a:lnSpc>
                  <a:spcPts val="1500"/>
                </a:lnSpc>
              </a:pPr>
              <a:t>102</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399614"/>
          </a:xfrm>
          <a:prstGeom prst="rect">
            <a:avLst/>
          </a:prstGeom>
          <a:noFill/>
        </p:spPr>
        <p:txBody>
          <a:bodyPr wrap="square" lIns="0" tIns="0" rIns="0" bIns="0" anchor="t">
            <a:spAutoFit/>
          </a:bodyPr>
          <a:lstStyle/>
          <a:p>
            <a:pPr algn="just">
              <a:lnSpc>
                <a:spcPts val="2875"/>
              </a:lnSpc>
              <a:spcBef>
                <a:spcPts val="1200"/>
              </a:spcBef>
            </a:pPr>
            <a:r>
              <a:rPr sz="2300" b="0" i="0">
                <a:solidFill>
                  <a:srgbClr val="111111"/>
                </a:solidFill>
                <a:latin typeface="Times New Roman"/>
                <a:ea typeface="Times New Roman"/>
                <a:cs typeface="Times New Roman"/>
              </a:rPr>
              <a:t>If the loop-continuation-condition in a </a:t>
            </a:r>
            <a:r>
              <a:rPr sz="2100" b="1" i="0">
                <a:solidFill>
                  <a:srgbClr val="111111"/>
                </a:solidFill>
                <a:latin typeface="Courier New"/>
                <a:ea typeface="Courier New"/>
                <a:cs typeface="Courier New"/>
              </a:rPr>
              <a:t>for</a:t>
            </a:r>
            <a:r>
              <a:rPr sz="2300" b="0" i="0">
                <a:solidFill>
                  <a:srgbClr val="111111"/>
                </a:solidFill>
                <a:latin typeface="Times New Roman"/>
                <a:ea typeface="Times New Roman"/>
                <a:cs typeface="Times New Roman"/>
              </a:rPr>
              <a:t> loop is omitted, it is implicitly true. </a:t>
            </a:r>
            <a:endParaRPr lang="en-US" sz="2300" dirty="0" smtClean="0">
              <a:solidFill>
                <a:srgbClr val="111111"/>
              </a:solidFill>
              <a:latin typeface="Times New Roman"/>
              <a:ea typeface="Times New Roman"/>
              <a:cs typeface="Times New Roman"/>
            </a:endParaRPr>
          </a:p>
          <a:p>
            <a:pPr algn="just">
              <a:lnSpc>
                <a:spcPts val="2875"/>
              </a:lnSpc>
              <a:spcBef>
                <a:spcPts val="1200"/>
              </a:spcBef>
            </a:pPr>
            <a:r>
              <a:rPr sz="2300" b="0" i="0" smtClean="0">
                <a:solidFill>
                  <a:srgbClr val="111111"/>
                </a:solidFill>
                <a:latin typeface="Times New Roman"/>
                <a:ea typeface="Times New Roman"/>
                <a:cs typeface="Times New Roman"/>
              </a:rPr>
              <a:t>Thus </a:t>
            </a:r>
            <a:r>
              <a:rPr sz="2300" b="0" i="0">
                <a:solidFill>
                  <a:srgbClr val="111111"/>
                </a:solidFill>
                <a:latin typeface="Times New Roman"/>
                <a:ea typeface="Times New Roman"/>
                <a:cs typeface="Times New Roman"/>
              </a:rPr>
              <a:t>the statement given below in (a), which is an infinite loop, is correct</a:t>
            </a:r>
            <a:r>
              <a:rPr sz="2300" b="0" i="0" smtClean="0">
                <a:solidFill>
                  <a:srgbClr val="111111"/>
                </a:solidFill>
                <a:latin typeface="Times New Roman"/>
                <a:ea typeface="Times New Roman"/>
                <a:cs typeface="Times New Roman"/>
              </a:rPr>
              <a:t>.</a:t>
            </a:r>
            <a:r>
              <a:rPr lang="en-US" sz="2300" b="0" i="0" dirty="0" smtClean="0">
                <a:solidFill>
                  <a:srgbClr val="111111"/>
                </a:solidFill>
                <a:latin typeface="Times New Roman"/>
                <a:ea typeface="Times New Roman"/>
                <a:cs typeface="Times New Roman"/>
              </a:rPr>
              <a:t> </a:t>
            </a:r>
          </a:p>
          <a:p>
            <a:pPr algn="just">
              <a:lnSpc>
                <a:spcPts val="2875"/>
              </a:lnSpc>
              <a:spcBef>
                <a:spcPts val="1200"/>
              </a:spcBef>
            </a:pPr>
            <a:r>
              <a:rPr sz="2300" b="0" i="0" smtClean="0">
                <a:solidFill>
                  <a:srgbClr val="111111"/>
                </a:solidFill>
                <a:latin typeface="Times New Roman"/>
                <a:ea typeface="Times New Roman"/>
                <a:cs typeface="Times New Roman"/>
              </a:rPr>
              <a:t>Nevertheless</a:t>
            </a:r>
            <a:r>
              <a:rPr sz="2300" b="0" i="0">
                <a:solidFill>
                  <a:srgbClr val="111111"/>
                </a:solidFill>
                <a:latin typeface="Times New Roman"/>
                <a:ea typeface="Times New Roman"/>
                <a:cs typeface="Times New Roman"/>
              </a:rPr>
              <a:t>, it is better to use the equivalent loop in (b) to avoid confusion:</a:t>
            </a:r>
          </a:p>
        </p:txBody>
      </p:sp>
      <p:pic>
        <p:nvPicPr>
          <p:cNvPr id="5" name="Picture 4" descr="for_omit.png"/>
          <p:cNvPicPr>
            <a:picLocks noChangeAspect="1"/>
          </p:cNvPicPr>
          <p:nvPr/>
        </p:nvPicPr>
        <p:blipFill>
          <a:blip r:embed="rId2"/>
          <a:stretch>
            <a:fillRect/>
          </a:stretch>
        </p:blipFill>
        <p:spPr>
          <a:xfrm>
            <a:off x="952500" y="3302000"/>
            <a:ext cx="10287000" cy="2078299"/>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Caution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6286459-7E9A-40E8-8F77-BC33FA341C85}" type="slidenum">
              <a:rPr sz="1200" b="0" i="0">
                <a:solidFill>
                  <a:srgbClr val="6B6B6B"/>
                </a:solidFill>
                <a:latin typeface="Source Sans 3"/>
                <a:ea typeface="Source Sans 3"/>
                <a:cs typeface="Source Sans 3"/>
              </a:rPr>
              <a:pPr algn="l">
                <a:lnSpc>
                  <a:spcPts val="1500"/>
                </a:lnSpc>
              </a:pPr>
              <a:t>103</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875"/>
              </a:lnSpc>
            </a:pPr>
            <a:r>
              <a:rPr sz="2300" b="0" i="0">
                <a:solidFill>
                  <a:srgbClr val="111111"/>
                </a:solidFill>
                <a:latin typeface="Times New Roman"/>
                <a:ea typeface="Times New Roman"/>
                <a:cs typeface="Times New Roman"/>
              </a:rPr>
              <a:t>Adding a semicolon at the end of the </a:t>
            </a:r>
            <a:r>
              <a:rPr sz="2100" b="1" i="0">
                <a:solidFill>
                  <a:srgbClr val="111111"/>
                </a:solidFill>
                <a:latin typeface="Courier New"/>
                <a:ea typeface="Courier New"/>
                <a:cs typeface="Courier New"/>
              </a:rPr>
              <a:t>for</a:t>
            </a:r>
            <a:r>
              <a:rPr sz="2300" b="0" i="0">
                <a:solidFill>
                  <a:srgbClr val="111111"/>
                </a:solidFill>
                <a:latin typeface="Times New Roman"/>
                <a:ea typeface="Times New Roman"/>
                <a:cs typeface="Times New Roman"/>
              </a:rPr>
              <a:t> clause before the loop body is a common mistake, as shown below:</a:t>
            </a:r>
          </a:p>
        </p:txBody>
      </p:sp>
      <p:sp>
        <p:nvSpPr>
          <p:cNvPr id="5" name="Rectangle 4"/>
          <p:cNvSpPr/>
          <p:nvPr/>
        </p:nvSpPr>
        <p:spPr>
          <a:xfrm>
            <a:off x="5143500" y="2392680"/>
            <a:ext cx="228600" cy="34290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524000" y="2349500"/>
            <a:ext cx="6248400" cy="1549400"/>
          </a:xfrm>
          <a:prstGeom prst="rect">
            <a:avLst/>
          </a:prstGeom>
          <a:noFill/>
        </p:spPr>
        <p:txBody>
          <a:bodyPr wrap="square" lIns="0" tIns="0" rIns="0" bIns="0" anchor="t">
            <a:spAutoFit/>
          </a:bodyPr>
          <a:lstStyle/>
          <a:p>
            <a:pPr algn="l">
              <a:lnSpc>
                <a:spcPts val="2800"/>
              </a:lnSpc>
            </a:pPr>
            <a:r>
              <a:rPr sz="2000" b="1" i="0">
                <a:solidFill>
                  <a:srgbClr val="000000"/>
                </a:solidFill>
                <a:latin typeface="Courier New"/>
                <a:ea typeface="Courier New"/>
                <a:cs typeface="Courier New"/>
              </a:rPr>
              <a:t>for (int i=0; i&lt;10; i++);</a:t>
            </a:r>
          </a:p>
          <a:p>
            <a:pPr algn="l">
              <a:lnSpc>
                <a:spcPts val="2800"/>
              </a:lnSpc>
            </a:pPr>
            <a:r>
              <a:rPr sz="2000" b="1" i="0">
                <a:solidFill>
                  <a:srgbClr val="000000"/>
                </a:solidFill>
                <a:latin typeface="Courier New"/>
                <a:ea typeface="Courier New"/>
                <a:cs typeface="Courier New"/>
              </a:rPr>
              <a:t>{</a:t>
            </a:r>
          </a:p>
          <a:p>
            <a:pPr algn="l">
              <a:lnSpc>
                <a:spcPts val="2800"/>
              </a:lnSpc>
            </a:pPr>
            <a:r>
              <a:rPr sz="2000" b="1" i="0">
                <a:solidFill>
                  <a:srgbClr val="000000"/>
                </a:solidFill>
                <a:latin typeface="Courier New"/>
                <a:ea typeface="Courier New"/>
                <a:cs typeface="Courier New"/>
              </a:rPr>
              <a:t>  System.out.println("i is " + i);</a:t>
            </a:r>
          </a:p>
          <a:p>
            <a:pPr algn="l">
              <a:lnSpc>
                <a:spcPts val="2800"/>
              </a:lnSpc>
            </a:pPr>
            <a:r>
              <a:rPr sz="2000" b="1" i="0">
                <a:solidFill>
                  <a:srgbClr val="000000"/>
                </a:solidFill>
                <a:latin typeface="Courier New"/>
                <a:ea typeface="Courier New"/>
                <a:cs typeface="Courier New"/>
              </a:rPr>
              <a:t>}</a:t>
            </a:r>
          </a:p>
        </p:txBody>
      </p:sp>
      <p:sp>
        <p:nvSpPr>
          <p:cNvPr id="7" name="TextBox 6"/>
          <p:cNvSpPr txBox="1"/>
          <p:nvPr/>
        </p:nvSpPr>
        <p:spPr>
          <a:xfrm>
            <a:off x="6604000" y="1778000"/>
            <a:ext cx="2540000" cy="762000"/>
          </a:xfrm>
          <a:prstGeom prst="rect">
            <a:avLst/>
          </a:prstGeom>
          <a:noFill/>
        </p:spPr>
        <p:txBody>
          <a:bodyPr wrap="square" lIns="0" tIns="0" rIns="0" bIns="0" anchor="t">
            <a:spAutoFit/>
          </a:bodyPr>
          <a:lstStyle/>
          <a:p>
            <a:pPr algn="l">
              <a:lnSpc>
                <a:spcPts val="2500"/>
              </a:lnSpc>
            </a:pPr>
            <a:r>
              <a:rPr sz="2000" b="0" i="0">
                <a:solidFill>
                  <a:srgbClr val="C00000"/>
                </a:solidFill>
                <a:latin typeface="Times New Roman"/>
                <a:ea typeface="Times New Roman"/>
                <a:cs typeface="Times New Roman"/>
              </a:rPr>
              <a:t>Logic</a:t>
            </a:r>
          </a:p>
          <a:p>
            <a:pPr algn="l">
              <a:lnSpc>
                <a:spcPts val="2500"/>
              </a:lnSpc>
            </a:pPr>
            <a:r>
              <a:rPr sz="2000" b="0" i="0">
                <a:solidFill>
                  <a:srgbClr val="C00000"/>
                </a:solidFill>
                <a:latin typeface="Times New Roman"/>
                <a:ea typeface="Times New Roman"/>
                <a:cs typeface="Times New Roman"/>
              </a:rPr>
              <a:t>Error</a:t>
            </a:r>
          </a:p>
        </p:txBody>
      </p:sp>
      <p:cxnSp>
        <p:nvCxnSpPr>
          <p:cNvPr id="8" name="Connector 7"/>
          <p:cNvCxnSpPr/>
          <p:nvPr/>
        </p:nvCxnSpPr>
        <p:spPr>
          <a:xfrm flipH="1">
            <a:off x="5372100" y="2159000"/>
            <a:ext cx="1231900" cy="284480"/>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52500" y="3937000"/>
            <a:ext cx="10287000" cy="508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Similarly, the following loop is also wrong:</a:t>
            </a:r>
          </a:p>
        </p:txBody>
      </p:sp>
      <p:sp>
        <p:nvSpPr>
          <p:cNvPr id="10" name="Rectangle 9"/>
          <p:cNvSpPr/>
          <p:nvPr/>
        </p:nvSpPr>
        <p:spPr>
          <a:xfrm>
            <a:off x="3086100" y="4807585"/>
            <a:ext cx="190500" cy="25400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524000" y="4508500"/>
            <a:ext cx="4953000" cy="1727200"/>
          </a:xfrm>
          <a:prstGeom prst="rect">
            <a:avLst/>
          </a:prstGeom>
          <a:noFill/>
        </p:spPr>
        <p:txBody>
          <a:bodyPr wrap="square" lIns="0" tIns="0" rIns="0" bIns="0" anchor="t">
            <a:spAutoFit/>
          </a:bodyPr>
          <a:lstStyle/>
          <a:p>
            <a:pPr algn="l">
              <a:lnSpc>
                <a:spcPts val="2100"/>
              </a:lnSpc>
            </a:pPr>
            <a:r>
              <a:rPr sz="1500" b="1" i="0">
                <a:solidFill>
                  <a:srgbClr val="000000"/>
                </a:solidFill>
                <a:latin typeface="Courier New"/>
                <a:ea typeface="Courier New"/>
                <a:cs typeface="Courier New"/>
              </a:rPr>
              <a:t>int i=0;</a:t>
            </a:r>
          </a:p>
          <a:p>
            <a:pPr algn="l">
              <a:lnSpc>
                <a:spcPts val="2100"/>
              </a:lnSpc>
            </a:pPr>
            <a:r>
              <a:rPr sz="1500" b="1" i="0">
                <a:solidFill>
                  <a:srgbClr val="000000"/>
                </a:solidFill>
                <a:latin typeface="Courier New"/>
                <a:ea typeface="Courier New"/>
                <a:cs typeface="Courier New"/>
              </a:rPr>
              <a:t>while (i &lt; 10);</a:t>
            </a:r>
          </a:p>
          <a:p>
            <a:pPr algn="l">
              <a:lnSpc>
                <a:spcPts val="2100"/>
              </a:lnSpc>
            </a:pPr>
            <a:r>
              <a:rPr sz="1500" b="1" i="0">
                <a:solidFill>
                  <a:srgbClr val="000000"/>
                </a:solidFill>
                <a:latin typeface="Courier New"/>
                <a:ea typeface="Courier New"/>
                <a:cs typeface="Courier New"/>
              </a:rPr>
              <a:t>{</a:t>
            </a:r>
          </a:p>
          <a:p>
            <a:pPr algn="l">
              <a:lnSpc>
                <a:spcPts val="2100"/>
              </a:lnSpc>
            </a:pPr>
            <a:r>
              <a:rPr sz="1500" b="1" i="0">
                <a:solidFill>
                  <a:srgbClr val="000000"/>
                </a:solidFill>
                <a:latin typeface="Courier New"/>
                <a:ea typeface="Courier New"/>
                <a:cs typeface="Courier New"/>
              </a:rPr>
              <a:t>  System.out.println("i is " + i);</a:t>
            </a:r>
          </a:p>
          <a:p>
            <a:pPr algn="l">
              <a:lnSpc>
                <a:spcPts val="2100"/>
              </a:lnSpc>
            </a:pPr>
            <a:r>
              <a:rPr sz="1500" b="1" i="0">
                <a:solidFill>
                  <a:srgbClr val="000000"/>
                </a:solidFill>
                <a:latin typeface="Courier New"/>
                <a:ea typeface="Courier New"/>
                <a:cs typeface="Courier New"/>
              </a:rPr>
              <a:t>  i++;</a:t>
            </a:r>
          </a:p>
          <a:p>
            <a:pPr algn="l">
              <a:lnSpc>
                <a:spcPts val="2100"/>
              </a:lnSpc>
            </a:pPr>
            <a:r>
              <a:rPr sz="1500" b="1" i="0">
                <a:solidFill>
                  <a:srgbClr val="000000"/>
                </a:solidFill>
                <a:latin typeface="Courier New"/>
                <a:ea typeface="Courier New"/>
                <a:cs typeface="Courier New"/>
              </a:rPr>
              <a:t>}</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Caution, cont.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2857784B-C766-41AE-BBB0-84424EC00B11}" type="slidenum">
              <a:rPr sz="1200" b="0" i="0">
                <a:solidFill>
                  <a:srgbClr val="6B6B6B"/>
                </a:solidFill>
                <a:latin typeface="Source Sans 3"/>
                <a:ea typeface="Source Sans 3"/>
                <a:cs typeface="Source Sans 3"/>
              </a:rPr>
              <a:pPr algn="l">
                <a:lnSpc>
                  <a:spcPts val="1500"/>
                </a:lnSpc>
              </a:pPr>
              <a:t>104</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875"/>
              </a:lnSpc>
            </a:pPr>
            <a:r>
              <a:rPr sz="2300" b="0" i="0">
                <a:solidFill>
                  <a:srgbClr val="111111"/>
                </a:solidFill>
                <a:latin typeface="Times New Roman"/>
                <a:ea typeface="Times New Roman"/>
                <a:cs typeface="Times New Roman"/>
              </a:rPr>
              <a:t>In the case of the </a:t>
            </a:r>
            <a:r>
              <a:rPr sz="2100" b="1" i="0">
                <a:solidFill>
                  <a:srgbClr val="111111"/>
                </a:solidFill>
                <a:latin typeface="Courier New"/>
                <a:ea typeface="Courier New"/>
                <a:cs typeface="Courier New"/>
              </a:rPr>
              <a:t>do</a:t>
            </a:r>
            <a:r>
              <a:rPr sz="2300" b="0" i="0">
                <a:solidFill>
                  <a:srgbClr val="111111"/>
                </a:solidFill>
                <a:latin typeface="Times New Roman"/>
                <a:ea typeface="Times New Roman"/>
                <a:cs typeface="Times New Roman"/>
              </a:rPr>
              <a:t> loop, the following semicolon is needed to end the loop.</a:t>
            </a:r>
          </a:p>
        </p:txBody>
      </p:sp>
      <p:sp>
        <p:nvSpPr>
          <p:cNvPr id="5" name="Rectangle 4"/>
          <p:cNvSpPr/>
          <p:nvPr/>
        </p:nvSpPr>
        <p:spPr>
          <a:xfrm>
            <a:off x="3619500" y="3624580"/>
            <a:ext cx="228600" cy="34290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524000" y="2159000"/>
            <a:ext cx="6248400" cy="1905000"/>
          </a:xfrm>
          <a:prstGeom prst="rect">
            <a:avLst/>
          </a:prstGeom>
          <a:noFill/>
        </p:spPr>
        <p:txBody>
          <a:bodyPr wrap="square" lIns="0" tIns="0" rIns="0" bIns="0" anchor="t">
            <a:spAutoFit/>
          </a:bodyPr>
          <a:lstStyle/>
          <a:p>
            <a:pPr algn="l">
              <a:lnSpc>
                <a:spcPts val="2800"/>
              </a:lnSpc>
            </a:pPr>
            <a:r>
              <a:rPr sz="2000" b="1" i="0">
                <a:solidFill>
                  <a:srgbClr val="000000"/>
                </a:solidFill>
                <a:latin typeface="Courier New"/>
                <a:ea typeface="Courier New"/>
                <a:cs typeface="Courier New"/>
              </a:rPr>
              <a:t>int i=0;</a:t>
            </a:r>
          </a:p>
          <a:p>
            <a:pPr algn="l">
              <a:lnSpc>
                <a:spcPts val="2800"/>
              </a:lnSpc>
            </a:pPr>
            <a:r>
              <a:rPr sz="2000" b="1" i="0">
                <a:solidFill>
                  <a:srgbClr val="000000"/>
                </a:solidFill>
                <a:latin typeface="Courier New"/>
                <a:ea typeface="Courier New"/>
                <a:cs typeface="Courier New"/>
              </a:rPr>
              <a:t>do {</a:t>
            </a:r>
          </a:p>
          <a:p>
            <a:pPr algn="l">
              <a:lnSpc>
                <a:spcPts val="2800"/>
              </a:lnSpc>
            </a:pPr>
            <a:r>
              <a:rPr sz="2000" b="1" i="0">
                <a:solidFill>
                  <a:srgbClr val="000000"/>
                </a:solidFill>
                <a:latin typeface="Courier New"/>
                <a:ea typeface="Courier New"/>
                <a:cs typeface="Courier New"/>
              </a:rPr>
              <a:t>  System.out.println("i is " + i);</a:t>
            </a:r>
          </a:p>
          <a:p>
            <a:pPr algn="l">
              <a:lnSpc>
                <a:spcPts val="2800"/>
              </a:lnSpc>
            </a:pPr>
            <a:r>
              <a:rPr sz="2000" b="1" i="0">
                <a:solidFill>
                  <a:srgbClr val="000000"/>
                </a:solidFill>
                <a:latin typeface="Courier New"/>
                <a:ea typeface="Courier New"/>
                <a:cs typeface="Courier New"/>
              </a:rPr>
              <a:t>  i++;</a:t>
            </a:r>
          </a:p>
          <a:p>
            <a:pPr algn="l">
              <a:lnSpc>
                <a:spcPts val="2800"/>
              </a:lnSpc>
            </a:pPr>
            <a:r>
              <a:rPr sz="2000" b="1" i="0">
                <a:solidFill>
                  <a:srgbClr val="000000"/>
                </a:solidFill>
                <a:latin typeface="Courier New"/>
                <a:ea typeface="Courier New"/>
                <a:cs typeface="Courier New"/>
              </a:rPr>
              <a:t>} while (i&lt;10);</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Which Loop to Use?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63678826-2414-4679-A831-F979EA5DB3CD}" type="slidenum">
              <a:rPr sz="1200" b="0" i="0">
                <a:solidFill>
                  <a:srgbClr val="6B6B6B"/>
                </a:solidFill>
                <a:latin typeface="Source Sans 3"/>
                <a:ea typeface="Source Sans 3"/>
                <a:cs typeface="Source Sans 3"/>
              </a:rPr>
              <a:pPr algn="l">
                <a:lnSpc>
                  <a:spcPts val="1500"/>
                </a:lnSpc>
              </a:pPr>
              <a:t>105</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961802"/>
          </a:xfrm>
          <a:prstGeom prst="rect">
            <a:avLst/>
          </a:prstGeom>
          <a:noFill/>
        </p:spPr>
        <p:txBody>
          <a:bodyPr wrap="square" lIns="0" tIns="0" rIns="0" bIns="0" anchor="t">
            <a:spAutoFit/>
          </a:bodyPr>
          <a:lstStyle/>
          <a:p>
            <a:pPr marL="279400" indent="-279400" algn="just">
              <a:lnSpc>
                <a:spcPts val="2500"/>
              </a:lnSpc>
            </a:pPr>
            <a:r>
              <a:rPr sz="2000" b="0" i="0" smtClean="0">
                <a:solidFill>
                  <a:srgbClr val="111111"/>
                </a:solidFill>
                <a:latin typeface="Times New Roman"/>
                <a:ea typeface="Times New Roman"/>
                <a:cs typeface="Times New Roman"/>
              </a:rPr>
              <a:t>The </a:t>
            </a:r>
            <a:r>
              <a:rPr sz="2000" b="0" i="0">
                <a:solidFill>
                  <a:srgbClr val="111111"/>
                </a:solidFill>
                <a:latin typeface="Times New Roman"/>
                <a:ea typeface="Times New Roman"/>
                <a:cs typeface="Times New Roman"/>
              </a:rPr>
              <a:t>three forms of loop statements, </a:t>
            </a:r>
            <a:r>
              <a:rPr sz="1800" b="1" i="0">
                <a:solidFill>
                  <a:srgbClr val="111111"/>
                </a:solidFill>
                <a:latin typeface="Courier New"/>
                <a:ea typeface="Courier New"/>
                <a:cs typeface="Courier New"/>
              </a:rPr>
              <a:t>while</a:t>
            </a:r>
            <a:r>
              <a:rPr sz="2000" b="0" i="0">
                <a:solidFill>
                  <a:srgbClr val="111111"/>
                </a:solidFill>
                <a:latin typeface="Times New Roman"/>
                <a:ea typeface="Times New Roman"/>
                <a:cs typeface="Times New Roman"/>
              </a:rPr>
              <a:t>, </a:t>
            </a:r>
            <a:r>
              <a:rPr sz="1800" b="1" i="0">
                <a:solidFill>
                  <a:srgbClr val="111111"/>
                </a:solidFill>
                <a:latin typeface="Courier New"/>
                <a:ea typeface="Courier New"/>
                <a:cs typeface="Courier New"/>
              </a:rPr>
              <a:t>do-while</a:t>
            </a:r>
            <a:r>
              <a:rPr sz="2000" b="0" i="0">
                <a:solidFill>
                  <a:srgbClr val="111111"/>
                </a:solidFill>
                <a:latin typeface="Times New Roman"/>
                <a:ea typeface="Times New Roman"/>
                <a:cs typeface="Times New Roman"/>
              </a:rPr>
              <a:t>, and </a:t>
            </a:r>
            <a:r>
              <a:rPr sz="1800" b="1" i="0">
                <a:solidFill>
                  <a:srgbClr val="111111"/>
                </a:solidFill>
                <a:latin typeface="Courier New"/>
                <a:ea typeface="Courier New"/>
                <a:cs typeface="Courier New"/>
              </a:rPr>
              <a:t>for</a:t>
            </a:r>
            <a:r>
              <a:rPr sz="2000" b="0" i="0">
                <a:solidFill>
                  <a:srgbClr val="111111"/>
                </a:solidFill>
                <a:latin typeface="Times New Roman"/>
                <a:ea typeface="Times New Roman"/>
                <a:cs typeface="Times New Roman"/>
              </a:rPr>
              <a:t>, are expressively </a:t>
            </a:r>
            <a:r>
              <a:rPr sz="2000" b="0" i="0" smtClean="0">
                <a:solidFill>
                  <a:srgbClr val="111111"/>
                </a:solidFill>
                <a:latin typeface="Times New Roman"/>
                <a:ea typeface="Times New Roman"/>
                <a:cs typeface="Times New Roman"/>
              </a:rPr>
              <a:t>equivalent</a:t>
            </a:r>
            <a:r>
              <a:rPr lang="en-US" sz="2000" b="0" i="0" dirty="0" smtClean="0">
                <a:solidFill>
                  <a:srgbClr val="111111"/>
                </a:solidFill>
                <a:latin typeface="Times New Roman"/>
                <a:ea typeface="Times New Roman"/>
                <a:cs typeface="Times New Roman"/>
              </a:rPr>
              <a:t>.</a:t>
            </a:r>
          </a:p>
          <a:p>
            <a:pPr marL="279400" indent="-279400" algn="just">
              <a:lnSpc>
                <a:spcPts val="2500"/>
              </a:lnSpc>
            </a:pPr>
            <a:r>
              <a:rPr sz="2000" b="0" i="0" smtClean="0">
                <a:solidFill>
                  <a:srgbClr val="111111"/>
                </a:solidFill>
                <a:latin typeface="Times New Roman"/>
                <a:ea typeface="Times New Roman"/>
                <a:cs typeface="Times New Roman"/>
              </a:rPr>
              <a:t>For </a:t>
            </a:r>
            <a:r>
              <a:rPr sz="2000" b="0" i="0">
                <a:solidFill>
                  <a:srgbClr val="111111"/>
                </a:solidFill>
                <a:latin typeface="Times New Roman"/>
                <a:ea typeface="Times New Roman"/>
                <a:cs typeface="Times New Roman"/>
              </a:rPr>
              <a:t>example, a </a:t>
            </a:r>
            <a:r>
              <a:rPr sz="1800" b="1" i="0">
                <a:solidFill>
                  <a:srgbClr val="111111"/>
                </a:solidFill>
                <a:latin typeface="Courier New"/>
                <a:ea typeface="Courier New"/>
                <a:cs typeface="Courier New"/>
              </a:rPr>
              <a:t>while</a:t>
            </a:r>
            <a:r>
              <a:rPr sz="2000" b="0" i="0">
                <a:solidFill>
                  <a:srgbClr val="111111"/>
                </a:solidFill>
                <a:latin typeface="Times New Roman"/>
                <a:ea typeface="Times New Roman"/>
                <a:cs typeface="Times New Roman"/>
              </a:rPr>
              <a:t> loop in (a) in the following figure can always be converted into the following </a:t>
            </a:r>
            <a:r>
              <a:rPr sz="1800" b="1" i="0">
                <a:solidFill>
                  <a:srgbClr val="111111"/>
                </a:solidFill>
                <a:latin typeface="Courier New"/>
                <a:ea typeface="Courier New"/>
                <a:cs typeface="Courier New"/>
              </a:rPr>
              <a:t>for</a:t>
            </a:r>
            <a:r>
              <a:rPr sz="2000" b="0" i="0">
                <a:solidFill>
                  <a:srgbClr val="111111"/>
                </a:solidFill>
                <a:latin typeface="Times New Roman"/>
                <a:ea typeface="Times New Roman"/>
                <a:cs typeface="Times New Roman"/>
              </a:rPr>
              <a:t> loop in (b):</a:t>
            </a:r>
          </a:p>
        </p:txBody>
      </p:sp>
      <p:pic>
        <p:nvPicPr>
          <p:cNvPr id="5" name="Picture 4" descr="whichloop1.png"/>
          <p:cNvPicPr>
            <a:picLocks noChangeAspect="1"/>
          </p:cNvPicPr>
          <p:nvPr/>
        </p:nvPicPr>
        <p:blipFill>
          <a:blip r:embed="rId2"/>
          <a:stretch>
            <a:fillRect/>
          </a:stretch>
        </p:blipFill>
        <p:spPr>
          <a:xfrm>
            <a:off x="1844693" y="2413000"/>
            <a:ext cx="8502615" cy="1016000"/>
          </a:xfrm>
          <a:prstGeom prst="rect">
            <a:avLst/>
          </a:prstGeom>
        </p:spPr>
      </p:pic>
      <p:sp>
        <p:nvSpPr>
          <p:cNvPr id="6" name="TextBox 5"/>
          <p:cNvSpPr txBox="1"/>
          <p:nvPr/>
        </p:nvSpPr>
        <p:spPr>
          <a:xfrm>
            <a:off x="952500" y="3683000"/>
            <a:ext cx="10287000" cy="641201"/>
          </a:xfrm>
          <a:prstGeom prst="rect">
            <a:avLst/>
          </a:prstGeom>
          <a:noFill/>
        </p:spPr>
        <p:txBody>
          <a:bodyPr wrap="square" lIns="0" tIns="0" rIns="0" bIns="0" anchor="t">
            <a:spAutoFit/>
          </a:bodyPr>
          <a:lstStyle/>
          <a:p>
            <a:pPr marL="279400" indent="-279400" algn="l">
              <a:lnSpc>
                <a:spcPts val="2500"/>
              </a:lnSpc>
            </a:pPr>
            <a:r>
              <a:rPr sz="2000" b="0" i="0">
                <a:solidFill>
                  <a:srgbClr val="111111"/>
                </a:solidFill>
                <a:latin typeface="Times New Roman"/>
                <a:ea typeface="Times New Roman"/>
                <a:cs typeface="Times New Roman"/>
              </a:rPr>
              <a:t>▫  A </a:t>
            </a:r>
            <a:r>
              <a:rPr sz="1800" b="1" i="0">
                <a:solidFill>
                  <a:srgbClr val="111111"/>
                </a:solidFill>
                <a:latin typeface="Courier New"/>
                <a:ea typeface="Courier New"/>
                <a:cs typeface="Courier New"/>
              </a:rPr>
              <a:t>for</a:t>
            </a:r>
            <a:r>
              <a:rPr sz="2000" b="0" i="0">
                <a:solidFill>
                  <a:srgbClr val="111111"/>
                </a:solidFill>
                <a:latin typeface="Times New Roman"/>
                <a:ea typeface="Times New Roman"/>
                <a:cs typeface="Times New Roman"/>
              </a:rPr>
              <a:t> loop in (a) in the following figure can generally be converted into the following </a:t>
            </a:r>
            <a:r>
              <a:rPr sz="1800" b="1" i="0">
                <a:solidFill>
                  <a:srgbClr val="111111"/>
                </a:solidFill>
                <a:latin typeface="Courier New"/>
                <a:ea typeface="Courier New"/>
                <a:cs typeface="Courier New"/>
              </a:rPr>
              <a:t>while</a:t>
            </a:r>
            <a:r>
              <a:rPr sz="2000" b="0" i="0">
                <a:solidFill>
                  <a:srgbClr val="111111"/>
                </a:solidFill>
                <a:latin typeface="Times New Roman"/>
                <a:ea typeface="Times New Roman"/>
                <a:cs typeface="Times New Roman"/>
              </a:rPr>
              <a:t> loop in (b) except in certain special </a:t>
            </a:r>
            <a:r>
              <a:rPr sz="2000" b="0" i="0" smtClean="0">
                <a:solidFill>
                  <a:srgbClr val="111111"/>
                </a:solidFill>
                <a:latin typeface="Times New Roman"/>
                <a:ea typeface="Times New Roman"/>
                <a:cs typeface="Times New Roman"/>
              </a:rPr>
              <a:t>cases</a:t>
            </a:r>
            <a:endParaRPr sz="2000" b="0" i="0">
              <a:solidFill>
                <a:srgbClr val="111111"/>
              </a:solidFill>
              <a:latin typeface="Times New Roman"/>
              <a:ea typeface="Times New Roman"/>
              <a:cs typeface="Times New Roman"/>
            </a:endParaRPr>
          </a:p>
        </p:txBody>
      </p:sp>
      <p:pic>
        <p:nvPicPr>
          <p:cNvPr id="7" name="Picture 6" descr="whichloop2.png"/>
          <p:cNvPicPr>
            <a:picLocks noChangeAspect="1"/>
          </p:cNvPicPr>
          <p:nvPr/>
        </p:nvPicPr>
        <p:blipFill>
          <a:blip r:embed="rId3"/>
          <a:stretch>
            <a:fillRect/>
          </a:stretch>
        </p:blipFill>
        <p:spPr>
          <a:xfrm>
            <a:off x="1779543" y="4699000"/>
            <a:ext cx="8632915" cy="146050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Recommendations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6038E73-D882-437E-A22F-037BA55E3B22}" type="slidenum">
              <a:rPr sz="1200" b="0" i="0">
                <a:solidFill>
                  <a:srgbClr val="6B6B6B"/>
                </a:solidFill>
                <a:latin typeface="Source Sans 3"/>
                <a:ea typeface="Source Sans 3"/>
                <a:cs typeface="Source Sans 3"/>
              </a:rPr>
              <a:pPr algn="l">
                <a:lnSpc>
                  <a:spcPts val="1500"/>
                </a:lnSpc>
              </a:pPr>
              <a:t>106</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3718967"/>
          </a:xfrm>
          <a:prstGeom prst="rect">
            <a:avLst/>
          </a:prstGeom>
          <a:noFill/>
        </p:spPr>
        <p:txBody>
          <a:bodyPr wrap="square" lIns="0" tIns="0" rIns="0" bIns="0" anchor="t">
            <a:spAutoFit/>
          </a:bodyPr>
          <a:lstStyle/>
          <a:p>
            <a:pPr algn="just">
              <a:lnSpc>
                <a:spcPts val="2875"/>
              </a:lnSpc>
            </a:pPr>
            <a:r>
              <a:rPr sz="2300" b="0" i="0">
                <a:solidFill>
                  <a:srgbClr val="111111"/>
                </a:solidFill>
                <a:latin typeface="Times New Roman"/>
                <a:ea typeface="Times New Roman"/>
                <a:cs typeface="Times New Roman"/>
              </a:rPr>
              <a:t>Use the one that is most intuitive and comfortable for you. In </a:t>
            </a:r>
            <a:r>
              <a:rPr sz="2300" b="0" i="0" smtClean="0">
                <a:solidFill>
                  <a:srgbClr val="111111"/>
                </a:solidFill>
                <a:latin typeface="Times New Roman"/>
                <a:ea typeface="Times New Roman"/>
                <a:cs typeface="Times New Roman"/>
              </a:rPr>
              <a:t>general</a:t>
            </a:r>
            <a:r>
              <a:rPr lang="en-US" sz="2300" b="0" i="0" dirty="0" smtClean="0">
                <a:solidFill>
                  <a:srgbClr val="111111"/>
                </a:solidFill>
                <a:latin typeface="Times New Roman"/>
                <a:ea typeface="Times New Roman"/>
                <a:cs typeface="Times New Roman"/>
              </a:rPr>
              <a:t>:</a:t>
            </a:r>
          </a:p>
          <a:p>
            <a:pPr algn="just">
              <a:lnSpc>
                <a:spcPts val="2875"/>
              </a:lnSpc>
            </a:pPr>
            <a:endParaRPr lang="en-US" sz="2300" dirty="0" smtClean="0">
              <a:solidFill>
                <a:srgbClr val="111111"/>
              </a:solidFill>
              <a:latin typeface="Times New Roman"/>
              <a:ea typeface="Times New Roman"/>
              <a:cs typeface="Times New Roman"/>
            </a:endParaRPr>
          </a:p>
          <a:p>
            <a:pPr algn="just">
              <a:lnSpc>
                <a:spcPts val="2875"/>
              </a:lnSpc>
              <a:buFont typeface="Wingdings" pitchFamily="2" charset="2"/>
              <a:buChar char="q"/>
            </a:pPr>
            <a:r>
              <a:rPr lang="en-US" sz="2100" b="1" i="0" dirty="0" smtClean="0">
                <a:solidFill>
                  <a:srgbClr val="111111"/>
                </a:solidFill>
                <a:latin typeface="Courier New"/>
                <a:ea typeface="Courier New"/>
                <a:cs typeface="Courier New"/>
              </a:rPr>
              <a:t> </a:t>
            </a:r>
            <a:r>
              <a:rPr sz="2100" b="1" i="0" smtClean="0">
                <a:solidFill>
                  <a:srgbClr val="111111"/>
                </a:solidFill>
                <a:latin typeface="Courier New"/>
                <a:ea typeface="Courier New"/>
                <a:cs typeface="Courier New"/>
              </a:rPr>
              <a:t>for</a:t>
            </a:r>
            <a:r>
              <a:rPr sz="2300" b="0" i="0" smtClean="0">
                <a:solidFill>
                  <a:srgbClr val="111111"/>
                </a:solidFill>
                <a:latin typeface="Times New Roman"/>
                <a:ea typeface="Times New Roman"/>
                <a:cs typeface="Times New Roman"/>
              </a:rPr>
              <a:t> </a:t>
            </a:r>
            <a:r>
              <a:rPr sz="2300" b="0" i="0">
                <a:solidFill>
                  <a:srgbClr val="111111"/>
                </a:solidFill>
                <a:latin typeface="Times New Roman"/>
                <a:ea typeface="Times New Roman"/>
                <a:cs typeface="Times New Roman"/>
              </a:rPr>
              <a:t>loop may be used if the number of repetitions is known, as, for example, when you need to print a message 100 </a:t>
            </a:r>
            <a:r>
              <a:rPr sz="2300" b="0" i="0" smtClean="0">
                <a:solidFill>
                  <a:srgbClr val="111111"/>
                </a:solidFill>
                <a:latin typeface="Times New Roman"/>
                <a:ea typeface="Times New Roman"/>
                <a:cs typeface="Times New Roman"/>
              </a:rPr>
              <a:t>times</a:t>
            </a:r>
            <a:endParaRPr lang="en-US" sz="2300" b="0" i="0" dirty="0" smtClean="0">
              <a:solidFill>
                <a:srgbClr val="111111"/>
              </a:solidFill>
              <a:latin typeface="Times New Roman"/>
              <a:ea typeface="Times New Roman"/>
              <a:cs typeface="Times New Roman"/>
            </a:endParaRPr>
          </a:p>
          <a:p>
            <a:pPr algn="just">
              <a:lnSpc>
                <a:spcPts val="2875"/>
              </a:lnSpc>
              <a:buFont typeface="Wingdings" pitchFamily="2" charset="2"/>
              <a:buChar char="q"/>
            </a:pPr>
            <a:endParaRPr lang="en-US" sz="2300" dirty="0" smtClean="0">
              <a:solidFill>
                <a:srgbClr val="111111"/>
              </a:solidFill>
              <a:latin typeface="Times New Roman"/>
              <a:ea typeface="Times New Roman"/>
              <a:cs typeface="Times New Roman"/>
            </a:endParaRPr>
          </a:p>
          <a:p>
            <a:pPr algn="just">
              <a:lnSpc>
                <a:spcPts val="2875"/>
              </a:lnSpc>
              <a:buFont typeface="Wingdings" pitchFamily="2" charset="2"/>
              <a:buChar char="q"/>
            </a:pPr>
            <a:r>
              <a:rPr lang="en-US" sz="2100" b="1" i="0" dirty="0" smtClean="0">
                <a:solidFill>
                  <a:srgbClr val="111111"/>
                </a:solidFill>
                <a:latin typeface="Courier New"/>
                <a:ea typeface="Courier New"/>
                <a:cs typeface="Courier New"/>
              </a:rPr>
              <a:t> </a:t>
            </a:r>
            <a:r>
              <a:rPr sz="2100" b="1" i="0" smtClean="0">
                <a:solidFill>
                  <a:srgbClr val="111111"/>
                </a:solidFill>
                <a:latin typeface="Courier New"/>
                <a:ea typeface="Courier New"/>
                <a:cs typeface="Courier New"/>
              </a:rPr>
              <a:t>while</a:t>
            </a:r>
            <a:r>
              <a:rPr sz="2300" b="0" i="0" smtClean="0">
                <a:solidFill>
                  <a:srgbClr val="111111"/>
                </a:solidFill>
                <a:latin typeface="Times New Roman"/>
                <a:ea typeface="Times New Roman"/>
                <a:cs typeface="Times New Roman"/>
              </a:rPr>
              <a:t> </a:t>
            </a:r>
            <a:r>
              <a:rPr sz="2300" b="0" i="0">
                <a:solidFill>
                  <a:srgbClr val="111111"/>
                </a:solidFill>
                <a:latin typeface="Times New Roman"/>
                <a:ea typeface="Times New Roman"/>
                <a:cs typeface="Times New Roman"/>
              </a:rPr>
              <a:t>loop may be used if the number of repetitions is not known, as in the case of reading the numbers until the input is </a:t>
            </a:r>
            <a:r>
              <a:rPr sz="2300" b="0" i="0" smtClean="0">
                <a:solidFill>
                  <a:srgbClr val="111111"/>
                </a:solidFill>
                <a:latin typeface="Times New Roman"/>
                <a:ea typeface="Times New Roman"/>
                <a:cs typeface="Times New Roman"/>
              </a:rPr>
              <a:t>0</a:t>
            </a:r>
            <a:endParaRPr lang="en-US" sz="2300" b="0" i="0" dirty="0" smtClean="0">
              <a:solidFill>
                <a:srgbClr val="111111"/>
              </a:solidFill>
              <a:latin typeface="Times New Roman"/>
              <a:ea typeface="Times New Roman"/>
              <a:cs typeface="Times New Roman"/>
            </a:endParaRPr>
          </a:p>
          <a:p>
            <a:pPr algn="just">
              <a:lnSpc>
                <a:spcPts val="2875"/>
              </a:lnSpc>
              <a:buFont typeface="Wingdings" pitchFamily="2" charset="2"/>
              <a:buChar char="q"/>
            </a:pPr>
            <a:endParaRPr lang="en-US" sz="2300" dirty="0" smtClean="0">
              <a:solidFill>
                <a:srgbClr val="111111"/>
              </a:solidFill>
              <a:latin typeface="Times New Roman"/>
              <a:ea typeface="Courier New"/>
              <a:cs typeface="Times New Roman"/>
            </a:endParaRPr>
          </a:p>
          <a:p>
            <a:pPr algn="just">
              <a:lnSpc>
                <a:spcPts val="2875"/>
              </a:lnSpc>
              <a:buFont typeface="Wingdings" pitchFamily="2" charset="2"/>
              <a:buChar char="q"/>
            </a:pPr>
            <a:r>
              <a:rPr lang="en-US" sz="2100" b="1" i="0" dirty="0" smtClean="0">
                <a:solidFill>
                  <a:srgbClr val="111111"/>
                </a:solidFill>
                <a:latin typeface="Courier New"/>
                <a:ea typeface="Courier New"/>
                <a:cs typeface="Courier New"/>
              </a:rPr>
              <a:t> </a:t>
            </a:r>
            <a:r>
              <a:rPr sz="2100" b="1" i="0" smtClean="0">
                <a:solidFill>
                  <a:srgbClr val="111111"/>
                </a:solidFill>
                <a:latin typeface="Courier New"/>
                <a:ea typeface="Courier New"/>
                <a:cs typeface="Courier New"/>
              </a:rPr>
              <a:t>do-while</a:t>
            </a:r>
            <a:r>
              <a:rPr sz="2300" b="0" i="0" smtClean="0">
                <a:solidFill>
                  <a:srgbClr val="111111"/>
                </a:solidFill>
                <a:latin typeface="Times New Roman"/>
                <a:ea typeface="Times New Roman"/>
                <a:cs typeface="Times New Roman"/>
              </a:rPr>
              <a:t> </a:t>
            </a:r>
            <a:r>
              <a:rPr sz="2300" b="0" i="0">
                <a:solidFill>
                  <a:srgbClr val="111111"/>
                </a:solidFill>
                <a:latin typeface="Times New Roman"/>
                <a:ea typeface="Times New Roman"/>
                <a:cs typeface="Times New Roman"/>
              </a:rPr>
              <a:t>loop can be used to replace a </a:t>
            </a:r>
            <a:r>
              <a:rPr sz="2100" b="1" i="0">
                <a:solidFill>
                  <a:srgbClr val="111111"/>
                </a:solidFill>
                <a:latin typeface="Courier New"/>
                <a:ea typeface="Courier New"/>
                <a:cs typeface="Courier New"/>
              </a:rPr>
              <a:t>while</a:t>
            </a:r>
            <a:r>
              <a:rPr sz="2300" b="0" i="0">
                <a:solidFill>
                  <a:srgbClr val="111111"/>
                </a:solidFill>
                <a:latin typeface="Times New Roman"/>
                <a:ea typeface="Times New Roman"/>
                <a:cs typeface="Times New Roman"/>
              </a:rPr>
              <a:t> loop if the loop body has to be executed before testing the continuation </a:t>
            </a:r>
            <a:r>
              <a:rPr sz="2300" b="0" i="0" smtClean="0">
                <a:solidFill>
                  <a:srgbClr val="111111"/>
                </a:solidFill>
                <a:latin typeface="Times New Roman"/>
                <a:ea typeface="Times New Roman"/>
                <a:cs typeface="Times New Roman"/>
              </a:rPr>
              <a:t>condition</a:t>
            </a:r>
            <a:endParaRPr sz="2300" b="0" i="0">
              <a:solidFill>
                <a:srgbClr val="111111"/>
              </a:solidFill>
              <a:latin typeface="Times New Roman"/>
              <a:ea typeface="Times New Roman"/>
              <a:cs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Using </a:t>
            </a:r>
            <a:r>
              <a:rPr sz="3300" b="0" i="0">
                <a:solidFill>
                  <a:srgbClr val="111111"/>
                </a:solidFill>
                <a:latin typeface="Courier New"/>
                <a:ea typeface="Courier New"/>
                <a:cs typeface="Courier New"/>
              </a:rPr>
              <a:t>break</a:t>
            </a:r>
            <a:r>
              <a:rPr sz="3300" b="0" i="0">
                <a:solidFill>
                  <a:srgbClr val="111111"/>
                </a:solidFill>
                <a:latin typeface="Times New Roman"/>
                <a:ea typeface="Times New Roman"/>
                <a:cs typeface="Times New Roman"/>
              </a:rPr>
              <a:t> and </a:t>
            </a:r>
            <a:r>
              <a:rPr sz="3300" b="0" i="0">
                <a:solidFill>
                  <a:srgbClr val="111111"/>
                </a:solidFill>
                <a:latin typeface="Courier New"/>
                <a:ea typeface="Courier New"/>
                <a:cs typeface="Courier New"/>
              </a:rPr>
              <a:t>continue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5BE3B74-6111-48F8-9244-94B0E2366CAE}" type="slidenum">
              <a:rPr sz="1200" b="0" i="0">
                <a:solidFill>
                  <a:srgbClr val="6B6B6B"/>
                </a:solidFill>
                <a:latin typeface="Source Sans 3"/>
                <a:ea typeface="Source Sans 3"/>
                <a:cs typeface="Source Sans 3"/>
              </a:rPr>
              <a:pPr algn="l">
                <a:lnSpc>
                  <a:spcPts val="1500"/>
                </a:lnSpc>
              </a:pPr>
              <a:t>107</a:t>
            </a:fld>
            <a:endParaRPr sz="1200" b="0" i="0">
              <a:solidFill>
                <a:srgbClr val="6B6B6B"/>
              </a:solidFill>
              <a:latin typeface="Source Sans 3"/>
              <a:ea typeface="Source Sans 3"/>
              <a:cs typeface="Source Sans 3"/>
            </a:endParaRPr>
          </a:p>
        </p:txBody>
      </p:sp>
      <p:sp>
        <p:nvSpPr>
          <p:cNvPr id="4" name="TextBox 3"/>
          <p:cNvSpPr txBox="1"/>
          <p:nvPr/>
        </p:nvSpPr>
        <p:spPr>
          <a:xfrm>
            <a:off x="952500" y="1117600"/>
            <a:ext cx="10287000" cy="330200"/>
          </a:xfrm>
          <a:prstGeom prst="rect">
            <a:avLst/>
          </a:prstGeom>
          <a:noFill/>
        </p:spPr>
        <p:txBody>
          <a:bodyPr wrap="square" lIns="0" tIns="0" rIns="0" bIns="0" anchor="t">
            <a:spAutoFit/>
          </a:bodyPr>
          <a:lstStyle/>
          <a:p>
            <a:pPr algn="l">
              <a:lnSpc>
                <a:spcPts val="2625"/>
              </a:lnSpc>
            </a:pPr>
            <a:r>
              <a:rPr sz="2100" b="0" i="0">
                <a:solidFill>
                  <a:srgbClr val="111111"/>
                </a:solidFill>
                <a:latin typeface="Times New Roman"/>
                <a:ea typeface="Times New Roman"/>
                <a:cs typeface="Times New Roman"/>
              </a:rPr>
              <a:t>Examples for using the </a:t>
            </a:r>
            <a:r>
              <a:rPr sz="1900" b="1" i="0">
                <a:solidFill>
                  <a:srgbClr val="111111"/>
                </a:solidFill>
                <a:latin typeface="Courier New"/>
                <a:ea typeface="Courier New"/>
                <a:cs typeface="Courier New"/>
              </a:rPr>
              <a:t>break</a:t>
            </a:r>
            <a:r>
              <a:rPr sz="2100" b="0" i="0">
                <a:solidFill>
                  <a:srgbClr val="111111"/>
                </a:solidFill>
                <a:latin typeface="Times New Roman"/>
                <a:ea typeface="Times New Roman"/>
                <a:cs typeface="Times New Roman"/>
              </a:rPr>
              <a:t> and </a:t>
            </a:r>
            <a:r>
              <a:rPr sz="1900" b="1" i="0">
                <a:solidFill>
                  <a:srgbClr val="111111"/>
                </a:solidFill>
                <a:latin typeface="Courier New"/>
                <a:ea typeface="Courier New"/>
                <a:cs typeface="Courier New"/>
              </a:rPr>
              <a:t>continue</a:t>
            </a:r>
            <a:r>
              <a:rPr sz="2100" b="0" i="0">
                <a:solidFill>
                  <a:srgbClr val="111111"/>
                </a:solidFill>
                <a:latin typeface="Times New Roman"/>
                <a:ea typeface="Times New Roman"/>
                <a:cs typeface="Times New Roman"/>
              </a:rPr>
              <a:t> keywords:</a:t>
            </a:r>
          </a:p>
        </p:txBody>
      </p:sp>
      <p:sp>
        <p:nvSpPr>
          <p:cNvPr id="5" name="Rectangle 4"/>
          <p:cNvSpPr/>
          <p:nvPr/>
        </p:nvSpPr>
        <p:spPr>
          <a:xfrm>
            <a:off x="571500" y="1524000"/>
            <a:ext cx="5334000" cy="4009136"/>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465072" y="3791763"/>
            <a:ext cx="679704" cy="221996"/>
          </a:xfrm>
          <a:prstGeom prst="rect">
            <a:avLst/>
          </a:prstGeom>
          <a:solidFill>
            <a:srgbClr val="FFFF66"/>
          </a:solidFill>
          <a:ln w="12700">
            <a:solidFill>
              <a:srgbClr val="FFFF6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98500" y="1651000"/>
            <a:ext cx="6096000" cy="3882136"/>
          </a:xfrm>
          <a:prstGeom prst="rect">
            <a:avLst/>
          </a:prstGeom>
          <a:noFill/>
        </p:spPr>
        <p:txBody>
          <a:bodyPr wrap="square" lIns="0" tIns="0" rIns="0" bIns="0" anchor="t">
            <a:spAutoFit/>
          </a:bodyPr>
          <a:lstStyle/>
          <a:p>
            <a:pPr algn="l">
              <a:lnSpc>
                <a:spcPts val="1847"/>
              </a:lnSpc>
            </a:pPr>
            <a:r>
              <a:rPr sz="1320" b="1" i="0">
                <a:solidFill>
                  <a:srgbClr val="000000"/>
                </a:solidFill>
                <a:latin typeface="Courier New"/>
                <a:ea typeface="Courier New"/>
                <a:cs typeface="Courier New"/>
              </a:rPr>
              <a:t>public class TestBreak {</a:t>
            </a:r>
          </a:p>
          <a:p>
            <a:pPr algn="l">
              <a:lnSpc>
                <a:spcPts val="1847"/>
              </a:lnSpc>
            </a:pPr>
            <a:r>
              <a:rPr sz="1320" b="1" i="0">
                <a:solidFill>
                  <a:srgbClr val="000000"/>
                </a:solidFill>
                <a:latin typeface="Courier New"/>
                <a:ea typeface="Courier New"/>
                <a:cs typeface="Courier New"/>
              </a:rPr>
              <a:t>  public static void main(String[] args) {</a:t>
            </a:r>
          </a:p>
          <a:p>
            <a:pPr algn="l">
              <a:lnSpc>
                <a:spcPts val="1847"/>
              </a:lnSpc>
            </a:pPr>
            <a:r>
              <a:rPr sz="1320" b="1" i="0">
                <a:solidFill>
                  <a:srgbClr val="000000"/>
                </a:solidFill>
                <a:latin typeface="Courier New"/>
                <a:ea typeface="Courier New"/>
                <a:cs typeface="Courier New"/>
              </a:rPr>
              <a:t>    int sum = 0;</a:t>
            </a:r>
          </a:p>
          <a:p>
            <a:pPr algn="l">
              <a:lnSpc>
                <a:spcPts val="1847"/>
              </a:lnSpc>
            </a:pPr>
            <a:r>
              <a:rPr sz="1320" b="1" i="0">
                <a:solidFill>
                  <a:srgbClr val="000000"/>
                </a:solidFill>
                <a:latin typeface="Courier New"/>
                <a:ea typeface="Courier New"/>
                <a:cs typeface="Courier New"/>
              </a:rPr>
              <a:t>    int number = 0;</a:t>
            </a:r>
          </a:p>
          <a:p>
            <a:pPr algn="l">
              <a:lnSpc>
                <a:spcPts val="1847"/>
              </a:lnSpc>
            </a:pPr>
            <a:r>
              <a:rPr sz="1320" b="1" i="0">
                <a:solidFill>
                  <a:srgbClr val="000000"/>
                </a:solidFill>
                <a:latin typeface="Courier New"/>
                <a:ea typeface="Courier New"/>
                <a:cs typeface="Courier New"/>
              </a:rPr>
              <a:t> </a:t>
            </a:r>
          </a:p>
          <a:p>
            <a:pPr algn="l">
              <a:lnSpc>
                <a:spcPts val="1847"/>
              </a:lnSpc>
            </a:pPr>
            <a:r>
              <a:rPr sz="1320" b="1" i="0">
                <a:solidFill>
                  <a:srgbClr val="000000"/>
                </a:solidFill>
                <a:latin typeface="Courier New"/>
                <a:ea typeface="Courier New"/>
                <a:cs typeface="Courier New"/>
              </a:rPr>
              <a:t>    while (number &lt; 20) {</a:t>
            </a:r>
          </a:p>
          <a:p>
            <a:pPr algn="l">
              <a:lnSpc>
                <a:spcPts val="1847"/>
              </a:lnSpc>
            </a:pPr>
            <a:r>
              <a:rPr sz="1320" b="1" i="0">
                <a:solidFill>
                  <a:srgbClr val="000000"/>
                </a:solidFill>
                <a:latin typeface="Courier New"/>
                <a:ea typeface="Courier New"/>
                <a:cs typeface="Courier New"/>
              </a:rPr>
              <a:t>      number++;</a:t>
            </a:r>
          </a:p>
          <a:p>
            <a:pPr algn="l">
              <a:lnSpc>
                <a:spcPts val="1847"/>
              </a:lnSpc>
            </a:pPr>
            <a:r>
              <a:rPr sz="1320" b="1" i="0">
                <a:solidFill>
                  <a:srgbClr val="000000"/>
                </a:solidFill>
                <a:latin typeface="Courier New"/>
                <a:ea typeface="Courier New"/>
                <a:cs typeface="Courier New"/>
              </a:rPr>
              <a:t>      sum += number;</a:t>
            </a:r>
          </a:p>
          <a:p>
            <a:pPr algn="l">
              <a:lnSpc>
                <a:spcPts val="1847"/>
              </a:lnSpc>
            </a:pPr>
            <a:r>
              <a:rPr sz="1320" b="1" i="0">
                <a:solidFill>
                  <a:srgbClr val="000000"/>
                </a:solidFill>
                <a:latin typeface="Courier New"/>
                <a:ea typeface="Courier New"/>
                <a:cs typeface="Courier New"/>
              </a:rPr>
              <a:t>      if (sum &gt;= 100)</a:t>
            </a:r>
          </a:p>
          <a:p>
            <a:pPr algn="l">
              <a:lnSpc>
                <a:spcPts val="1847"/>
              </a:lnSpc>
            </a:pPr>
            <a:r>
              <a:rPr sz="1320" b="1" i="0">
                <a:solidFill>
                  <a:srgbClr val="000000"/>
                </a:solidFill>
                <a:latin typeface="Courier New"/>
                <a:ea typeface="Courier New"/>
                <a:cs typeface="Courier New"/>
              </a:rPr>
              <a:t>        break;</a:t>
            </a:r>
          </a:p>
          <a:p>
            <a:pPr algn="l">
              <a:lnSpc>
                <a:spcPts val="1847"/>
              </a:lnSpc>
            </a:pPr>
            <a:r>
              <a:rPr sz="1320" b="1" i="0">
                <a:solidFill>
                  <a:srgbClr val="000000"/>
                </a:solidFill>
                <a:latin typeface="Courier New"/>
                <a:ea typeface="Courier New"/>
                <a:cs typeface="Courier New"/>
              </a:rPr>
              <a:t>    }</a:t>
            </a:r>
          </a:p>
          <a:p>
            <a:pPr algn="l">
              <a:lnSpc>
                <a:spcPts val="1847"/>
              </a:lnSpc>
            </a:pPr>
            <a:r>
              <a:rPr sz="1320" b="1" i="0">
                <a:solidFill>
                  <a:srgbClr val="000000"/>
                </a:solidFill>
                <a:latin typeface="Courier New"/>
                <a:ea typeface="Courier New"/>
                <a:cs typeface="Courier New"/>
              </a:rPr>
              <a:t> </a:t>
            </a:r>
          </a:p>
          <a:p>
            <a:pPr algn="l">
              <a:lnSpc>
                <a:spcPts val="1847"/>
              </a:lnSpc>
            </a:pPr>
            <a:r>
              <a:rPr sz="1320" b="1" i="0">
                <a:solidFill>
                  <a:srgbClr val="000000"/>
                </a:solidFill>
                <a:latin typeface="Courier New"/>
                <a:ea typeface="Courier New"/>
                <a:cs typeface="Courier New"/>
              </a:rPr>
              <a:t>    System.out.println("The number is " + number);</a:t>
            </a:r>
          </a:p>
          <a:p>
            <a:pPr algn="l">
              <a:lnSpc>
                <a:spcPts val="1847"/>
              </a:lnSpc>
            </a:pPr>
            <a:r>
              <a:rPr sz="1320" b="1" i="0">
                <a:solidFill>
                  <a:srgbClr val="000000"/>
                </a:solidFill>
                <a:latin typeface="Courier New"/>
                <a:ea typeface="Courier New"/>
                <a:cs typeface="Courier New"/>
              </a:rPr>
              <a:t>    System.out.println("The sum is " + sum);</a:t>
            </a:r>
          </a:p>
          <a:p>
            <a:pPr algn="l">
              <a:lnSpc>
                <a:spcPts val="1847"/>
              </a:lnSpc>
            </a:pPr>
            <a:r>
              <a:rPr sz="1320" b="1" i="0">
                <a:solidFill>
                  <a:srgbClr val="000000"/>
                </a:solidFill>
                <a:latin typeface="Courier New"/>
                <a:ea typeface="Courier New"/>
                <a:cs typeface="Courier New"/>
              </a:rPr>
              <a:t>  }</a:t>
            </a:r>
          </a:p>
          <a:p>
            <a:pPr algn="l">
              <a:lnSpc>
                <a:spcPts val="1847"/>
              </a:lnSpc>
            </a:pPr>
            <a:r>
              <a:rPr sz="1320" b="1" i="0">
                <a:solidFill>
                  <a:srgbClr val="000000"/>
                </a:solidFill>
                <a:latin typeface="Courier New"/>
                <a:ea typeface="Courier New"/>
                <a:cs typeface="Courier New"/>
              </a:rPr>
              <a:t>}</a:t>
            </a:r>
          </a:p>
        </p:txBody>
      </p:sp>
      <p:sp>
        <p:nvSpPr>
          <p:cNvPr id="8" name="Rectangle 7"/>
          <p:cNvSpPr/>
          <p:nvPr/>
        </p:nvSpPr>
        <p:spPr>
          <a:xfrm>
            <a:off x="6223000" y="1524000"/>
            <a:ext cx="4730496" cy="377444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7116572" y="3557067"/>
            <a:ext cx="981456" cy="221996"/>
          </a:xfrm>
          <a:prstGeom prst="rect">
            <a:avLst/>
          </a:prstGeom>
          <a:solidFill>
            <a:srgbClr val="FFFF66"/>
          </a:solidFill>
          <a:ln w="12700">
            <a:solidFill>
              <a:srgbClr val="FFFF6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350000" y="1651000"/>
            <a:ext cx="5492496" cy="3647440"/>
          </a:xfrm>
          <a:prstGeom prst="rect">
            <a:avLst/>
          </a:prstGeom>
          <a:noFill/>
        </p:spPr>
        <p:txBody>
          <a:bodyPr wrap="square" lIns="0" tIns="0" rIns="0" bIns="0" anchor="t">
            <a:spAutoFit/>
          </a:bodyPr>
          <a:lstStyle/>
          <a:p>
            <a:pPr algn="l">
              <a:lnSpc>
                <a:spcPts val="1847"/>
              </a:lnSpc>
            </a:pPr>
            <a:r>
              <a:rPr sz="1320" b="1" i="0">
                <a:solidFill>
                  <a:srgbClr val="000000"/>
                </a:solidFill>
                <a:latin typeface="Courier New"/>
                <a:ea typeface="Courier New"/>
                <a:cs typeface="Courier New"/>
              </a:rPr>
              <a:t>public class TestContinue {</a:t>
            </a:r>
          </a:p>
          <a:p>
            <a:pPr algn="l">
              <a:lnSpc>
                <a:spcPts val="1847"/>
              </a:lnSpc>
            </a:pPr>
            <a:r>
              <a:rPr sz="1320" b="1" i="0">
                <a:solidFill>
                  <a:srgbClr val="000000"/>
                </a:solidFill>
                <a:latin typeface="Courier New"/>
                <a:ea typeface="Courier New"/>
                <a:cs typeface="Courier New"/>
              </a:rPr>
              <a:t>  public static void main(String[] args) {</a:t>
            </a:r>
          </a:p>
          <a:p>
            <a:pPr algn="l">
              <a:lnSpc>
                <a:spcPts val="1847"/>
              </a:lnSpc>
            </a:pPr>
            <a:r>
              <a:rPr sz="1320" b="1" i="0">
                <a:solidFill>
                  <a:srgbClr val="000000"/>
                </a:solidFill>
                <a:latin typeface="Courier New"/>
                <a:ea typeface="Courier New"/>
                <a:cs typeface="Courier New"/>
              </a:rPr>
              <a:t>    int sum = 0;</a:t>
            </a:r>
          </a:p>
          <a:p>
            <a:pPr algn="l">
              <a:lnSpc>
                <a:spcPts val="1847"/>
              </a:lnSpc>
            </a:pPr>
            <a:r>
              <a:rPr sz="1320" b="1" i="0">
                <a:solidFill>
                  <a:srgbClr val="000000"/>
                </a:solidFill>
                <a:latin typeface="Courier New"/>
                <a:ea typeface="Courier New"/>
                <a:cs typeface="Courier New"/>
              </a:rPr>
              <a:t>    int number = 0;</a:t>
            </a:r>
          </a:p>
          <a:p>
            <a:pPr algn="l">
              <a:lnSpc>
                <a:spcPts val="1847"/>
              </a:lnSpc>
            </a:pPr>
            <a:r>
              <a:rPr sz="1320" b="1" i="0">
                <a:solidFill>
                  <a:srgbClr val="000000"/>
                </a:solidFill>
                <a:latin typeface="Courier New"/>
                <a:ea typeface="Courier New"/>
                <a:cs typeface="Courier New"/>
              </a:rPr>
              <a:t> </a:t>
            </a:r>
          </a:p>
          <a:p>
            <a:pPr algn="l">
              <a:lnSpc>
                <a:spcPts val="1847"/>
              </a:lnSpc>
            </a:pPr>
            <a:r>
              <a:rPr sz="1320" b="1" i="0">
                <a:solidFill>
                  <a:srgbClr val="000000"/>
                </a:solidFill>
                <a:latin typeface="Courier New"/>
                <a:ea typeface="Courier New"/>
                <a:cs typeface="Courier New"/>
              </a:rPr>
              <a:t>    while (number &lt; 20) {</a:t>
            </a:r>
          </a:p>
          <a:p>
            <a:pPr algn="l">
              <a:lnSpc>
                <a:spcPts val="1847"/>
              </a:lnSpc>
            </a:pPr>
            <a:r>
              <a:rPr sz="1320" b="1" i="0">
                <a:solidFill>
                  <a:srgbClr val="000000"/>
                </a:solidFill>
                <a:latin typeface="Courier New"/>
                <a:ea typeface="Courier New"/>
                <a:cs typeface="Courier New"/>
              </a:rPr>
              <a:t>      number++;</a:t>
            </a:r>
          </a:p>
          <a:p>
            <a:pPr algn="l">
              <a:lnSpc>
                <a:spcPts val="1847"/>
              </a:lnSpc>
            </a:pPr>
            <a:r>
              <a:rPr sz="1320" b="1" i="0">
                <a:solidFill>
                  <a:srgbClr val="000000"/>
                </a:solidFill>
                <a:latin typeface="Courier New"/>
                <a:ea typeface="Courier New"/>
                <a:cs typeface="Courier New"/>
              </a:rPr>
              <a:t>      if (number == 10 || number == 11)</a:t>
            </a:r>
          </a:p>
          <a:p>
            <a:pPr algn="l">
              <a:lnSpc>
                <a:spcPts val="1847"/>
              </a:lnSpc>
            </a:pPr>
            <a:r>
              <a:rPr sz="1320" b="1" i="0">
                <a:solidFill>
                  <a:srgbClr val="000000"/>
                </a:solidFill>
                <a:latin typeface="Courier New"/>
                <a:ea typeface="Courier New"/>
                <a:cs typeface="Courier New"/>
              </a:rPr>
              <a:t>        continue;</a:t>
            </a:r>
          </a:p>
          <a:p>
            <a:pPr algn="l">
              <a:lnSpc>
                <a:spcPts val="1847"/>
              </a:lnSpc>
            </a:pPr>
            <a:r>
              <a:rPr sz="1320" b="1" i="0">
                <a:solidFill>
                  <a:srgbClr val="000000"/>
                </a:solidFill>
                <a:latin typeface="Courier New"/>
                <a:ea typeface="Courier New"/>
                <a:cs typeface="Courier New"/>
              </a:rPr>
              <a:t>      sum += number;</a:t>
            </a:r>
          </a:p>
          <a:p>
            <a:pPr algn="l">
              <a:lnSpc>
                <a:spcPts val="1847"/>
              </a:lnSpc>
            </a:pPr>
            <a:r>
              <a:rPr sz="1320" b="1" i="0">
                <a:solidFill>
                  <a:srgbClr val="000000"/>
                </a:solidFill>
                <a:latin typeface="Courier New"/>
                <a:ea typeface="Courier New"/>
                <a:cs typeface="Courier New"/>
              </a:rPr>
              <a:t>    }</a:t>
            </a:r>
          </a:p>
          <a:p>
            <a:pPr algn="l">
              <a:lnSpc>
                <a:spcPts val="1847"/>
              </a:lnSpc>
            </a:pPr>
            <a:r>
              <a:rPr sz="1320" b="1" i="0">
                <a:solidFill>
                  <a:srgbClr val="000000"/>
                </a:solidFill>
                <a:latin typeface="Courier New"/>
                <a:ea typeface="Courier New"/>
                <a:cs typeface="Courier New"/>
              </a:rPr>
              <a:t> </a:t>
            </a:r>
          </a:p>
          <a:p>
            <a:pPr algn="l">
              <a:lnSpc>
                <a:spcPts val="1847"/>
              </a:lnSpc>
            </a:pPr>
            <a:r>
              <a:rPr sz="1320" b="1" i="0">
                <a:solidFill>
                  <a:srgbClr val="000000"/>
                </a:solidFill>
                <a:latin typeface="Courier New"/>
                <a:ea typeface="Courier New"/>
                <a:cs typeface="Courier New"/>
              </a:rPr>
              <a:t>    System.out.println("The sum is " + sum);</a:t>
            </a:r>
          </a:p>
          <a:p>
            <a:pPr algn="l">
              <a:lnSpc>
                <a:spcPts val="1847"/>
              </a:lnSpc>
            </a:pPr>
            <a:r>
              <a:rPr sz="1320" b="1" i="0">
                <a:solidFill>
                  <a:srgbClr val="000000"/>
                </a:solidFill>
                <a:latin typeface="Courier New"/>
                <a:ea typeface="Courier New"/>
                <a:cs typeface="Courier New"/>
              </a:rPr>
              <a:t>  }</a:t>
            </a:r>
          </a:p>
          <a:p>
            <a:pPr algn="l">
              <a:lnSpc>
                <a:spcPts val="1847"/>
              </a:lnSpc>
            </a:pPr>
            <a:r>
              <a:rPr sz="1320" b="1" i="0">
                <a:solidFill>
                  <a:srgbClr val="000000"/>
                </a:solidFill>
                <a:latin typeface="Courier New"/>
                <a:ea typeface="Courier New"/>
                <a:cs typeface="Courier New"/>
              </a:rPr>
              <a:t>}</a:t>
            </a:r>
          </a:p>
        </p:txBody>
      </p:sp>
      <p:cxnSp>
        <p:nvCxnSpPr>
          <p:cNvPr id="11" name="Connector 10"/>
          <p:cNvCxnSpPr/>
          <p:nvPr/>
        </p:nvCxnSpPr>
        <p:spPr>
          <a:xfrm flipH="1">
            <a:off x="914400" y="3902761"/>
            <a:ext cx="499872" cy="0"/>
          </a:xfrm>
          <a:prstGeom prst="line">
            <a:avLst/>
          </a:prstGeom>
          <a:ln w="15875">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 y="3902761"/>
            <a:ext cx="0" cy="704088"/>
          </a:xfrm>
          <a:prstGeom prst="line">
            <a:avLst/>
          </a:prstGeom>
          <a:ln w="15875">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4400" y="4606849"/>
            <a:ext cx="122936" cy="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565900" y="3668065"/>
            <a:ext cx="499872" cy="0"/>
          </a:xfrm>
          <a:prstGeom prst="line">
            <a:avLst/>
          </a:prstGeom>
          <a:ln w="15875">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65900" y="3668065"/>
            <a:ext cx="0" cy="469392"/>
          </a:xfrm>
          <a:prstGeom prst="line">
            <a:avLst/>
          </a:prstGeom>
          <a:ln w="15875">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565900" y="4137457"/>
            <a:ext cx="122936" cy="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47860" y="5867400"/>
            <a:ext cx="169164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TestContinue</a:t>
            </a:r>
            <a:endParaRPr sz="1400" b="1" i="0">
              <a:solidFill>
                <a:srgbClr val="222222"/>
              </a:solidFill>
              <a:latin typeface="Source Sans 3"/>
              <a:ea typeface="Source Sans 3"/>
              <a:cs typeface="Source Sans 3"/>
            </a:endParaRPr>
          </a:p>
        </p:txBody>
      </p:sp>
      <p:sp>
        <p:nvSpPr>
          <p:cNvPr id="18" name="Rounded Rectangle 17"/>
          <p:cNvSpPr/>
          <p:nvPr/>
        </p:nvSpPr>
        <p:spPr>
          <a:xfrm>
            <a:off x="8018780" y="5867400"/>
            <a:ext cx="140208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3"/>
              </a:rPr>
              <a:t>▶ TestBreak</a:t>
            </a:r>
            <a:endParaRPr sz="1400" b="1" i="0">
              <a:solidFill>
                <a:srgbClr val="222222"/>
              </a:solidFill>
              <a:latin typeface="Source Sans 3"/>
              <a:ea typeface="Source Sans 3"/>
              <a:cs typeface="Source Sans 3"/>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(GUI) Controlling a Loop with a Confirmation Dialog</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5EF6F07-4404-4692-9E17-223A0F7661ED}" type="slidenum">
              <a:rPr sz="1200" b="0" i="0">
                <a:solidFill>
                  <a:srgbClr val="6B6B6B"/>
                </a:solidFill>
                <a:latin typeface="Source Sans 3"/>
                <a:ea typeface="Source Sans 3"/>
                <a:cs typeface="Source Sans 3"/>
              </a:rPr>
              <a:pPr algn="l">
                <a:lnSpc>
                  <a:spcPts val="1500"/>
                </a:lnSpc>
              </a:pPr>
              <a:t>108</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A sentinel-controlled loop can be implemented using a confirmation dialog. The answers Yes or No to continue or terminate the loop. The template of the loop may look as follows:</a:t>
            </a:r>
          </a:p>
          <a:p>
            <a:pPr marL="457200" indent="0" algn="l">
              <a:lnSpc>
                <a:spcPts val="2465"/>
              </a:lnSpc>
              <a:spcBef>
                <a:spcPts val="960"/>
              </a:spcBef>
            </a:pPr>
            <a:r>
              <a:rPr sz="1700" b="1" i="0">
                <a:solidFill>
                  <a:srgbClr val="111111"/>
                </a:solidFill>
                <a:latin typeface="Courier New"/>
                <a:ea typeface="Courier New"/>
                <a:cs typeface="Courier New"/>
              </a:rPr>
              <a:t>int option = 0;</a:t>
            </a:r>
          </a:p>
          <a:p>
            <a:pPr marL="457200" indent="0" algn="l">
              <a:lnSpc>
                <a:spcPts val="2465"/>
              </a:lnSpc>
            </a:pPr>
            <a:r>
              <a:rPr sz="1700" b="1" i="0">
                <a:solidFill>
                  <a:srgbClr val="111111"/>
                </a:solidFill>
                <a:latin typeface="Courier New"/>
                <a:ea typeface="Courier New"/>
                <a:cs typeface="Courier New"/>
              </a:rPr>
              <a:t>while (option == JOptionPane.YES_OPTION) {</a:t>
            </a:r>
          </a:p>
          <a:p>
            <a:pPr marL="457200" indent="0" algn="l">
              <a:lnSpc>
                <a:spcPts val="2465"/>
              </a:lnSpc>
            </a:pPr>
            <a:r>
              <a:rPr sz="1700" b="1" i="0">
                <a:solidFill>
                  <a:srgbClr val="111111"/>
                </a:solidFill>
                <a:latin typeface="Courier New"/>
                <a:ea typeface="Courier New"/>
                <a:cs typeface="Courier New"/>
              </a:rPr>
              <a:t>  System.out.println("continue loop");</a:t>
            </a:r>
          </a:p>
          <a:p>
            <a:pPr marL="457200" indent="0" algn="l">
              <a:lnSpc>
                <a:spcPts val="2465"/>
              </a:lnSpc>
            </a:pPr>
            <a:r>
              <a:rPr sz="1700" b="1" i="0">
                <a:solidFill>
                  <a:srgbClr val="111111"/>
                </a:solidFill>
                <a:latin typeface="Courier New"/>
                <a:ea typeface="Courier New"/>
                <a:cs typeface="Courier New"/>
              </a:rPr>
              <a:t>  option = JOptionPane.showConfirmDialog(null, "Continue?");</a:t>
            </a:r>
          </a:p>
          <a:p>
            <a:pPr marL="457200" indent="0" algn="l">
              <a:lnSpc>
                <a:spcPts val="2465"/>
              </a:lnSpc>
            </a:pPr>
            <a:r>
              <a:rPr sz="1700" b="1" i="0">
                <a:solidFill>
                  <a:srgbClr val="111111"/>
                </a:solidFill>
                <a:latin typeface="Courier New"/>
                <a:ea typeface="Courier New"/>
                <a:cs typeface="Courier New"/>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900680"/>
            <a:ext cx="10883900" cy="768350"/>
          </a:xfrm>
        </p:spPr>
        <p:txBody>
          <a:bodyPr lIns="0" tIns="0" rIns="0" bIns="0" anchor="t"/>
          <a:lstStyle/>
          <a:p>
            <a:pPr algn="l">
              <a:lnSpc>
                <a:spcPts val="5775"/>
              </a:lnSpc>
            </a:pPr>
            <a:r>
              <a:rPr sz="5500" b="0" i="0">
                <a:solidFill>
                  <a:srgbClr val="222222"/>
                </a:solidFill>
                <a:latin typeface="Times New Roman"/>
                <a:ea typeface="Times New Roman"/>
                <a:cs typeface="Times New Roman"/>
              </a:rPr>
              <a:t>Methods</a:t>
            </a:r>
          </a:p>
        </p:txBody>
      </p:sp>
      <p:sp>
        <p:nvSpPr>
          <p:cNvPr id="3" name="TextBox 2"/>
          <p:cNvSpPr txBox="1"/>
          <p:nvPr/>
        </p:nvSpPr>
        <p:spPr>
          <a:xfrm>
            <a:off x="812800" y="2456180"/>
            <a:ext cx="10883900" cy="292100"/>
          </a:xfrm>
          <a:prstGeom prst="rect">
            <a:avLst/>
          </a:prstGeom>
          <a:noFill/>
        </p:spPr>
        <p:txBody>
          <a:bodyPr wrap="square" lIns="0" tIns="0" rIns="0" bIns="0" anchor="t">
            <a:spAutoFit/>
          </a:bodyPr>
          <a:lstStyle/>
          <a:p>
            <a:pPr algn="l">
              <a:lnSpc>
                <a:spcPts val="1875"/>
              </a:lnSpc>
            </a:pPr>
            <a:r>
              <a:rPr sz="1500" b="1" i="0">
                <a:solidFill>
                  <a:srgbClr val="B5500F"/>
                </a:solidFill>
                <a:latin typeface="Source Sans 3"/>
                <a:ea typeface="Source Sans 3"/>
                <a:cs typeface="Source Sans 3"/>
              </a:rPr>
              <a:t>Java basics</a:t>
            </a:r>
          </a:p>
        </p:txBody>
      </p:sp>
      <p:sp>
        <p:nvSpPr>
          <p:cNvPr id="4" name="Rectangle 3"/>
          <p:cNvSpPr/>
          <p:nvPr/>
        </p:nvSpPr>
        <p:spPr>
          <a:xfrm>
            <a:off x="812800" y="3811905"/>
            <a:ext cx="1524000" cy="38100"/>
          </a:xfrm>
          <a:prstGeom prst="rect">
            <a:avLst/>
          </a:prstGeom>
          <a:solidFill>
            <a:srgbClr val="E87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DAAFDD1-2803-4620-B145-295CD72A2FFA}" type="slidenum">
              <a:rPr sz="1200" b="0" i="0">
                <a:solidFill>
                  <a:srgbClr val="6B6B6B"/>
                </a:solidFill>
                <a:latin typeface="Source Sans 3"/>
                <a:ea typeface="Source Sans 3"/>
                <a:cs typeface="Source Sans 3"/>
              </a:rPr>
              <a:pPr algn="l">
                <a:lnSpc>
                  <a:spcPts val="1500"/>
                </a:lnSpc>
              </a:pPr>
              <a:t>109</a:t>
            </a:fld>
            <a:endParaRPr sz="1200" b="0" i="0">
              <a:solidFill>
                <a:srgbClr val="6B6B6B"/>
              </a:solidFill>
              <a:latin typeface="Source Sans 3"/>
              <a:ea typeface="Source Sans 3"/>
              <a:cs typeface="Source Sans 3"/>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Problem</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86E26D5-F77E-4BA2-9C12-1729DEAC88C5}" type="slidenum">
              <a:rPr sz="1200" b="0" i="0">
                <a:solidFill>
                  <a:srgbClr val="6B6B6B"/>
                </a:solidFill>
                <a:latin typeface="Source Sans 3"/>
                <a:ea typeface="Source Sans 3"/>
                <a:cs typeface="Source Sans 3"/>
              </a:rPr>
              <a:pPr algn="l">
                <a:lnSpc>
                  <a:spcPts val="1500"/>
                </a:lnSpc>
              </a:pPr>
              <a:t>110</a:t>
            </a:fld>
            <a:endParaRPr sz="1200" b="0" i="0">
              <a:solidFill>
                <a:srgbClr val="6B6B6B"/>
              </a:solidFill>
              <a:latin typeface="Source Sans 3"/>
              <a:ea typeface="Source Sans 3"/>
              <a:cs typeface="Source Sans 3"/>
            </a:endParaRPr>
          </a:p>
        </p:txBody>
      </p:sp>
      <p:sp>
        <p:nvSpPr>
          <p:cNvPr id="4" name="Rectangle 3"/>
          <p:cNvSpPr/>
          <p:nvPr/>
        </p:nvSpPr>
        <p:spPr>
          <a:xfrm>
            <a:off x="1612900" y="1281303"/>
            <a:ext cx="383286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612900" y="1583563"/>
            <a:ext cx="383286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612900" y="1885823"/>
            <a:ext cx="383286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612900" y="2792603"/>
            <a:ext cx="396240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1612900" y="3094863"/>
            <a:ext cx="396240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612900" y="3397123"/>
            <a:ext cx="396240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1612900" y="4303903"/>
            <a:ext cx="396240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1612900" y="4606163"/>
            <a:ext cx="396240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1612900" y="4908423"/>
            <a:ext cx="396240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651000" y="1244600"/>
            <a:ext cx="7543800" cy="435864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int sum = 0;</a:t>
            </a:r>
          </a:p>
          <a:p>
            <a:pPr algn="l">
              <a:lnSpc>
                <a:spcPts val="2379"/>
              </a:lnSpc>
            </a:pPr>
            <a:r>
              <a:rPr sz="1700" b="1" i="0">
                <a:solidFill>
                  <a:srgbClr val="000000"/>
                </a:solidFill>
                <a:latin typeface="Courier New"/>
                <a:ea typeface="Courier New"/>
                <a:cs typeface="Courier New"/>
              </a:rPr>
              <a:t>for (int i = 1; i &lt;= 10; i++)</a:t>
            </a:r>
          </a:p>
          <a:p>
            <a:pPr algn="l">
              <a:lnSpc>
                <a:spcPts val="2379"/>
              </a:lnSpc>
            </a:pPr>
            <a:r>
              <a:rPr sz="1700" b="1" i="0">
                <a:solidFill>
                  <a:srgbClr val="000000"/>
                </a:solidFill>
                <a:latin typeface="Courier New"/>
                <a:ea typeface="Courier New"/>
                <a:cs typeface="Courier New"/>
              </a:rPr>
              <a:t>  sum += i;</a:t>
            </a:r>
          </a:p>
          <a:p>
            <a:pPr algn="l">
              <a:lnSpc>
                <a:spcPts val="2379"/>
              </a:lnSpc>
            </a:pPr>
            <a:r>
              <a:rPr sz="1700" b="1" i="0">
                <a:solidFill>
                  <a:srgbClr val="000000"/>
                </a:solidFill>
                <a:latin typeface="Courier New"/>
                <a:ea typeface="Courier New"/>
                <a:cs typeface="Courier New"/>
              </a:rPr>
              <a:t>System.out.println("Sum from 1 to 10 is " + sum);</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sum = 0;</a:t>
            </a:r>
          </a:p>
          <a:p>
            <a:pPr algn="l">
              <a:lnSpc>
                <a:spcPts val="2379"/>
              </a:lnSpc>
            </a:pPr>
            <a:r>
              <a:rPr sz="1700" b="1" i="0">
                <a:solidFill>
                  <a:srgbClr val="000000"/>
                </a:solidFill>
                <a:latin typeface="Courier New"/>
                <a:ea typeface="Courier New"/>
                <a:cs typeface="Courier New"/>
              </a:rPr>
              <a:t>for (int i = 20; i &lt;= 30; i++)</a:t>
            </a:r>
          </a:p>
          <a:p>
            <a:pPr algn="l">
              <a:lnSpc>
                <a:spcPts val="2379"/>
              </a:lnSpc>
            </a:pPr>
            <a:r>
              <a:rPr sz="1700" b="1" i="0">
                <a:solidFill>
                  <a:srgbClr val="000000"/>
                </a:solidFill>
                <a:latin typeface="Courier New"/>
                <a:ea typeface="Courier New"/>
                <a:cs typeface="Courier New"/>
              </a:rPr>
              <a:t>  sum += i;</a:t>
            </a:r>
          </a:p>
          <a:p>
            <a:pPr algn="l">
              <a:lnSpc>
                <a:spcPts val="2379"/>
              </a:lnSpc>
            </a:pPr>
            <a:r>
              <a:rPr sz="1700" b="1" i="0">
                <a:solidFill>
                  <a:srgbClr val="000000"/>
                </a:solidFill>
                <a:latin typeface="Courier New"/>
                <a:ea typeface="Courier New"/>
                <a:cs typeface="Courier New"/>
              </a:rPr>
              <a:t>System.out.println("Sum from 20 to 30 is " + sum);</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sum = 0;</a:t>
            </a:r>
          </a:p>
          <a:p>
            <a:pPr algn="l">
              <a:lnSpc>
                <a:spcPts val="2379"/>
              </a:lnSpc>
            </a:pPr>
            <a:r>
              <a:rPr sz="1700" b="1" i="0">
                <a:solidFill>
                  <a:srgbClr val="000000"/>
                </a:solidFill>
                <a:latin typeface="Courier New"/>
                <a:ea typeface="Courier New"/>
                <a:cs typeface="Courier New"/>
              </a:rPr>
              <a:t>for (int i = 35; i &lt;= 45; i++)</a:t>
            </a:r>
          </a:p>
          <a:p>
            <a:pPr algn="l">
              <a:lnSpc>
                <a:spcPts val="2379"/>
              </a:lnSpc>
            </a:pPr>
            <a:r>
              <a:rPr sz="1700" b="1" i="0">
                <a:solidFill>
                  <a:srgbClr val="000000"/>
                </a:solidFill>
                <a:latin typeface="Courier New"/>
                <a:ea typeface="Courier New"/>
                <a:cs typeface="Courier New"/>
              </a:rPr>
              <a:t>  sum += i;</a:t>
            </a:r>
          </a:p>
          <a:p>
            <a:pPr algn="l">
              <a:lnSpc>
                <a:spcPts val="2379"/>
              </a:lnSpc>
            </a:pPr>
            <a:r>
              <a:rPr sz="1700" b="1" i="0">
                <a:solidFill>
                  <a:srgbClr val="000000"/>
                </a:solidFill>
                <a:latin typeface="Courier New"/>
                <a:ea typeface="Courier New"/>
                <a:cs typeface="Courier New"/>
              </a:rPr>
              <a:t>System.out.println("Sum from 35 to 45 is " + sum);</a:t>
            </a:r>
          </a:p>
        </p:txBody>
      </p:sp>
      <p:sp>
        <p:nvSpPr>
          <p:cNvPr id="14" name="TextBox 13"/>
          <p:cNvSpPr txBox="1"/>
          <p:nvPr/>
        </p:nvSpPr>
        <p:spPr>
          <a:xfrm>
            <a:off x="8564457" y="676639"/>
            <a:ext cx="3132243" cy="2115964"/>
          </a:xfrm>
          <a:prstGeom prst="rect">
            <a:avLst/>
          </a:prstGeom>
          <a:noFill/>
        </p:spPr>
        <p:txBody>
          <a:bodyPr wrap="square" lIns="0" tIns="0" rIns="0" bIns="0" anchor="t">
            <a:spAutoFit/>
          </a:bodyPr>
          <a:lstStyle/>
          <a:p>
            <a:pPr algn="just">
              <a:lnSpc>
                <a:spcPts val="3250"/>
              </a:lnSpc>
            </a:pPr>
            <a:r>
              <a:rPr sz="2600" b="0" i="0">
                <a:solidFill>
                  <a:srgbClr val="111111"/>
                </a:solidFill>
                <a:latin typeface="Times New Roman"/>
                <a:ea typeface="Times New Roman"/>
                <a:cs typeface="Times New Roman"/>
              </a:rPr>
              <a:t>Find the sum of integers from 1 to 10, from 20 to 30, and from 35 to 45, respectively.</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Solution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6989C2F1-A246-427D-811A-443396051836}" type="slidenum">
              <a:rPr sz="1200" b="0" i="0">
                <a:solidFill>
                  <a:srgbClr val="6B6B6B"/>
                </a:solidFill>
                <a:latin typeface="Source Sans 3"/>
                <a:ea typeface="Source Sans 3"/>
                <a:cs typeface="Source Sans 3"/>
              </a:rPr>
              <a:pPr algn="l">
                <a:lnSpc>
                  <a:spcPts val="1500"/>
                </a:lnSpc>
              </a:pPr>
              <a:t>111</a:t>
            </a:fld>
            <a:endParaRPr sz="1200" b="0" i="0">
              <a:solidFill>
                <a:srgbClr val="6B6B6B"/>
              </a:solidFill>
              <a:latin typeface="Source Sans 3"/>
              <a:ea typeface="Source Sans 3"/>
              <a:cs typeface="Source Sans 3"/>
            </a:endParaRPr>
          </a:p>
        </p:txBody>
      </p:sp>
      <p:sp>
        <p:nvSpPr>
          <p:cNvPr id="4" name="Rectangle 3"/>
          <p:cNvSpPr/>
          <p:nvPr/>
        </p:nvSpPr>
        <p:spPr>
          <a:xfrm>
            <a:off x="1041400" y="1370203"/>
            <a:ext cx="512826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041400" y="1672463"/>
            <a:ext cx="512826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041400" y="1974723"/>
            <a:ext cx="512826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1041400" y="2276983"/>
            <a:ext cx="512826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1041400" y="2579243"/>
            <a:ext cx="512826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041400" y="2881503"/>
            <a:ext cx="512826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7000240" y="3788283"/>
            <a:ext cx="137160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7129780" y="4090543"/>
            <a:ext cx="150114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7129780" y="4392803"/>
            <a:ext cx="1501140" cy="28956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079500" y="1333500"/>
            <a:ext cx="8839200" cy="375412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public static int sum(int i1, int i2) {</a:t>
            </a:r>
          </a:p>
          <a:p>
            <a:pPr algn="l">
              <a:lnSpc>
                <a:spcPts val="2379"/>
              </a:lnSpc>
            </a:pPr>
            <a:r>
              <a:rPr sz="1700" b="1" i="0">
                <a:solidFill>
                  <a:srgbClr val="000000"/>
                </a:solidFill>
                <a:latin typeface="Courier New"/>
                <a:ea typeface="Courier New"/>
                <a:cs typeface="Courier New"/>
              </a:rPr>
              <a:t>  int sum = 0;</a:t>
            </a:r>
          </a:p>
          <a:p>
            <a:pPr algn="l">
              <a:lnSpc>
                <a:spcPts val="2379"/>
              </a:lnSpc>
            </a:pPr>
            <a:r>
              <a:rPr sz="1700" b="1" i="0">
                <a:solidFill>
                  <a:srgbClr val="000000"/>
                </a:solidFill>
                <a:latin typeface="Courier New"/>
                <a:ea typeface="Courier New"/>
                <a:cs typeface="Courier New"/>
              </a:rPr>
              <a:t>  for (int i = i1; i &lt;= i2; i++)</a:t>
            </a:r>
          </a:p>
          <a:p>
            <a:pPr algn="l">
              <a:lnSpc>
                <a:spcPts val="2379"/>
              </a:lnSpc>
            </a:pPr>
            <a:r>
              <a:rPr sz="1700" b="1" i="0">
                <a:solidFill>
                  <a:srgbClr val="000000"/>
                </a:solidFill>
                <a:latin typeface="Courier New"/>
                <a:ea typeface="Courier New"/>
                <a:cs typeface="Courier New"/>
              </a:rPr>
              <a:t>    sum += i;</a:t>
            </a:r>
          </a:p>
          <a:p>
            <a:pPr algn="l">
              <a:lnSpc>
                <a:spcPts val="2379"/>
              </a:lnSpc>
            </a:pPr>
            <a:r>
              <a:rPr sz="1700" b="1" i="0">
                <a:solidFill>
                  <a:srgbClr val="000000"/>
                </a:solidFill>
                <a:latin typeface="Courier New"/>
                <a:ea typeface="Courier New"/>
                <a:cs typeface="Courier New"/>
              </a:rPr>
              <a:t>  return sum;</a:t>
            </a:r>
          </a:p>
          <a:p>
            <a:pPr algn="l">
              <a:lnSpc>
                <a:spcPts val="2379"/>
              </a:lnSpc>
            </a:pPr>
            <a:r>
              <a:rPr sz="1700" b="1" i="0">
                <a:solidFill>
                  <a:srgbClr val="000000"/>
                </a:solidFill>
                <a:latin typeface="Courier New"/>
                <a:ea typeface="Courier New"/>
                <a:cs typeface="Courier New"/>
              </a:rPr>
              <a:t>}</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public static void main(String[] args) {</a:t>
            </a:r>
          </a:p>
          <a:p>
            <a:pPr algn="l">
              <a:lnSpc>
                <a:spcPts val="2379"/>
              </a:lnSpc>
            </a:pPr>
            <a:r>
              <a:rPr sz="1700" b="1" i="0">
                <a:solidFill>
                  <a:srgbClr val="000000"/>
                </a:solidFill>
                <a:latin typeface="Courier New"/>
                <a:ea typeface="Courier New"/>
                <a:cs typeface="Courier New"/>
              </a:rPr>
              <a:t>  System.out.println("Sum from 1 to 10 is " + sum(1, 10));</a:t>
            </a:r>
          </a:p>
          <a:p>
            <a:pPr algn="l">
              <a:lnSpc>
                <a:spcPts val="2379"/>
              </a:lnSpc>
            </a:pPr>
            <a:r>
              <a:rPr sz="1700" b="1" i="0">
                <a:solidFill>
                  <a:srgbClr val="000000"/>
                </a:solidFill>
                <a:latin typeface="Courier New"/>
                <a:ea typeface="Courier New"/>
                <a:cs typeface="Courier New"/>
              </a:rPr>
              <a:t>  System.out.println("Sum from 20 to 30 is " + sum(20, 30));</a:t>
            </a:r>
          </a:p>
          <a:p>
            <a:pPr algn="l">
              <a:lnSpc>
                <a:spcPts val="2379"/>
              </a:lnSpc>
            </a:pPr>
            <a:r>
              <a:rPr sz="1700" b="1" i="0">
                <a:solidFill>
                  <a:srgbClr val="000000"/>
                </a:solidFill>
                <a:latin typeface="Courier New"/>
                <a:ea typeface="Courier New"/>
                <a:cs typeface="Courier New"/>
              </a:rPr>
              <a:t>  System.out.println("Sum from 35 to 45 is " + sum(35, 45));</a:t>
            </a:r>
          </a:p>
          <a:p>
            <a:pPr algn="l">
              <a:lnSpc>
                <a:spcPts val="2379"/>
              </a:lnSpc>
            </a:pPr>
            <a:r>
              <a:rPr sz="1700" b="1" i="0">
                <a:solidFill>
                  <a:srgbClr val="000000"/>
                </a:solidFill>
                <a:latin typeface="Courier New"/>
                <a:ea typeface="Courier New"/>
                <a:cs typeface="Courier New"/>
              </a:rPr>
              <a:t>}</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Defining Methods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E3EF2AC-6420-4CF6-92E1-B94DCED12BEF}" type="slidenum">
              <a:rPr sz="1200" b="0" i="0">
                <a:solidFill>
                  <a:srgbClr val="6B6B6B"/>
                </a:solidFill>
                <a:latin typeface="Source Sans 3"/>
                <a:ea typeface="Source Sans 3"/>
                <a:cs typeface="Source Sans 3"/>
              </a:rPr>
              <a:pPr algn="l">
                <a:lnSpc>
                  <a:spcPts val="1500"/>
                </a:lnSpc>
              </a:pPr>
              <a:t>112</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27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A method is a collection of statements that are grouped together to perform an operation.</a:t>
            </a:r>
          </a:p>
        </p:txBody>
      </p:sp>
      <p:pic>
        <p:nvPicPr>
          <p:cNvPr id="5" name="Picture 4" descr="anat_define.png"/>
          <p:cNvPicPr>
            <a:picLocks noChangeAspect="1"/>
          </p:cNvPicPr>
          <p:nvPr/>
        </p:nvPicPr>
        <p:blipFill>
          <a:blip r:embed="rId2"/>
          <a:stretch>
            <a:fillRect/>
          </a:stretch>
        </p:blipFill>
        <p:spPr>
          <a:xfrm>
            <a:off x="1210174" y="2095500"/>
            <a:ext cx="9771653" cy="3810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Method Signature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AA10133-BA6E-44A9-AEDF-4E86A1ED151F}" type="slidenum">
              <a:rPr sz="1200" b="0" i="0">
                <a:solidFill>
                  <a:srgbClr val="6B6B6B"/>
                </a:solidFill>
                <a:latin typeface="Source Sans 3"/>
                <a:ea typeface="Source Sans 3"/>
                <a:cs typeface="Source Sans 3"/>
              </a:rPr>
              <a:pPr algn="l">
                <a:lnSpc>
                  <a:spcPts val="1500"/>
                </a:lnSpc>
              </a:pPr>
              <a:t>113</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27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Method signature is the combination of the method name and the parameter list.</a:t>
            </a:r>
          </a:p>
        </p:txBody>
      </p:sp>
      <p:pic>
        <p:nvPicPr>
          <p:cNvPr id="5" name="Picture 4" descr="anat_signature.png"/>
          <p:cNvPicPr>
            <a:picLocks noChangeAspect="1"/>
          </p:cNvPicPr>
          <p:nvPr/>
        </p:nvPicPr>
        <p:blipFill>
          <a:blip r:embed="rId2"/>
          <a:stretch>
            <a:fillRect/>
          </a:stretch>
        </p:blipFill>
        <p:spPr>
          <a:xfrm>
            <a:off x="1210174" y="2095500"/>
            <a:ext cx="9771653" cy="38100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Formal Parameters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F34F6AC-3514-4FA7-B97C-47CDB1EAD3A2}" type="slidenum">
              <a:rPr sz="1200" b="0" i="0">
                <a:solidFill>
                  <a:srgbClr val="6B6B6B"/>
                </a:solidFill>
                <a:latin typeface="Source Sans 3"/>
                <a:ea typeface="Source Sans 3"/>
                <a:cs typeface="Source Sans 3"/>
              </a:rPr>
              <a:pPr algn="l">
                <a:lnSpc>
                  <a:spcPts val="1500"/>
                </a:lnSpc>
              </a:pPr>
              <a:t>114</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27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The variables defined in the method header are known as formal parameters.</a:t>
            </a:r>
          </a:p>
        </p:txBody>
      </p:sp>
      <p:pic>
        <p:nvPicPr>
          <p:cNvPr id="5" name="Picture 4" descr="anat_formal.png"/>
          <p:cNvPicPr>
            <a:picLocks noChangeAspect="1"/>
          </p:cNvPicPr>
          <p:nvPr/>
        </p:nvPicPr>
        <p:blipFill>
          <a:blip r:embed="rId2"/>
          <a:stretch>
            <a:fillRect/>
          </a:stretch>
        </p:blipFill>
        <p:spPr>
          <a:xfrm>
            <a:off x="1210174" y="2095500"/>
            <a:ext cx="9771653" cy="38100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Actual Parameters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BC73713A-3E06-4E3B-BFE7-D8E604EF8442}" type="slidenum">
              <a:rPr sz="1200" b="0" i="0">
                <a:solidFill>
                  <a:srgbClr val="6B6B6B"/>
                </a:solidFill>
                <a:latin typeface="Source Sans 3"/>
                <a:ea typeface="Source Sans 3"/>
                <a:cs typeface="Source Sans 3"/>
              </a:rPr>
              <a:pPr algn="l">
                <a:lnSpc>
                  <a:spcPts val="1500"/>
                </a:lnSpc>
              </a:pPr>
              <a:t>115</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27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When a method is invoked, you pass a value to the parameter. This value is referred to as actual parameter or argument.</a:t>
            </a:r>
          </a:p>
        </p:txBody>
      </p:sp>
      <p:pic>
        <p:nvPicPr>
          <p:cNvPr id="5" name="Picture 4" descr="anat_actual.png"/>
          <p:cNvPicPr>
            <a:picLocks noChangeAspect="1"/>
          </p:cNvPicPr>
          <p:nvPr/>
        </p:nvPicPr>
        <p:blipFill>
          <a:blip r:embed="rId2"/>
          <a:stretch>
            <a:fillRect/>
          </a:stretch>
        </p:blipFill>
        <p:spPr>
          <a:xfrm>
            <a:off x="1210174" y="2095500"/>
            <a:ext cx="9771653" cy="381000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Return Value Type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D3BFFF4-A599-4AA7-AC8F-6822BEDAAEE1}" type="slidenum">
              <a:rPr sz="1200" b="0" i="0">
                <a:solidFill>
                  <a:srgbClr val="6B6B6B"/>
                </a:solidFill>
                <a:latin typeface="Source Sans 3"/>
                <a:ea typeface="Source Sans 3"/>
                <a:cs typeface="Source Sans 3"/>
              </a:rPr>
              <a:pPr algn="l">
                <a:lnSpc>
                  <a:spcPts val="1500"/>
                </a:lnSpc>
              </a:pPr>
              <a:t>116</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27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A method may return a value. The returnValueType is the data type of the value the method returns. If the method does not return a value, the returnValueType is the keyword </a:t>
            </a:r>
            <a:r>
              <a:rPr sz="2000" b="1" i="0">
                <a:solidFill>
                  <a:srgbClr val="111111"/>
                </a:solidFill>
                <a:latin typeface="Courier New"/>
                <a:ea typeface="Courier New"/>
                <a:cs typeface="Courier New"/>
              </a:rPr>
              <a:t>void</a:t>
            </a:r>
            <a:r>
              <a:rPr sz="2200" b="0" i="0">
                <a:solidFill>
                  <a:srgbClr val="111111"/>
                </a:solidFill>
                <a:latin typeface="Times New Roman"/>
                <a:ea typeface="Times New Roman"/>
                <a:cs typeface="Times New Roman"/>
              </a:rPr>
              <a:t>. For example, the returnValueType in the </a:t>
            </a:r>
            <a:r>
              <a:rPr sz="2000" b="1" i="0">
                <a:solidFill>
                  <a:srgbClr val="111111"/>
                </a:solidFill>
                <a:latin typeface="Courier New"/>
                <a:ea typeface="Courier New"/>
                <a:cs typeface="Courier New"/>
              </a:rPr>
              <a:t>main</a:t>
            </a:r>
            <a:r>
              <a:rPr sz="2200" b="0" i="0">
                <a:solidFill>
                  <a:srgbClr val="111111"/>
                </a:solidFill>
                <a:latin typeface="Times New Roman"/>
                <a:ea typeface="Times New Roman"/>
                <a:cs typeface="Times New Roman"/>
              </a:rPr>
              <a:t> method is </a:t>
            </a:r>
            <a:r>
              <a:rPr sz="2000" b="1" i="0">
                <a:solidFill>
                  <a:srgbClr val="111111"/>
                </a:solidFill>
                <a:latin typeface="Courier New"/>
                <a:ea typeface="Courier New"/>
                <a:cs typeface="Courier New"/>
              </a:rPr>
              <a:t>void</a:t>
            </a:r>
            <a:r>
              <a:rPr sz="2200" b="0" i="0">
                <a:solidFill>
                  <a:srgbClr val="111111"/>
                </a:solidFill>
                <a:latin typeface="Times New Roman"/>
                <a:ea typeface="Times New Roman"/>
                <a:cs typeface="Times New Roman"/>
              </a:rPr>
              <a:t>.</a:t>
            </a:r>
          </a:p>
        </p:txBody>
      </p:sp>
      <p:pic>
        <p:nvPicPr>
          <p:cNvPr id="5" name="Picture 4" descr="anat_return.png"/>
          <p:cNvPicPr>
            <a:picLocks noChangeAspect="1"/>
          </p:cNvPicPr>
          <p:nvPr/>
        </p:nvPicPr>
        <p:blipFill>
          <a:blip r:embed="rId2"/>
          <a:stretch>
            <a:fillRect/>
          </a:stretch>
        </p:blipFill>
        <p:spPr>
          <a:xfrm>
            <a:off x="1210174" y="2413000"/>
            <a:ext cx="9771653" cy="38100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Calling Methods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C6E62B1-AAC6-421B-81D6-1D04B4E96305}" type="slidenum">
              <a:rPr sz="1200" b="0" i="0">
                <a:solidFill>
                  <a:srgbClr val="6B6B6B"/>
                </a:solidFill>
                <a:latin typeface="Source Sans 3"/>
                <a:ea typeface="Source Sans 3"/>
                <a:cs typeface="Source Sans 3"/>
              </a:rPr>
              <a:pPr algn="l">
                <a:lnSpc>
                  <a:spcPts val="1500"/>
                </a:lnSpc>
              </a:pPr>
              <a:t>117</a:t>
            </a:fld>
            <a:endParaRPr sz="1200" b="0" i="0">
              <a:solidFill>
                <a:srgbClr val="6B6B6B"/>
              </a:solidFill>
              <a:latin typeface="Source Sans 3"/>
              <a:ea typeface="Source Sans 3"/>
              <a:cs typeface="Source Sans 3"/>
            </a:endParaRPr>
          </a:p>
        </p:txBody>
      </p:sp>
      <p:sp>
        <p:nvSpPr>
          <p:cNvPr id="4" name="TextBox 3"/>
          <p:cNvSpPr txBox="1"/>
          <p:nvPr/>
        </p:nvSpPr>
        <p:spPr>
          <a:xfrm>
            <a:off x="952500" y="1524000"/>
            <a:ext cx="10287000" cy="5080000"/>
          </a:xfrm>
          <a:prstGeom prst="rect">
            <a:avLst/>
          </a:prstGeom>
          <a:noFill/>
        </p:spPr>
        <p:txBody>
          <a:bodyPr wrap="square" lIns="0" tIns="0" rIns="0" bIns="0" anchor="t">
            <a:spAutoFit/>
          </a:bodyPr>
          <a:lstStyle/>
          <a:p>
            <a:pPr algn="l">
              <a:lnSpc>
                <a:spcPts val="3250"/>
              </a:lnSpc>
            </a:pPr>
            <a:r>
              <a:rPr sz="2600" b="0" i="0">
                <a:solidFill>
                  <a:srgbClr val="111111"/>
                </a:solidFill>
                <a:latin typeface="Times New Roman"/>
                <a:ea typeface="Times New Roman"/>
                <a:cs typeface="Times New Roman"/>
              </a:rPr>
              <a:t>Testing the </a:t>
            </a:r>
            <a:r>
              <a:rPr sz="2400" b="1" i="0">
                <a:solidFill>
                  <a:srgbClr val="111111"/>
                </a:solidFill>
                <a:latin typeface="Courier New"/>
                <a:ea typeface="Courier New"/>
                <a:cs typeface="Courier New"/>
              </a:rPr>
              <a:t>max</a:t>
            </a:r>
            <a:r>
              <a:rPr sz="2600" b="0" i="0">
                <a:solidFill>
                  <a:srgbClr val="111111"/>
                </a:solidFill>
                <a:latin typeface="Times New Roman"/>
                <a:ea typeface="Times New Roman"/>
                <a:cs typeface="Times New Roman"/>
              </a:rPr>
              <a:t> method</a:t>
            </a:r>
          </a:p>
          <a:p>
            <a:pPr algn="l">
              <a:lnSpc>
                <a:spcPts val="3250"/>
              </a:lnSpc>
              <a:spcBef>
                <a:spcPts val="1800"/>
              </a:spcBef>
            </a:pPr>
            <a:r>
              <a:rPr sz="2600" b="0" i="0">
                <a:solidFill>
                  <a:srgbClr val="111111"/>
                </a:solidFill>
                <a:latin typeface="Times New Roman"/>
                <a:ea typeface="Times New Roman"/>
                <a:cs typeface="Times New Roman"/>
              </a:rPr>
              <a:t>This program demonstrates calling a method </a:t>
            </a:r>
            <a:r>
              <a:rPr sz="2400" b="1" i="0">
                <a:solidFill>
                  <a:srgbClr val="111111"/>
                </a:solidFill>
                <a:latin typeface="Courier New"/>
                <a:ea typeface="Courier New"/>
                <a:cs typeface="Courier New"/>
              </a:rPr>
              <a:t>max</a:t>
            </a:r>
            <a:r>
              <a:rPr sz="2600" b="0" i="0">
                <a:solidFill>
                  <a:srgbClr val="111111"/>
                </a:solidFill>
                <a:latin typeface="Times New Roman"/>
                <a:ea typeface="Times New Roman"/>
                <a:cs typeface="Times New Roman"/>
              </a:rPr>
              <a:t> to return the largest of the </a:t>
            </a:r>
            <a:r>
              <a:rPr sz="2400" b="1" i="0">
                <a:solidFill>
                  <a:srgbClr val="111111"/>
                </a:solidFill>
                <a:latin typeface="Courier New"/>
                <a:ea typeface="Courier New"/>
                <a:cs typeface="Courier New"/>
              </a:rPr>
              <a:t>int</a:t>
            </a:r>
            <a:r>
              <a:rPr sz="2600" b="0" i="0">
                <a:solidFill>
                  <a:srgbClr val="111111"/>
                </a:solidFill>
                <a:latin typeface="Times New Roman"/>
                <a:ea typeface="Times New Roman"/>
                <a:cs typeface="Times New Roman"/>
              </a:rPr>
              <a:t> values</a:t>
            </a:r>
          </a:p>
        </p:txBody>
      </p:sp>
      <p:sp>
        <p:nvSpPr>
          <p:cNvPr id="5" name="Rounded Rectangle 4"/>
          <p:cNvSpPr/>
          <p:nvPr/>
        </p:nvSpPr>
        <p:spPr>
          <a:xfrm>
            <a:off x="10030460" y="5732780"/>
            <a:ext cx="120904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TestMax</a:t>
            </a:r>
            <a:endParaRPr sz="1400" b="1" i="0">
              <a:solidFill>
                <a:srgbClr val="222222"/>
              </a:solidFill>
              <a:latin typeface="Source Sans 3"/>
              <a:ea typeface="Source Sans 3"/>
              <a:cs typeface="Source Sans 3"/>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Calling Methods, cont.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E42208B-2A3B-417B-95AA-55D774BF431E}" type="slidenum">
              <a:rPr sz="1200" b="0" i="0">
                <a:solidFill>
                  <a:srgbClr val="6B6B6B"/>
                </a:solidFill>
                <a:latin typeface="Source Sans 3"/>
                <a:ea typeface="Source Sans 3"/>
                <a:cs typeface="Source Sans 3"/>
              </a:rPr>
              <a:pPr algn="l">
                <a:lnSpc>
                  <a:spcPts val="1500"/>
                </a:lnSpc>
              </a:pPr>
              <a:t>118</a:t>
            </a:fld>
            <a:endParaRPr sz="1200" b="0" i="0">
              <a:solidFill>
                <a:srgbClr val="6B6B6B"/>
              </a:solidFill>
              <a:latin typeface="Source Sans 3"/>
              <a:ea typeface="Source Sans 3"/>
              <a:cs typeface="Source Sans 3"/>
            </a:endParaRPr>
          </a:p>
        </p:txBody>
      </p:sp>
      <p:pic>
        <p:nvPicPr>
          <p:cNvPr id="4" name="Picture 3" descr="calling_cont.png"/>
          <p:cNvPicPr>
            <a:picLocks noChangeAspect="1"/>
          </p:cNvPicPr>
          <p:nvPr/>
        </p:nvPicPr>
        <p:blipFill>
          <a:blip r:embed="rId2"/>
          <a:stretch>
            <a:fillRect/>
          </a:stretch>
        </p:blipFill>
        <p:spPr>
          <a:xfrm>
            <a:off x="762000" y="1778000"/>
            <a:ext cx="10668000" cy="3520094"/>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Method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A35E147-B41B-469F-B278-20D4C9E41641}" type="slidenum">
              <a:rPr sz="1200" b="0" i="0">
                <a:solidFill>
                  <a:srgbClr val="6B6B6B"/>
                </a:solidFill>
                <a:latin typeface="Source Sans 3"/>
                <a:ea typeface="Source Sans 3"/>
                <a:cs typeface="Source Sans 3"/>
              </a:rPr>
              <a:pPr algn="l">
                <a:lnSpc>
                  <a:spcPts val="1500"/>
                </a:lnSpc>
              </a:pPr>
              <a:t>119</a:t>
            </a:fld>
            <a:endParaRPr sz="1200" b="0" i="0">
              <a:solidFill>
                <a:srgbClr val="6B6B6B"/>
              </a:solidFill>
              <a:latin typeface="Source Sans 3"/>
              <a:ea typeface="Source Sans 3"/>
              <a:cs typeface="Source Sans 3"/>
            </a:endParaRPr>
          </a:p>
        </p:txBody>
      </p:sp>
      <p:sp>
        <p:nvSpPr>
          <p:cNvPr id="4" name="Rectangle 3"/>
          <p:cNvSpPr/>
          <p:nvPr/>
        </p:nvSpPr>
        <p:spPr>
          <a:xfrm>
            <a:off x="571500" y="2730500"/>
            <a:ext cx="5270500" cy="241427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66140" y="3126676"/>
            <a:ext cx="110490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98500" y="2857500"/>
            <a:ext cx="6032500" cy="228727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void main(String[] args) {</a:t>
            </a:r>
          </a:p>
          <a:p>
            <a:pPr algn="l">
              <a:lnSpc>
                <a:spcPts val="1889"/>
              </a:lnSpc>
            </a:pPr>
            <a:r>
              <a:rPr sz="1350" b="1" i="0">
                <a:solidFill>
                  <a:srgbClr val="000000"/>
                </a:solidFill>
                <a:latin typeface="Courier New"/>
                <a:ea typeface="Courier New"/>
                <a:cs typeface="Courier New"/>
              </a:rPr>
              <a:t>  int i = 5;</a:t>
            </a:r>
          </a:p>
          <a:p>
            <a:pPr algn="l">
              <a:lnSpc>
                <a:spcPts val="1889"/>
              </a:lnSpc>
            </a:pPr>
            <a:r>
              <a:rPr sz="1350" b="1" i="0">
                <a:solidFill>
                  <a:srgbClr val="000000"/>
                </a:solidFill>
                <a:latin typeface="Courier New"/>
                <a:ea typeface="Courier New"/>
                <a:cs typeface="Courier New"/>
              </a:rPr>
              <a:t>  int j = 2;</a:t>
            </a:r>
          </a:p>
          <a:p>
            <a:pPr algn="l">
              <a:lnSpc>
                <a:spcPts val="1889"/>
              </a:lnSpc>
            </a:pPr>
            <a:r>
              <a:rPr sz="1350" b="1" i="0">
                <a:solidFill>
                  <a:srgbClr val="000000"/>
                </a:solidFill>
                <a:latin typeface="Courier New"/>
                <a:ea typeface="Courier New"/>
                <a:cs typeface="Courier New"/>
              </a:rPr>
              <a:t>  int k = max(i, j);</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System.out.println(</a:t>
            </a:r>
          </a:p>
          <a:p>
            <a:pPr algn="l">
              <a:lnSpc>
                <a:spcPts val="1889"/>
              </a:lnSpc>
            </a:pPr>
            <a:r>
              <a:rPr sz="1350" b="1" i="0">
                <a:solidFill>
                  <a:srgbClr val="000000"/>
                </a:solidFill>
                <a:latin typeface="Courier New"/>
                <a:ea typeface="Courier New"/>
                <a:cs typeface="Courier New"/>
              </a:rPr>
              <a:t>   "The maximum between " + i +</a:t>
            </a:r>
          </a:p>
          <a:p>
            <a:pPr algn="l">
              <a:lnSpc>
                <a:spcPts val="1889"/>
              </a:lnSpc>
            </a:pPr>
            <a:r>
              <a:rPr sz="1350" b="1" i="0">
                <a:solidFill>
                  <a:srgbClr val="000000"/>
                </a:solidFill>
                <a:latin typeface="Courier New"/>
                <a:ea typeface="Courier New"/>
                <a:cs typeface="Courier New"/>
              </a:rPr>
              <a:t>   " and " + j + " is " + k);</a:t>
            </a:r>
          </a:p>
          <a:p>
            <a:pPr algn="l">
              <a:lnSpc>
                <a:spcPts val="1889"/>
              </a:lnSpc>
            </a:pPr>
            <a:r>
              <a:rPr sz="1350" b="1" i="0">
                <a:solidFill>
                  <a:srgbClr val="000000"/>
                </a:solidFill>
                <a:latin typeface="Courier New"/>
                <a:ea typeface="Courier New"/>
                <a:cs typeface="Courier New"/>
              </a:rPr>
              <a:t>}</a:t>
            </a:r>
          </a:p>
        </p:txBody>
      </p:sp>
      <p:sp>
        <p:nvSpPr>
          <p:cNvPr id="7" name="Rectangle 6"/>
          <p:cNvSpPr/>
          <p:nvPr/>
        </p:nvSpPr>
        <p:spPr>
          <a:xfrm>
            <a:off x="6096000" y="2730500"/>
            <a:ext cx="5524500" cy="26543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223000" y="2857500"/>
            <a:ext cx="6286500" cy="252730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int max(int num1, int num2) {</a:t>
            </a:r>
          </a:p>
          <a:p>
            <a:pPr algn="l">
              <a:lnSpc>
                <a:spcPts val="1889"/>
              </a:lnSpc>
            </a:pPr>
            <a:r>
              <a:rPr sz="1350" b="1" i="0">
                <a:solidFill>
                  <a:srgbClr val="000000"/>
                </a:solidFill>
                <a:latin typeface="Courier New"/>
                <a:ea typeface="Courier New"/>
                <a:cs typeface="Courier New"/>
              </a:rPr>
              <a:t>  int result;</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if (num1 &gt; num2)</a:t>
            </a:r>
          </a:p>
          <a:p>
            <a:pPr algn="l">
              <a:lnSpc>
                <a:spcPts val="1889"/>
              </a:lnSpc>
            </a:pPr>
            <a:r>
              <a:rPr sz="1350" b="1" i="0">
                <a:solidFill>
                  <a:srgbClr val="000000"/>
                </a:solidFill>
                <a:latin typeface="Courier New"/>
                <a:ea typeface="Courier New"/>
                <a:cs typeface="Courier New"/>
              </a:rPr>
              <a:t>    result = num1;</a:t>
            </a:r>
          </a:p>
          <a:p>
            <a:pPr algn="l">
              <a:lnSpc>
                <a:spcPts val="1889"/>
              </a:lnSpc>
            </a:pPr>
            <a:r>
              <a:rPr sz="1350" b="1" i="0">
                <a:solidFill>
                  <a:srgbClr val="000000"/>
                </a:solidFill>
                <a:latin typeface="Courier New"/>
                <a:ea typeface="Courier New"/>
                <a:cs typeface="Courier New"/>
              </a:rPr>
              <a:t>  else</a:t>
            </a:r>
          </a:p>
          <a:p>
            <a:pPr algn="l">
              <a:lnSpc>
                <a:spcPts val="1889"/>
              </a:lnSpc>
            </a:pPr>
            <a:r>
              <a:rPr sz="1350" b="1" i="0">
                <a:solidFill>
                  <a:srgbClr val="000000"/>
                </a:solidFill>
                <a:latin typeface="Courier New"/>
                <a:ea typeface="Courier New"/>
                <a:cs typeface="Courier New"/>
              </a:rPr>
              <a:t>    result = num2;</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return result;</a:t>
            </a:r>
          </a:p>
          <a:p>
            <a:pPr algn="l">
              <a:lnSpc>
                <a:spcPts val="1889"/>
              </a:lnSpc>
            </a:pPr>
            <a:r>
              <a:rPr sz="1350" b="1" i="0">
                <a:solidFill>
                  <a:srgbClr val="000000"/>
                </a:solidFill>
                <a:latin typeface="Courier New"/>
                <a:ea typeface="Courier New"/>
                <a:cs typeface="Courier New"/>
              </a:rPr>
              <a:t>}</a:t>
            </a:r>
          </a:p>
        </p:txBody>
      </p:sp>
      <p:sp>
        <p:nvSpPr>
          <p:cNvPr id="9" name="Rounded Rectangle 8"/>
          <p:cNvSpPr/>
          <p:nvPr/>
        </p:nvSpPr>
        <p:spPr>
          <a:xfrm>
            <a:off x="3810000" y="1813560"/>
            <a:ext cx="3810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860800" y="1902460"/>
            <a:ext cx="3708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 is now 5</a:t>
            </a:r>
          </a:p>
        </p:txBody>
      </p:sp>
      <p:cxnSp>
        <p:nvCxnSpPr>
          <p:cNvPr id="11" name="Connector 10"/>
          <p:cNvCxnSpPr/>
          <p:nvPr/>
        </p:nvCxnSpPr>
        <p:spPr>
          <a:xfrm flipH="1">
            <a:off x="1529080" y="2311400"/>
            <a:ext cx="4185920" cy="840676"/>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Method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A1CDBEE-B508-459A-93E2-320194ABD00D}" type="slidenum">
              <a:rPr sz="1200" b="0" i="0">
                <a:solidFill>
                  <a:srgbClr val="6B6B6B"/>
                </a:solidFill>
                <a:latin typeface="Source Sans 3"/>
                <a:ea typeface="Source Sans 3"/>
                <a:cs typeface="Source Sans 3"/>
              </a:rPr>
              <a:pPr algn="l">
                <a:lnSpc>
                  <a:spcPts val="1500"/>
                </a:lnSpc>
              </a:pPr>
              <a:t>120</a:t>
            </a:fld>
            <a:endParaRPr sz="1200" b="0" i="0">
              <a:solidFill>
                <a:srgbClr val="6B6B6B"/>
              </a:solidFill>
              <a:latin typeface="Source Sans 3"/>
              <a:ea typeface="Source Sans 3"/>
              <a:cs typeface="Source Sans 3"/>
            </a:endParaRPr>
          </a:p>
        </p:txBody>
      </p:sp>
      <p:sp>
        <p:nvSpPr>
          <p:cNvPr id="4" name="Rectangle 3"/>
          <p:cNvSpPr/>
          <p:nvPr/>
        </p:nvSpPr>
        <p:spPr>
          <a:xfrm>
            <a:off x="571500" y="2730500"/>
            <a:ext cx="5270500" cy="241427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66140" y="3366707"/>
            <a:ext cx="110490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98500" y="2857500"/>
            <a:ext cx="6032500" cy="228727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void main(String[] args) {</a:t>
            </a:r>
          </a:p>
          <a:p>
            <a:pPr algn="l">
              <a:lnSpc>
                <a:spcPts val="1889"/>
              </a:lnSpc>
            </a:pPr>
            <a:r>
              <a:rPr sz="1350" b="1" i="0">
                <a:solidFill>
                  <a:srgbClr val="000000"/>
                </a:solidFill>
                <a:latin typeface="Courier New"/>
                <a:ea typeface="Courier New"/>
                <a:cs typeface="Courier New"/>
              </a:rPr>
              <a:t>  int i = 5;</a:t>
            </a:r>
          </a:p>
          <a:p>
            <a:pPr algn="l">
              <a:lnSpc>
                <a:spcPts val="1889"/>
              </a:lnSpc>
            </a:pPr>
            <a:r>
              <a:rPr sz="1350" b="1" i="0">
                <a:solidFill>
                  <a:srgbClr val="000000"/>
                </a:solidFill>
                <a:latin typeface="Courier New"/>
                <a:ea typeface="Courier New"/>
                <a:cs typeface="Courier New"/>
              </a:rPr>
              <a:t>  int j = 2;</a:t>
            </a:r>
          </a:p>
          <a:p>
            <a:pPr algn="l">
              <a:lnSpc>
                <a:spcPts val="1889"/>
              </a:lnSpc>
            </a:pPr>
            <a:r>
              <a:rPr sz="1350" b="1" i="0">
                <a:solidFill>
                  <a:srgbClr val="000000"/>
                </a:solidFill>
                <a:latin typeface="Courier New"/>
                <a:ea typeface="Courier New"/>
                <a:cs typeface="Courier New"/>
              </a:rPr>
              <a:t>  int k = max(i, j);</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System.out.println(</a:t>
            </a:r>
          </a:p>
          <a:p>
            <a:pPr algn="l">
              <a:lnSpc>
                <a:spcPts val="1889"/>
              </a:lnSpc>
            </a:pPr>
            <a:r>
              <a:rPr sz="1350" b="1" i="0">
                <a:solidFill>
                  <a:srgbClr val="000000"/>
                </a:solidFill>
                <a:latin typeface="Courier New"/>
                <a:ea typeface="Courier New"/>
                <a:cs typeface="Courier New"/>
              </a:rPr>
              <a:t>   "The maximum between " + i +</a:t>
            </a:r>
          </a:p>
          <a:p>
            <a:pPr algn="l">
              <a:lnSpc>
                <a:spcPts val="1889"/>
              </a:lnSpc>
            </a:pPr>
            <a:r>
              <a:rPr sz="1350" b="1" i="0">
                <a:solidFill>
                  <a:srgbClr val="000000"/>
                </a:solidFill>
                <a:latin typeface="Courier New"/>
                <a:ea typeface="Courier New"/>
                <a:cs typeface="Courier New"/>
              </a:rPr>
              <a:t>   " and " + j + " is " + k);</a:t>
            </a:r>
          </a:p>
          <a:p>
            <a:pPr algn="l">
              <a:lnSpc>
                <a:spcPts val="1889"/>
              </a:lnSpc>
            </a:pPr>
            <a:r>
              <a:rPr sz="1350" b="1" i="0">
                <a:solidFill>
                  <a:srgbClr val="000000"/>
                </a:solidFill>
                <a:latin typeface="Courier New"/>
                <a:ea typeface="Courier New"/>
                <a:cs typeface="Courier New"/>
              </a:rPr>
              <a:t>}</a:t>
            </a:r>
          </a:p>
        </p:txBody>
      </p:sp>
      <p:sp>
        <p:nvSpPr>
          <p:cNvPr id="7" name="Rectangle 6"/>
          <p:cNvSpPr/>
          <p:nvPr/>
        </p:nvSpPr>
        <p:spPr>
          <a:xfrm>
            <a:off x="6096000" y="2730500"/>
            <a:ext cx="5524500" cy="26543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223000" y="2857500"/>
            <a:ext cx="6286500" cy="252730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int max(int num1, int num2) {</a:t>
            </a:r>
          </a:p>
          <a:p>
            <a:pPr algn="l">
              <a:lnSpc>
                <a:spcPts val="1889"/>
              </a:lnSpc>
            </a:pPr>
            <a:r>
              <a:rPr sz="1350" b="1" i="0">
                <a:solidFill>
                  <a:srgbClr val="000000"/>
                </a:solidFill>
                <a:latin typeface="Courier New"/>
                <a:ea typeface="Courier New"/>
                <a:cs typeface="Courier New"/>
              </a:rPr>
              <a:t>  int result;</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if (num1 &gt; num2)</a:t>
            </a:r>
          </a:p>
          <a:p>
            <a:pPr algn="l">
              <a:lnSpc>
                <a:spcPts val="1889"/>
              </a:lnSpc>
            </a:pPr>
            <a:r>
              <a:rPr sz="1350" b="1" i="0">
                <a:solidFill>
                  <a:srgbClr val="000000"/>
                </a:solidFill>
                <a:latin typeface="Courier New"/>
                <a:ea typeface="Courier New"/>
                <a:cs typeface="Courier New"/>
              </a:rPr>
              <a:t>    result = num1;</a:t>
            </a:r>
          </a:p>
          <a:p>
            <a:pPr algn="l">
              <a:lnSpc>
                <a:spcPts val="1889"/>
              </a:lnSpc>
            </a:pPr>
            <a:r>
              <a:rPr sz="1350" b="1" i="0">
                <a:solidFill>
                  <a:srgbClr val="000000"/>
                </a:solidFill>
                <a:latin typeface="Courier New"/>
                <a:ea typeface="Courier New"/>
                <a:cs typeface="Courier New"/>
              </a:rPr>
              <a:t>  else</a:t>
            </a:r>
          </a:p>
          <a:p>
            <a:pPr algn="l">
              <a:lnSpc>
                <a:spcPts val="1889"/>
              </a:lnSpc>
            </a:pPr>
            <a:r>
              <a:rPr sz="1350" b="1" i="0">
                <a:solidFill>
                  <a:srgbClr val="000000"/>
                </a:solidFill>
                <a:latin typeface="Courier New"/>
                <a:ea typeface="Courier New"/>
                <a:cs typeface="Courier New"/>
              </a:rPr>
              <a:t>    result = num2;</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return result;</a:t>
            </a:r>
          </a:p>
          <a:p>
            <a:pPr algn="l">
              <a:lnSpc>
                <a:spcPts val="1889"/>
              </a:lnSpc>
            </a:pPr>
            <a:r>
              <a:rPr sz="1350" b="1" i="0">
                <a:solidFill>
                  <a:srgbClr val="000000"/>
                </a:solidFill>
                <a:latin typeface="Courier New"/>
                <a:ea typeface="Courier New"/>
                <a:cs typeface="Courier New"/>
              </a:rPr>
              <a:t>}</a:t>
            </a:r>
          </a:p>
        </p:txBody>
      </p:sp>
      <p:sp>
        <p:nvSpPr>
          <p:cNvPr id="9" name="Rounded Rectangle 8"/>
          <p:cNvSpPr/>
          <p:nvPr/>
        </p:nvSpPr>
        <p:spPr>
          <a:xfrm>
            <a:off x="3810000" y="1813560"/>
            <a:ext cx="3810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860800" y="1902460"/>
            <a:ext cx="3708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j is now 2</a:t>
            </a:r>
          </a:p>
        </p:txBody>
      </p:sp>
      <p:cxnSp>
        <p:nvCxnSpPr>
          <p:cNvPr id="11" name="Connector 10"/>
          <p:cNvCxnSpPr/>
          <p:nvPr/>
        </p:nvCxnSpPr>
        <p:spPr>
          <a:xfrm flipH="1">
            <a:off x="1529080" y="2311400"/>
            <a:ext cx="4185920" cy="1080707"/>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Method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E621A8E-5D59-4F01-82EA-FF9A944A7CEE}" type="slidenum">
              <a:rPr sz="1200" b="0" i="0">
                <a:solidFill>
                  <a:srgbClr val="6B6B6B"/>
                </a:solidFill>
                <a:latin typeface="Source Sans 3"/>
                <a:ea typeface="Source Sans 3"/>
                <a:cs typeface="Source Sans 3"/>
              </a:rPr>
              <a:pPr algn="l">
                <a:lnSpc>
                  <a:spcPts val="1500"/>
                </a:lnSpc>
              </a:pPr>
              <a:t>121</a:t>
            </a:fld>
            <a:endParaRPr sz="1200" b="0" i="0">
              <a:solidFill>
                <a:srgbClr val="6B6B6B"/>
              </a:solidFill>
              <a:latin typeface="Source Sans 3"/>
              <a:ea typeface="Source Sans 3"/>
              <a:cs typeface="Source Sans 3"/>
            </a:endParaRPr>
          </a:p>
        </p:txBody>
      </p:sp>
      <p:sp>
        <p:nvSpPr>
          <p:cNvPr id="4" name="Rectangle 3"/>
          <p:cNvSpPr/>
          <p:nvPr/>
        </p:nvSpPr>
        <p:spPr>
          <a:xfrm>
            <a:off x="571500" y="2730500"/>
            <a:ext cx="5270500" cy="241427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689100" y="3606736"/>
            <a:ext cx="100203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98500" y="2857500"/>
            <a:ext cx="6032500" cy="228727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void main(String[] args) {</a:t>
            </a:r>
          </a:p>
          <a:p>
            <a:pPr algn="l">
              <a:lnSpc>
                <a:spcPts val="1889"/>
              </a:lnSpc>
            </a:pPr>
            <a:r>
              <a:rPr sz="1350" b="1" i="0">
                <a:solidFill>
                  <a:srgbClr val="000000"/>
                </a:solidFill>
                <a:latin typeface="Courier New"/>
                <a:ea typeface="Courier New"/>
                <a:cs typeface="Courier New"/>
              </a:rPr>
              <a:t>  int i = 5;</a:t>
            </a:r>
          </a:p>
          <a:p>
            <a:pPr algn="l">
              <a:lnSpc>
                <a:spcPts val="1889"/>
              </a:lnSpc>
            </a:pPr>
            <a:r>
              <a:rPr sz="1350" b="1" i="0">
                <a:solidFill>
                  <a:srgbClr val="000000"/>
                </a:solidFill>
                <a:latin typeface="Courier New"/>
                <a:ea typeface="Courier New"/>
                <a:cs typeface="Courier New"/>
              </a:rPr>
              <a:t>  int j = 2;</a:t>
            </a:r>
          </a:p>
          <a:p>
            <a:pPr algn="l">
              <a:lnSpc>
                <a:spcPts val="1889"/>
              </a:lnSpc>
            </a:pPr>
            <a:r>
              <a:rPr sz="1350" b="1" i="0">
                <a:solidFill>
                  <a:srgbClr val="000000"/>
                </a:solidFill>
                <a:latin typeface="Courier New"/>
                <a:ea typeface="Courier New"/>
                <a:cs typeface="Courier New"/>
              </a:rPr>
              <a:t>  int k = max(i, j);</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System.out.println(</a:t>
            </a:r>
          </a:p>
          <a:p>
            <a:pPr algn="l">
              <a:lnSpc>
                <a:spcPts val="1889"/>
              </a:lnSpc>
            </a:pPr>
            <a:r>
              <a:rPr sz="1350" b="1" i="0">
                <a:solidFill>
                  <a:srgbClr val="000000"/>
                </a:solidFill>
                <a:latin typeface="Courier New"/>
                <a:ea typeface="Courier New"/>
                <a:cs typeface="Courier New"/>
              </a:rPr>
              <a:t>   "The maximum between " + i +</a:t>
            </a:r>
          </a:p>
          <a:p>
            <a:pPr algn="l">
              <a:lnSpc>
                <a:spcPts val="1889"/>
              </a:lnSpc>
            </a:pPr>
            <a:r>
              <a:rPr sz="1350" b="1" i="0">
                <a:solidFill>
                  <a:srgbClr val="000000"/>
                </a:solidFill>
                <a:latin typeface="Courier New"/>
                <a:ea typeface="Courier New"/>
                <a:cs typeface="Courier New"/>
              </a:rPr>
              <a:t>   " and " + j + " is " + k);</a:t>
            </a:r>
          </a:p>
          <a:p>
            <a:pPr algn="l">
              <a:lnSpc>
                <a:spcPts val="1889"/>
              </a:lnSpc>
            </a:pPr>
            <a:r>
              <a:rPr sz="1350" b="1" i="0">
                <a:solidFill>
                  <a:srgbClr val="000000"/>
                </a:solidFill>
                <a:latin typeface="Courier New"/>
                <a:ea typeface="Courier New"/>
                <a:cs typeface="Courier New"/>
              </a:rPr>
              <a:t>}</a:t>
            </a:r>
          </a:p>
        </p:txBody>
      </p:sp>
      <p:sp>
        <p:nvSpPr>
          <p:cNvPr id="7" name="Rectangle 6"/>
          <p:cNvSpPr/>
          <p:nvPr/>
        </p:nvSpPr>
        <p:spPr>
          <a:xfrm>
            <a:off x="6096000" y="2730500"/>
            <a:ext cx="5524500" cy="26543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223000" y="2857500"/>
            <a:ext cx="6286500" cy="252730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int max(int num1, int num2) {</a:t>
            </a:r>
          </a:p>
          <a:p>
            <a:pPr algn="l">
              <a:lnSpc>
                <a:spcPts val="1889"/>
              </a:lnSpc>
            </a:pPr>
            <a:r>
              <a:rPr sz="1350" b="1" i="0">
                <a:solidFill>
                  <a:srgbClr val="000000"/>
                </a:solidFill>
                <a:latin typeface="Courier New"/>
                <a:ea typeface="Courier New"/>
                <a:cs typeface="Courier New"/>
              </a:rPr>
              <a:t>  int result;</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if (num1 &gt; num2)</a:t>
            </a:r>
          </a:p>
          <a:p>
            <a:pPr algn="l">
              <a:lnSpc>
                <a:spcPts val="1889"/>
              </a:lnSpc>
            </a:pPr>
            <a:r>
              <a:rPr sz="1350" b="1" i="0">
                <a:solidFill>
                  <a:srgbClr val="000000"/>
                </a:solidFill>
                <a:latin typeface="Courier New"/>
                <a:ea typeface="Courier New"/>
                <a:cs typeface="Courier New"/>
              </a:rPr>
              <a:t>    result = num1;</a:t>
            </a:r>
          </a:p>
          <a:p>
            <a:pPr algn="l">
              <a:lnSpc>
                <a:spcPts val="1889"/>
              </a:lnSpc>
            </a:pPr>
            <a:r>
              <a:rPr sz="1350" b="1" i="0">
                <a:solidFill>
                  <a:srgbClr val="000000"/>
                </a:solidFill>
                <a:latin typeface="Courier New"/>
                <a:ea typeface="Courier New"/>
                <a:cs typeface="Courier New"/>
              </a:rPr>
              <a:t>  else</a:t>
            </a:r>
          </a:p>
          <a:p>
            <a:pPr algn="l">
              <a:lnSpc>
                <a:spcPts val="1889"/>
              </a:lnSpc>
            </a:pPr>
            <a:r>
              <a:rPr sz="1350" b="1" i="0">
                <a:solidFill>
                  <a:srgbClr val="000000"/>
                </a:solidFill>
                <a:latin typeface="Courier New"/>
                <a:ea typeface="Courier New"/>
                <a:cs typeface="Courier New"/>
              </a:rPr>
              <a:t>    result = num2;</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return result;</a:t>
            </a:r>
          </a:p>
          <a:p>
            <a:pPr algn="l">
              <a:lnSpc>
                <a:spcPts val="1889"/>
              </a:lnSpc>
            </a:pPr>
            <a:r>
              <a:rPr sz="1350" b="1" i="0">
                <a:solidFill>
                  <a:srgbClr val="000000"/>
                </a:solidFill>
                <a:latin typeface="Courier New"/>
                <a:ea typeface="Courier New"/>
                <a:cs typeface="Courier New"/>
              </a:rPr>
              <a:t>}</a:t>
            </a:r>
          </a:p>
        </p:txBody>
      </p:sp>
      <p:sp>
        <p:nvSpPr>
          <p:cNvPr id="9" name="Rounded Rectangle 8"/>
          <p:cNvSpPr/>
          <p:nvPr/>
        </p:nvSpPr>
        <p:spPr>
          <a:xfrm>
            <a:off x="3810000" y="1813560"/>
            <a:ext cx="3810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860800" y="1902460"/>
            <a:ext cx="3708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invoke max(i, j)</a:t>
            </a:r>
          </a:p>
        </p:txBody>
      </p:sp>
      <p:cxnSp>
        <p:nvCxnSpPr>
          <p:cNvPr id="11" name="Connector 10"/>
          <p:cNvCxnSpPr/>
          <p:nvPr/>
        </p:nvCxnSpPr>
        <p:spPr>
          <a:xfrm flipH="1">
            <a:off x="2290318" y="2311400"/>
            <a:ext cx="3424682" cy="1320736"/>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Method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9A6640B-F980-49FD-BF55-4B95A7C9D68E}" type="slidenum">
              <a:rPr sz="1200" b="0" i="0">
                <a:solidFill>
                  <a:srgbClr val="6B6B6B"/>
                </a:solidFill>
                <a:latin typeface="Source Sans 3"/>
                <a:ea typeface="Source Sans 3"/>
                <a:cs typeface="Source Sans 3"/>
              </a:rPr>
              <a:pPr algn="l">
                <a:lnSpc>
                  <a:spcPts val="1500"/>
                </a:lnSpc>
              </a:pPr>
              <a:t>122</a:t>
            </a:fld>
            <a:endParaRPr sz="1200" b="0" i="0">
              <a:solidFill>
                <a:srgbClr val="6B6B6B"/>
              </a:solidFill>
              <a:latin typeface="Source Sans 3"/>
              <a:ea typeface="Source Sans 3"/>
              <a:cs typeface="Source Sans 3"/>
            </a:endParaRPr>
          </a:p>
        </p:txBody>
      </p:sp>
      <p:sp>
        <p:nvSpPr>
          <p:cNvPr id="4" name="Rectangle 3"/>
          <p:cNvSpPr/>
          <p:nvPr/>
        </p:nvSpPr>
        <p:spPr>
          <a:xfrm>
            <a:off x="571500" y="2730500"/>
            <a:ext cx="5270500" cy="241427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98500" y="2857500"/>
            <a:ext cx="6032500" cy="228727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void main(String[] args) {</a:t>
            </a:r>
          </a:p>
          <a:p>
            <a:pPr algn="l">
              <a:lnSpc>
                <a:spcPts val="1889"/>
              </a:lnSpc>
            </a:pPr>
            <a:r>
              <a:rPr sz="1350" b="1" i="0">
                <a:solidFill>
                  <a:srgbClr val="000000"/>
                </a:solidFill>
                <a:latin typeface="Courier New"/>
                <a:ea typeface="Courier New"/>
                <a:cs typeface="Courier New"/>
              </a:rPr>
              <a:t>  int i = 5;</a:t>
            </a:r>
          </a:p>
          <a:p>
            <a:pPr algn="l">
              <a:lnSpc>
                <a:spcPts val="1889"/>
              </a:lnSpc>
            </a:pPr>
            <a:r>
              <a:rPr sz="1350" b="1" i="0">
                <a:solidFill>
                  <a:srgbClr val="000000"/>
                </a:solidFill>
                <a:latin typeface="Courier New"/>
                <a:ea typeface="Courier New"/>
                <a:cs typeface="Courier New"/>
              </a:rPr>
              <a:t>  int j = 2;</a:t>
            </a:r>
          </a:p>
          <a:p>
            <a:pPr algn="l">
              <a:lnSpc>
                <a:spcPts val="1889"/>
              </a:lnSpc>
            </a:pPr>
            <a:r>
              <a:rPr sz="1350" b="1" i="0">
                <a:solidFill>
                  <a:srgbClr val="000000"/>
                </a:solidFill>
                <a:latin typeface="Courier New"/>
                <a:ea typeface="Courier New"/>
                <a:cs typeface="Courier New"/>
              </a:rPr>
              <a:t>  int k = max(i, j);</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System.out.println(</a:t>
            </a:r>
          </a:p>
          <a:p>
            <a:pPr algn="l">
              <a:lnSpc>
                <a:spcPts val="1889"/>
              </a:lnSpc>
            </a:pPr>
            <a:r>
              <a:rPr sz="1350" b="1" i="0">
                <a:solidFill>
                  <a:srgbClr val="000000"/>
                </a:solidFill>
                <a:latin typeface="Courier New"/>
                <a:ea typeface="Courier New"/>
                <a:cs typeface="Courier New"/>
              </a:rPr>
              <a:t>   "The maximum between " + i +</a:t>
            </a:r>
          </a:p>
          <a:p>
            <a:pPr algn="l">
              <a:lnSpc>
                <a:spcPts val="1889"/>
              </a:lnSpc>
            </a:pPr>
            <a:r>
              <a:rPr sz="1350" b="1" i="0">
                <a:solidFill>
                  <a:srgbClr val="000000"/>
                </a:solidFill>
                <a:latin typeface="Courier New"/>
                <a:ea typeface="Courier New"/>
                <a:cs typeface="Courier New"/>
              </a:rPr>
              <a:t>   " and " + j + " is " + k);</a:t>
            </a:r>
          </a:p>
          <a:p>
            <a:pPr algn="l">
              <a:lnSpc>
                <a:spcPts val="1889"/>
              </a:lnSpc>
            </a:pPr>
            <a:r>
              <a:rPr sz="1350" b="1" i="0">
                <a:solidFill>
                  <a:srgbClr val="000000"/>
                </a:solidFill>
                <a:latin typeface="Courier New"/>
                <a:ea typeface="Courier New"/>
                <a:cs typeface="Courier New"/>
              </a:rPr>
              <a:t>}</a:t>
            </a:r>
          </a:p>
        </p:txBody>
      </p:sp>
      <p:sp>
        <p:nvSpPr>
          <p:cNvPr id="6" name="Rectangle 5"/>
          <p:cNvSpPr/>
          <p:nvPr/>
        </p:nvSpPr>
        <p:spPr>
          <a:xfrm>
            <a:off x="6096000" y="2730500"/>
            <a:ext cx="5524500" cy="26543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7625080" y="2886646"/>
            <a:ext cx="285369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223000" y="2857500"/>
            <a:ext cx="6286500" cy="252730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int max(int num1, int num2) {</a:t>
            </a:r>
          </a:p>
          <a:p>
            <a:pPr algn="l">
              <a:lnSpc>
                <a:spcPts val="1889"/>
              </a:lnSpc>
            </a:pPr>
            <a:r>
              <a:rPr sz="1350" b="1" i="0">
                <a:solidFill>
                  <a:srgbClr val="000000"/>
                </a:solidFill>
                <a:latin typeface="Courier New"/>
                <a:ea typeface="Courier New"/>
                <a:cs typeface="Courier New"/>
              </a:rPr>
              <a:t>  int result;</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if (num1 &gt; num2)</a:t>
            </a:r>
          </a:p>
          <a:p>
            <a:pPr algn="l">
              <a:lnSpc>
                <a:spcPts val="1889"/>
              </a:lnSpc>
            </a:pPr>
            <a:r>
              <a:rPr sz="1350" b="1" i="0">
                <a:solidFill>
                  <a:srgbClr val="000000"/>
                </a:solidFill>
                <a:latin typeface="Courier New"/>
                <a:ea typeface="Courier New"/>
                <a:cs typeface="Courier New"/>
              </a:rPr>
              <a:t>    result = num1;</a:t>
            </a:r>
          </a:p>
          <a:p>
            <a:pPr algn="l">
              <a:lnSpc>
                <a:spcPts val="1889"/>
              </a:lnSpc>
            </a:pPr>
            <a:r>
              <a:rPr sz="1350" b="1" i="0">
                <a:solidFill>
                  <a:srgbClr val="000000"/>
                </a:solidFill>
                <a:latin typeface="Courier New"/>
                <a:ea typeface="Courier New"/>
                <a:cs typeface="Courier New"/>
              </a:rPr>
              <a:t>  else</a:t>
            </a:r>
          </a:p>
          <a:p>
            <a:pPr algn="l">
              <a:lnSpc>
                <a:spcPts val="1889"/>
              </a:lnSpc>
            </a:pPr>
            <a:r>
              <a:rPr sz="1350" b="1" i="0">
                <a:solidFill>
                  <a:srgbClr val="000000"/>
                </a:solidFill>
                <a:latin typeface="Courier New"/>
                <a:ea typeface="Courier New"/>
                <a:cs typeface="Courier New"/>
              </a:rPr>
              <a:t>    result = num2;</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return result;</a:t>
            </a:r>
          </a:p>
          <a:p>
            <a:pPr algn="l">
              <a:lnSpc>
                <a:spcPts val="1889"/>
              </a:lnSpc>
            </a:pPr>
            <a:r>
              <a:rPr sz="1350" b="1" i="0">
                <a:solidFill>
                  <a:srgbClr val="000000"/>
                </a:solidFill>
                <a:latin typeface="Courier New"/>
                <a:ea typeface="Courier New"/>
                <a:cs typeface="Courier New"/>
              </a:rPr>
              <a:t>}</a:t>
            </a:r>
          </a:p>
        </p:txBody>
      </p:sp>
      <p:sp>
        <p:nvSpPr>
          <p:cNvPr id="9" name="Rounded Rectangle 8"/>
          <p:cNvSpPr/>
          <p:nvPr/>
        </p:nvSpPr>
        <p:spPr>
          <a:xfrm>
            <a:off x="7112000" y="1168400"/>
            <a:ext cx="3810000" cy="113792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162800" y="1257300"/>
            <a:ext cx="3708400" cy="101092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invoke max(i, j)</a:t>
            </a:r>
          </a:p>
          <a:p>
            <a:pPr algn="ctr">
              <a:lnSpc>
                <a:spcPts val="2520"/>
              </a:lnSpc>
            </a:pPr>
            <a:r>
              <a:rPr sz="1800" b="0" i="0">
                <a:solidFill>
                  <a:srgbClr val="111111"/>
                </a:solidFill>
                <a:latin typeface="Times New Roman"/>
                <a:ea typeface="Times New Roman"/>
                <a:cs typeface="Times New Roman"/>
              </a:rPr>
              <a:t>Pass the value of i to num1</a:t>
            </a:r>
          </a:p>
          <a:p>
            <a:pPr algn="ctr">
              <a:lnSpc>
                <a:spcPts val="2520"/>
              </a:lnSpc>
            </a:pPr>
            <a:r>
              <a:rPr sz="1800" b="0" i="0">
                <a:solidFill>
                  <a:srgbClr val="111111"/>
                </a:solidFill>
                <a:latin typeface="Times New Roman"/>
                <a:ea typeface="Times New Roman"/>
                <a:cs typeface="Times New Roman"/>
              </a:rPr>
              <a:t>Pass the value of j to num2</a:t>
            </a:r>
          </a:p>
        </p:txBody>
      </p:sp>
      <p:cxnSp>
        <p:nvCxnSpPr>
          <p:cNvPr id="11" name="Connector 10"/>
          <p:cNvCxnSpPr/>
          <p:nvPr/>
        </p:nvCxnSpPr>
        <p:spPr>
          <a:xfrm>
            <a:off x="9017000" y="2306320"/>
            <a:ext cx="320294" cy="605726"/>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691130" y="3000311"/>
            <a:ext cx="4959350" cy="720091"/>
          </a:xfrm>
          <a:prstGeom prst="line">
            <a:avLst/>
          </a:prstGeom>
          <a:ln w="12700">
            <a:solidFill>
              <a:srgbClr val="C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Method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D80A162-3E17-44D1-925B-37EC679CA8E0}" type="slidenum">
              <a:rPr sz="1200" b="0" i="0">
                <a:solidFill>
                  <a:srgbClr val="6B6B6B"/>
                </a:solidFill>
                <a:latin typeface="Source Sans 3"/>
                <a:ea typeface="Source Sans 3"/>
                <a:cs typeface="Source Sans 3"/>
              </a:rPr>
              <a:pPr algn="l">
                <a:lnSpc>
                  <a:spcPts val="1500"/>
                </a:lnSpc>
              </a:pPr>
              <a:t>123</a:t>
            </a:fld>
            <a:endParaRPr sz="1200" b="0" i="0">
              <a:solidFill>
                <a:srgbClr val="6B6B6B"/>
              </a:solidFill>
              <a:latin typeface="Source Sans 3"/>
              <a:ea typeface="Source Sans 3"/>
              <a:cs typeface="Source Sans 3"/>
            </a:endParaRPr>
          </a:p>
        </p:txBody>
      </p:sp>
      <p:sp>
        <p:nvSpPr>
          <p:cNvPr id="4" name="Rectangle 3"/>
          <p:cNvSpPr/>
          <p:nvPr/>
        </p:nvSpPr>
        <p:spPr>
          <a:xfrm>
            <a:off x="571500" y="2730500"/>
            <a:ext cx="5270500" cy="241427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98500" y="2857500"/>
            <a:ext cx="6032500" cy="228727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void main(String[] args) {</a:t>
            </a:r>
          </a:p>
          <a:p>
            <a:pPr algn="l">
              <a:lnSpc>
                <a:spcPts val="1889"/>
              </a:lnSpc>
            </a:pPr>
            <a:r>
              <a:rPr sz="1350" b="1" i="0">
                <a:solidFill>
                  <a:srgbClr val="000000"/>
                </a:solidFill>
                <a:latin typeface="Courier New"/>
                <a:ea typeface="Courier New"/>
                <a:cs typeface="Courier New"/>
              </a:rPr>
              <a:t>  int i = 5;</a:t>
            </a:r>
          </a:p>
          <a:p>
            <a:pPr algn="l">
              <a:lnSpc>
                <a:spcPts val="1889"/>
              </a:lnSpc>
            </a:pPr>
            <a:r>
              <a:rPr sz="1350" b="1" i="0">
                <a:solidFill>
                  <a:srgbClr val="000000"/>
                </a:solidFill>
                <a:latin typeface="Courier New"/>
                <a:ea typeface="Courier New"/>
                <a:cs typeface="Courier New"/>
              </a:rPr>
              <a:t>  int j = 2;</a:t>
            </a:r>
          </a:p>
          <a:p>
            <a:pPr algn="l">
              <a:lnSpc>
                <a:spcPts val="1889"/>
              </a:lnSpc>
            </a:pPr>
            <a:r>
              <a:rPr sz="1350" b="1" i="0">
                <a:solidFill>
                  <a:srgbClr val="000000"/>
                </a:solidFill>
                <a:latin typeface="Courier New"/>
                <a:ea typeface="Courier New"/>
                <a:cs typeface="Courier New"/>
              </a:rPr>
              <a:t>  int k = max(i, j);</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System.out.println(</a:t>
            </a:r>
          </a:p>
          <a:p>
            <a:pPr algn="l">
              <a:lnSpc>
                <a:spcPts val="1889"/>
              </a:lnSpc>
            </a:pPr>
            <a:r>
              <a:rPr sz="1350" b="1" i="0">
                <a:solidFill>
                  <a:srgbClr val="000000"/>
                </a:solidFill>
                <a:latin typeface="Courier New"/>
                <a:ea typeface="Courier New"/>
                <a:cs typeface="Courier New"/>
              </a:rPr>
              <a:t>   "The maximum between " + i +</a:t>
            </a:r>
          </a:p>
          <a:p>
            <a:pPr algn="l">
              <a:lnSpc>
                <a:spcPts val="1889"/>
              </a:lnSpc>
            </a:pPr>
            <a:r>
              <a:rPr sz="1350" b="1" i="0">
                <a:solidFill>
                  <a:srgbClr val="000000"/>
                </a:solidFill>
                <a:latin typeface="Courier New"/>
                <a:ea typeface="Courier New"/>
                <a:cs typeface="Courier New"/>
              </a:rPr>
              <a:t>   " and " + j + " is " + k);</a:t>
            </a:r>
          </a:p>
          <a:p>
            <a:pPr algn="l">
              <a:lnSpc>
                <a:spcPts val="1889"/>
              </a:lnSpc>
            </a:pPr>
            <a:r>
              <a:rPr sz="1350" b="1" i="0">
                <a:solidFill>
                  <a:srgbClr val="000000"/>
                </a:solidFill>
                <a:latin typeface="Courier New"/>
                <a:ea typeface="Courier New"/>
                <a:cs typeface="Courier New"/>
              </a:rPr>
              <a:t>}</a:t>
            </a:r>
          </a:p>
        </p:txBody>
      </p:sp>
      <p:sp>
        <p:nvSpPr>
          <p:cNvPr id="6" name="Rectangle 5"/>
          <p:cNvSpPr/>
          <p:nvPr/>
        </p:nvSpPr>
        <p:spPr>
          <a:xfrm>
            <a:off x="6096000" y="2730500"/>
            <a:ext cx="5524500" cy="26543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6390640" y="3126676"/>
            <a:ext cx="120777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223000" y="2857500"/>
            <a:ext cx="6286500" cy="252730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int max(int num1, int num2) {</a:t>
            </a:r>
          </a:p>
          <a:p>
            <a:pPr algn="l">
              <a:lnSpc>
                <a:spcPts val="1889"/>
              </a:lnSpc>
            </a:pPr>
            <a:r>
              <a:rPr sz="1350" b="1" i="0">
                <a:solidFill>
                  <a:srgbClr val="000000"/>
                </a:solidFill>
                <a:latin typeface="Courier New"/>
                <a:ea typeface="Courier New"/>
                <a:cs typeface="Courier New"/>
              </a:rPr>
              <a:t>  int result;</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if (num1 &gt; num2)</a:t>
            </a:r>
          </a:p>
          <a:p>
            <a:pPr algn="l">
              <a:lnSpc>
                <a:spcPts val="1889"/>
              </a:lnSpc>
            </a:pPr>
            <a:r>
              <a:rPr sz="1350" b="1" i="0">
                <a:solidFill>
                  <a:srgbClr val="000000"/>
                </a:solidFill>
                <a:latin typeface="Courier New"/>
                <a:ea typeface="Courier New"/>
                <a:cs typeface="Courier New"/>
              </a:rPr>
              <a:t>    result = num1;</a:t>
            </a:r>
          </a:p>
          <a:p>
            <a:pPr algn="l">
              <a:lnSpc>
                <a:spcPts val="1889"/>
              </a:lnSpc>
            </a:pPr>
            <a:r>
              <a:rPr sz="1350" b="1" i="0">
                <a:solidFill>
                  <a:srgbClr val="000000"/>
                </a:solidFill>
                <a:latin typeface="Courier New"/>
                <a:ea typeface="Courier New"/>
                <a:cs typeface="Courier New"/>
              </a:rPr>
              <a:t>  else</a:t>
            </a:r>
          </a:p>
          <a:p>
            <a:pPr algn="l">
              <a:lnSpc>
                <a:spcPts val="1889"/>
              </a:lnSpc>
            </a:pPr>
            <a:r>
              <a:rPr sz="1350" b="1" i="0">
                <a:solidFill>
                  <a:srgbClr val="000000"/>
                </a:solidFill>
                <a:latin typeface="Courier New"/>
                <a:ea typeface="Courier New"/>
                <a:cs typeface="Courier New"/>
              </a:rPr>
              <a:t>    result = num2;</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return result;</a:t>
            </a:r>
          </a:p>
          <a:p>
            <a:pPr algn="l">
              <a:lnSpc>
                <a:spcPts val="1889"/>
              </a:lnSpc>
            </a:pPr>
            <a:r>
              <a:rPr sz="1350" b="1" i="0">
                <a:solidFill>
                  <a:srgbClr val="000000"/>
                </a:solidFill>
                <a:latin typeface="Courier New"/>
                <a:ea typeface="Courier New"/>
                <a:cs typeface="Courier New"/>
              </a:rPr>
              <a:t>}</a:t>
            </a:r>
          </a:p>
        </p:txBody>
      </p:sp>
      <p:sp>
        <p:nvSpPr>
          <p:cNvPr id="9" name="Rounded Rectangle 8"/>
          <p:cNvSpPr/>
          <p:nvPr/>
        </p:nvSpPr>
        <p:spPr>
          <a:xfrm>
            <a:off x="7112000" y="1813560"/>
            <a:ext cx="3810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162800" y="1902460"/>
            <a:ext cx="3708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declare variable result</a:t>
            </a:r>
          </a:p>
        </p:txBody>
      </p:sp>
      <p:cxnSp>
        <p:nvCxnSpPr>
          <p:cNvPr id="11" name="Connector 10"/>
          <p:cNvCxnSpPr/>
          <p:nvPr/>
        </p:nvCxnSpPr>
        <p:spPr>
          <a:xfrm flipH="1">
            <a:off x="7115302" y="2311400"/>
            <a:ext cx="1901698" cy="840676"/>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Method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07134162-3D65-498D-9E1A-856D91943515}" type="slidenum">
              <a:rPr sz="1200" b="0" i="0">
                <a:solidFill>
                  <a:srgbClr val="6B6B6B"/>
                </a:solidFill>
                <a:latin typeface="Source Sans 3"/>
                <a:ea typeface="Source Sans 3"/>
                <a:cs typeface="Source Sans 3"/>
              </a:rPr>
              <a:pPr algn="l">
                <a:lnSpc>
                  <a:spcPts val="1500"/>
                </a:lnSpc>
              </a:pPr>
              <a:t>124</a:t>
            </a:fld>
            <a:endParaRPr sz="1200" b="0" i="0">
              <a:solidFill>
                <a:srgbClr val="6B6B6B"/>
              </a:solidFill>
              <a:latin typeface="Source Sans 3"/>
              <a:ea typeface="Source Sans 3"/>
              <a:cs typeface="Source Sans 3"/>
            </a:endParaRPr>
          </a:p>
        </p:txBody>
      </p:sp>
      <p:sp>
        <p:nvSpPr>
          <p:cNvPr id="4" name="Rectangle 3"/>
          <p:cNvSpPr/>
          <p:nvPr/>
        </p:nvSpPr>
        <p:spPr>
          <a:xfrm>
            <a:off x="571500" y="2730500"/>
            <a:ext cx="5270500" cy="241427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98500" y="2857500"/>
            <a:ext cx="6032500" cy="228727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void main(String[] args) {</a:t>
            </a:r>
          </a:p>
          <a:p>
            <a:pPr algn="l">
              <a:lnSpc>
                <a:spcPts val="1889"/>
              </a:lnSpc>
            </a:pPr>
            <a:r>
              <a:rPr sz="1350" b="1" i="0">
                <a:solidFill>
                  <a:srgbClr val="000000"/>
                </a:solidFill>
                <a:latin typeface="Courier New"/>
                <a:ea typeface="Courier New"/>
                <a:cs typeface="Courier New"/>
              </a:rPr>
              <a:t>  int i = 5;</a:t>
            </a:r>
          </a:p>
          <a:p>
            <a:pPr algn="l">
              <a:lnSpc>
                <a:spcPts val="1889"/>
              </a:lnSpc>
            </a:pPr>
            <a:r>
              <a:rPr sz="1350" b="1" i="0">
                <a:solidFill>
                  <a:srgbClr val="000000"/>
                </a:solidFill>
                <a:latin typeface="Courier New"/>
                <a:ea typeface="Courier New"/>
                <a:cs typeface="Courier New"/>
              </a:rPr>
              <a:t>  int j = 2;</a:t>
            </a:r>
          </a:p>
          <a:p>
            <a:pPr algn="l">
              <a:lnSpc>
                <a:spcPts val="1889"/>
              </a:lnSpc>
            </a:pPr>
            <a:r>
              <a:rPr sz="1350" b="1" i="0">
                <a:solidFill>
                  <a:srgbClr val="000000"/>
                </a:solidFill>
                <a:latin typeface="Courier New"/>
                <a:ea typeface="Courier New"/>
                <a:cs typeface="Courier New"/>
              </a:rPr>
              <a:t>  int k = max(i, j);</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System.out.println(</a:t>
            </a:r>
          </a:p>
          <a:p>
            <a:pPr algn="l">
              <a:lnSpc>
                <a:spcPts val="1889"/>
              </a:lnSpc>
            </a:pPr>
            <a:r>
              <a:rPr sz="1350" b="1" i="0">
                <a:solidFill>
                  <a:srgbClr val="000000"/>
                </a:solidFill>
                <a:latin typeface="Courier New"/>
                <a:ea typeface="Courier New"/>
                <a:cs typeface="Courier New"/>
              </a:rPr>
              <a:t>   "The maximum between " + i +</a:t>
            </a:r>
          </a:p>
          <a:p>
            <a:pPr algn="l">
              <a:lnSpc>
                <a:spcPts val="1889"/>
              </a:lnSpc>
            </a:pPr>
            <a:r>
              <a:rPr sz="1350" b="1" i="0">
                <a:solidFill>
                  <a:srgbClr val="000000"/>
                </a:solidFill>
                <a:latin typeface="Courier New"/>
                <a:ea typeface="Courier New"/>
                <a:cs typeface="Courier New"/>
              </a:rPr>
              <a:t>   " and " + j + " is " + k);</a:t>
            </a:r>
          </a:p>
          <a:p>
            <a:pPr algn="l">
              <a:lnSpc>
                <a:spcPts val="1889"/>
              </a:lnSpc>
            </a:pPr>
            <a:r>
              <a:rPr sz="1350" b="1" i="0">
                <a:solidFill>
                  <a:srgbClr val="000000"/>
                </a:solidFill>
                <a:latin typeface="Courier New"/>
                <a:ea typeface="Courier New"/>
                <a:cs typeface="Courier New"/>
              </a:rPr>
              <a:t>}</a:t>
            </a:r>
          </a:p>
        </p:txBody>
      </p:sp>
      <p:sp>
        <p:nvSpPr>
          <p:cNvPr id="6" name="Rectangle 5"/>
          <p:cNvSpPr/>
          <p:nvPr/>
        </p:nvSpPr>
        <p:spPr>
          <a:xfrm>
            <a:off x="6096000" y="2730500"/>
            <a:ext cx="5524500" cy="26543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6390640" y="3606736"/>
            <a:ext cx="172212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223000" y="2857500"/>
            <a:ext cx="6286500" cy="252730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int max(int num1, int num2) {</a:t>
            </a:r>
          </a:p>
          <a:p>
            <a:pPr algn="l">
              <a:lnSpc>
                <a:spcPts val="1889"/>
              </a:lnSpc>
            </a:pPr>
            <a:r>
              <a:rPr sz="1350" b="1" i="0">
                <a:solidFill>
                  <a:srgbClr val="000000"/>
                </a:solidFill>
                <a:latin typeface="Courier New"/>
                <a:ea typeface="Courier New"/>
                <a:cs typeface="Courier New"/>
              </a:rPr>
              <a:t>  int result;</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if (num1 &gt; num2)</a:t>
            </a:r>
          </a:p>
          <a:p>
            <a:pPr algn="l">
              <a:lnSpc>
                <a:spcPts val="1889"/>
              </a:lnSpc>
            </a:pPr>
            <a:r>
              <a:rPr sz="1350" b="1" i="0">
                <a:solidFill>
                  <a:srgbClr val="000000"/>
                </a:solidFill>
                <a:latin typeface="Courier New"/>
                <a:ea typeface="Courier New"/>
                <a:cs typeface="Courier New"/>
              </a:rPr>
              <a:t>    result = num1;</a:t>
            </a:r>
          </a:p>
          <a:p>
            <a:pPr algn="l">
              <a:lnSpc>
                <a:spcPts val="1889"/>
              </a:lnSpc>
            </a:pPr>
            <a:r>
              <a:rPr sz="1350" b="1" i="0">
                <a:solidFill>
                  <a:srgbClr val="000000"/>
                </a:solidFill>
                <a:latin typeface="Courier New"/>
                <a:ea typeface="Courier New"/>
                <a:cs typeface="Courier New"/>
              </a:rPr>
              <a:t>  else</a:t>
            </a:r>
          </a:p>
          <a:p>
            <a:pPr algn="l">
              <a:lnSpc>
                <a:spcPts val="1889"/>
              </a:lnSpc>
            </a:pPr>
            <a:r>
              <a:rPr sz="1350" b="1" i="0">
                <a:solidFill>
                  <a:srgbClr val="000000"/>
                </a:solidFill>
                <a:latin typeface="Courier New"/>
                <a:ea typeface="Courier New"/>
                <a:cs typeface="Courier New"/>
              </a:rPr>
              <a:t>    result = num2;</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return result;</a:t>
            </a:r>
          </a:p>
          <a:p>
            <a:pPr algn="l">
              <a:lnSpc>
                <a:spcPts val="1889"/>
              </a:lnSpc>
            </a:pPr>
            <a:r>
              <a:rPr sz="1350" b="1" i="0">
                <a:solidFill>
                  <a:srgbClr val="000000"/>
                </a:solidFill>
                <a:latin typeface="Courier New"/>
                <a:ea typeface="Courier New"/>
                <a:cs typeface="Courier New"/>
              </a:rPr>
              <a:t>}</a:t>
            </a:r>
          </a:p>
        </p:txBody>
      </p:sp>
      <p:sp>
        <p:nvSpPr>
          <p:cNvPr id="9" name="Rounded Rectangle 8"/>
          <p:cNvSpPr/>
          <p:nvPr/>
        </p:nvSpPr>
        <p:spPr>
          <a:xfrm>
            <a:off x="7112000" y="1493520"/>
            <a:ext cx="3810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162800" y="1582420"/>
            <a:ext cx="3708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(num1 &gt; num2) is true since num1</a:t>
            </a:r>
          </a:p>
          <a:p>
            <a:pPr algn="ctr">
              <a:lnSpc>
                <a:spcPts val="2520"/>
              </a:lnSpc>
            </a:pPr>
            <a:r>
              <a:rPr sz="1800" b="0" i="0">
                <a:solidFill>
                  <a:srgbClr val="111111"/>
                </a:solidFill>
                <a:latin typeface="Times New Roman"/>
                <a:ea typeface="Times New Roman"/>
                <a:cs typeface="Times New Roman"/>
              </a:rPr>
              <a:t>is 5 and num2 is 2</a:t>
            </a:r>
          </a:p>
        </p:txBody>
      </p:sp>
      <p:cxnSp>
        <p:nvCxnSpPr>
          <p:cNvPr id="11" name="Connector 10"/>
          <p:cNvCxnSpPr/>
          <p:nvPr/>
        </p:nvCxnSpPr>
        <p:spPr>
          <a:xfrm flipH="1">
            <a:off x="7423912" y="2311400"/>
            <a:ext cx="1593088" cy="1320736"/>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Method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5B879CD-A12D-4033-825E-259750F74FA0}" type="slidenum">
              <a:rPr sz="1200" b="0" i="0">
                <a:solidFill>
                  <a:srgbClr val="6B6B6B"/>
                </a:solidFill>
                <a:latin typeface="Source Sans 3"/>
                <a:ea typeface="Source Sans 3"/>
                <a:cs typeface="Source Sans 3"/>
              </a:rPr>
              <a:pPr algn="l">
                <a:lnSpc>
                  <a:spcPts val="1500"/>
                </a:lnSpc>
              </a:pPr>
              <a:t>125</a:t>
            </a:fld>
            <a:endParaRPr sz="1200" b="0" i="0">
              <a:solidFill>
                <a:srgbClr val="6B6B6B"/>
              </a:solidFill>
              <a:latin typeface="Source Sans 3"/>
              <a:ea typeface="Source Sans 3"/>
              <a:cs typeface="Source Sans 3"/>
            </a:endParaRPr>
          </a:p>
        </p:txBody>
      </p:sp>
      <p:sp>
        <p:nvSpPr>
          <p:cNvPr id="4" name="Rectangle 3"/>
          <p:cNvSpPr/>
          <p:nvPr/>
        </p:nvSpPr>
        <p:spPr>
          <a:xfrm>
            <a:off x="571500" y="2730500"/>
            <a:ext cx="5270500" cy="241427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98500" y="2857500"/>
            <a:ext cx="6032500" cy="228727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void main(String[] args) {</a:t>
            </a:r>
          </a:p>
          <a:p>
            <a:pPr algn="l">
              <a:lnSpc>
                <a:spcPts val="1889"/>
              </a:lnSpc>
            </a:pPr>
            <a:r>
              <a:rPr sz="1350" b="1" i="0">
                <a:solidFill>
                  <a:srgbClr val="000000"/>
                </a:solidFill>
                <a:latin typeface="Courier New"/>
                <a:ea typeface="Courier New"/>
                <a:cs typeface="Courier New"/>
              </a:rPr>
              <a:t>  int i = 5;</a:t>
            </a:r>
          </a:p>
          <a:p>
            <a:pPr algn="l">
              <a:lnSpc>
                <a:spcPts val="1889"/>
              </a:lnSpc>
            </a:pPr>
            <a:r>
              <a:rPr sz="1350" b="1" i="0">
                <a:solidFill>
                  <a:srgbClr val="000000"/>
                </a:solidFill>
                <a:latin typeface="Courier New"/>
                <a:ea typeface="Courier New"/>
                <a:cs typeface="Courier New"/>
              </a:rPr>
              <a:t>  int j = 2;</a:t>
            </a:r>
          </a:p>
          <a:p>
            <a:pPr algn="l">
              <a:lnSpc>
                <a:spcPts val="1889"/>
              </a:lnSpc>
            </a:pPr>
            <a:r>
              <a:rPr sz="1350" b="1" i="0">
                <a:solidFill>
                  <a:srgbClr val="000000"/>
                </a:solidFill>
                <a:latin typeface="Courier New"/>
                <a:ea typeface="Courier New"/>
                <a:cs typeface="Courier New"/>
              </a:rPr>
              <a:t>  int k = max(i, j);</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System.out.println(</a:t>
            </a:r>
          </a:p>
          <a:p>
            <a:pPr algn="l">
              <a:lnSpc>
                <a:spcPts val="1889"/>
              </a:lnSpc>
            </a:pPr>
            <a:r>
              <a:rPr sz="1350" b="1" i="0">
                <a:solidFill>
                  <a:srgbClr val="000000"/>
                </a:solidFill>
                <a:latin typeface="Courier New"/>
                <a:ea typeface="Courier New"/>
                <a:cs typeface="Courier New"/>
              </a:rPr>
              <a:t>   "The maximum between " + i +</a:t>
            </a:r>
          </a:p>
          <a:p>
            <a:pPr algn="l">
              <a:lnSpc>
                <a:spcPts val="1889"/>
              </a:lnSpc>
            </a:pPr>
            <a:r>
              <a:rPr sz="1350" b="1" i="0">
                <a:solidFill>
                  <a:srgbClr val="000000"/>
                </a:solidFill>
                <a:latin typeface="Courier New"/>
                <a:ea typeface="Courier New"/>
                <a:cs typeface="Courier New"/>
              </a:rPr>
              <a:t>   " and " + j + " is " + k);</a:t>
            </a:r>
          </a:p>
          <a:p>
            <a:pPr algn="l">
              <a:lnSpc>
                <a:spcPts val="1889"/>
              </a:lnSpc>
            </a:pPr>
            <a:r>
              <a:rPr sz="1350" b="1" i="0">
                <a:solidFill>
                  <a:srgbClr val="000000"/>
                </a:solidFill>
                <a:latin typeface="Courier New"/>
                <a:ea typeface="Courier New"/>
                <a:cs typeface="Courier New"/>
              </a:rPr>
              <a:t>}</a:t>
            </a:r>
          </a:p>
        </p:txBody>
      </p:sp>
      <p:sp>
        <p:nvSpPr>
          <p:cNvPr id="6" name="Rectangle 5"/>
          <p:cNvSpPr/>
          <p:nvPr/>
        </p:nvSpPr>
        <p:spPr>
          <a:xfrm>
            <a:off x="6096000" y="2730500"/>
            <a:ext cx="5524500" cy="26543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6596380" y="3846767"/>
            <a:ext cx="151638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223000" y="2857500"/>
            <a:ext cx="6286500" cy="252730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int max(int num1, int num2) {</a:t>
            </a:r>
          </a:p>
          <a:p>
            <a:pPr algn="l">
              <a:lnSpc>
                <a:spcPts val="1889"/>
              </a:lnSpc>
            </a:pPr>
            <a:r>
              <a:rPr sz="1350" b="1" i="0">
                <a:solidFill>
                  <a:srgbClr val="000000"/>
                </a:solidFill>
                <a:latin typeface="Courier New"/>
                <a:ea typeface="Courier New"/>
                <a:cs typeface="Courier New"/>
              </a:rPr>
              <a:t>  int result;</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if (num1 &gt; num2)</a:t>
            </a:r>
          </a:p>
          <a:p>
            <a:pPr algn="l">
              <a:lnSpc>
                <a:spcPts val="1889"/>
              </a:lnSpc>
            </a:pPr>
            <a:r>
              <a:rPr sz="1350" b="1" i="0">
                <a:solidFill>
                  <a:srgbClr val="000000"/>
                </a:solidFill>
                <a:latin typeface="Courier New"/>
                <a:ea typeface="Courier New"/>
                <a:cs typeface="Courier New"/>
              </a:rPr>
              <a:t>    result = num1;</a:t>
            </a:r>
          </a:p>
          <a:p>
            <a:pPr algn="l">
              <a:lnSpc>
                <a:spcPts val="1889"/>
              </a:lnSpc>
            </a:pPr>
            <a:r>
              <a:rPr sz="1350" b="1" i="0">
                <a:solidFill>
                  <a:srgbClr val="000000"/>
                </a:solidFill>
                <a:latin typeface="Courier New"/>
                <a:ea typeface="Courier New"/>
                <a:cs typeface="Courier New"/>
              </a:rPr>
              <a:t>  else</a:t>
            </a:r>
          </a:p>
          <a:p>
            <a:pPr algn="l">
              <a:lnSpc>
                <a:spcPts val="1889"/>
              </a:lnSpc>
            </a:pPr>
            <a:r>
              <a:rPr sz="1350" b="1" i="0">
                <a:solidFill>
                  <a:srgbClr val="000000"/>
                </a:solidFill>
                <a:latin typeface="Courier New"/>
                <a:ea typeface="Courier New"/>
                <a:cs typeface="Courier New"/>
              </a:rPr>
              <a:t>    result = num2;</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return result;</a:t>
            </a:r>
          </a:p>
          <a:p>
            <a:pPr algn="l">
              <a:lnSpc>
                <a:spcPts val="1889"/>
              </a:lnSpc>
            </a:pPr>
            <a:r>
              <a:rPr sz="1350" b="1" i="0">
                <a:solidFill>
                  <a:srgbClr val="000000"/>
                </a:solidFill>
                <a:latin typeface="Courier New"/>
                <a:ea typeface="Courier New"/>
                <a:cs typeface="Courier New"/>
              </a:rPr>
              <a:t>}</a:t>
            </a:r>
          </a:p>
        </p:txBody>
      </p:sp>
      <p:sp>
        <p:nvSpPr>
          <p:cNvPr id="9" name="Rounded Rectangle 8"/>
          <p:cNvSpPr/>
          <p:nvPr/>
        </p:nvSpPr>
        <p:spPr>
          <a:xfrm>
            <a:off x="7112000" y="1813560"/>
            <a:ext cx="3810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162800" y="1902460"/>
            <a:ext cx="3708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result is now 5</a:t>
            </a:r>
          </a:p>
        </p:txBody>
      </p:sp>
      <p:cxnSp>
        <p:nvCxnSpPr>
          <p:cNvPr id="11" name="Connector 10"/>
          <p:cNvCxnSpPr/>
          <p:nvPr/>
        </p:nvCxnSpPr>
        <p:spPr>
          <a:xfrm flipH="1">
            <a:off x="7506208" y="2311400"/>
            <a:ext cx="1510792" cy="1560767"/>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Method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721C5CD-47BF-4CA5-8FD3-5C2D6B593ABC}" type="slidenum">
              <a:rPr sz="1200" b="0" i="0">
                <a:solidFill>
                  <a:srgbClr val="6B6B6B"/>
                </a:solidFill>
                <a:latin typeface="Source Sans 3"/>
                <a:ea typeface="Source Sans 3"/>
                <a:cs typeface="Source Sans 3"/>
              </a:rPr>
              <a:pPr algn="l">
                <a:lnSpc>
                  <a:spcPts val="1500"/>
                </a:lnSpc>
              </a:pPr>
              <a:t>126</a:t>
            </a:fld>
            <a:endParaRPr sz="1200" b="0" i="0">
              <a:solidFill>
                <a:srgbClr val="6B6B6B"/>
              </a:solidFill>
              <a:latin typeface="Source Sans 3"/>
              <a:ea typeface="Source Sans 3"/>
              <a:cs typeface="Source Sans 3"/>
            </a:endParaRPr>
          </a:p>
        </p:txBody>
      </p:sp>
      <p:sp>
        <p:nvSpPr>
          <p:cNvPr id="4" name="Rectangle 3"/>
          <p:cNvSpPr/>
          <p:nvPr/>
        </p:nvSpPr>
        <p:spPr>
          <a:xfrm>
            <a:off x="571500" y="2730500"/>
            <a:ext cx="5270500" cy="241427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98500" y="2857500"/>
            <a:ext cx="6032500" cy="228727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void main(String[] args) {</a:t>
            </a:r>
          </a:p>
          <a:p>
            <a:pPr algn="l">
              <a:lnSpc>
                <a:spcPts val="1889"/>
              </a:lnSpc>
            </a:pPr>
            <a:r>
              <a:rPr sz="1350" b="1" i="0">
                <a:solidFill>
                  <a:srgbClr val="000000"/>
                </a:solidFill>
                <a:latin typeface="Courier New"/>
                <a:ea typeface="Courier New"/>
                <a:cs typeface="Courier New"/>
              </a:rPr>
              <a:t>  int i = 5;</a:t>
            </a:r>
          </a:p>
          <a:p>
            <a:pPr algn="l">
              <a:lnSpc>
                <a:spcPts val="1889"/>
              </a:lnSpc>
            </a:pPr>
            <a:r>
              <a:rPr sz="1350" b="1" i="0">
                <a:solidFill>
                  <a:srgbClr val="000000"/>
                </a:solidFill>
                <a:latin typeface="Courier New"/>
                <a:ea typeface="Courier New"/>
                <a:cs typeface="Courier New"/>
              </a:rPr>
              <a:t>  int j = 2;</a:t>
            </a:r>
          </a:p>
          <a:p>
            <a:pPr algn="l">
              <a:lnSpc>
                <a:spcPts val="1889"/>
              </a:lnSpc>
            </a:pPr>
            <a:r>
              <a:rPr sz="1350" b="1" i="0">
                <a:solidFill>
                  <a:srgbClr val="000000"/>
                </a:solidFill>
                <a:latin typeface="Courier New"/>
                <a:ea typeface="Courier New"/>
                <a:cs typeface="Courier New"/>
              </a:rPr>
              <a:t>  int k = max(i, j);</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System.out.println(</a:t>
            </a:r>
          </a:p>
          <a:p>
            <a:pPr algn="l">
              <a:lnSpc>
                <a:spcPts val="1889"/>
              </a:lnSpc>
            </a:pPr>
            <a:r>
              <a:rPr sz="1350" b="1" i="0">
                <a:solidFill>
                  <a:srgbClr val="000000"/>
                </a:solidFill>
                <a:latin typeface="Courier New"/>
                <a:ea typeface="Courier New"/>
                <a:cs typeface="Courier New"/>
              </a:rPr>
              <a:t>   "The maximum between " + i +</a:t>
            </a:r>
          </a:p>
          <a:p>
            <a:pPr algn="l">
              <a:lnSpc>
                <a:spcPts val="1889"/>
              </a:lnSpc>
            </a:pPr>
            <a:r>
              <a:rPr sz="1350" b="1" i="0">
                <a:solidFill>
                  <a:srgbClr val="000000"/>
                </a:solidFill>
                <a:latin typeface="Courier New"/>
                <a:ea typeface="Courier New"/>
                <a:cs typeface="Courier New"/>
              </a:rPr>
              <a:t>   " and " + j + " is " + k);</a:t>
            </a:r>
          </a:p>
          <a:p>
            <a:pPr algn="l">
              <a:lnSpc>
                <a:spcPts val="1889"/>
              </a:lnSpc>
            </a:pPr>
            <a:r>
              <a:rPr sz="1350" b="1" i="0">
                <a:solidFill>
                  <a:srgbClr val="000000"/>
                </a:solidFill>
                <a:latin typeface="Courier New"/>
                <a:ea typeface="Courier New"/>
                <a:cs typeface="Courier New"/>
              </a:rPr>
              <a:t>}</a:t>
            </a:r>
          </a:p>
        </p:txBody>
      </p:sp>
      <p:sp>
        <p:nvSpPr>
          <p:cNvPr id="6" name="Rectangle 5"/>
          <p:cNvSpPr/>
          <p:nvPr/>
        </p:nvSpPr>
        <p:spPr>
          <a:xfrm>
            <a:off x="6096000" y="2730500"/>
            <a:ext cx="5524500" cy="26543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6390640" y="4806886"/>
            <a:ext cx="151638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223000" y="2857500"/>
            <a:ext cx="6286500" cy="252730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int max(int num1, int num2) {</a:t>
            </a:r>
          </a:p>
          <a:p>
            <a:pPr algn="l">
              <a:lnSpc>
                <a:spcPts val="1889"/>
              </a:lnSpc>
            </a:pPr>
            <a:r>
              <a:rPr sz="1350" b="1" i="0">
                <a:solidFill>
                  <a:srgbClr val="000000"/>
                </a:solidFill>
                <a:latin typeface="Courier New"/>
                <a:ea typeface="Courier New"/>
                <a:cs typeface="Courier New"/>
              </a:rPr>
              <a:t>  int result;</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if (num1 &gt; num2)</a:t>
            </a:r>
          </a:p>
          <a:p>
            <a:pPr algn="l">
              <a:lnSpc>
                <a:spcPts val="1889"/>
              </a:lnSpc>
            </a:pPr>
            <a:r>
              <a:rPr sz="1350" b="1" i="0">
                <a:solidFill>
                  <a:srgbClr val="000000"/>
                </a:solidFill>
                <a:latin typeface="Courier New"/>
                <a:ea typeface="Courier New"/>
                <a:cs typeface="Courier New"/>
              </a:rPr>
              <a:t>    result = num1;</a:t>
            </a:r>
          </a:p>
          <a:p>
            <a:pPr algn="l">
              <a:lnSpc>
                <a:spcPts val="1889"/>
              </a:lnSpc>
            </a:pPr>
            <a:r>
              <a:rPr sz="1350" b="1" i="0">
                <a:solidFill>
                  <a:srgbClr val="000000"/>
                </a:solidFill>
                <a:latin typeface="Courier New"/>
                <a:ea typeface="Courier New"/>
                <a:cs typeface="Courier New"/>
              </a:rPr>
              <a:t>  else</a:t>
            </a:r>
          </a:p>
          <a:p>
            <a:pPr algn="l">
              <a:lnSpc>
                <a:spcPts val="1889"/>
              </a:lnSpc>
            </a:pPr>
            <a:r>
              <a:rPr sz="1350" b="1" i="0">
                <a:solidFill>
                  <a:srgbClr val="000000"/>
                </a:solidFill>
                <a:latin typeface="Courier New"/>
                <a:ea typeface="Courier New"/>
                <a:cs typeface="Courier New"/>
              </a:rPr>
              <a:t>    result = num2;</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return result;</a:t>
            </a:r>
          </a:p>
          <a:p>
            <a:pPr algn="l">
              <a:lnSpc>
                <a:spcPts val="1889"/>
              </a:lnSpc>
            </a:pPr>
            <a:r>
              <a:rPr sz="1350" b="1" i="0">
                <a:solidFill>
                  <a:srgbClr val="000000"/>
                </a:solidFill>
                <a:latin typeface="Courier New"/>
                <a:ea typeface="Courier New"/>
                <a:cs typeface="Courier New"/>
              </a:rPr>
              <a:t>}</a:t>
            </a:r>
          </a:p>
        </p:txBody>
      </p:sp>
      <p:sp>
        <p:nvSpPr>
          <p:cNvPr id="9" name="Rounded Rectangle 8"/>
          <p:cNvSpPr/>
          <p:nvPr/>
        </p:nvSpPr>
        <p:spPr>
          <a:xfrm>
            <a:off x="7112000" y="1813560"/>
            <a:ext cx="3810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162800" y="1902460"/>
            <a:ext cx="3708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return result, which is 5</a:t>
            </a:r>
          </a:p>
        </p:txBody>
      </p:sp>
      <p:cxnSp>
        <p:nvCxnSpPr>
          <p:cNvPr id="11" name="Connector 10"/>
          <p:cNvCxnSpPr/>
          <p:nvPr/>
        </p:nvCxnSpPr>
        <p:spPr>
          <a:xfrm flipH="1">
            <a:off x="7300468" y="2311400"/>
            <a:ext cx="1716532" cy="2520886"/>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1628140" y="3720402"/>
            <a:ext cx="4762500" cy="1200150"/>
          </a:xfrm>
          <a:prstGeom prst="line">
            <a:avLst/>
          </a:prstGeom>
          <a:ln w="127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Method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C50E371-D8D0-41BB-8240-863C37818F60}" type="slidenum">
              <a:rPr sz="1200" b="0" i="0">
                <a:solidFill>
                  <a:srgbClr val="6B6B6B"/>
                </a:solidFill>
                <a:latin typeface="Source Sans 3"/>
                <a:ea typeface="Source Sans 3"/>
                <a:cs typeface="Source Sans 3"/>
              </a:rPr>
              <a:pPr algn="l">
                <a:lnSpc>
                  <a:spcPts val="1500"/>
                </a:lnSpc>
              </a:pPr>
              <a:t>127</a:t>
            </a:fld>
            <a:endParaRPr sz="1200" b="0" i="0">
              <a:solidFill>
                <a:srgbClr val="6B6B6B"/>
              </a:solidFill>
              <a:latin typeface="Source Sans 3"/>
              <a:ea typeface="Source Sans 3"/>
              <a:cs typeface="Source Sans 3"/>
            </a:endParaRPr>
          </a:p>
        </p:txBody>
      </p:sp>
      <p:sp>
        <p:nvSpPr>
          <p:cNvPr id="4" name="Rectangle 3"/>
          <p:cNvSpPr/>
          <p:nvPr/>
        </p:nvSpPr>
        <p:spPr>
          <a:xfrm>
            <a:off x="571500" y="2730500"/>
            <a:ext cx="5270500" cy="241427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66140" y="3606736"/>
            <a:ext cx="192786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98500" y="2857500"/>
            <a:ext cx="6032500" cy="228727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void main(String[] args) {</a:t>
            </a:r>
          </a:p>
          <a:p>
            <a:pPr algn="l">
              <a:lnSpc>
                <a:spcPts val="1889"/>
              </a:lnSpc>
            </a:pPr>
            <a:r>
              <a:rPr sz="1350" b="1" i="0">
                <a:solidFill>
                  <a:srgbClr val="000000"/>
                </a:solidFill>
                <a:latin typeface="Courier New"/>
                <a:ea typeface="Courier New"/>
                <a:cs typeface="Courier New"/>
              </a:rPr>
              <a:t>  int i = 5;</a:t>
            </a:r>
          </a:p>
          <a:p>
            <a:pPr algn="l">
              <a:lnSpc>
                <a:spcPts val="1889"/>
              </a:lnSpc>
            </a:pPr>
            <a:r>
              <a:rPr sz="1350" b="1" i="0">
                <a:solidFill>
                  <a:srgbClr val="000000"/>
                </a:solidFill>
                <a:latin typeface="Courier New"/>
                <a:ea typeface="Courier New"/>
                <a:cs typeface="Courier New"/>
              </a:rPr>
              <a:t>  int j = 2;</a:t>
            </a:r>
          </a:p>
          <a:p>
            <a:pPr algn="l">
              <a:lnSpc>
                <a:spcPts val="1889"/>
              </a:lnSpc>
            </a:pPr>
            <a:r>
              <a:rPr sz="1350" b="1" i="0">
                <a:solidFill>
                  <a:srgbClr val="000000"/>
                </a:solidFill>
                <a:latin typeface="Courier New"/>
                <a:ea typeface="Courier New"/>
                <a:cs typeface="Courier New"/>
              </a:rPr>
              <a:t>  int k = max(i, j);</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System.out.println(</a:t>
            </a:r>
          </a:p>
          <a:p>
            <a:pPr algn="l">
              <a:lnSpc>
                <a:spcPts val="1889"/>
              </a:lnSpc>
            </a:pPr>
            <a:r>
              <a:rPr sz="1350" b="1" i="0">
                <a:solidFill>
                  <a:srgbClr val="000000"/>
                </a:solidFill>
                <a:latin typeface="Courier New"/>
                <a:ea typeface="Courier New"/>
                <a:cs typeface="Courier New"/>
              </a:rPr>
              <a:t>   "The maximum between " + i +</a:t>
            </a:r>
          </a:p>
          <a:p>
            <a:pPr algn="l">
              <a:lnSpc>
                <a:spcPts val="1889"/>
              </a:lnSpc>
            </a:pPr>
            <a:r>
              <a:rPr sz="1350" b="1" i="0">
                <a:solidFill>
                  <a:srgbClr val="000000"/>
                </a:solidFill>
                <a:latin typeface="Courier New"/>
                <a:ea typeface="Courier New"/>
                <a:cs typeface="Courier New"/>
              </a:rPr>
              <a:t>   " and " + j + " is " + k);</a:t>
            </a:r>
          </a:p>
          <a:p>
            <a:pPr algn="l">
              <a:lnSpc>
                <a:spcPts val="1889"/>
              </a:lnSpc>
            </a:pPr>
            <a:r>
              <a:rPr sz="1350" b="1" i="0">
                <a:solidFill>
                  <a:srgbClr val="000000"/>
                </a:solidFill>
                <a:latin typeface="Courier New"/>
                <a:ea typeface="Courier New"/>
                <a:cs typeface="Courier New"/>
              </a:rPr>
              <a:t>}</a:t>
            </a:r>
          </a:p>
        </p:txBody>
      </p:sp>
      <p:sp>
        <p:nvSpPr>
          <p:cNvPr id="7" name="Rectangle 6"/>
          <p:cNvSpPr/>
          <p:nvPr/>
        </p:nvSpPr>
        <p:spPr>
          <a:xfrm>
            <a:off x="6096000" y="2730500"/>
            <a:ext cx="5524500" cy="26543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223000" y="2857500"/>
            <a:ext cx="6286500" cy="252730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int max(int num1, int num2) {</a:t>
            </a:r>
          </a:p>
          <a:p>
            <a:pPr algn="l">
              <a:lnSpc>
                <a:spcPts val="1889"/>
              </a:lnSpc>
            </a:pPr>
            <a:r>
              <a:rPr sz="1350" b="1" i="0">
                <a:solidFill>
                  <a:srgbClr val="000000"/>
                </a:solidFill>
                <a:latin typeface="Courier New"/>
                <a:ea typeface="Courier New"/>
                <a:cs typeface="Courier New"/>
              </a:rPr>
              <a:t>  int result;</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if (num1 &gt; num2)</a:t>
            </a:r>
          </a:p>
          <a:p>
            <a:pPr algn="l">
              <a:lnSpc>
                <a:spcPts val="1889"/>
              </a:lnSpc>
            </a:pPr>
            <a:r>
              <a:rPr sz="1350" b="1" i="0">
                <a:solidFill>
                  <a:srgbClr val="000000"/>
                </a:solidFill>
                <a:latin typeface="Courier New"/>
                <a:ea typeface="Courier New"/>
                <a:cs typeface="Courier New"/>
              </a:rPr>
              <a:t>    result = num1;</a:t>
            </a:r>
          </a:p>
          <a:p>
            <a:pPr algn="l">
              <a:lnSpc>
                <a:spcPts val="1889"/>
              </a:lnSpc>
            </a:pPr>
            <a:r>
              <a:rPr sz="1350" b="1" i="0">
                <a:solidFill>
                  <a:srgbClr val="000000"/>
                </a:solidFill>
                <a:latin typeface="Courier New"/>
                <a:ea typeface="Courier New"/>
                <a:cs typeface="Courier New"/>
              </a:rPr>
              <a:t>  else</a:t>
            </a:r>
          </a:p>
          <a:p>
            <a:pPr algn="l">
              <a:lnSpc>
                <a:spcPts val="1889"/>
              </a:lnSpc>
            </a:pPr>
            <a:r>
              <a:rPr sz="1350" b="1" i="0">
                <a:solidFill>
                  <a:srgbClr val="000000"/>
                </a:solidFill>
                <a:latin typeface="Courier New"/>
                <a:ea typeface="Courier New"/>
                <a:cs typeface="Courier New"/>
              </a:rPr>
              <a:t>    result = num2;</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return result;</a:t>
            </a:r>
          </a:p>
          <a:p>
            <a:pPr algn="l">
              <a:lnSpc>
                <a:spcPts val="1889"/>
              </a:lnSpc>
            </a:pPr>
            <a:r>
              <a:rPr sz="1350" b="1" i="0">
                <a:solidFill>
                  <a:srgbClr val="000000"/>
                </a:solidFill>
                <a:latin typeface="Courier New"/>
                <a:ea typeface="Courier New"/>
                <a:cs typeface="Courier New"/>
              </a:rPr>
              <a:t>}</a:t>
            </a:r>
          </a:p>
        </p:txBody>
      </p:sp>
      <p:sp>
        <p:nvSpPr>
          <p:cNvPr id="9" name="Rounded Rectangle 8"/>
          <p:cNvSpPr/>
          <p:nvPr/>
        </p:nvSpPr>
        <p:spPr>
          <a:xfrm>
            <a:off x="3810000" y="1493520"/>
            <a:ext cx="3810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860800" y="1582420"/>
            <a:ext cx="3708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return max(i, j) and assign the</a:t>
            </a:r>
          </a:p>
          <a:p>
            <a:pPr algn="ctr">
              <a:lnSpc>
                <a:spcPts val="2520"/>
              </a:lnSpc>
            </a:pPr>
            <a:r>
              <a:rPr sz="1800" b="0" i="0">
                <a:solidFill>
                  <a:srgbClr val="111111"/>
                </a:solidFill>
                <a:latin typeface="Times New Roman"/>
                <a:ea typeface="Times New Roman"/>
                <a:cs typeface="Times New Roman"/>
              </a:rPr>
              <a:t>return value to k</a:t>
            </a:r>
          </a:p>
        </p:txBody>
      </p:sp>
      <p:cxnSp>
        <p:nvCxnSpPr>
          <p:cNvPr id="11" name="Connector 10"/>
          <p:cNvCxnSpPr/>
          <p:nvPr/>
        </p:nvCxnSpPr>
        <p:spPr>
          <a:xfrm flipH="1">
            <a:off x="2022856" y="2311400"/>
            <a:ext cx="3692144" cy="1320736"/>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1628140" y="3720402"/>
            <a:ext cx="4762500" cy="1200150"/>
          </a:xfrm>
          <a:prstGeom prst="line">
            <a:avLst/>
          </a:prstGeom>
          <a:ln w="12700">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Method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DC3D4BA-4F73-4112-BF7A-DE99A9B1B316}" type="slidenum">
              <a:rPr sz="1200" b="0" i="0">
                <a:solidFill>
                  <a:srgbClr val="6B6B6B"/>
                </a:solidFill>
                <a:latin typeface="Source Sans 3"/>
                <a:ea typeface="Source Sans 3"/>
                <a:cs typeface="Source Sans 3"/>
              </a:rPr>
              <a:pPr algn="l">
                <a:lnSpc>
                  <a:spcPts val="1500"/>
                </a:lnSpc>
              </a:pPr>
              <a:t>128</a:t>
            </a:fld>
            <a:endParaRPr sz="1200" b="0" i="0">
              <a:solidFill>
                <a:srgbClr val="6B6B6B"/>
              </a:solidFill>
              <a:latin typeface="Source Sans 3"/>
              <a:ea typeface="Source Sans 3"/>
              <a:cs typeface="Source Sans 3"/>
            </a:endParaRPr>
          </a:p>
        </p:txBody>
      </p:sp>
      <p:sp>
        <p:nvSpPr>
          <p:cNvPr id="4" name="Rectangle 3"/>
          <p:cNvSpPr/>
          <p:nvPr/>
        </p:nvSpPr>
        <p:spPr>
          <a:xfrm>
            <a:off x="571500" y="2730500"/>
            <a:ext cx="5270500" cy="241427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66140" y="4086796"/>
            <a:ext cx="203073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969010" y="4326826"/>
            <a:ext cx="295656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69010" y="4566856"/>
            <a:ext cx="2750820" cy="22733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2857500"/>
            <a:ext cx="6032500" cy="228727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void main(String[] args) {</a:t>
            </a:r>
          </a:p>
          <a:p>
            <a:pPr algn="l">
              <a:lnSpc>
                <a:spcPts val="1889"/>
              </a:lnSpc>
            </a:pPr>
            <a:r>
              <a:rPr sz="1350" b="1" i="0">
                <a:solidFill>
                  <a:srgbClr val="000000"/>
                </a:solidFill>
                <a:latin typeface="Courier New"/>
                <a:ea typeface="Courier New"/>
                <a:cs typeface="Courier New"/>
              </a:rPr>
              <a:t>  int i = 5;</a:t>
            </a:r>
          </a:p>
          <a:p>
            <a:pPr algn="l">
              <a:lnSpc>
                <a:spcPts val="1889"/>
              </a:lnSpc>
            </a:pPr>
            <a:r>
              <a:rPr sz="1350" b="1" i="0">
                <a:solidFill>
                  <a:srgbClr val="000000"/>
                </a:solidFill>
                <a:latin typeface="Courier New"/>
                <a:ea typeface="Courier New"/>
                <a:cs typeface="Courier New"/>
              </a:rPr>
              <a:t>  int j = 2;</a:t>
            </a:r>
          </a:p>
          <a:p>
            <a:pPr algn="l">
              <a:lnSpc>
                <a:spcPts val="1889"/>
              </a:lnSpc>
            </a:pPr>
            <a:r>
              <a:rPr sz="1350" b="1" i="0">
                <a:solidFill>
                  <a:srgbClr val="000000"/>
                </a:solidFill>
                <a:latin typeface="Courier New"/>
                <a:ea typeface="Courier New"/>
                <a:cs typeface="Courier New"/>
              </a:rPr>
              <a:t>  int k = max(i, j);</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System.out.println(</a:t>
            </a:r>
          </a:p>
          <a:p>
            <a:pPr algn="l">
              <a:lnSpc>
                <a:spcPts val="1889"/>
              </a:lnSpc>
            </a:pPr>
            <a:r>
              <a:rPr sz="1350" b="1" i="0">
                <a:solidFill>
                  <a:srgbClr val="000000"/>
                </a:solidFill>
                <a:latin typeface="Courier New"/>
                <a:ea typeface="Courier New"/>
                <a:cs typeface="Courier New"/>
              </a:rPr>
              <a:t>   "The maximum between " + i +</a:t>
            </a:r>
          </a:p>
          <a:p>
            <a:pPr algn="l">
              <a:lnSpc>
                <a:spcPts val="1889"/>
              </a:lnSpc>
            </a:pPr>
            <a:r>
              <a:rPr sz="1350" b="1" i="0">
                <a:solidFill>
                  <a:srgbClr val="000000"/>
                </a:solidFill>
                <a:latin typeface="Courier New"/>
                <a:ea typeface="Courier New"/>
                <a:cs typeface="Courier New"/>
              </a:rPr>
              <a:t>   " and " + j + " is " + k);</a:t>
            </a:r>
          </a:p>
          <a:p>
            <a:pPr algn="l">
              <a:lnSpc>
                <a:spcPts val="1889"/>
              </a:lnSpc>
            </a:pPr>
            <a:r>
              <a:rPr sz="1350" b="1" i="0">
                <a:solidFill>
                  <a:srgbClr val="000000"/>
                </a:solidFill>
                <a:latin typeface="Courier New"/>
                <a:ea typeface="Courier New"/>
                <a:cs typeface="Courier New"/>
              </a:rPr>
              <a:t>}</a:t>
            </a:r>
          </a:p>
        </p:txBody>
      </p:sp>
      <p:sp>
        <p:nvSpPr>
          <p:cNvPr id="9" name="Rectangle 8"/>
          <p:cNvSpPr/>
          <p:nvPr/>
        </p:nvSpPr>
        <p:spPr>
          <a:xfrm>
            <a:off x="6096000" y="2730500"/>
            <a:ext cx="5524500" cy="26543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223000" y="2857500"/>
            <a:ext cx="6286500" cy="2527300"/>
          </a:xfrm>
          <a:prstGeom prst="rect">
            <a:avLst/>
          </a:prstGeom>
          <a:noFill/>
        </p:spPr>
        <p:txBody>
          <a:bodyPr wrap="square" lIns="0" tIns="0" rIns="0" bIns="0" anchor="t">
            <a:spAutoFit/>
          </a:bodyPr>
          <a:lstStyle/>
          <a:p>
            <a:pPr algn="l">
              <a:lnSpc>
                <a:spcPts val="1889"/>
              </a:lnSpc>
            </a:pPr>
            <a:r>
              <a:rPr sz="1350" b="1" i="0">
                <a:solidFill>
                  <a:srgbClr val="000000"/>
                </a:solidFill>
                <a:latin typeface="Courier New"/>
                <a:ea typeface="Courier New"/>
                <a:cs typeface="Courier New"/>
              </a:rPr>
              <a:t>public static int max(int num1, int num2) {</a:t>
            </a:r>
          </a:p>
          <a:p>
            <a:pPr algn="l">
              <a:lnSpc>
                <a:spcPts val="1889"/>
              </a:lnSpc>
            </a:pPr>
            <a:r>
              <a:rPr sz="1350" b="1" i="0">
                <a:solidFill>
                  <a:srgbClr val="000000"/>
                </a:solidFill>
                <a:latin typeface="Courier New"/>
                <a:ea typeface="Courier New"/>
                <a:cs typeface="Courier New"/>
              </a:rPr>
              <a:t>  int result;</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if (num1 &gt; num2)</a:t>
            </a:r>
          </a:p>
          <a:p>
            <a:pPr algn="l">
              <a:lnSpc>
                <a:spcPts val="1889"/>
              </a:lnSpc>
            </a:pPr>
            <a:r>
              <a:rPr sz="1350" b="1" i="0">
                <a:solidFill>
                  <a:srgbClr val="000000"/>
                </a:solidFill>
                <a:latin typeface="Courier New"/>
                <a:ea typeface="Courier New"/>
                <a:cs typeface="Courier New"/>
              </a:rPr>
              <a:t>    result = num1;</a:t>
            </a:r>
          </a:p>
          <a:p>
            <a:pPr algn="l">
              <a:lnSpc>
                <a:spcPts val="1889"/>
              </a:lnSpc>
            </a:pPr>
            <a:r>
              <a:rPr sz="1350" b="1" i="0">
                <a:solidFill>
                  <a:srgbClr val="000000"/>
                </a:solidFill>
                <a:latin typeface="Courier New"/>
                <a:ea typeface="Courier New"/>
                <a:cs typeface="Courier New"/>
              </a:rPr>
              <a:t>  else</a:t>
            </a:r>
          </a:p>
          <a:p>
            <a:pPr algn="l">
              <a:lnSpc>
                <a:spcPts val="1889"/>
              </a:lnSpc>
            </a:pPr>
            <a:r>
              <a:rPr sz="1350" b="1" i="0">
                <a:solidFill>
                  <a:srgbClr val="000000"/>
                </a:solidFill>
                <a:latin typeface="Courier New"/>
                <a:ea typeface="Courier New"/>
                <a:cs typeface="Courier New"/>
              </a:rPr>
              <a:t>    result = num2;</a:t>
            </a:r>
          </a:p>
          <a:p>
            <a:pPr algn="l">
              <a:lnSpc>
                <a:spcPts val="1889"/>
              </a:lnSpc>
            </a:pPr>
            <a:r>
              <a:rPr sz="1350" b="1" i="0">
                <a:solidFill>
                  <a:srgbClr val="000000"/>
                </a:solidFill>
                <a:latin typeface="Courier New"/>
                <a:ea typeface="Courier New"/>
                <a:cs typeface="Courier New"/>
              </a:rPr>
              <a:t> </a:t>
            </a:r>
          </a:p>
          <a:p>
            <a:pPr algn="l">
              <a:lnSpc>
                <a:spcPts val="1889"/>
              </a:lnSpc>
            </a:pPr>
            <a:r>
              <a:rPr sz="1350" b="1" i="0">
                <a:solidFill>
                  <a:srgbClr val="000000"/>
                </a:solidFill>
                <a:latin typeface="Courier New"/>
                <a:ea typeface="Courier New"/>
                <a:cs typeface="Courier New"/>
              </a:rPr>
              <a:t>  return result;</a:t>
            </a:r>
          </a:p>
          <a:p>
            <a:pPr algn="l">
              <a:lnSpc>
                <a:spcPts val="1889"/>
              </a:lnSpc>
            </a:pPr>
            <a:r>
              <a:rPr sz="1350" b="1" i="0">
                <a:solidFill>
                  <a:srgbClr val="000000"/>
                </a:solidFill>
                <a:latin typeface="Courier New"/>
                <a:ea typeface="Courier New"/>
                <a:cs typeface="Courier New"/>
              </a:rPr>
              <a:t>}</a:t>
            </a:r>
          </a:p>
        </p:txBody>
      </p:sp>
      <p:sp>
        <p:nvSpPr>
          <p:cNvPr id="11" name="Rounded Rectangle 10"/>
          <p:cNvSpPr/>
          <p:nvPr/>
        </p:nvSpPr>
        <p:spPr>
          <a:xfrm>
            <a:off x="3810000" y="1813560"/>
            <a:ext cx="3810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860800" y="1902460"/>
            <a:ext cx="3708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Execute the print statement</a:t>
            </a:r>
          </a:p>
        </p:txBody>
      </p:sp>
      <p:cxnSp>
        <p:nvCxnSpPr>
          <p:cNvPr id="13" name="Connector 12"/>
          <p:cNvCxnSpPr/>
          <p:nvPr/>
        </p:nvCxnSpPr>
        <p:spPr>
          <a:xfrm flipH="1">
            <a:off x="2084578" y="2311400"/>
            <a:ext cx="3630422" cy="1800796"/>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CAUTION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ED19477-5F15-46D0-9861-266233EFA403}" type="slidenum">
              <a:rPr sz="1200" b="0" i="0">
                <a:solidFill>
                  <a:srgbClr val="6B6B6B"/>
                </a:solidFill>
                <a:latin typeface="Source Sans 3"/>
                <a:ea typeface="Source Sans 3"/>
                <a:cs typeface="Source Sans 3"/>
              </a:rPr>
              <a:pPr algn="l">
                <a:lnSpc>
                  <a:spcPts val="1500"/>
                </a:lnSpc>
              </a:pPr>
              <a:t>129</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625"/>
              </a:lnSpc>
            </a:pPr>
            <a:r>
              <a:rPr sz="2100" b="0" i="0">
                <a:solidFill>
                  <a:srgbClr val="111111"/>
                </a:solidFill>
                <a:latin typeface="Times New Roman"/>
                <a:ea typeface="Times New Roman"/>
                <a:cs typeface="Times New Roman"/>
              </a:rPr>
              <a:t>A </a:t>
            </a:r>
            <a:r>
              <a:rPr sz="1900" b="1" i="0">
                <a:solidFill>
                  <a:srgbClr val="111111"/>
                </a:solidFill>
                <a:latin typeface="Courier New"/>
                <a:ea typeface="Courier New"/>
                <a:cs typeface="Courier New"/>
              </a:rPr>
              <a:t>return</a:t>
            </a:r>
            <a:r>
              <a:rPr sz="2100" b="0" i="0">
                <a:solidFill>
                  <a:srgbClr val="111111"/>
                </a:solidFill>
                <a:latin typeface="Times New Roman"/>
                <a:ea typeface="Times New Roman"/>
                <a:cs typeface="Times New Roman"/>
              </a:rPr>
              <a:t> statement is required for a value-returning method. The method shown below in (a) is logically correct, but it has a compilation error because the Java compiler thinks it possible that this method does not return any value.</a:t>
            </a:r>
          </a:p>
        </p:txBody>
      </p:sp>
      <p:sp>
        <p:nvSpPr>
          <p:cNvPr id="5" name="Rectangle 4"/>
          <p:cNvSpPr/>
          <p:nvPr/>
        </p:nvSpPr>
        <p:spPr>
          <a:xfrm>
            <a:off x="952500" y="2413000"/>
            <a:ext cx="3729990" cy="231648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1814830" y="3860355"/>
            <a:ext cx="1181100" cy="245110"/>
          </a:xfrm>
          <a:prstGeom prst="rect">
            <a:avLst/>
          </a:prstGeom>
          <a:solidFill>
            <a:srgbClr val="FFFF66"/>
          </a:solidFill>
          <a:ln w="12700">
            <a:solidFill>
              <a:srgbClr val="FFFF6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079500" y="2540000"/>
            <a:ext cx="4491990" cy="2189480"/>
          </a:xfrm>
          <a:prstGeom prst="rect">
            <a:avLst/>
          </a:prstGeom>
          <a:noFill/>
        </p:spPr>
        <p:txBody>
          <a:bodyPr wrap="square" lIns="0" tIns="0" rIns="0" bIns="0" anchor="t">
            <a:spAutoFit/>
          </a:bodyPr>
          <a:lstStyle/>
          <a:p>
            <a:pPr algn="l">
              <a:lnSpc>
                <a:spcPts val="2029"/>
              </a:lnSpc>
            </a:pPr>
            <a:r>
              <a:rPr sz="1450" b="1" i="0">
                <a:solidFill>
                  <a:srgbClr val="000000"/>
                </a:solidFill>
                <a:latin typeface="Courier New"/>
                <a:ea typeface="Courier New"/>
                <a:cs typeface="Courier New"/>
              </a:rPr>
              <a:t>public static int sign(int n) {</a:t>
            </a:r>
          </a:p>
          <a:p>
            <a:pPr algn="l">
              <a:lnSpc>
                <a:spcPts val="2029"/>
              </a:lnSpc>
            </a:pPr>
            <a:r>
              <a:rPr sz="1450" b="1" i="0">
                <a:solidFill>
                  <a:srgbClr val="000000"/>
                </a:solidFill>
                <a:latin typeface="Courier New"/>
                <a:ea typeface="Courier New"/>
                <a:cs typeface="Courier New"/>
              </a:rPr>
              <a:t>  if (n &gt; 0)</a:t>
            </a:r>
          </a:p>
          <a:p>
            <a:pPr algn="l">
              <a:lnSpc>
                <a:spcPts val="2029"/>
              </a:lnSpc>
            </a:pPr>
            <a:r>
              <a:rPr sz="1450" b="1" i="0">
                <a:solidFill>
                  <a:srgbClr val="000000"/>
                </a:solidFill>
                <a:latin typeface="Courier New"/>
                <a:ea typeface="Courier New"/>
                <a:cs typeface="Courier New"/>
              </a:rPr>
              <a:t>    return 1;</a:t>
            </a:r>
          </a:p>
          <a:p>
            <a:pPr algn="l">
              <a:lnSpc>
                <a:spcPts val="2029"/>
              </a:lnSpc>
            </a:pPr>
            <a:r>
              <a:rPr sz="1450" b="1" i="0">
                <a:solidFill>
                  <a:srgbClr val="000000"/>
                </a:solidFill>
                <a:latin typeface="Courier New"/>
                <a:ea typeface="Courier New"/>
                <a:cs typeface="Courier New"/>
              </a:rPr>
              <a:t>  else if (n == 0)</a:t>
            </a:r>
          </a:p>
          <a:p>
            <a:pPr algn="l">
              <a:lnSpc>
                <a:spcPts val="2029"/>
              </a:lnSpc>
            </a:pPr>
            <a:r>
              <a:rPr sz="1450" b="1" i="0">
                <a:solidFill>
                  <a:srgbClr val="000000"/>
                </a:solidFill>
                <a:latin typeface="Courier New"/>
                <a:ea typeface="Courier New"/>
                <a:cs typeface="Courier New"/>
              </a:rPr>
              <a:t>    return 0;</a:t>
            </a:r>
          </a:p>
          <a:p>
            <a:pPr algn="l">
              <a:lnSpc>
                <a:spcPts val="2029"/>
              </a:lnSpc>
            </a:pPr>
            <a:r>
              <a:rPr sz="1450" b="1" i="0">
                <a:solidFill>
                  <a:srgbClr val="000000"/>
                </a:solidFill>
                <a:latin typeface="Courier New"/>
                <a:ea typeface="Courier New"/>
                <a:cs typeface="Courier New"/>
              </a:rPr>
              <a:t>  else if (n &lt; 0)</a:t>
            </a:r>
          </a:p>
          <a:p>
            <a:pPr algn="l">
              <a:lnSpc>
                <a:spcPts val="2029"/>
              </a:lnSpc>
            </a:pPr>
            <a:r>
              <a:rPr sz="1450" b="1" i="0">
                <a:solidFill>
                  <a:srgbClr val="000000"/>
                </a:solidFill>
                <a:latin typeface="Courier New"/>
                <a:ea typeface="Courier New"/>
                <a:cs typeface="Courier New"/>
              </a:rPr>
              <a:t>    return -1;</a:t>
            </a:r>
          </a:p>
          <a:p>
            <a:pPr algn="l">
              <a:lnSpc>
                <a:spcPts val="2029"/>
              </a:lnSpc>
            </a:pPr>
            <a:r>
              <a:rPr sz="1450" b="1" i="0">
                <a:solidFill>
                  <a:srgbClr val="000000"/>
                </a:solidFill>
                <a:latin typeface="Courier New"/>
                <a:ea typeface="Courier New"/>
                <a:cs typeface="Courier New"/>
              </a:rPr>
              <a:t>}</a:t>
            </a:r>
          </a:p>
        </p:txBody>
      </p:sp>
      <p:sp>
        <p:nvSpPr>
          <p:cNvPr id="8" name="Rectangle 7"/>
          <p:cNvSpPr/>
          <p:nvPr/>
        </p:nvSpPr>
        <p:spPr>
          <a:xfrm>
            <a:off x="6794500" y="2413000"/>
            <a:ext cx="3729990" cy="231648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6921500" y="2540000"/>
            <a:ext cx="4491990" cy="2189480"/>
          </a:xfrm>
          <a:prstGeom prst="rect">
            <a:avLst/>
          </a:prstGeom>
          <a:noFill/>
        </p:spPr>
        <p:txBody>
          <a:bodyPr wrap="square" lIns="0" tIns="0" rIns="0" bIns="0" anchor="t">
            <a:spAutoFit/>
          </a:bodyPr>
          <a:lstStyle/>
          <a:p>
            <a:pPr algn="l">
              <a:lnSpc>
                <a:spcPts val="2029"/>
              </a:lnSpc>
            </a:pPr>
            <a:r>
              <a:rPr sz="1450" b="1" i="0">
                <a:solidFill>
                  <a:srgbClr val="000000"/>
                </a:solidFill>
                <a:latin typeface="Courier New"/>
                <a:ea typeface="Courier New"/>
                <a:cs typeface="Courier New"/>
              </a:rPr>
              <a:t>public static int sign(int n) {</a:t>
            </a:r>
          </a:p>
          <a:p>
            <a:pPr algn="l">
              <a:lnSpc>
                <a:spcPts val="2029"/>
              </a:lnSpc>
            </a:pPr>
            <a:r>
              <a:rPr sz="1450" b="1" i="0">
                <a:solidFill>
                  <a:srgbClr val="000000"/>
                </a:solidFill>
                <a:latin typeface="Courier New"/>
                <a:ea typeface="Courier New"/>
                <a:cs typeface="Courier New"/>
              </a:rPr>
              <a:t>  if (n &gt; 0)</a:t>
            </a:r>
          </a:p>
          <a:p>
            <a:pPr algn="l">
              <a:lnSpc>
                <a:spcPts val="2029"/>
              </a:lnSpc>
            </a:pPr>
            <a:r>
              <a:rPr sz="1450" b="1" i="0">
                <a:solidFill>
                  <a:srgbClr val="000000"/>
                </a:solidFill>
                <a:latin typeface="Courier New"/>
                <a:ea typeface="Courier New"/>
                <a:cs typeface="Courier New"/>
              </a:rPr>
              <a:t>    return 1;</a:t>
            </a:r>
          </a:p>
          <a:p>
            <a:pPr algn="l">
              <a:lnSpc>
                <a:spcPts val="2029"/>
              </a:lnSpc>
            </a:pPr>
            <a:r>
              <a:rPr sz="1450" b="1" i="0">
                <a:solidFill>
                  <a:srgbClr val="000000"/>
                </a:solidFill>
                <a:latin typeface="Courier New"/>
                <a:ea typeface="Courier New"/>
                <a:cs typeface="Courier New"/>
              </a:rPr>
              <a:t>  else if (n == 0)</a:t>
            </a:r>
          </a:p>
          <a:p>
            <a:pPr algn="l">
              <a:lnSpc>
                <a:spcPts val="2029"/>
              </a:lnSpc>
            </a:pPr>
            <a:r>
              <a:rPr sz="1450" b="1" i="0">
                <a:solidFill>
                  <a:srgbClr val="000000"/>
                </a:solidFill>
                <a:latin typeface="Courier New"/>
                <a:ea typeface="Courier New"/>
                <a:cs typeface="Courier New"/>
              </a:rPr>
              <a:t>    return 0;</a:t>
            </a:r>
          </a:p>
          <a:p>
            <a:pPr algn="l">
              <a:lnSpc>
                <a:spcPts val="2029"/>
              </a:lnSpc>
            </a:pPr>
            <a:r>
              <a:rPr sz="1450" b="1" i="0">
                <a:solidFill>
                  <a:srgbClr val="000000"/>
                </a:solidFill>
                <a:latin typeface="Courier New"/>
                <a:ea typeface="Courier New"/>
                <a:cs typeface="Courier New"/>
              </a:rPr>
              <a:t>  else</a:t>
            </a:r>
          </a:p>
          <a:p>
            <a:pPr algn="l">
              <a:lnSpc>
                <a:spcPts val="2029"/>
              </a:lnSpc>
            </a:pPr>
            <a:r>
              <a:rPr sz="1450" b="1" i="0">
                <a:solidFill>
                  <a:srgbClr val="000000"/>
                </a:solidFill>
                <a:latin typeface="Courier New"/>
                <a:ea typeface="Courier New"/>
                <a:cs typeface="Courier New"/>
              </a:rPr>
              <a:t>    return -1;</a:t>
            </a:r>
          </a:p>
          <a:p>
            <a:pPr algn="l">
              <a:lnSpc>
                <a:spcPts val="2029"/>
              </a:lnSpc>
            </a:pPr>
            <a:r>
              <a:rPr sz="1450" b="1" i="0">
                <a:solidFill>
                  <a:srgbClr val="000000"/>
                </a:solidFill>
                <a:latin typeface="Courier New"/>
                <a:ea typeface="Courier New"/>
                <a:cs typeface="Courier New"/>
              </a:rPr>
              <a:t>}</a:t>
            </a:r>
          </a:p>
        </p:txBody>
      </p:sp>
      <p:sp>
        <p:nvSpPr>
          <p:cNvPr id="10" name="TextBox 9"/>
          <p:cNvSpPr txBox="1"/>
          <p:nvPr/>
        </p:nvSpPr>
        <p:spPr>
          <a:xfrm>
            <a:off x="952500" y="4780280"/>
            <a:ext cx="3729990" cy="254000"/>
          </a:xfrm>
          <a:prstGeom prst="rect">
            <a:avLst/>
          </a:prstGeom>
          <a:noFill/>
        </p:spPr>
        <p:txBody>
          <a:bodyPr wrap="square" lIns="0" tIns="0" rIns="0" bIns="0" anchor="t">
            <a:spAutoFit/>
          </a:bodyPr>
          <a:lstStyle/>
          <a:p>
            <a:pPr algn="ctr">
              <a:lnSpc>
                <a:spcPts val="2000"/>
              </a:lnSpc>
            </a:pPr>
            <a:r>
              <a:rPr sz="1600" b="0" i="0">
                <a:solidFill>
                  <a:srgbClr val="111111"/>
                </a:solidFill>
                <a:latin typeface="Times New Roman"/>
                <a:ea typeface="Times New Roman"/>
                <a:cs typeface="Times New Roman"/>
              </a:rPr>
              <a:t>(a)</a:t>
            </a:r>
          </a:p>
        </p:txBody>
      </p:sp>
      <p:sp>
        <p:nvSpPr>
          <p:cNvPr id="11" name="TextBox 10"/>
          <p:cNvSpPr txBox="1"/>
          <p:nvPr/>
        </p:nvSpPr>
        <p:spPr>
          <a:xfrm>
            <a:off x="6794500" y="4780280"/>
            <a:ext cx="3729990" cy="254000"/>
          </a:xfrm>
          <a:prstGeom prst="rect">
            <a:avLst/>
          </a:prstGeom>
          <a:noFill/>
        </p:spPr>
        <p:txBody>
          <a:bodyPr wrap="square" lIns="0" tIns="0" rIns="0" bIns="0" anchor="t">
            <a:spAutoFit/>
          </a:bodyPr>
          <a:lstStyle/>
          <a:p>
            <a:pPr algn="ctr">
              <a:lnSpc>
                <a:spcPts val="2000"/>
              </a:lnSpc>
            </a:pPr>
            <a:r>
              <a:rPr sz="1600" b="0" i="0">
                <a:solidFill>
                  <a:srgbClr val="111111"/>
                </a:solidFill>
                <a:latin typeface="Times New Roman"/>
                <a:ea typeface="Times New Roman"/>
                <a:cs typeface="Times New Roman"/>
              </a:rPr>
              <a:t>(b)</a:t>
            </a:r>
          </a:p>
        </p:txBody>
      </p:sp>
      <p:sp>
        <p:nvSpPr>
          <p:cNvPr id="12" name="TextBox 11"/>
          <p:cNvSpPr txBox="1"/>
          <p:nvPr/>
        </p:nvSpPr>
        <p:spPr>
          <a:xfrm>
            <a:off x="4682490" y="2921000"/>
            <a:ext cx="2112010" cy="254000"/>
          </a:xfrm>
          <a:prstGeom prst="rect">
            <a:avLst/>
          </a:prstGeom>
          <a:noFill/>
        </p:spPr>
        <p:txBody>
          <a:bodyPr wrap="square" lIns="0" tIns="0" rIns="0" bIns="0" anchor="t">
            <a:spAutoFit/>
          </a:bodyPr>
          <a:lstStyle/>
          <a:p>
            <a:pPr algn="ctr">
              <a:lnSpc>
                <a:spcPts val="1875"/>
              </a:lnSpc>
            </a:pPr>
            <a:r>
              <a:rPr sz="1500" b="0" i="0">
                <a:solidFill>
                  <a:srgbClr val="111111"/>
                </a:solidFill>
                <a:latin typeface="Times New Roman"/>
                <a:ea typeface="Times New Roman"/>
                <a:cs typeface="Times New Roman"/>
              </a:rPr>
              <a:t>Should be</a:t>
            </a:r>
          </a:p>
        </p:txBody>
      </p:sp>
      <p:cxnSp>
        <p:nvCxnSpPr>
          <p:cNvPr id="13" name="Connector 12"/>
          <p:cNvCxnSpPr/>
          <p:nvPr/>
        </p:nvCxnSpPr>
        <p:spPr>
          <a:xfrm>
            <a:off x="4758690" y="3238500"/>
            <a:ext cx="1959610" cy="0"/>
          </a:xfrm>
          <a:prstGeom prst="line">
            <a:avLst/>
          </a:prstGeom>
          <a:ln w="12700">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52500" y="5207000"/>
            <a:ext cx="10287000" cy="5080000"/>
          </a:xfrm>
          <a:prstGeom prst="rect">
            <a:avLst/>
          </a:prstGeom>
          <a:noFill/>
        </p:spPr>
        <p:txBody>
          <a:bodyPr wrap="square" lIns="0" tIns="0" rIns="0" bIns="0" anchor="t">
            <a:spAutoFit/>
          </a:bodyPr>
          <a:lstStyle/>
          <a:p>
            <a:pPr algn="l">
              <a:lnSpc>
                <a:spcPts val="2500"/>
              </a:lnSpc>
            </a:pPr>
            <a:r>
              <a:rPr sz="2000" b="0" i="0">
                <a:solidFill>
                  <a:srgbClr val="111111"/>
                </a:solidFill>
                <a:latin typeface="Times New Roman"/>
                <a:ea typeface="Times New Roman"/>
                <a:cs typeface="Times New Roman"/>
              </a:rPr>
              <a:t>To fix this problem, delete </a:t>
            </a:r>
            <a:r>
              <a:rPr sz="1800" b="1" i="0">
                <a:solidFill>
                  <a:srgbClr val="111111"/>
                </a:solidFill>
                <a:latin typeface="Courier New"/>
                <a:ea typeface="Courier New"/>
                <a:cs typeface="Courier New"/>
              </a:rPr>
              <a:t>if (n &lt; 0)</a:t>
            </a:r>
            <a:r>
              <a:rPr sz="2000" b="0" i="0">
                <a:solidFill>
                  <a:srgbClr val="111111"/>
                </a:solidFill>
                <a:latin typeface="Times New Roman"/>
                <a:ea typeface="Times New Roman"/>
                <a:cs typeface="Times New Roman"/>
              </a:rPr>
              <a:t> in (a), so that the compiler will see a </a:t>
            </a:r>
            <a:r>
              <a:rPr sz="1800" b="1" i="0">
                <a:solidFill>
                  <a:srgbClr val="111111"/>
                </a:solidFill>
                <a:latin typeface="Courier New"/>
                <a:ea typeface="Courier New"/>
                <a:cs typeface="Courier New"/>
              </a:rPr>
              <a:t>return</a:t>
            </a:r>
            <a:r>
              <a:rPr sz="2000" b="0" i="0">
                <a:solidFill>
                  <a:srgbClr val="111111"/>
                </a:solidFill>
                <a:latin typeface="Times New Roman"/>
                <a:ea typeface="Times New Roman"/>
                <a:cs typeface="Times New Roman"/>
              </a:rPr>
              <a:t> statement to be reached regardless of how the </a:t>
            </a:r>
            <a:r>
              <a:rPr sz="1800" b="1" i="0">
                <a:solidFill>
                  <a:srgbClr val="111111"/>
                </a:solidFill>
                <a:latin typeface="Courier New"/>
                <a:ea typeface="Courier New"/>
                <a:cs typeface="Courier New"/>
              </a:rPr>
              <a:t>if</a:t>
            </a:r>
            <a:r>
              <a:rPr sz="2000" b="0" i="0">
                <a:solidFill>
                  <a:srgbClr val="111111"/>
                </a:solidFill>
                <a:latin typeface="Times New Roman"/>
                <a:ea typeface="Times New Roman"/>
                <a:cs typeface="Times New Roman"/>
              </a:rPr>
              <a:t> statement is evaluated.</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Call Stacks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0DDB952C-F26D-4B1C-BAD8-62E4EECEC85B}" type="slidenum">
              <a:rPr sz="1200" b="0" i="0">
                <a:solidFill>
                  <a:srgbClr val="6B6B6B"/>
                </a:solidFill>
                <a:latin typeface="Source Sans 3"/>
                <a:ea typeface="Source Sans 3"/>
                <a:cs typeface="Source Sans 3"/>
              </a:rPr>
              <a:pPr algn="l">
                <a:lnSpc>
                  <a:spcPts val="1500"/>
                </a:lnSpc>
              </a:pPr>
              <a:t>130</a:t>
            </a:fld>
            <a:endParaRPr sz="1200" b="0" i="0">
              <a:solidFill>
                <a:srgbClr val="6B6B6B"/>
              </a:solidFill>
              <a:latin typeface="Source Sans 3"/>
              <a:ea typeface="Source Sans 3"/>
              <a:cs typeface="Source Sans 3"/>
            </a:endParaRPr>
          </a:p>
        </p:txBody>
      </p:sp>
      <p:pic>
        <p:nvPicPr>
          <p:cNvPr id="4" name="Picture 3" descr="callstacks.png"/>
          <p:cNvPicPr>
            <a:picLocks noChangeAspect="1"/>
          </p:cNvPicPr>
          <p:nvPr/>
        </p:nvPicPr>
        <p:blipFill>
          <a:blip r:embed="rId2"/>
          <a:stretch>
            <a:fillRect/>
          </a:stretch>
        </p:blipFill>
        <p:spPr>
          <a:xfrm>
            <a:off x="635000" y="1905000"/>
            <a:ext cx="10922000" cy="3068992"/>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Call Stack</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07B4D2B-2784-40A8-B689-9B2C5615B18F}" type="slidenum">
              <a:rPr sz="1200" b="0" i="0">
                <a:solidFill>
                  <a:srgbClr val="6B6B6B"/>
                </a:solidFill>
                <a:latin typeface="Source Sans 3"/>
                <a:ea typeface="Source Sans 3"/>
                <a:cs typeface="Source Sans 3"/>
              </a:rPr>
              <a:pPr algn="l">
                <a:lnSpc>
                  <a:spcPts val="1500"/>
                </a:lnSpc>
              </a:pPr>
              <a:t>131</a:t>
            </a:fld>
            <a:endParaRPr sz="1200" b="0" i="0">
              <a:solidFill>
                <a:srgbClr val="6B6B6B"/>
              </a:solidFill>
              <a:latin typeface="Source Sans 3"/>
              <a:ea typeface="Source Sans 3"/>
              <a:cs typeface="Source Sans 3"/>
            </a:endParaRPr>
          </a:p>
        </p:txBody>
      </p:sp>
      <p:sp>
        <p:nvSpPr>
          <p:cNvPr id="4" name="Rectangle 3"/>
          <p:cNvSpPr/>
          <p:nvPr/>
        </p:nvSpPr>
        <p:spPr>
          <a:xfrm>
            <a:off x="571500" y="1752600"/>
            <a:ext cx="5334000" cy="201422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28040" y="2098929"/>
            <a:ext cx="91440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98500" y="1879600"/>
            <a:ext cx="6096000" cy="188722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void main(String[] args) {</a:t>
            </a:r>
          </a:p>
          <a:p>
            <a:pPr algn="l">
              <a:lnSpc>
                <a:spcPts val="1539"/>
              </a:lnSpc>
            </a:pPr>
            <a:r>
              <a:rPr sz="1100" b="1" i="0">
                <a:solidFill>
                  <a:srgbClr val="000000"/>
                </a:solidFill>
                <a:latin typeface="Courier New"/>
                <a:ea typeface="Courier New"/>
                <a:cs typeface="Courier New"/>
              </a:rPr>
              <a:t>  int i = 5;</a:t>
            </a:r>
          </a:p>
          <a:p>
            <a:pPr algn="l">
              <a:lnSpc>
                <a:spcPts val="1539"/>
              </a:lnSpc>
            </a:pPr>
            <a:r>
              <a:rPr sz="1100" b="1" i="0">
                <a:solidFill>
                  <a:srgbClr val="000000"/>
                </a:solidFill>
                <a:latin typeface="Courier New"/>
                <a:ea typeface="Courier New"/>
                <a:cs typeface="Courier New"/>
              </a:rPr>
              <a:t>  int j = 2;</a:t>
            </a:r>
          </a:p>
          <a:p>
            <a:pPr algn="l">
              <a:lnSpc>
                <a:spcPts val="1539"/>
              </a:lnSpc>
            </a:pPr>
            <a:r>
              <a:rPr sz="1100" b="1" i="0">
                <a:solidFill>
                  <a:srgbClr val="000000"/>
                </a:solidFill>
                <a:latin typeface="Courier New"/>
                <a:ea typeface="Courier New"/>
                <a:cs typeface="Courier New"/>
              </a:rPr>
              <a:t>  int k = max(i, j);</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System.out.println(</a:t>
            </a:r>
          </a:p>
          <a:p>
            <a:pPr algn="l">
              <a:lnSpc>
                <a:spcPts val="1539"/>
              </a:lnSpc>
            </a:pPr>
            <a:r>
              <a:rPr sz="1100" b="1" i="0">
                <a:solidFill>
                  <a:srgbClr val="000000"/>
                </a:solidFill>
                <a:latin typeface="Courier New"/>
                <a:ea typeface="Courier New"/>
                <a:cs typeface="Courier New"/>
              </a:rPr>
              <a:t>   "The maximum between " + i +</a:t>
            </a:r>
          </a:p>
          <a:p>
            <a:pPr algn="l">
              <a:lnSpc>
                <a:spcPts val="1539"/>
              </a:lnSpc>
            </a:pPr>
            <a:r>
              <a:rPr sz="1100" b="1" i="0">
                <a:solidFill>
                  <a:srgbClr val="000000"/>
                </a:solidFill>
                <a:latin typeface="Courier New"/>
                <a:ea typeface="Courier New"/>
                <a:cs typeface="Courier New"/>
              </a:rPr>
              <a:t>   " and " + j + " is " + k);</a:t>
            </a:r>
          </a:p>
          <a:p>
            <a:pPr algn="l">
              <a:lnSpc>
                <a:spcPts val="1539"/>
              </a:lnSpc>
            </a:pPr>
            <a:r>
              <a:rPr sz="1100" b="1" i="0">
                <a:solidFill>
                  <a:srgbClr val="000000"/>
                </a:solidFill>
                <a:latin typeface="Courier New"/>
                <a:ea typeface="Courier New"/>
                <a:cs typeface="Courier New"/>
              </a:rPr>
              <a:t>}</a:t>
            </a:r>
          </a:p>
        </p:txBody>
      </p:sp>
      <p:sp>
        <p:nvSpPr>
          <p:cNvPr id="7" name="Rectangle 6"/>
          <p:cNvSpPr/>
          <p:nvPr/>
        </p:nvSpPr>
        <p:spPr>
          <a:xfrm>
            <a:off x="571500" y="3868420"/>
            <a:ext cx="5334000" cy="22098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3995420"/>
            <a:ext cx="6096000" cy="208280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int max(int num1, int num2) {</a:t>
            </a:r>
          </a:p>
          <a:p>
            <a:pPr algn="l">
              <a:lnSpc>
                <a:spcPts val="1539"/>
              </a:lnSpc>
            </a:pPr>
            <a:r>
              <a:rPr sz="1100" b="1" i="0">
                <a:solidFill>
                  <a:srgbClr val="000000"/>
                </a:solidFill>
                <a:latin typeface="Courier New"/>
                <a:ea typeface="Courier New"/>
                <a:cs typeface="Courier New"/>
              </a:rPr>
              <a:t>  int result;</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if (num1 &gt; num2)</a:t>
            </a:r>
          </a:p>
          <a:p>
            <a:pPr algn="l">
              <a:lnSpc>
                <a:spcPts val="1539"/>
              </a:lnSpc>
            </a:pPr>
            <a:r>
              <a:rPr sz="1100" b="1" i="0">
                <a:solidFill>
                  <a:srgbClr val="000000"/>
                </a:solidFill>
                <a:latin typeface="Courier New"/>
                <a:ea typeface="Courier New"/>
                <a:cs typeface="Courier New"/>
              </a:rPr>
              <a:t>    result = num1;</a:t>
            </a:r>
          </a:p>
          <a:p>
            <a:pPr algn="l">
              <a:lnSpc>
                <a:spcPts val="1539"/>
              </a:lnSpc>
            </a:pPr>
            <a:r>
              <a:rPr sz="1100" b="1" i="0">
                <a:solidFill>
                  <a:srgbClr val="000000"/>
                </a:solidFill>
                <a:latin typeface="Courier New"/>
                <a:ea typeface="Courier New"/>
                <a:cs typeface="Courier New"/>
              </a:rPr>
              <a:t>  else</a:t>
            </a:r>
          </a:p>
          <a:p>
            <a:pPr algn="l">
              <a:lnSpc>
                <a:spcPts val="1539"/>
              </a:lnSpc>
            </a:pPr>
            <a:r>
              <a:rPr sz="1100" b="1" i="0">
                <a:solidFill>
                  <a:srgbClr val="000000"/>
                </a:solidFill>
                <a:latin typeface="Courier New"/>
                <a:ea typeface="Courier New"/>
                <a:cs typeface="Courier New"/>
              </a:rPr>
              <a:t>    result = num2;</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return result;</a:t>
            </a:r>
          </a:p>
          <a:p>
            <a:pPr algn="l">
              <a:lnSpc>
                <a:spcPts val="1539"/>
              </a:lnSpc>
            </a:pPr>
            <a:r>
              <a:rPr sz="1100" b="1" i="0">
                <a:solidFill>
                  <a:srgbClr val="000000"/>
                </a:solidFill>
                <a:latin typeface="Courier New"/>
                <a:ea typeface="Courier New"/>
                <a:cs typeface="Courier New"/>
              </a:rPr>
              <a:t>}</a:t>
            </a:r>
          </a:p>
        </p:txBody>
      </p:sp>
      <p:sp>
        <p:nvSpPr>
          <p:cNvPr id="9" name="Rounded Rectangle 8"/>
          <p:cNvSpPr/>
          <p:nvPr/>
        </p:nvSpPr>
        <p:spPr>
          <a:xfrm>
            <a:off x="5334000" y="1016000"/>
            <a:ext cx="3302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384800" y="1104900"/>
            <a:ext cx="3200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 is declared and initialized</a:t>
            </a:r>
          </a:p>
        </p:txBody>
      </p:sp>
      <p:cxnSp>
        <p:nvCxnSpPr>
          <p:cNvPr id="11" name="Connector 10"/>
          <p:cNvCxnSpPr/>
          <p:nvPr/>
        </p:nvCxnSpPr>
        <p:spPr>
          <a:xfrm flipH="1">
            <a:off x="1468120" y="1513840"/>
            <a:ext cx="5516880" cy="610489"/>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890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049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90000" y="5334000"/>
            <a:ext cx="2159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90000" y="4984115"/>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40800" y="5034915"/>
            <a:ext cx="2006600" cy="22288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i: 5</a:t>
            </a:r>
          </a:p>
        </p:txBody>
      </p:sp>
      <p:sp>
        <p:nvSpPr>
          <p:cNvPr id="17" name="TextBox 16"/>
          <p:cNvSpPr txBox="1"/>
          <p:nvPr/>
        </p:nvSpPr>
        <p:spPr>
          <a:xfrm>
            <a:off x="9017000" y="5486400"/>
            <a:ext cx="2413000" cy="508000"/>
          </a:xfrm>
          <a:prstGeom prst="rect">
            <a:avLst/>
          </a:prstGeom>
          <a:noFill/>
        </p:spPr>
        <p:txBody>
          <a:bodyPr wrap="square" lIns="0" tIns="0" rIns="0" bIns="0" anchor="t">
            <a:spAutoFit/>
          </a:bodyPr>
          <a:lstStyle/>
          <a:p>
            <a:pPr algn="l">
              <a:lnSpc>
                <a:spcPts val="1800"/>
              </a:lnSpc>
            </a:pPr>
            <a:r>
              <a:rPr sz="1500" b="0" i="0">
                <a:solidFill>
                  <a:srgbClr val="111111"/>
                </a:solidFill>
                <a:latin typeface="Times New Roman"/>
                <a:ea typeface="Times New Roman"/>
                <a:cs typeface="Times New Roman"/>
              </a:rPr>
              <a:t>The main method
is invoked.</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Call Stack</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0CF3303A-D69F-4C18-AD20-D7B1E9705360}" type="slidenum">
              <a:rPr sz="1200" b="0" i="0">
                <a:solidFill>
                  <a:srgbClr val="6B6B6B"/>
                </a:solidFill>
                <a:latin typeface="Source Sans 3"/>
                <a:ea typeface="Source Sans 3"/>
                <a:cs typeface="Source Sans 3"/>
              </a:rPr>
              <a:pPr algn="l">
                <a:lnSpc>
                  <a:spcPts val="1500"/>
                </a:lnSpc>
              </a:pPr>
              <a:t>132</a:t>
            </a:fld>
            <a:endParaRPr sz="1200" b="0" i="0">
              <a:solidFill>
                <a:srgbClr val="6B6B6B"/>
              </a:solidFill>
              <a:latin typeface="Source Sans 3"/>
              <a:ea typeface="Source Sans 3"/>
              <a:cs typeface="Source Sans 3"/>
            </a:endParaRPr>
          </a:p>
        </p:txBody>
      </p:sp>
      <p:sp>
        <p:nvSpPr>
          <p:cNvPr id="4" name="Rectangle 3"/>
          <p:cNvSpPr/>
          <p:nvPr/>
        </p:nvSpPr>
        <p:spPr>
          <a:xfrm>
            <a:off x="571500" y="1752600"/>
            <a:ext cx="5334000" cy="201422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28040" y="2294509"/>
            <a:ext cx="91440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98500" y="1879600"/>
            <a:ext cx="6096000" cy="188722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void main(String[] args) {</a:t>
            </a:r>
          </a:p>
          <a:p>
            <a:pPr algn="l">
              <a:lnSpc>
                <a:spcPts val="1539"/>
              </a:lnSpc>
            </a:pPr>
            <a:r>
              <a:rPr sz="1100" b="1" i="0">
                <a:solidFill>
                  <a:srgbClr val="000000"/>
                </a:solidFill>
                <a:latin typeface="Courier New"/>
                <a:ea typeface="Courier New"/>
                <a:cs typeface="Courier New"/>
              </a:rPr>
              <a:t>  int i = 5;</a:t>
            </a:r>
          </a:p>
          <a:p>
            <a:pPr algn="l">
              <a:lnSpc>
                <a:spcPts val="1539"/>
              </a:lnSpc>
            </a:pPr>
            <a:r>
              <a:rPr sz="1100" b="1" i="0">
                <a:solidFill>
                  <a:srgbClr val="000000"/>
                </a:solidFill>
                <a:latin typeface="Courier New"/>
                <a:ea typeface="Courier New"/>
                <a:cs typeface="Courier New"/>
              </a:rPr>
              <a:t>  int j = 2;</a:t>
            </a:r>
          </a:p>
          <a:p>
            <a:pPr algn="l">
              <a:lnSpc>
                <a:spcPts val="1539"/>
              </a:lnSpc>
            </a:pPr>
            <a:r>
              <a:rPr sz="1100" b="1" i="0">
                <a:solidFill>
                  <a:srgbClr val="000000"/>
                </a:solidFill>
                <a:latin typeface="Courier New"/>
                <a:ea typeface="Courier New"/>
                <a:cs typeface="Courier New"/>
              </a:rPr>
              <a:t>  int k = max(i, j);</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System.out.println(</a:t>
            </a:r>
          </a:p>
          <a:p>
            <a:pPr algn="l">
              <a:lnSpc>
                <a:spcPts val="1539"/>
              </a:lnSpc>
            </a:pPr>
            <a:r>
              <a:rPr sz="1100" b="1" i="0">
                <a:solidFill>
                  <a:srgbClr val="000000"/>
                </a:solidFill>
                <a:latin typeface="Courier New"/>
                <a:ea typeface="Courier New"/>
                <a:cs typeface="Courier New"/>
              </a:rPr>
              <a:t>   "The maximum between " + i +</a:t>
            </a:r>
          </a:p>
          <a:p>
            <a:pPr algn="l">
              <a:lnSpc>
                <a:spcPts val="1539"/>
              </a:lnSpc>
            </a:pPr>
            <a:r>
              <a:rPr sz="1100" b="1" i="0">
                <a:solidFill>
                  <a:srgbClr val="000000"/>
                </a:solidFill>
                <a:latin typeface="Courier New"/>
                <a:ea typeface="Courier New"/>
                <a:cs typeface="Courier New"/>
              </a:rPr>
              <a:t>   " and " + j + " is " + k);</a:t>
            </a:r>
          </a:p>
          <a:p>
            <a:pPr algn="l">
              <a:lnSpc>
                <a:spcPts val="1539"/>
              </a:lnSpc>
            </a:pPr>
            <a:r>
              <a:rPr sz="1100" b="1" i="0">
                <a:solidFill>
                  <a:srgbClr val="000000"/>
                </a:solidFill>
                <a:latin typeface="Courier New"/>
                <a:ea typeface="Courier New"/>
                <a:cs typeface="Courier New"/>
              </a:rPr>
              <a:t>}</a:t>
            </a:r>
          </a:p>
        </p:txBody>
      </p:sp>
      <p:sp>
        <p:nvSpPr>
          <p:cNvPr id="7" name="Rectangle 6"/>
          <p:cNvSpPr/>
          <p:nvPr/>
        </p:nvSpPr>
        <p:spPr>
          <a:xfrm>
            <a:off x="571500" y="3868420"/>
            <a:ext cx="5334000" cy="22098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3995420"/>
            <a:ext cx="6096000" cy="208280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int max(int num1, int num2) {</a:t>
            </a:r>
          </a:p>
          <a:p>
            <a:pPr algn="l">
              <a:lnSpc>
                <a:spcPts val="1539"/>
              </a:lnSpc>
            </a:pPr>
            <a:r>
              <a:rPr sz="1100" b="1" i="0">
                <a:solidFill>
                  <a:srgbClr val="000000"/>
                </a:solidFill>
                <a:latin typeface="Courier New"/>
                <a:ea typeface="Courier New"/>
                <a:cs typeface="Courier New"/>
              </a:rPr>
              <a:t>  int result;</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if (num1 &gt; num2)</a:t>
            </a:r>
          </a:p>
          <a:p>
            <a:pPr algn="l">
              <a:lnSpc>
                <a:spcPts val="1539"/>
              </a:lnSpc>
            </a:pPr>
            <a:r>
              <a:rPr sz="1100" b="1" i="0">
                <a:solidFill>
                  <a:srgbClr val="000000"/>
                </a:solidFill>
                <a:latin typeface="Courier New"/>
                <a:ea typeface="Courier New"/>
                <a:cs typeface="Courier New"/>
              </a:rPr>
              <a:t>    result = num1;</a:t>
            </a:r>
          </a:p>
          <a:p>
            <a:pPr algn="l">
              <a:lnSpc>
                <a:spcPts val="1539"/>
              </a:lnSpc>
            </a:pPr>
            <a:r>
              <a:rPr sz="1100" b="1" i="0">
                <a:solidFill>
                  <a:srgbClr val="000000"/>
                </a:solidFill>
                <a:latin typeface="Courier New"/>
                <a:ea typeface="Courier New"/>
                <a:cs typeface="Courier New"/>
              </a:rPr>
              <a:t>  else</a:t>
            </a:r>
          </a:p>
          <a:p>
            <a:pPr algn="l">
              <a:lnSpc>
                <a:spcPts val="1539"/>
              </a:lnSpc>
            </a:pPr>
            <a:r>
              <a:rPr sz="1100" b="1" i="0">
                <a:solidFill>
                  <a:srgbClr val="000000"/>
                </a:solidFill>
                <a:latin typeface="Courier New"/>
                <a:ea typeface="Courier New"/>
                <a:cs typeface="Courier New"/>
              </a:rPr>
              <a:t>    result = num2;</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return result;</a:t>
            </a:r>
          </a:p>
          <a:p>
            <a:pPr algn="l">
              <a:lnSpc>
                <a:spcPts val="1539"/>
              </a:lnSpc>
            </a:pPr>
            <a:r>
              <a:rPr sz="1100" b="1" i="0">
                <a:solidFill>
                  <a:srgbClr val="000000"/>
                </a:solidFill>
                <a:latin typeface="Courier New"/>
                <a:ea typeface="Courier New"/>
                <a:cs typeface="Courier New"/>
              </a:rPr>
              <a:t>}</a:t>
            </a:r>
          </a:p>
        </p:txBody>
      </p:sp>
      <p:sp>
        <p:nvSpPr>
          <p:cNvPr id="9" name="Rounded Rectangle 8"/>
          <p:cNvSpPr/>
          <p:nvPr/>
        </p:nvSpPr>
        <p:spPr>
          <a:xfrm>
            <a:off x="5334000" y="1016000"/>
            <a:ext cx="3302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384800" y="1104900"/>
            <a:ext cx="3200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j is declared and initialized</a:t>
            </a:r>
          </a:p>
        </p:txBody>
      </p:sp>
      <p:cxnSp>
        <p:nvCxnSpPr>
          <p:cNvPr id="11" name="Connector 10"/>
          <p:cNvCxnSpPr/>
          <p:nvPr/>
        </p:nvCxnSpPr>
        <p:spPr>
          <a:xfrm flipH="1">
            <a:off x="1468120" y="1513840"/>
            <a:ext cx="5516880" cy="806069"/>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890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049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90000" y="5334000"/>
            <a:ext cx="2159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90000" y="4761230"/>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40800" y="4812030"/>
            <a:ext cx="2006600" cy="445770"/>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j: 2</a:t>
            </a:r>
          </a:p>
          <a:p>
            <a:pPr algn="r">
              <a:lnSpc>
                <a:spcPts val="1755"/>
              </a:lnSpc>
            </a:pPr>
            <a:r>
              <a:rPr sz="1300" b="0" i="0">
                <a:solidFill>
                  <a:srgbClr val="111111"/>
                </a:solidFill>
                <a:latin typeface="Times New Roman"/>
                <a:ea typeface="Times New Roman"/>
                <a:cs typeface="Times New Roman"/>
              </a:rPr>
              <a:t>i: 5</a:t>
            </a:r>
          </a:p>
        </p:txBody>
      </p:sp>
      <p:sp>
        <p:nvSpPr>
          <p:cNvPr id="17" name="TextBox 16"/>
          <p:cNvSpPr txBox="1"/>
          <p:nvPr/>
        </p:nvSpPr>
        <p:spPr>
          <a:xfrm>
            <a:off x="9017000" y="5486400"/>
            <a:ext cx="2413000" cy="508000"/>
          </a:xfrm>
          <a:prstGeom prst="rect">
            <a:avLst/>
          </a:prstGeom>
          <a:noFill/>
        </p:spPr>
        <p:txBody>
          <a:bodyPr wrap="square" lIns="0" tIns="0" rIns="0" bIns="0" anchor="t">
            <a:spAutoFit/>
          </a:bodyPr>
          <a:lstStyle/>
          <a:p>
            <a:pPr algn="l">
              <a:lnSpc>
                <a:spcPts val="1800"/>
              </a:lnSpc>
            </a:pPr>
            <a:r>
              <a:rPr sz="1500" b="0" i="0">
                <a:solidFill>
                  <a:srgbClr val="111111"/>
                </a:solidFill>
                <a:latin typeface="Times New Roman"/>
                <a:ea typeface="Times New Roman"/>
                <a:cs typeface="Times New Roman"/>
              </a:rPr>
              <a:t>The main method
is invoked.</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Call Stack</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2C3B19D5-9315-4790-A91B-DB01E3C3D1BC}" type="slidenum">
              <a:rPr sz="1200" b="0" i="0">
                <a:solidFill>
                  <a:srgbClr val="6B6B6B"/>
                </a:solidFill>
                <a:latin typeface="Source Sans 3"/>
                <a:ea typeface="Source Sans 3"/>
                <a:cs typeface="Source Sans 3"/>
              </a:rPr>
              <a:pPr algn="l">
                <a:lnSpc>
                  <a:spcPts val="1500"/>
                </a:lnSpc>
              </a:pPr>
              <a:t>133</a:t>
            </a:fld>
            <a:endParaRPr sz="1200" b="0" i="0">
              <a:solidFill>
                <a:srgbClr val="6B6B6B"/>
              </a:solidFill>
              <a:latin typeface="Source Sans 3"/>
              <a:ea typeface="Source Sans 3"/>
              <a:cs typeface="Source Sans 3"/>
            </a:endParaRPr>
          </a:p>
        </p:txBody>
      </p:sp>
      <p:sp>
        <p:nvSpPr>
          <p:cNvPr id="4" name="Rectangle 3"/>
          <p:cNvSpPr/>
          <p:nvPr/>
        </p:nvSpPr>
        <p:spPr>
          <a:xfrm>
            <a:off x="571500" y="1752600"/>
            <a:ext cx="5334000" cy="201422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28040" y="2490089"/>
            <a:ext cx="49530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98500" y="1879600"/>
            <a:ext cx="6096000" cy="188722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void main(String[] args) {</a:t>
            </a:r>
          </a:p>
          <a:p>
            <a:pPr algn="l">
              <a:lnSpc>
                <a:spcPts val="1539"/>
              </a:lnSpc>
            </a:pPr>
            <a:r>
              <a:rPr sz="1100" b="1" i="0">
                <a:solidFill>
                  <a:srgbClr val="000000"/>
                </a:solidFill>
                <a:latin typeface="Courier New"/>
                <a:ea typeface="Courier New"/>
                <a:cs typeface="Courier New"/>
              </a:rPr>
              <a:t>  int i = 5;</a:t>
            </a:r>
          </a:p>
          <a:p>
            <a:pPr algn="l">
              <a:lnSpc>
                <a:spcPts val="1539"/>
              </a:lnSpc>
            </a:pPr>
            <a:r>
              <a:rPr sz="1100" b="1" i="0">
                <a:solidFill>
                  <a:srgbClr val="000000"/>
                </a:solidFill>
                <a:latin typeface="Courier New"/>
                <a:ea typeface="Courier New"/>
                <a:cs typeface="Courier New"/>
              </a:rPr>
              <a:t>  int j = 2;</a:t>
            </a:r>
          </a:p>
          <a:p>
            <a:pPr algn="l">
              <a:lnSpc>
                <a:spcPts val="1539"/>
              </a:lnSpc>
            </a:pPr>
            <a:r>
              <a:rPr sz="1100" b="1" i="0">
                <a:solidFill>
                  <a:srgbClr val="000000"/>
                </a:solidFill>
                <a:latin typeface="Courier New"/>
                <a:ea typeface="Courier New"/>
                <a:cs typeface="Courier New"/>
              </a:rPr>
              <a:t>  int k = max(i, j);</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System.out.println(</a:t>
            </a:r>
          </a:p>
          <a:p>
            <a:pPr algn="l">
              <a:lnSpc>
                <a:spcPts val="1539"/>
              </a:lnSpc>
            </a:pPr>
            <a:r>
              <a:rPr sz="1100" b="1" i="0">
                <a:solidFill>
                  <a:srgbClr val="000000"/>
                </a:solidFill>
                <a:latin typeface="Courier New"/>
                <a:ea typeface="Courier New"/>
                <a:cs typeface="Courier New"/>
              </a:rPr>
              <a:t>   "The maximum between " + i +</a:t>
            </a:r>
          </a:p>
          <a:p>
            <a:pPr algn="l">
              <a:lnSpc>
                <a:spcPts val="1539"/>
              </a:lnSpc>
            </a:pPr>
            <a:r>
              <a:rPr sz="1100" b="1" i="0">
                <a:solidFill>
                  <a:srgbClr val="000000"/>
                </a:solidFill>
                <a:latin typeface="Courier New"/>
                <a:ea typeface="Courier New"/>
                <a:cs typeface="Courier New"/>
              </a:rPr>
              <a:t>   " and " + j + " is " + k);</a:t>
            </a:r>
          </a:p>
          <a:p>
            <a:pPr algn="l">
              <a:lnSpc>
                <a:spcPts val="1539"/>
              </a:lnSpc>
            </a:pPr>
            <a:r>
              <a:rPr sz="1100" b="1" i="0">
                <a:solidFill>
                  <a:srgbClr val="000000"/>
                </a:solidFill>
                <a:latin typeface="Courier New"/>
                <a:ea typeface="Courier New"/>
                <a:cs typeface="Courier New"/>
              </a:rPr>
              <a:t>}</a:t>
            </a:r>
          </a:p>
        </p:txBody>
      </p:sp>
      <p:sp>
        <p:nvSpPr>
          <p:cNvPr id="7" name="Rectangle 6"/>
          <p:cNvSpPr/>
          <p:nvPr/>
        </p:nvSpPr>
        <p:spPr>
          <a:xfrm>
            <a:off x="571500" y="3868420"/>
            <a:ext cx="5334000" cy="22098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3995420"/>
            <a:ext cx="6096000" cy="208280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int max(int num1, int num2) {</a:t>
            </a:r>
          </a:p>
          <a:p>
            <a:pPr algn="l">
              <a:lnSpc>
                <a:spcPts val="1539"/>
              </a:lnSpc>
            </a:pPr>
            <a:r>
              <a:rPr sz="1100" b="1" i="0">
                <a:solidFill>
                  <a:srgbClr val="000000"/>
                </a:solidFill>
                <a:latin typeface="Courier New"/>
                <a:ea typeface="Courier New"/>
                <a:cs typeface="Courier New"/>
              </a:rPr>
              <a:t>  int result;</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if (num1 &gt; num2)</a:t>
            </a:r>
          </a:p>
          <a:p>
            <a:pPr algn="l">
              <a:lnSpc>
                <a:spcPts val="1539"/>
              </a:lnSpc>
            </a:pPr>
            <a:r>
              <a:rPr sz="1100" b="1" i="0">
                <a:solidFill>
                  <a:srgbClr val="000000"/>
                </a:solidFill>
                <a:latin typeface="Courier New"/>
                <a:ea typeface="Courier New"/>
                <a:cs typeface="Courier New"/>
              </a:rPr>
              <a:t>    result = num1;</a:t>
            </a:r>
          </a:p>
          <a:p>
            <a:pPr algn="l">
              <a:lnSpc>
                <a:spcPts val="1539"/>
              </a:lnSpc>
            </a:pPr>
            <a:r>
              <a:rPr sz="1100" b="1" i="0">
                <a:solidFill>
                  <a:srgbClr val="000000"/>
                </a:solidFill>
                <a:latin typeface="Courier New"/>
                <a:ea typeface="Courier New"/>
                <a:cs typeface="Courier New"/>
              </a:rPr>
              <a:t>  else</a:t>
            </a:r>
          </a:p>
          <a:p>
            <a:pPr algn="l">
              <a:lnSpc>
                <a:spcPts val="1539"/>
              </a:lnSpc>
            </a:pPr>
            <a:r>
              <a:rPr sz="1100" b="1" i="0">
                <a:solidFill>
                  <a:srgbClr val="000000"/>
                </a:solidFill>
                <a:latin typeface="Courier New"/>
                <a:ea typeface="Courier New"/>
                <a:cs typeface="Courier New"/>
              </a:rPr>
              <a:t>    result = num2;</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return result;</a:t>
            </a:r>
          </a:p>
          <a:p>
            <a:pPr algn="l">
              <a:lnSpc>
                <a:spcPts val="1539"/>
              </a:lnSpc>
            </a:pPr>
            <a:r>
              <a:rPr sz="1100" b="1" i="0">
                <a:solidFill>
                  <a:srgbClr val="000000"/>
                </a:solidFill>
                <a:latin typeface="Courier New"/>
                <a:ea typeface="Courier New"/>
                <a:cs typeface="Courier New"/>
              </a:rPr>
              <a:t>}</a:t>
            </a:r>
          </a:p>
        </p:txBody>
      </p:sp>
      <p:sp>
        <p:nvSpPr>
          <p:cNvPr id="9" name="Rounded Rectangle 8"/>
          <p:cNvSpPr/>
          <p:nvPr/>
        </p:nvSpPr>
        <p:spPr>
          <a:xfrm>
            <a:off x="5334000" y="1016000"/>
            <a:ext cx="3302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384800" y="1104900"/>
            <a:ext cx="3200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Declare k</a:t>
            </a:r>
          </a:p>
        </p:txBody>
      </p:sp>
      <p:cxnSp>
        <p:nvCxnSpPr>
          <p:cNvPr id="11" name="Connector 10"/>
          <p:cNvCxnSpPr/>
          <p:nvPr/>
        </p:nvCxnSpPr>
        <p:spPr>
          <a:xfrm flipH="1">
            <a:off x="1174750" y="1513840"/>
            <a:ext cx="5810250" cy="1001649"/>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890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049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90000" y="5334000"/>
            <a:ext cx="2159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90000" y="4092575"/>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40800" y="4143375"/>
            <a:ext cx="2057400" cy="445770"/>
          </a:xfrm>
          <a:prstGeom prst="rect">
            <a:avLst/>
          </a:prstGeom>
          <a:noFill/>
        </p:spPr>
        <p:txBody>
          <a:bodyPr wrap="square" lIns="0" tIns="0" rIns="0" bIns="0" anchor="t">
            <a:spAutoFit/>
          </a:bodyPr>
          <a:lstStyle/>
          <a:p>
            <a:pPr algn="l">
              <a:lnSpc>
                <a:spcPts val="1755"/>
              </a:lnSpc>
            </a:pPr>
            <a:r>
              <a:rPr sz="1300" b="0" i="0">
                <a:solidFill>
                  <a:srgbClr val="111111"/>
                </a:solidFill>
                <a:latin typeface="Times New Roman"/>
                <a:ea typeface="Times New Roman"/>
                <a:cs typeface="Times New Roman"/>
              </a:rPr>
              <a:t>Space required for the main method</a:t>
            </a:r>
          </a:p>
        </p:txBody>
      </p:sp>
      <p:sp>
        <p:nvSpPr>
          <p:cNvPr id="17" name="TextBox 16"/>
          <p:cNvSpPr txBox="1"/>
          <p:nvPr/>
        </p:nvSpPr>
        <p:spPr>
          <a:xfrm>
            <a:off x="8940800" y="4589145"/>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k:</a:t>
            </a:r>
          </a:p>
          <a:p>
            <a:pPr algn="r">
              <a:lnSpc>
                <a:spcPts val="1755"/>
              </a:lnSpc>
            </a:pPr>
            <a:r>
              <a:rPr sz="1300" b="0" i="0">
                <a:solidFill>
                  <a:srgbClr val="111111"/>
                </a:solidFill>
                <a:latin typeface="Times New Roman"/>
                <a:ea typeface="Times New Roman"/>
                <a:cs typeface="Times New Roman"/>
              </a:rPr>
              <a:t>j: 2</a:t>
            </a:r>
          </a:p>
          <a:p>
            <a:pPr algn="r">
              <a:lnSpc>
                <a:spcPts val="1755"/>
              </a:lnSpc>
            </a:pPr>
            <a:r>
              <a:rPr sz="1300" b="0" i="0">
                <a:solidFill>
                  <a:srgbClr val="111111"/>
                </a:solidFill>
                <a:latin typeface="Times New Roman"/>
                <a:ea typeface="Times New Roman"/>
                <a:cs typeface="Times New Roman"/>
              </a:rPr>
              <a:t>i: 5</a:t>
            </a:r>
          </a:p>
        </p:txBody>
      </p:sp>
      <p:sp>
        <p:nvSpPr>
          <p:cNvPr id="18" name="TextBox 17"/>
          <p:cNvSpPr txBox="1"/>
          <p:nvPr/>
        </p:nvSpPr>
        <p:spPr>
          <a:xfrm>
            <a:off x="9017000" y="5486400"/>
            <a:ext cx="2413000" cy="508000"/>
          </a:xfrm>
          <a:prstGeom prst="rect">
            <a:avLst/>
          </a:prstGeom>
          <a:noFill/>
        </p:spPr>
        <p:txBody>
          <a:bodyPr wrap="square" lIns="0" tIns="0" rIns="0" bIns="0" anchor="t">
            <a:spAutoFit/>
          </a:bodyPr>
          <a:lstStyle/>
          <a:p>
            <a:pPr algn="l">
              <a:lnSpc>
                <a:spcPts val="1800"/>
              </a:lnSpc>
            </a:pPr>
            <a:r>
              <a:rPr sz="1500" b="0" i="0">
                <a:solidFill>
                  <a:srgbClr val="111111"/>
                </a:solidFill>
                <a:latin typeface="Times New Roman"/>
                <a:ea typeface="Times New Roman"/>
                <a:cs typeface="Times New Roman"/>
              </a:rPr>
              <a:t>The main method
is invoked.</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Call Stack</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F4D65F4-5EB3-41FE-A97F-7F5EF149283C}" type="slidenum">
              <a:rPr sz="1200" b="0" i="0">
                <a:solidFill>
                  <a:srgbClr val="6B6B6B"/>
                </a:solidFill>
                <a:latin typeface="Source Sans 3"/>
                <a:ea typeface="Source Sans 3"/>
                <a:cs typeface="Source Sans 3"/>
              </a:rPr>
              <a:pPr algn="l">
                <a:lnSpc>
                  <a:spcPts val="1500"/>
                </a:lnSpc>
              </a:pPr>
              <a:t>134</a:t>
            </a:fld>
            <a:endParaRPr sz="1200" b="0" i="0">
              <a:solidFill>
                <a:srgbClr val="6B6B6B"/>
              </a:solidFill>
              <a:latin typeface="Source Sans 3"/>
              <a:ea typeface="Source Sans 3"/>
              <a:cs typeface="Source Sans 3"/>
            </a:endParaRPr>
          </a:p>
        </p:txBody>
      </p:sp>
      <p:sp>
        <p:nvSpPr>
          <p:cNvPr id="4" name="Rectangle 3"/>
          <p:cNvSpPr/>
          <p:nvPr/>
        </p:nvSpPr>
        <p:spPr>
          <a:xfrm>
            <a:off x="571500" y="1752600"/>
            <a:ext cx="5334000" cy="201422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1498600" y="2490089"/>
            <a:ext cx="83058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698500" y="1879600"/>
            <a:ext cx="6096000" cy="188722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void main(String[] args) {</a:t>
            </a:r>
          </a:p>
          <a:p>
            <a:pPr algn="l">
              <a:lnSpc>
                <a:spcPts val="1539"/>
              </a:lnSpc>
            </a:pPr>
            <a:r>
              <a:rPr sz="1100" b="1" i="0">
                <a:solidFill>
                  <a:srgbClr val="000000"/>
                </a:solidFill>
                <a:latin typeface="Courier New"/>
                <a:ea typeface="Courier New"/>
                <a:cs typeface="Courier New"/>
              </a:rPr>
              <a:t>  int i = 5;</a:t>
            </a:r>
          </a:p>
          <a:p>
            <a:pPr algn="l">
              <a:lnSpc>
                <a:spcPts val="1539"/>
              </a:lnSpc>
            </a:pPr>
            <a:r>
              <a:rPr sz="1100" b="1" i="0">
                <a:solidFill>
                  <a:srgbClr val="000000"/>
                </a:solidFill>
                <a:latin typeface="Courier New"/>
                <a:ea typeface="Courier New"/>
                <a:cs typeface="Courier New"/>
              </a:rPr>
              <a:t>  int j = 2;</a:t>
            </a:r>
          </a:p>
          <a:p>
            <a:pPr algn="l">
              <a:lnSpc>
                <a:spcPts val="1539"/>
              </a:lnSpc>
            </a:pPr>
            <a:r>
              <a:rPr sz="1100" b="1" i="0">
                <a:solidFill>
                  <a:srgbClr val="000000"/>
                </a:solidFill>
                <a:latin typeface="Courier New"/>
                <a:ea typeface="Courier New"/>
                <a:cs typeface="Courier New"/>
              </a:rPr>
              <a:t>  int k = max(i, j);</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System.out.println(</a:t>
            </a:r>
          </a:p>
          <a:p>
            <a:pPr algn="l">
              <a:lnSpc>
                <a:spcPts val="1539"/>
              </a:lnSpc>
            </a:pPr>
            <a:r>
              <a:rPr sz="1100" b="1" i="0">
                <a:solidFill>
                  <a:srgbClr val="000000"/>
                </a:solidFill>
                <a:latin typeface="Courier New"/>
                <a:ea typeface="Courier New"/>
                <a:cs typeface="Courier New"/>
              </a:rPr>
              <a:t>   "The maximum between " + i +</a:t>
            </a:r>
          </a:p>
          <a:p>
            <a:pPr algn="l">
              <a:lnSpc>
                <a:spcPts val="1539"/>
              </a:lnSpc>
            </a:pPr>
            <a:r>
              <a:rPr sz="1100" b="1" i="0">
                <a:solidFill>
                  <a:srgbClr val="000000"/>
                </a:solidFill>
                <a:latin typeface="Courier New"/>
                <a:ea typeface="Courier New"/>
                <a:cs typeface="Courier New"/>
              </a:rPr>
              <a:t>   " and " + j + " is " + k);</a:t>
            </a:r>
          </a:p>
          <a:p>
            <a:pPr algn="l">
              <a:lnSpc>
                <a:spcPts val="1539"/>
              </a:lnSpc>
            </a:pPr>
            <a:r>
              <a:rPr sz="1100" b="1" i="0">
                <a:solidFill>
                  <a:srgbClr val="000000"/>
                </a:solidFill>
                <a:latin typeface="Courier New"/>
                <a:ea typeface="Courier New"/>
                <a:cs typeface="Courier New"/>
              </a:rPr>
              <a:t>}</a:t>
            </a:r>
          </a:p>
        </p:txBody>
      </p:sp>
      <p:sp>
        <p:nvSpPr>
          <p:cNvPr id="7" name="Rectangle 6"/>
          <p:cNvSpPr/>
          <p:nvPr/>
        </p:nvSpPr>
        <p:spPr>
          <a:xfrm>
            <a:off x="571500" y="3868420"/>
            <a:ext cx="5334000" cy="22098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3995420"/>
            <a:ext cx="6096000" cy="208280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int max(int num1, int num2) {</a:t>
            </a:r>
          </a:p>
          <a:p>
            <a:pPr algn="l">
              <a:lnSpc>
                <a:spcPts val="1539"/>
              </a:lnSpc>
            </a:pPr>
            <a:r>
              <a:rPr sz="1100" b="1" i="0">
                <a:solidFill>
                  <a:srgbClr val="000000"/>
                </a:solidFill>
                <a:latin typeface="Courier New"/>
                <a:ea typeface="Courier New"/>
                <a:cs typeface="Courier New"/>
              </a:rPr>
              <a:t>  int result;</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if (num1 &gt; num2)</a:t>
            </a:r>
          </a:p>
          <a:p>
            <a:pPr algn="l">
              <a:lnSpc>
                <a:spcPts val="1539"/>
              </a:lnSpc>
            </a:pPr>
            <a:r>
              <a:rPr sz="1100" b="1" i="0">
                <a:solidFill>
                  <a:srgbClr val="000000"/>
                </a:solidFill>
                <a:latin typeface="Courier New"/>
                <a:ea typeface="Courier New"/>
                <a:cs typeface="Courier New"/>
              </a:rPr>
              <a:t>    result = num1;</a:t>
            </a:r>
          </a:p>
          <a:p>
            <a:pPr algn="l">
              <a:lnSpc>
                <a:spcPts val="1539"/>
              </a:lnSpc>
            </a:pPr>
            <a:r>
              <a:rPr sz="1100" b="1" i="0">
                <a:solidFill>
                  <a:srgbClr val="000000"/>
                </a:solidFill>
                <a:latin typeface="Courier New"/>
                <a:ea typeface="Courier New"/>
                <a:cs typeface="Courier New"/>
              </a:rPr>
              <a:t>  else</a:t>
            </a:r>
          </a:p>
          <a:p>
            <a:pPr algn="l">
              <a:lnSpc>
                <a:spcPts val="1539"/>
              </a:lnSpc>
            </a:pPr>
            <a:r>
              <a:rPr sz="1100" b="1" i="0">
                <a:solidFill>
                  <a:srgbClr val="000000"/>
                </a:solidFill>
                <a:latin typeface="Courier New"/>
                <a:ea typeface="Courier New"/>
                <a:cs typeface="Courier New"/>
              </a:rPr>
              <a:t>    result = num2;</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return result;</a:t>
            </a:r>
          </a:p>
          <a:p>
            <a:pPr algn="l">
              <a:lnSpc>
                <a:spcPts val="1539"/>
              </a:lnSpc>
            </a:pPr>
            <a:r>
              <a:rPr sz="1100" b="1" i="0">
                <a:solidFill>
                  <a:srgbClr val="000000"/>
                </a:solidFill>
                <a:latin typeface="Courier New"/>
                <a:ea typeface="Courier New"/>
                <a:cs typeface="Courier New"/>
              </a:rPr>
              <a:t>}</a:t>
            </a:r>
          </a:p>
        </p:txBody>
      </p:sp>
      <p:sp>
        <p:nvSpPr>
          <p:cNvPr id="9" name="Rounded Rectangle 8"/>
          <p:cNvSpPr/>
          <p:nvPr/>
        </p:nvSpPr>
        <p:spPr>
          <a:xfrm>
            <a:off x="5334000" y="1016000"/>
            <a:ext cx="3302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384800" y="1104900"/>
            <a:ext cx="3200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Invoke max(i, j)</a:t>
            </a:r>
          </a:p>
        </p:txBody>
      </p:sp>
      <p:cxnSp>
        <p:nvCxnSpPr>
          <p:cNvPr id="11" name="Connector 10"/>
          <p:cNvCxnSpPr/>
          <p:nvPr/>
        </p:nvCxnSpPr>
        <p:spPr>
          <a:xfrm flipH="1">
            <a:off x="2080006" y="1513840"/>
            <a:ext cx="4904994" cy="1001649"/>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890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049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90000" y="5334000"/>
            <a:ext cx="2159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90000" y="4092575"/>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40800" y="4143375"/>
            <a:ext cx="2057400" cy="445770"/>
          </a:xfrm>
          <a:prstGeom prst="rect">
            <a:avLst/>
          </a:prstGeom>
          <a:noFill/>
        </p:spPr>
        <p:txBody>
          <a:bodyPr wrap="square" lIns="0" tIns="0" rIns="0" bIns="0" anchor="t">
            <a:spAutoFit/>
          </a:bodyPr>
          <a:lstStyle/>
          <a:p>
            <a:pPr algn="l">
              <a:lnSpc>
                <a:spcPts val="1755"/>
              </a:lnSpc>
            </a:pPr>
            <a:r>
              <a:rPr sz="1300" b="0" i="0">
                <a:solidFill>
                  <a:srgbClr val="111111"/>
                </a:solidFill>
                <a:latin typeface="Times New Roman"/>
                <a:ea typeface="Times New Roman"/>
                <a:cs typeface="Times New Roman"/>
              </a:rPr>
              <a:t>Space required for the main method</a:t>
            </a:r>
          </a:p>
        </p:txBody>
      </p:sp>
      <p:sp>
        <p:nvSpPr>
          <p:cNvPr id="17" name="TextBox 16"/>
          <p:cNvSpPr txBox="1"/>
          <p:nvPr/>
        </p:nvSpPr>
        <p:spPr>
          <a:xfrm>
            <a:off x="8940800" y="4589145"/>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k:</a:t>
            </a:r>
          </a:p>
          <a:p>
            <a:pPr algn="r">
              <a:lnSpc>
                <a:spcPts val="1755"/>
              </a:lnSpc>
            </a:pPr>
            <a:r>
              <a:rPr sz="1300" b="0" i="0">
                <a:solidFill>
                  <a:srgbClr val="111111"/>
                </a:solidFill>
                <a:latin typeface="Times New Roman"/>
                <a:ea typeface="Times New Roman"/>
                <a:cs typeface="Times New Roman"/>
              </a:rPr>
              <a:t>j: 2</a:t>
            </a:r>
          </a:p>
          <a:p>
            <a:pPr algn="r">
              <a:lnSpc>
                <a:spcPts val="1755"/>
              </a:lnSpc>
            </a:pPr>
            <a:r>
              <a:rPr sz="1300" b="0" i="0">
                <a:solidFill>
                  <a:srgbClr val="111111"/>
                </a:solidFill>
                <a:latin typeface="Times New Roman"/>
                <a:ea typeface="Times New Roman"/>
                <a:cs typeface="Times New Roman"/>
              </a:rPr>
              <a:t>i: 5</a:t>
            </a:r>
          </a:p>
        </p:txBody>
      </p:sp>
      <p:sp>
        <p:nvSpPr>
          <p:cNvPr id="18" name="TextBox 17"/>
          <p:cNvSpPr txBox="1"/>
          <p:nvPr/>
        </p:nvSpPr>
        <p:spPr>
          <a:xfrm>
            <a:off x="9017000" y="5486400"/>
            <a:ext cx="2413000" cy="508000"/>
          </a:xfrm>
          <a:prstGeom prst="rect">
            <a:avLst/>
          </a:prstGeom>
          <a:noFill/>
        </p:spPr>
        <p:txBody>
          <a:bodyPr wrap="square" lIns="0" tIns="0" rIns="0" bIns="0" anchor="t">
            <a:spAutoFit/>
          </a:bodyPr>
          <a:lstStyle/>
          <a:p>
            <a:pPr algn="l">
              <a:lnSpc>
                <a:spcPts val="1800"/>
              </a:lnSpc>
            </a:pPr>
            <a:r>
              <a:rPr sz="1500" b="0" i="0">
                <a:solidFill>
                  <a:srgbClr val="111111"/>
                </a:solidFill>
                <a:latin typeface="Times New Roman"/>
                <a:ea typeface="Times New Roman"/>
                <a:cs typeface="Times New Roman"/>
              </a:rPr>
              <a:t>The main method
is invoked.</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Call Stack</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389D95F-0FC7-4DF1-9BA4-9091FEC25E2C}" type="slidenum">
              <a:rPr sz="1200" b="0" i="0">
                <a:solidFill>
                  <a:srgbClr val="6B6B6B"/>
                </a:solidFill>
                <a:latin typeface="Source Sans 3"/>
                <a:ea typeface="Source Sans 3"/>
                <a:cs typeface="Source Sans 3"/>
              </a:rPr>
              <a:pPr algn="l">
                <a:lnSpc>
                  <a:spcPts val="1500"/>
                </a:lnSpc>
              </a:pPr>
              <a:t>135</a:t>
            </a:fld>
            <a:endParaRPr sz="1200" b="0" i="0">
              <a:solidFill>
                <a:srgbClr val="6B6B6B"/>
              </a:solidFill>
              <a:latin typeface="Source Sans 3"/>
              <a:ea typeface="Source Sans 3"/>
              <a:cs typeface="Source Sans 3"/>
            </a:endParaRPr>
          </a:p>
        </p:txBody>
      </p:sp>
      <p:sp>
        <p:nvSpPr>
          <p:cNvPr id="4" name="Rectangle 3"/>
          <p:cNvSpPr/>
          <p:nvPr/>
        </p:nvSpPr>
        <p:spPr>
          <a:xfrm>
            <a:off x="571500" y="1752600"/>
            <a:ext cx="5334000" cy="201422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98500" y="1879600"/>
            <a:ext cx="6096000" cy="188722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void main(String[] args) {</a:t>
            </a:r>
          </a:p>
          <a:p>
            <a:pPr algn="l">
              <a:lnSpc>
                <a:spcPts val="1539"/>
              </a:lnSpc>
            </a:pPr>
            <a:r>
              <a:rPr sz="1100" b="1" i="0">
                <a:solidFill>
                  <a:srgbClr val="000000"/>
                </a:solidFill>
                <a:latin typeface="Courier New"/>
                <a:ea typeface="Courier New"/>
                <a:cs typeface="Courier New"/>
              </a:rPr>
              <a:t>  int i = 5;</a:t>
            </a:r>
          </a:p>
          <a:p>
            <a:pPr algn="l">
              <a:lnSpc>
                <a:spcPts val="1539"/>
              </a:lnSpc>
            </a:pPr>
            <a:r>
              <a:rPr sz="1100" b="1" i="0">
                <a:solidFill>
                  <a:srgbClr val="000000"/>
                </a:solidFill>
                <a:latin typeface="Courier New"/>
                <a:ea typeface="Courier New"/>
                <a:cs typeface="Courier New"/>
              </a:rPr>
              <a:t>  int j = 2;</a:t>
            </a:r>
          </a:p>
          <a:p>
            <a:pPr algn="l">
              <a:lnSpc>
                <a:spcPts val="1539"/>
              </a:lnSpc>
            </a:pPr>
            <a:r>
              <a:rPr sz="1100" b="1" i="0">
                <a:solidFill>
                  <a:srgbClr val="000000"/>
                </a:solidFill>
                <a:latin typeface="Courier New"/>
                <a:ea typeface="Courier New"/>
                <a:cs typeface="Courier New"/>
              </a:rPr>
              <a:t>  int k = max(i, j);</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System.out.println(</a:t>
            </a:r>
          </a:p>
          <a:p>
            <a:pPr algn="l">
              <a:lnSpc>
                <a:spcPts val="1539"/>
              </a:lnSpc>
            </a:pPr>
            <a:r>
              <a:rPr sz="1100" b="1" i="0">
                <a:solidFill>
                  <a:srgbClr val="000000"/>
                </a:solidFill>
                <a:latin typeface="Courier New"/>
                <a:ea typeface="Courier New"/>
                <a:cs typeface="Courier New"/>
              </a:rPr>
              <a:t>   "The maximum between " + i +</a:t>
            </a:r>
          </a:p>
          <a:p>
            <a:pPr algn="l">
              <a:lnSpc>
                <a:spcPts val="1539"/>
              </a:lnSpc>
            </a:pPr>
            <a:r>
              <a:rPr sz="1100" b="1" i="0">
                <a:solidFill>
                  <a:srgbClr val="000000"/>
                </a:solidFill>
                <a:latin typeface="Courier New"/>
                <a:ea typeface="Courier New"/>
                <a:cs typeface="Courier New"/>
              </a:rPr>
              <a:t>   " and " + j + " is " + k);</a:t>
            </a:r>
          </a:p>
          <a:p>
            <a:pPr algn="l">
              <a:lnSpc>
                <a:spcPts val="1539"/>
              </a:lnSpc>
            </a:pPr>
            <a:r>
              <a:rPr sz="1100" b="1" i="0">
                <a:solidFill>
                  <a:srgbClr val="000000"/>
                </a:solidFill>
                <a:latin typeface="Courier New"/>
                <a:ea typeface="Courier New"/>
                <a:cs typeface="Courier New"/>
              </a:rPr>
              <a:t>}</a:t>
            </a:r>
          </a:p>
        </p:txBody>
      </p:sp>
      <p:sp>
        <p:nvSpPr>
          <p:cNvPr id="6" name="Rectangle 5"/>
          <p:cNvSpPr/>
          <p:nvPr/>
        </p:nvSpPr>
        <p:spPr>
          <a:xfrm>
            <a:off x="571500" y="3868420"/>
            <a:ext cx="5334000" cy="22098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2169160" y="4019169"/>
            <a:ext cx="200406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3995420"/>
            <a:ext cx="6096000" cy="208280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int max(int num1, int num2) {</a:t>
            </a:r>
          </a:p>
          <a:p>
            <a:pPr algn="l">
              <a:lnSpc>
                <a:spcPts val="1539"/>
              </a:lnSpc>
            </a:pPr>
            <a:r>
              <a:rPr sz="1100" b="1" i="0">
                <a:solidFill>
                  <a:srgbClr val="000000"/>
                </a:solidFill>
                <a:latin typeface="Courier New"/>
                <a:ea typeface="Courier New"/>
                <a:cs typeface="Courier New"/>
              </a:rPr>
              <a:t>  int result;</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if (num1 &gt; num2)</a:t>
            </a:r>
          </a:p>
          <a:p>
            <a:pPr algn="l">
              <a:lnSpc>
                <a:spcPts val="1539"/>
              </a:lnSpc>
            </a:pPr>
            <a:r>
              <a:rPr sz="1100" b="1" i="0">
                <a:solidFill>
                  <a:srgbClr val="000000"/>
                </a:solidFill>
                <a:latin typeface="Courier New"/>
                <a:ea typeface="Courier New"/>
                <a:cs typeface="Courier New"/>
              </a:rPr>
              <a:t>    result = num1;</a:t>
            </a:r>
          </a:p>
          <a:p>
            <a:pPr algn="l">
              <a:lnSpc>
                <a:spcPts val="1539"/>
              </a:lnSpc>
            </a:pPr>
            <a:r>
              <a:rPr sz="1100" b="1" i="0">
                <a:solidFill>
                  <a:srgbClr val="000000"/>
                </a:solidFill>
                <a:latin typeface="Courier New"/>
                <a:ea typeface="Courier New"/>
                <a:cs typeface="Courier New"/>
              </a:rPr>
              <a:t>  else</a:t>
            </a:r>
          </a:p>
          <a:p>
            <a:pPr algn="l">
              <a:lnSpc>
                <a:spcPts val="1539"/>
              </a:lnSpc>
            </a:pPr>
            <a:r>
              <a:rPr sz="1100" b="1" i="0">
                <a:solidFill>
                  <a:srgbClr val="000000"/>
                </a:solidFill>
                <a:latin typeface="Courier New"/>
                <a:ea typeface="Courier New"/>
                <a:cs typeface="Courier New"/>
              </a:rPr>
              <a:t>    result = num2;</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return result;</a:t>
            </a:r>
          </a:p>
          <a:p>
            <a:pPr algn="l">
              <a:lnSpc>
                <a:spcPts val="1539"/>
              </a:lnSpc>
            </a:pPr>
            <a:r>
              <a:rPr sz="1100" b="1" i="0">
                <a:solidFill>
                  <a:srgbClr val="000000"/>
                </a:solidFill>
                <a:latin typeface="Courier New"/>
                <a:ea typeface="Courier New"/>
                <a:cs typeface="Courier New"/>
              </a:rPr>
              <a:t>}</a:t>
            </a:r>
          </a:p>
        </p:txBody>
      </p:sp>
      <p:sp>
        <p:nvSpPr>
          <p:cNvPr id="9" name="Rounded Rectangle 8"/>
          <p:cNvSpPr/>
          <p:nvPr/>
        </p:nvSpPr>
        <p:spPr>
          <a:xfrm>
            <a:off x="5334000" y="1016000"/>
            <a:ext cx="3302000" cy="81788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384800" y="1104900"/>
            <a:ext cx="3200400" cy="69088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pass the values of i and j to num1</a:t>
            </a:r>
          </a:p>
          <a:p>
            <a:pPr algn="ctr">
              <a:lnSpc>
                <a:spcPts val="2520"/>
              </a:lnSpc>
            </a:pPr>
            <a:r>
              <a:rPr sz="1800" b="0" i="0">
                <a:solidFill>
                  <a:srgbClr val="111111"/>
                </a:solidFill>
                <a:latin typeface="Times New Roman"/>
                <a:ea typeface="Times New Roman"/>
                <a:cs typeface="Times New Roman"/>
              </a:rPr>
              <a:t>and num2</a:t>
            </a:r>
          </a:p>
        </p:txBody>
      </p:sp>
      <p:cxnSp>
        <p:nvCxnSpPr>
          <p:cNvPr id="11" name="Connector 10"/>
          <p:cNvCxnSpPr/>
          <p:nvPr/>
        </p:nvCxnSpPr>
        <p:spPr>
          <a:xfrm flipH="1">
            <a:off x="3572002" y="1833880"/>
            <a:ext cx="3412998" cy="2210689"/>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890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049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90000" y="5334000"/>
            <a:ext cx="2159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90000" y="4092575"/>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40800" y="4143375"/>
            <a:ext cx="2057400" cy="445770"/>
          </a:xfrm>
          <a:prstGeom prst="rect">
            <a:avLst/>
          </a:prstGeom>
          <a:noFill/>
        </p:spPr>
        <p:txBody>
          <a:bodyPr wrap="square" lIns="0" tIns="0" rIns="0" bIns="0" anchor="t">
            <a:spAutoFit/>
          </a:bodyPr>
          <a:lstStyle/>
          <a:p>
            <a:pPr algn="l">
              <a:lnSpc>
                <a:spcPts val="1755"/>
              </a:lnSpc>
            </a:pPr>
            <a:r>
              <a:rPr sz="1300" b="0" i="0">
                <a:solidFill>
                  <a:srgbClr val="111111"/>
                </a:solidFill>
                <a:latin typeface="Times New Roman"/>
                <a:ea typeface="Times New Roman"/>
                <a:cs typeface="Times New Roman"/>
              </a:rPr>
              <a:t>Space required for the main method</a:t>
            </a:r>
          </a:p>
        </p:txBody>
      </p:sp>
      <p:sp>
        <p:nvSpPr>
          <p:cNvPr id="17" name="TextBox 16"/>
          <p:cNvSpPr txBox="1"/>
          <p:nvPr/>
        </p:nvSpPr>
        <p:spPr>
          <a:xfrm>
            <a:off x="8940800" y="4589145"/>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k:</a:t>
            </a:r>
          </a:p>
          <a:p>
            <a:pPr algn="r">
              <a:lnSpc>
                <a:spcPts val="1755"/>
              </a:lnSpc>
            </a:pPr>
            <a:r>
              <a:rPr sz="1300" b="0" i="0">
                <a:solidFill>
                  <a:srgbClr val="111111"/>
                </a:solidFill>
                <a:latin typeface="Times New Roman"/>
                <a:ea typeface="Times New Roman"/>
                <a:cs typeface="Times New Roman"/>
              </a:rPr>
              <a:t>j: 2</a:t>
            </a:r>
          </a:p>
          <a:p>
            <a:pPr algn="r">
              <a:lnSpc>
                <a:spcPts val="1755"/>
              </a:lnSpc>
            </a:pPr>
            <a:r>
              <a:rPr sz="1300" b="0" i="0">
                <a:solidFill>
                  <a:srgbClr val="111111"/>
                </a:solidFill>
                <a:latin typeface="Times New Roman"/>
                <a:ea typeface="Times New Roman"/>
                <a:cs typeface="Times New Roman"/>
              </a:rPr>
              <a:t>i: 5</a:t>
            </a:r>
          </a:p>
        </p:txBody>
      </p:sp>
      <p:cxnSp>
        <p:nvCxnSpPr>
          <p:cNvPr id="18" name="Connector 17"/>
          <p:cNvCxnSpPr/>
          <p:nvPr/>
        </p:nvCxnSpPr>
        <p:spPr>
          <a:xfrm>
            <a:off x="8890000" y="3519805"/>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40800" y="3570605"/>
            <a:ext cx="2006600" cy="445770"/>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num2: 2</a:t>
            </a:r>
          </a:p>
          <a:p>
            <a:pPr algn="r">
              <a:lnSpc>
                <a:spcPts val="1755"/>
              </a:lnSpc>
            </a:pPr>
            <a:r>
              <a:rPr sz="1300" b="0" i="0">
                <a:solidFill>
                  <a:srgbClr val="111111"/>
                </a:solidFill>
                <a:latin typeface="Times New Roman"/>
                <a:ea typeface="Times New Roman"/>
                <a:cs typeface="Times New Roman"/>
              </a:rPr>
              <a:t>num1: 5</a:t>
            </a:r>
          </a:p>
        </p:txBody>
      </p:sp>
      <p:sp>
        <p:nvSpPr>
          <p:cNvPr id="20" name="TextBox 19"/>
          <p:cNvSpPr txBox="1"/>
          <p:nvPr/>
        </p:nvSpPr>
        <p:spPr>
          <a:xfrm>
            <a:off x="9017000" y="5486400"/>
            <a:ext cx="2413000" cy="508000"/>
          </a:xfrm>
          <a:prstGeom prst="rect">
            <a:avLst/>
          </a:prstGeom>
          <a:noFill/>
        </p:spPr>
        <p:txBody>
          <a:bodyPr wrap="square" lIns="0" tIns="0" rIns="0" bIns="0" anchor="t">
            <a:spAutoFit/>
          </a:bodyPr>
          <a:lstStyle/>
          <a:p>
            <a:pPr algn="l">
              <a:lnSpc>
                <a:spcPts val="1800"/>
              </a:lnSpc>
            </a:pPr>
            <a:r>
              <a:rPr sz="1500" b="0" i="0">
                <a:solidFill>
                  <a:srgbClr val="111111"/>
                </a:solidFill>
                <a:latin typeface="Times New Roman"/>
                <a:ea typeface="Times New Roman"/>
                <a:cs typeface="Times New Roman"/>
              </a:rPr>
              <a:t>The max method is
invoked.</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Call Stack</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E130504-D11B-4A0F-84C7-E5E7EA8EBC46}" type="slidenum">
              <a:rPr sz="1200" b="0" i="0">
                <a:solidFill>
                  <a:srgbClr val="6B6B6B"/>
                </a:solidFill>
                <a:latin typeface="Source Sans 3"/>
                <a:ea typeface="Source Sans 3"/>
                <a:cs typeface="Source Sans 3"/>
              </a:rPr>
              <a:pPr algn="l">
                <a:lnSpc>
                  <a:spcPts val="1500"/>
                </a:lnSpc>
              </a:pPr>
              <a:t>136</a:t>
            </a:fld>
            <a:endParaRPr sz="1200" b="0" i="0">
              <a:solidFill>
                <a:srgbClr val="6B6B6B"/>
              </a:solidFill>
              <a:latin typeface="Source Sans 3"/>
              <a:ea typeface="Source Sans 3"/>
              <a:cs typeface="Source Sans 3"/>
            </a:endParaRPr>
          </a:p>
        </p:txBody>
      </p:sp>
      <p:sp>
        <p:nvSpPr>
          <p:cNvPr id="4" name="Rectangle 3"/>
          <p:cNvSpPr/>
          <p:nvPr/>
        </p:nvSpPr>
        <p:spPr>
          <a:xfrm>
            <a:off x="571500" y="1752600"/>
            <a:ext cx="5334000" cy="201422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98500" y="1879600"/>
            <a:ext cx="6096000" cy="188722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void main(String[] args) {</a:t>
            </a:r>
          </a:p>
          <a:p>
            <a:pPr algn="l">
              <a:lnSpc>
                <a:spcPts val="1539"/>
              </a:lnSpc>
            </a:pPr>
            <a:r>
              <a:rPr sz="1100" b="1" i="0">
                <a:solidFill>
                  <a:srgbClr val="000000"/>
                </a:solidFill>
                <a:latin typeface="Courier New"/>
                <a:ea typeface="Courier New"/>
                <a:cs typeface="Courier New"/>
              </a:rPr>
              <a:t>  int i = 5;</a:t>
            </a:r>
          </a:p>
          <a:p>
            <a:pPr algn="l">
              <a:lnSpc>
                <a:spcPts val="1539"/>
              </a:lnSpc>
            </a:pPr>
            <a:r>
              <a:rPr sz="1100" b="1" i="0">
                <a:solidFill>
                  <a:srgbClr val="000000"/>
                </a:solidFill>
                <a:latin typeface="Courier New"/>
                <a:ea typeface="Courier New"/>
                <a:cs typeface="Courier New"/>
              </a:rPr>
              <a:t>  int j = 2;</a:t>
            </a:r>
          </a:p>
          <a:p>
            <a:pPr algn="l">
              <a:lnSpc>
                <a:spcPts val="1539"/>
              </a:lnSpc>
            </a:pPr>
            <a:r>
              <a:rPr sz="1100" b="1" i="0">
                <a:solidFill>
                  <a:srgbClr val="000000"/>
                </a:solidFill>
                <a:latin typeface="Courier New"/>
                <a:ea typeface="Courier New"/>
                <a:cs typeface="Courier New"/>
              </a:rPr>
              <a:t>  int k = max(i, j);</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System.out.println(</a:t>
            </a:r>
          </a:p>
          <a:p>
            <a:pPr algn="l">
              <a:lnSpc>
                <a:spcPts val="1539"/>
              </a:lnSpc>
            </a:pPr>
            <a:r>
              <a:rPr sz="1100" b="1" i="0">
                <a:solidFill>
                  <a:srgbClr val="000000"/>
                </a:solidFill>
                <a:latin typeface="Courier New"/>
                <a:ea typeface="Courier New"/>
                <a:cs typeface="Courier New"/>
              </a:rPr>
              <a:t>   "The maximum between " + i +</a:t>
            </a:r>
          </a:p>
          <a:p>
            <a:pPr algn="l">
              <a:lnSpc>
                <a:spcPts val="1539"/>
              </a:lnSpc>
            </a:pPr>
            <a:r>
              <a:rPr sz="1100" b="1" i="0">
                <a:solidFill>
                  <a:srgbClr val="000000"/>
                </a:solidFill>
                <a:latin typeface="Courier New"/>
                <a:ea typeface="Courier New"/>
                <a:cs typeface="Courier New"/>
              </a:rPr>
              <a:t>   " and " + j + " is " + k);</a:t>
            </a:r>
          </a:p>
          <a:p>
            <a:pPr algn="l">
              <a:lnSpc>
                <a:spcPts val="1539"/>
              </a:lnSpc>
            </a:pPr>
            <a:r>
              <a:rPr sz="1100" b="1" i="0">
                <a:solidFill>
                  <a:srgbClr val="000000"/>
                </a:solidFill>
                <a:latin typeface="Courier New"/>
                <a:ea typeface="Courier New"/>
                <a:cs typeface="Courier New"/>
              </a:rPr>
              <a:t>}</a:t>
            </a:r>
          </a:p>
        </p:txBody>
      </p:sp>
      <p:sp>
        <p:nvSpPr>
          <p:cNvPr id="6" name="Rectangle 5"/>
          <p:cNvSpPr/>
          <p:nvPr/>
        </p:nvSpPr>
        <p:spPr>
          <a:xfrm>
            <a:off x="571500" y="3868420"/>
            <a:ext cx="5334000" cy="22098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828040" y="4214749"/>
            <a:ext cx="99822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3995420"/>
            <a:ext cx="6096000" cy="208280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int max(int num1, int num2) {</a:t>
            </a:r>
          </a:p>
          <a:p>
            <a:pPr algn="l">
              <a:lnSpc>
                <a:spcPts val="1539"/>
              </a:lnSpc>
            </a:pPr>
            <a:r>
              <a:rPr sz="1100" b="1" i="0">
                <a:solidFill>
                  <a:srgbClr val="000000"/>
                </a:solidFill>
                <a:latin typeface="Courier New"/>
                <a:ea typeface="Courier New"/>
                <a:cs typeface="Courier New"/>
              </a:rPr>
              <a:t>  int result;</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if (num1 &gt; num2)</a:t>
            </a:r>
          </a:p>
          <a:p>
            <a:pPr algn="l">
              <a:lnSpc>
                <a:spcPts val="1539"/>
              </a:lnSpc>
            </a:pPr>
            <a:r>
              <a:rPr sz="1100" b="1" i="0">
                <a:solidFill>
                  <a:srgbClr val="000000"/>
                </a:solidFill>
                <a:latin typeface="Courier New"/>
                <a:ea typeface="Courier New"/>
                <a:cs typeface="Courier New"/>
              </a:rPr>
              <a:t>    result = num1;</a:t>
            </a:r>
          </a:p>
          <a:p>
            <a:pPr algn="l">
              <a:lnSpc>
                <a:spcPts val="1539"/>
              </a:lnSpc>
            </a:pPr>
            <a:r>
              <a:rPr sz="1100" b="1" i="0">
                <a:solidFill>
                  <a:srgbClr val="000000"/>
                </a:solidFill>
                <a:latin typeface="Courier New"/>
                <a:ea typeface="Courier New"/>
                <a:cs typeface="Courier New"/>
              </a:rPr>
              <a:t>  else</a:t>
            </a:r>
          </a:p>
          <a:p>
            <a:pPr algn="l">
              <a:lnSpc>
                <a:spcPts val="1539"/>
              </a:lnSpc>
            </a:pPr>
            <a:r>
              <a:rPr sz="1100" b="1" i="0">
                <a:solidFill>
                  <a:srgbClr val="000000"/>
                </a:solidFill>
                <a:latin typeface="Courier New"/>
                <a:ea typeface="Courier New"/>
                <a:cs typeface="Courier New"/>
              </a:rPr>
              <a:t>    result = num2;</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return result;</a:t>
            </a:r>
          </a:p>
          <a:p>
            <a:pPr algn="l">
              <a:lnSpc>
                <a:spcPts val="1539"/>
              </a:lnSpc>
            </a:pPr>
            <a:r>
              <a:rPr sz="1100" b="1" i="0">
                <a:solidFill>
                  <a:srgbClr val="000000"/>
                </a:solidFill>
                <a:latin typeface="Courier New"/>
                <a:ea typeface="Courier New"/>
                <a:cs typeface="Courier New"/>
              </a:rPr>
              <a:t>}</a:t>
            </a:r>
          </a:p>
        </p:txBody>
      </p:sp>
      <p:sp>
        <p:nvSpPr>
          <p:cNvPr id="9" name="Rounded Rectangle 8"/>
          <p:cNvSpPr/>
          <p:nvPr/>
        </p:nvSpPr>
        <p:spPr>
          <a:xfrm>
            <a:off x="5334000" y="1016000"/>
            <a:ext cx="3302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384800" y="1104900"/>
            <a:ext cx="3200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Declare result</a:t>
            </a:r>
          </a:p>
        </p:txBody>
      </p:sp>
      <p:cxnSp>
        <p:nvCxnSpPr>
          <p:cNvPr id="11" name="Connector 10"/>
          <p:cNvCxnSpPr/>
          <p:nvPr/>
        </p:nvCxnSpPr>
        <p:spPr>
          <a:xfrm flipH="1">
            <a:off x="1526794" y="1513840"/>
            <a:ext cx="5458206" cy="2726309"/>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890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049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90000" y="5334000"/>
            <a:ext cx="2159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90000" y="4092575"/>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40800" y="4143375"/>
            <a:ext cx="2057400" cy="445770"/>
          </a:xfrm>
          <a:prstGeom prst="rect">
            <a:avLst/>
          </a:prstGeom>
          <a:noFill/>
        </p:spPr>
        <p:txBody>
          <a:bodyPr wrap="square" lIns="0" tIns="0" rIns="0" bIns="0" anchor="t">
            <a:spAutoFit/>
          </a:bodyPr>
          <a:lstStyle/>
          <a:p>
            <a:pPr algn="l">
              <a:lnSpc>
                <a:spcPts val="1755"/>
              </a:lnSpc>
            </a:pPr>
            <a:r>
              <a:rPr sz="1300" b="0" i="0">
                <a:solidFill>
                  <a:srgbClr val="111111"/>
                </a:solidFill>
                <a:latin typeface="Times New Roman"/>
                <a:ea typeface="Times New Roman"/>
                <a:cs typeface="Times New Roman"/>
              </a:rPr>
              <a:t>Space required for the main method</a:t>
            </a:r>
          </a:p>
        </p:txBody>
      </p:sp>
      <p:sp>
        <p:nvSpPr>
          <p:cNvPr id="17" name="TextBox 16"/>
          <p:cNvSpPr txBox="1"/>
          <p:nvPr/>
        </p:nvSpPr>
        <p:spPr>
          <a:xfrm>
            <a:off x="8940800" y="4589145"/>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k:</a:t>
            </a:r>
          </a:p>
          <a:p>
            <a:pPr algn="r">
              <a:lnSpc>
                <a:spcPts val="1755"/>
              </a:lnSpc>
            </a:pPr>
            <a:r>
              <a:rPr sz="1300" b="0" i="0">
                <a:solidFill>
                  <a:srgbClr val="111111"/>
                </a:solidFill>
                <a:latin typeface="Times New Roman"/>
                <a:ea typeface="Times New Roman"/>
                <a:cs typeface="Times New Roman"/>
              </a:rPr>
              <a:t>j: 2</a:t>
            </a:r>
          </a:p>
          <a:p>
            <a:pPr algn="r">
              <a:lnSpc>
                <a:spcPts val="1755"/>
              </a:lnSpc>
            </a:pPr>
            <a:r>
              <a:rPr sz="1300" b="0" i="0">
                <a:solidFill>
                  <a:srgbClr val="111111"/>
                </a:solidFill>
                <a:latin typeface="Times New Roman"/>
                <a:ea typeface="Times New Roman"/>
                <a:cs typeface="Times New Roman"/>
              </a:rPr>
              <a:t>i: 5</a:t>
            </a:r>
          </a:p>
        </p:txBody>
      </p:sp>
      <p:cxnSp>
        <p:nvCxnSpPr>
          <p:cNvPr id="18" name="Connector 17"/>
          <p:cNvCxnSpPr/>
          <p:nvPr/>
        </p:nvCxnSpPr>
        <p:spPr>
          <a:xfrm>
            <a:off x="8890000" y="3296920"/>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40800" y="3347720"/>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result:</a:t>
            </a:r>
          </a:p>
          <a:p>
            <a:pPr algn="r">
              <a:lnSpc>
                <a:spcPts val="1755"/>
              </a:lnSpc>
            </a:pPr>
            <a:r>
              <a:rPr sz="1300" b="0" i="0">
                <a:solidFill>
                  <a:srgbClr val="111111"/>
                </a:solidFill>
                <a:latin typeface="Times New Roman"/>
                <a:ea typeface="Times New Roman"/>
                <a:cs typeface="Times New Roman"/>
              </a:rPr>
              <a:t>num2: 2</a:t>
            </a:r>
          </a:p>
          <a:p>
            <a:pPr algn="r">
              <a:lnSpc>
                <a:spcPts val="1755"/>
              </a:lnSpc>
            </a:pPr>
            <a:r>
              <a:rPr sz="1300" b="0" i="0">
                <a:solidFill>
                  <a:srgbClr val="111111"/>
                </a:solidFill>
                <a:latin typeface="Times New Roman"/>
                <a:ea typeface="Times New Roman"/>
                <a:cs typeface="Times New Roman"/>
              </a:rPr>
              <a:t>num1: 5</a:t>
            </a:r>
          </a:p>
        </p:txBody>
      </p:sp>
      <p:sp>
        <p:nvSpPr>
          <p:cNvPr id="20" name="TextBox 19"/>
          <p:cNvSpPr txBox="1"/>
          <p:nvPr/>
        </p:nvSpPr>
        <p:spPr>
          <a:xfrm>
            <a:off x="9017000" y="5486400"/>
            <a:ext cx="2413000" cy="508000"/>
          </a:xfrm>
          <a:prstGeom prst="rect">
            <a:avLst/>
          </a:prstGeom>
          <a:noFill/>
        </p:spPr>
        <p:txBody>
          <a:bodyPr wrap="square" lIns="0" tIns="0" rIns="0" bIns="0" anchor="t">
            <a:spAutoFit/>
          </a:bodyPr>
          <a:lstStyle/>
          <a:p>
            <a:pPr algn="l">
              <a:lnSpc>
                <a:spcPts val="1800"/>
              </a:lnSpc>
            </a:pPr>
            <a:r>
              <a:rPr sz="1500" b="0" i="0">
                <a:solidFill>
                  <a:srgbClr val="111111"/>
                </a:solidFill>
                <a:latin typeface="Times New Roman"/>
                <a:ea typeface="Times New Roman"/>
                <a:cs typeface="Times New Roman"/>
              </a:rPr>
              <a:t>The max method is
invoked.</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Call Stack</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0BBA6A1-2424-4DE9-B62A-5B27229CF723}" type="slidenum">
              <a:rPr sz="1200" b="0" i="0">
                <a:solidFill>
                  <a:srgbClr val="6B6B6B"/>
                </a:solidFill>
                <a:latin typeface="Source Sans 3"/>
                <a:ea typeface="Source Sans 3"/>
                <a:cs typeface="Source Sans 3"/>
              </a:rPr>
              <a:pPr algn="l">
                <a:lnSpc>
                  <a:spcPts val="1500"/>
                </a:lnSpc>
              </a:pPr>
              <a:t>137</a:t>
            </a:fld>
            <a:endParaRPr sz="1200" b="0" i="0">
              <a:solidFill>
                <a:srgbClr val="6B6B6B"/>
              </a:solidFill>
              <a:latin typeface="Source Sans 3"/>
              <a:ea typeface="Source Sans 3"/>
              <a:cs typeface="Source Sans 3"/>
            </a:endParaRPr>
          </a:p>
        </p:txBody>
      </p:sp>
      <p:sp>
        <p:nvSpPr>
          <p:cNvPr id="4" name="Rectangle 3"/>
          <p:cNvSpPr/>
          <p:nvPr/>
        </p:nvSpPr>
        <p:spPr>
          <a:xfrm>
            <a:off x="571500" y="1752600"/>
            <a:ext cx="5334000" cy="201422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98500" y="1879600"/>
            <a:ext cx="6096000" cy="188722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void main(String[] args) {</a:t>
            </a:r>
          </a:p>
          <a:p>
            <a:pPr algn="l">
              <a:lnSpc>
                <a:spcPts val="1539"/>
              </a:lnSpc>
            </a:pPr>
            <a:r>
              <a:rPr sz="1100" b="1" i="0">
                <a:solidFill>
                  <a:srgbClr val="000000"/>
                </a:solidFill>
                <a:latin typeface="Courier New"/>
                <a:ea typeface="Courier New"/>
                <a:cs typeface="Courier New"/>
              </a:rPr>
              <a:t>  int i = 5;</a:t>
            </a:r>
          </a:p>
          <a:p>
            <a:pPr algn="l">
              <a:lnSpc>
                <a:spcPts val="1539"/>
              </a:lnSpc>
            </a:pPr>
            <a:r>
              <a:rPr sz="1100" b="1" i="0">
                <a:solidFill>
                  <a:srgbClr val="000000"/>
                </a:solidFill>
                <a:latin typeface="Courier New"/>
                <a:ea typeface="Courier New"/>
                <a:cs typeface="Courier New"/>
              </a:rPr>
              <a:t>  int j = 2;</a:t>
            </a:r>
          </a:p>
          <a:p>
            <a:pPr algn="l">
              <a:lnSpc>
                <a:spcPts val="1539"/>
              </a:lnSpc>
            </a:pPr>
            <a:r>
              <a:rPr sz="1100" b="1" i="0">
                <a:solidFill>
                  <a:srgbClr val="000000"/>
                </a:solidFill>
                <a:latin typeface="Courier New"/>
                <a:ea typeface="Courier New"/>
                <a:cs typeface="Courier New"/>
              </a:rPr>
              <a:t>  int k = max(i, j);</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System.out.println(</a:t>
            </a:r>
          </a:p>
          <a:p>
            <a:pPr algn="l">
              <a:lnSpc>
                <a:spcPts val="1539"/>
              </a:lnSpc>
            </a:pPr>
            <a:r>
              <a:rPr sz="1100" b="1" i="0">
                <a:solidFill>
                  <a:srgbClr val="000000"/>
                </a:solidFill>
                <a:latin typeface="Courier New"/>
                <a:ea typeface="Courier New"/>
                <a:cs typeface="Courier New"/>
              </a:rPr>
              <a:t>   "The maximum between " + i +</a:t>
            </a:r>
          </a:p>
          <a:p>
            <a:pPr algn="l">
              <a:lnSpc>
                <a:spcPts val="1539"/>
              </a:lnSpc>
            </a:pPr>
            <a:r>
              <a:rPr sz="1100" b="1" i="0">
                <a:solidFill>
                  <a:srgbClr val="000000"/>
                </a:solidFill>
                <a:latin typeface="Courier New"/>
                <a:ea typeface="Courier New"/>
                <a:cs typeface="Courier New"/>
              </a:rPr>
              <a:t>   " and " + j + " is " + k);</a:t>
            </a:r>
          </a:p>
          <a:p>
            <a:pPr algn="l">
              <a:lnSpc>
                <a:spcPts val="1539"/>
              </a:lnSpc>
            </a:pPr>
            <a:r>
              <a:rPr sz="1100" b="1" i="0">
                <a:solidFill>
                  <a:srgbClr val="000000"/>
                </a:solidFill>
                <a:latin typeface="Courier New"/>
                <a:ea typeface="Courier New"/>
                <a:cs typeface="Courier New"/>
              </a:rPr>
              <a:t>}</a:t>
            </a:r>
          </a:p>
        </p:txBody>
      </p:sp>
      <p:sp>
        <p:nvSpPr>
          <p:cNvPr id="6" name="Rectangle 5"/>
          <p:cNvSpPr/>
          <p:nvPr/>
        </p:nvSpPr>
        <p:spPr>
          <a:xfrm>
            <a:off x="571500" y="3868420"/>
            <a:ext cx="5334000" cy="22098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828040" y="4605909"/>
            <a:ext cx="141732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3995420"/>
            <a:ext cx="6096000" cy="208280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int max(int num1, int num2) {</a:t>
            </a:r>
          </a:p>
          <a:p>
            <a:pPr algn="l">
              <a:lnSpc>
                <a:spcPts val="1539"/>
              </a:lnSpc>
            </a:pPr>
            <a:r>
              <a:rPr sz="1100" b="1" i="0">
                <a:solidFill>
                  <a:srgbClr val="000000"/>
                </a:solidFill>
                <a:latin typeface="Courier New"/>
                <a:ea typeface="Courier New"/>
                <a:cs typeface="Courier New"/>
              </a:rPr>
              <a:t>  int result;</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if (num1 &gt; num2)</a:t>
            </a:r>
          </a:p>
          <a:p>
            <a:pPr algn="l">
              <a:lnSpc>
                <a:spcPts val="1539"/>
              </a:lnSpc>
            </a:pPr>
            <a:r>
              <a:rPr sz="1100" b="1" i="0">
                <a:solidFill>
                  <a:srgbClr val="000000"/>
                </a:solidFill>
                <a:latin typeface="Courier New"/>
                <a:ea typeface="Courier New"/>
                <a:cs typeface="Courier New"/>
              </a:rPr>
              <a:t>    result = num1;</a:t>
            </a:r>
          </a:p>
          <a:p>
            <a:pPr algn="l">
              <a:lnSpc>
                <a:spcPts val="1539"/>
              </a:lnSpc>
            </a:pPr>
            <a:r>
              <a:rPr sz="1100" b="1" i="0">
                <a:solidFill>
                  <a:srgbClr val="000000"/>
                </a:solidFill>
                <a:latin typeface="Courier New"/>
                <a:ea typeface="Courier New"/>
                <a:cs typeface="Courier New"/>
              </a:rPr>
              <a:t>  else</a:t>
            </a:r>
          </a:p>
          <a:p>
            <a:pPr algn="l">
              <a:lnSpc>
                <a:spcPts val="1539"/>
              </a:lnSpc>
            </a:pPr>
            <a:r>
              <a:rPr sz="1100" b="1" i="0">
                <a:solidFill>
                  <a:srgbClr val="000000"/>
                </a:solidFill>
                <a:latin typeface="Courier New"/>
                <a:ea typeface="Courier New"/>
                <a:cs typeface="Courier New"/>
              </a:rPr>
              <a:t>    result = num2;</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return result;</a:t>
            </a:r>
          </a:p>
          <a:p>
            <a:pPr algn="l">
              <a:lnSpc>
                <a:spcPts val="1539"/>
              </a:lnSpc>
            </a:pPr>
            <a:r>
              <a:rPr sz="1100" b="1" i="0">
                <a:solidFill>
                  <a:srgbClr val="000000"/>
                </a:solidFill>
                <a:latin typeface="Courier New"/>
                <a:ea typeface="Courier New"/>
                <a:cs typeface="Courier New"/>
              </a:rPr>
              <a:t>}</a:t>
            </a:r>
          </a:p>
        </p:txBody>
      </p:sp>
      <p:sp>
        <p:nvSpPr>
          <p:cNvPr id="9" name="Rounded Rectangle 8"/>
          <p:cNvSpPr/>
          <p:nvPr/>
        </p:nvSpPr>
        <p:spPr>
          <a:xfrm>
            <a:off x="5334000" y="1016000"/>
            <a:ext cx="3302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384800" y="1104900"/>
            <a:ext cx="3200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(num1 &gt; num2) is true</a:t>
            </a:r>
          </a:p>
        </p:txBody>
      </p:sp>
      <p:cxnSp>
        <p:nvCxnSpPr>
          <p:cNvPr id="11" name="Connector 10"/>
          <p:cNvCxnSpPr/>
          <p:nvPr/>
        </p:nvCxnSpPr>
        <p:spPr>
          <a:xfrm flipH="1">
            <a:off x="1820164" y="1513840"/>
            <a:ext cx="5164836" cy="3117469"/>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890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049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90000" y="5334000"/>
            <a:ext cx="2159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90000" y="4092575"/>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40800" y="4143375"/>
            <a:ext cx="2057400" cy="445770"/>
          </a:xfrm>
          <a:prstGeom prst="rect">
            <a:avLst/>
          </a:prstGeom>
          <a:noFill/>
        </p:spPr>
        <p:txBody>
          <a:bodyPr wrap="square" lIns="0" tIns="0" rIns="0" bIns="0" anchor="t">
            <a:spAutoFit/>
          </a:bodyPr>
          <a:lstStyle/>
          <a:p>
            <a:pPr algn="l">
              <a:lnSpc>
                <a:spcPts val="1755"/>
              </a:lnSpc>
            </a:pPr>
            <a:r>
              <a:rPr sz="1300" b="0" i="0">
                <a:solidFill>
                  <a:srgbClr val="111111"/>
                </a:solidFill>
                <a:latin typeface="Times New Roman"/>
                <a:ea typeface="Times New Roman"/>
                <a:cs typeface="Times New Roman"/>
              </a:rPr>
              <a:t>Space required for the main method</a:t>
            </a:r>
          </a:p>
        </p:txBody>
      </p:sp>
      <p:sp>
        <p:nvSpPr>
          <p:cNvPr id="17" name="TextBox 16"/>
          <p:cNvSpPr txBox="1"/>
          <p:nvPr/>
        </p:nvSpPr>
        <p:spPr>
          <a:xfrm>
            <a:off x="8940800" y="4589145"/>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k:</a:t>
            </a:r>
          </a:p>
          <a:p>
            <a:pPr algn="r">
              <a:lnSpc>
                <a:spcPts val="1755"/>
              </a:lnSpc>
            </a:pPr>
            <a:r>
              <a:rPr sz="1300" b="0" i="0">
                <a:solidFill>
                  <a:srgbClr val="111111"/>
                </a:solidFill>
                <a:latin typeface="Times New Roman"/>
                <a:ea typeface="Times New Roman"/>
                <a:cs typeface="Times New Roman"/>
              </a:rPr>
              <a:t>j: 2</a:t>
            </a:r>
          </a:p>
          <a:p>
            <a:pPr algn="r">
              <a:lnSpc>
                <a:spcPts val="1755"/>
              </a:lnSpc>
            </a:pPr>
            <a:r>
              <a:rPr sz="1300" b="0" i="0">
                <a:solidFill>
                  <a:srgbClr val="111111"/>
                </a:solidFill>
                <a:latin typeface="Times New Roman"/>
                <a:ea typeface="Times New Roman"/>
                <a:cs typeface="Times New Roman"/>
              </a:rPr>
              <a:t>i: 5</a:t>
            </a:r>
          </a:p>
        </p:txBody>
      </p:sp>
      <p:cxnSp>
        <p:nvCxnSpPr>
          <p:cNvPr id="18" name="Connector 17"/>
          <p:cNvCxnSpPr/>
          <p:nvPr/>
        </p:nvCxnSpPr>
        <p:spPr>
          <a:xfrm>
            <a:off x="8890000" y="3296920"/>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40800" y="3347720"/>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result:</a:t>
            </a:r>
          </a:p>
          <a:p>
            <a:pPr algn="r">
              <a:lnSpc>
                <a:spcPts val="1755"/>
              </a:lnSpc>
            </a:pPr>
            <a:r>
              <a:rPr sz="1300" b="0" i="0">
                <a:solidFill>
                  <a:srgbClr val="111111"/>
                </a:solidFill>
                <a:latin typeface="Times New Roman"/>
                <a:ea typeface="Times New Roman"/>
                <a:cs typeface="Times New Roman"/>
              </a:rPr>
              <a:t>num2: 2</a:t>
            </a:r>
          </a:p>
          <a:p>
            <a:pPr algn="r">
              <a:lnSpc>
                <a:spcPts val="1755"/>
              </a:lnSpc>
            </a:pPr>
            <a:r>
              <a:rPr sz="1300" b="0" i="0">
                <a:solidFill>
                  <a:srgbClr val="111111"/>
                </a:solidFill>
                <a:latin typeface="Times New Roman"/>
                <a:ea typeface="Times New Roman"/>
                <a:cs typeface="Times New Roman"/>
              </a:rPr>
              <a:t>num1: 5</a:t>
            </a:r>
          </a:p>
        </p:txBody>
      </p:sp>
      <p:sp>
        <p:nvSpPr>
          <p:cNvPr id="20" name="TextBox 19"/>
          <p:cNvSpPr txBox="1"/>
          <p:nvPr/>
        </p:nvSpPr>
        <p:spPr>
          <a:xfrm>
            <a:off x="9017000" y="5486400"/>
            <a:ext cx="2413000" cy="508000"/>
          </a:xfrm>
          <a:prstGeom prst="rect">
            <a:avLst/>
          </a:prstGeom>
          <a:noFill/>
        </p:spPr>
        <p:txBody>
          <a:bodyPr wrap="square" lIns="0" tIns="0" rIns="0" bIns="0" anchor="t">
            <a:spAutoFit/>
          </a:bodyPr>
          <a:lstStyle/>
          <a:p>
            <a:pPr algn="l">
              <a:lnSpc>
                <a:spcPts val="1800"/>
              </a:lnSpc>
            </a:pPr>
            <a:r>
              <a:rPr sz="1500" b="0" i="0">
                <a:solidFill>
                  <a:srgbClr val="111111"/>
                </a:solidFill>
                <a:latin typeface="Times New Roman"/>
                <a:ea typeface="Times New Roman"/>
                <a:cs typeface="Times New Roman"/>
              </a:rPr>
              <a:t>The max method is
invoked.</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Call Stack</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24DBA7A-2FE7-4E90-A20D-86B21354A07F}" type="slidenum">
              <a:rPr sz="1200" b="0" i="0">
                <a:solidFill>
                  <a:srgbClr val="6B6B6B"/>
                </a:solidFill>
                <a:latin typeface="Source Sans 3"/>
                <a:ea typeface="Source Sans 3"/>
                <a:cs typeface="Source Sans 3"/>
              </a:rPr>
              <a:pPr algn="l">
                <a:lnSpc>
                  <a:spcPts val="1500"/>
                </a:lnSpc>
              </a:pPr>
              <a:t>138</a:t>
            </a:fld>
            <a:endParaRPr sz="1200" b="0" i="0">
              <a:solidFill>
                <a:srgbClr val="6B6B6B"/>
              </a:solidFill>
              <a:latin typeface="Source Sans 3"/>
              <a:ea typeface="Source Sans 3"/>
              <a:cs typeface="Source Sans 3"/>
            </a:endParaRPr>
          </a:p>
        </p:txBody>
      </p:sp>
      <p:sp>
        <p:nvSpPr>
          <p:cNvPr id="4" name="Rectangle 3"/>
          <p:cNvSpPr/>
          <p:nvPr/>
        </p:nvSpPr>
        <p:spPr>
          <a:xfrm>
            <a:off x="571500" y="1752600"/>
            <a:ext cx="5334000" cy="201422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98500" y="1879600"/>
            <a:ext cx="6096000" cy="188722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void main(String[] args) {</a:t>
            </a:r>
          </a:p>
          <a:p>
            <a:pPr algn="l">
              <a:lnSpc>
                <a:spcPts val="1539"/>
              </a:lnSpc>
            </a:pPr>
            <a:r>
              <a:rPr sz="1100" b="1" i="0">
                <a:solidFill>
                  <a:srgbClr val="000000"/>
                </a:solidFill>
                <a:latin typeface="Courier New"/>
                <a:ea typeface="Courier New"/>
                <a:cs typeface="Courier New"/>
              </a:rPr>
              <a:t>  int i = 5;</a:t>
            </a:r>
          </a:p>
          <a:p>
            <a:pPr algn="l">
              <a:lnSpc>
                <a:spcPts val="1539"/>
              </a:lnSpc>
            </a:pPr>
            <a:r>
              <a:rPr sz="1100" b="1" i="0">
                <a:solidFill>
                  <a:srgbClr val="000000"/>
                </a:solidFill>
                <a:latin typeface="Courier New"/>
                <a:ea typeface="Courier New"/>
                <a:cs typeface="Courier New"/>
              </a:rPr>
              <a:t>  int j = 2;</a:t>
            </a:r>
          </a:p>
          <a:p>
            <a:pPr algn="l">
              <a:lnSpc>
                <a:spcPts val="1539"/>
              </a:lnSpc>
            </a:pPr>
            <a:r>
              <a:rPr sz="1100" b="1" i="0">
                <a:solidFill>
                  <a:srgbClr val="000000"/>
                </a:solidFill>
                <a:latin typeface="Courier New"/>
                <a:ea typeface="Courier New"/>
                <a:cs typeface="Courier New"/>
              </a:rPr>
              <a:t>  int k = max(i, j);</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System.out.println(</a:t>
            </a:r>
          </a:p>
          <a:p>
            <a:pPr algn="l">
              <a:lnSpc>
                <a:spcPts val="1539"/>
              </a:lnSpc>
            </a:pPr>
            <a:r>
              <a:rPr sz="1100" b="1" i="0">
                <a:solidFill>
                  <a:srgbClr val="000000"/>
                </a:solidFill>
                <a:latin typeface="Courier New"/>
                <a:ea typeface="Courier New"/>
                <a:cs typeface="Courier New"/>
              </a:rPr>
              <a:t>   "The maximum between " + i +</a:t>
            </a:r>
          </a:p>
          <a:p>
            <a:pPr algn="l">
              <a:lnSpc>
                <a:spcPts val="1539"/>
              </a:lnSpc>
            </a:pPr>
            <a:r>
              <a:rPr sz="1100" b="1" i="0">
                <a:solidFill>
                  <a:srgbClr val="000000"/>
                </a:solidFill>
                <a:latin typeface="Courier New"/>
                <a:ea typeface="Courier New"/>
                <a:cs typeface="Courier New"/>
              </a:rPr>
              <a:t>   " and " + j + " is " + k);</a:t>
            </a:r>
          </a:p>
          <a:p>
            <a:pPr algn="l">
              <a:lnSpc>
                <a:spcPts val="1539"/>
              </a:lnSpc>
            </a:pPr>
            <a:r>
              <a:rPr sz="1100" b="1" i="0">
                <a:solidFill>
                  <a:srgbClr val="000000"/>
                </a:solidFill>
                <a:latin typeface="Courier New"/>
                <a:ea typeface="Courier New"/>
                <a:cs typeface="Courier New"/>
              </a:rPr>
              <a:t>}</a:t>
            </a:r>
          </a:p>
        </p:txBody>
      </p:sp>
      <p:sp>
        <p:nvSpPr>
          <p:cNvPr id="6" name="Rectangle 5"/>
          <p:cNvSpPr/>
          <p:nvPr/>
        </p:nvSpPr>
        <p:spPr>
          <a:xfrm>
            <a:off x="571500" y="3868420"/>
            <a:ext cx="5334000" cy="22098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95680" y="4801489"/>
            <a:ext cx="124968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3995420"/>
            <a:ext cx="6096000" cy="208280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int max(int num1, int num2) {</a:t>
            </a:r>
          </a:p>
          <a:p>
            <a:pPr algn="l">
              <a:lnSpc>
                <a:spcPts val="1539"/>
              </a:lnSpc>
            </a:pPr>
            <a:r>
              <a:rPr sz="1100" b="1" i="0">
                <a:solidFill>
                  <a:srgbClr val="000000"/>
                </a:solidFill>
                <a:latin typeface="Courier New"/>
                <a:ea typeface="Courier New"/>
                <a:cs typeface="Courier New"/>
              </a:rPr>
              <a:t>  int result;</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if (num1 &gt; num2)</a:t>
            </a:r>
          </a:p>
          <a:p>
            <a:pPr algn="l">
              <a:lnSpc>
                <a:spcPts val="1539"/>
              </a:lnSpc>
            </a:pPr>
            <a:r>
              <a:rPr sz="1100" b="1" i="0">
                <a:solidFill>
                  <a:srgbClr val="000000"/>
                </a:solidFill>
                <a:latin typeface="Courier New"/>
                <a:ea typeface="Courier New"/>
                <a:cs typeface="Courier New"/>
              </a:rPr>
              <a:t>    result = num1;</a:t>
            </a:r>
          </a:p>
          <a:p>
            <a:pPr algn="l">
              <a:lnSpc>
                <a:spcPts val="1539"/>
              </a:lnSpc>
            </a:pPr>
            <a:r>
              <a:rPr sz="1100" b="1" i="0">
                <a:solidFill>
                  <a:srgbClr val="000000"/>
                </a:solidFill>
                <a:latin typeface="Courier New"/>
                <a:ea typeface="Courier New"/>
                <a:cs typeface="Courier New"/>
              </a:rPr>
              <a:t>  else</a:t>
            </a:r>
          </a:p>
          <a:p>
            <a:pPr algn="l">
              <a:lnSpc>
                <a:spcPts val="1539"/>
              </a:lnSpc>
            </a:pPr>
            <a:r>
              <a:rPr sz="1100" b="1" i="0">
                <a:solidFill>
                  <a:srgbClr val="000000"/>
                </a:solidFill>
                <a:latin typeface="Courier New"/>
                <a:ea typeface="Courier New"/>
                <a:cs typeface="Courier New"/>
              </a:rPr>
              <a:t>    result = num2;</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return result;</a:t>
            </a:r>
          </a:p>
          <a:p>
            <a:pPr algn="l">
              <a:lnSpc>
                <a:spcPts val="1539"/>
              </a:lnSpc>
            </a:pPr>
            <a:r>
              <a:rPr sz="1100" b="1" i="0">
                <a:solidFill>
                  <a:srgbClr val="000000"/>
                </a:solidFill>
                <a:latin typeface="Courier New"/>
                <a:ea typeface="Courier New"/>
                <a:cs typeface="Courier New"/>
              </a:rPr>
              <a:t>}</a:t>
            </a:r>
          </a:p>
        </p:txBody>
      </p:sp>
      <p:sp>
        <p:nvSpPr>
          <p:cNvPr id="9" name="Rounded Rectangle 8"/>
          <p:cNvSpPr/>
          <p:nvPr/>
        </p:nvSpPr>
        <p:spPr>
          <a:xfrm>
            <a:off x="5334000" y="1016000"/>
            <a:ext cx="3302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384800" y="1104900"/>
            <a:ext cx="3200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Assign num1 to result</a:t>
            </a:r>
          </a:p>
        </p:txBody>
      </p:sp>
      <p:cxnSp>
        <p:nvCxnSpPr>
          <p:cNvPr id="11" name="Connector 10"/>
          <p:cNvCxnSpPr/>
          <p:nvPr/>
        </p:nvCxnSpPr>
        <p:spPr>
          <a:xfrm flipH="1">
            <a:off x="1870456" y="1513840"/>
            <a:ext cx="5114544" cy="3313049"/>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890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049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90000" y="5334000"/>
            <a:ext cx="2159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90000" y="4092575"/>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40800" y="4143375"/>
            <a:ext cx="2057400" cy="445770"/>
          </a:xfrm>
          <a:prstGeom prst="rect">
            <a:avLst/>
          </a:prstGeom>
          <a:noFill/>
        </p:spPr>
        <p:txBody>
          <a:bodyPr wrap="square" lIns="0" tIns="0" rIns="0" bIns="0" anchor="t">
            <a:spAutoFit/>
          </a:bodyPr>
          <a:lstStyle/>
          <a:p>
            <a:pPr algn="l">
              <a:lnSpc>
                <a:spcPts val="1755"/>
              </a:lnSpc>
            </a:pPr>
            <a:r>
              <a:rPr sz="1300" b="0" i="0">
                <a:solidFill>
                  <a:srgbClr val="111111"/>
                </a:solidFill>
                <a:latin typeface="Times New Roman"/>
                <a:ea typeface="Times New Roman"/>
                <a:cs typeface="Times New Roman"/>
              </a:rPr>
              <a:t>Space required for the main method</a:t>
            </a:r>
          </a:p>
        </p:txBody>
      </p:sp>
      <p:sp>
        <p:nvSpPr>
          <p:cNvPr id="17" name="TextBox 16"/>
          <p:cNvSpPr txBox="1"/>
          <p:nvPr/>
        </p:nvSpPr>
        <p:spPr>
          <a:xfrm>
            <a:off x="8940800" y="4589145"/>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k:</a:t>
            </a:r>
          </a:p>
          <a:p>
            <a:pPr algn="r">
              <a:lnSpc>
                <a:spcPts val="1755"/>
              </a:lnSpc>
            </a:pPr>
            <a:r>
              <a:rPr sz="1300" b="0" i="0">
                <a:solidFill>
                  <a:srgbClr val="111111"/>
                </a:solidFill>
                <a:latin typeface="Times New Roman"/>
                <a:ea typeface="Times New Roman"/>
                <a:cs typeface="Times New Roman"/>
              </a:rPr>
              <a:t>j: 2</a:t>
            </a:r>
          </a:p>
          <a:p>
            <a:pPr algn="r">
              <a:lnSpc>
                <a:spcPts val="1755"/>
              </a:lnSpc>
            </a:pPr>
            <a:r>
              <a:rPr sz="1300" b="0" i="0">
                <a:solidFill>
                  <a:srgbClr val="111111"/>
                </a:solidFill>
                <a:latin typeface="Times New Roman"/>
                <a:ea typeface="Times New Roman"/>
                <a:cs typeface="Times New Roman"/>
              </a:rPr>
              <a:t>i: 5</a:t>
            </a:r>
          </a:p>
        </p:txBody>
      </p:sp>
      <p:cxnSp>
        <p:nvCxnSpPr>
          <p:cNvPr id="18" name="Connector 17"/>
          <p:cNvCxnSpPr/>
          <p:nvPr/>
        </p:nvCxnSpPr>
        <p:spPr>
          <a:xfrm>
            <a:off x="8890000" y="2851150"/>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40800" y="2901950"/>
            <a:ext cx="2057400" cy="445770"/>
          </a:xfrm>
          <a:prstGeom prst="rect">
            <a:avLst/>
          </a:prstGeom>
          <a:noFill/>
        </p:spPr>
        <p:txBody>
          <a:bodyPr wrap="square" lIns="0" tIns="0" rIns="0" bIns="0" anchor="t">
            <a:spAutoFit/>
          </a:bodyPr>
          <a:lstStyle/>
          <a:p>
            <a:pPr algn="l">
              <a:lnSpc>
                <a:spcPts val="1755"/>
              </a:lnSpc>
            </a:pPr>
            <a:r>
              <a:rPr sz="1300" b="0" i="0">
                <a:solidFill>
                  <a:srgbClr val="111111"/>
                </a:solidFill>
                <a:latin typeface="Times New Roman"/>
                <a:ea typeface="Times New Roman"/>
                <a:cs typeface="Times New Roman"/>
              </a:rPr>
              <a:t>Space required for the max method</a:t>
            </a:r>
          </a:p>
        </p:txBody>
      </p:sp>
      <p:sp>
        <p:nvSpPr>
          <p:cNvPr id="20" name="TextBox 19"/>
          <p:cNvSpPr txBox="1"/>
          <p:nvPr/>
        </p:nvSpPr>
        <p:spPr>
          <a:xfrm>
            <a:off x="8940800" y="3347720"/>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result: 5</a:t>
            </a:r>
          </a:p>
          <a:p>
            <a:pPr algn="r">
              <a:lnSpc>
                <a:spcPts val="1755"/>
              </a:lnSpc>
            </a:pPr>
            <a:r>
              <a:rPr sz="1300" b="0" i="0">
                <a:solidFill>
                  <a:srgbClr val="111111"/>
                </a:solidFill>
                <a:latin typeface="Times New Roman"/>
                <a:ea typeface="Times New Roman"/>
                <a:cs typeface="Times New Roman"/>
              </a:rPr>
              <a:t>num2: 2</a:t>
            </a:r>
          </a:p>
          <a:p>
            <a:pPr algn="r">
              <a:lnSpc>
                <a:spcPts val="1755"/>
              </a:lnSpc>
            </a:pPr>
            <a:r>
              <a:rPr sz="1300" b="0" i="0">
                <a:solidFill>
                  <a:srgbClr val="111111"/>
                </a:solidFill>
                <a:latin typeface="Times New Roman"/>
                <a:ea typeface="Times New Roman"/>
                <a:cs typeface="Times New Roman"/>
              </a:rPr>
              <a:t>num1: 5</a:t>
            </a:r>
          </a:p>
        </p:txBody>
      </p:sp>
      <p:sp>
        <p:nvSpPr>
          <p:cNvPr id="21" name="TextBox 20"/>
          <p:cNvSpPr txBox="1"/>
          <p:nvPr/>
        </p:nvSpPr>
        <p:spPr>
          <a:xfrm>
            <a:off x="9017000" y="5486400"/>
            <a:ext cx="2413000" cy="508000"/>
          </a:xfrm>
          <a:prstGeom prst="rect">
            <a:avLst/>
          </a:prstGeom>
          <a:noFill/>
        </p:spPr>
        <p:txBody>
          <a:bodyPr wrap="square" lIns="0" tIns="0" rIns="0" bIns="0" anchor="t">
            <a:spAutoFit/>
          </a:bodyPr>
          <a:lstStyle/>
          <a:p>
            <a:pPr algn="l">
              <a:lnSpc>
                <a:spcPts val="1800"/>
              </a:lnSpc>
            </a:pPr>
            <a:r>
              <a:rPr sz="1500" b="0" i="0">
                <a:solidFill>
                  <a:srgbClr val="111111"/>
                </a:solidFill>
                <a:latin typeface="Times New Roman"/>
                <a:ea typeface="Times New Roman"/>
                <a:cs typeface="Times New Roman"/>
              </a:rPr>
              <a:t>The max method is
invoked.</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Call Stack</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452DB80-232F-4E35-A6EE-7B05AF77E388}" type="slidenum">
              <a:rPr sz="1200" b="0" i="0">
                <a:solidFill>
                  <a:srgbClr val="6B6B6B"/>
                </a:solidFill>
                <a:latin typeface="Source Sans 3"/>
                <a:ea typeface="Source Sans 3"/>
                <a:cs typeface="Source Sans 3"/>
              </a:rPr>
              <a:pPr algn="l">
                <a:lnSpc>
                  <a:spcPts val="1500"/>
                </a:lnSpc>
              </a:pPr>
              <a:t>139</a:t>
            </a:fld>
            <a:endParaRPr sz="1200" b="0" i="0">
              <a:solidFill>
                <a:srgbClr val="6B6B6B"/>
              </a:solidFill>
              <a:latin typeface="Source Sans 3"/>
              <a:ea typeface="Source Sans 3"/>
              <a:cs typeface="Source Sans 3"/>
            </a:endParaRPr>
          </a:p>
        </p:txBody>
      </p:sp>
      <p:sp>
        <p:nvSpPr>
          <p:cNvPr id="4" name="Rectangle 3"/>
          <p:cNvSpPr/>
          <p:nvPr/>
        </p:nvSpPr>
        <p:spPr>
          <a:xfrm>
            <a:off x="571500" y="1752600"/>
            <a:ext cx="5334000" cy="201422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698500" y="1879600"/>
            <a:ext cx="6096000" cy="188722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void main(String[] args) {</a:t>
            </a:r>
          </a:p>
          <a:p>
            <a:pPr algn="l">
              <a:lnSpc>
                <a:spcPts val="1539"/>
              </a:lnSpc>
            </a:pPr>
            <a:r>
              <a:rPr sz="1100" b="1" i="0">
                <a:solidFill>
                  <a:srgbClr val="000000"/>
                </a:solidFill>
                <a:latin typeface="Courier New"/>
                <a:ea typeface="Courier New"/>
                <a:cs typeface="Courier New"/>
              </a:rPr>
              <a:t>  int i = 5;</a:t>
            </a:r>
          </a:p>
          <a:p>
            <a:pPr algn="l">
              <a:lnSpc>
                <a:spcPts val="1539"/>
              </a:lnSpc>
            </a:pPr>
            <a:r>
              <a:rPr sz="1100" b="1" i="0">
                <a:solidFill>
                  <a:srgbClr val="000000"/>
                </a:solidFill>
                <a:latin typeface="Courier New"/>
                <a:ea typeface="Courier New"/>
                <a:cs typeface="Courier New"/>
              </a:rPr>
              <a:t>  int j = 2;</a:t>
            </a:r>
          </a:p>
          <a:p>
            <a:pPr algn="l">
              <a:lnSpc>
                <a:spcPts val="1539"/>
              </a:lnSpc>
            </a:pPr>
            <a:r>
              <a:rPr sz="1100" b="1" i="0">
                <a:solidFill>
                  <a:srgbClr val="000000"/>
                </a:solidFill>
                <a:latin typeface="Courier New"/>
                <a:ea typeface="Courier New"/>
                <a:cs typeface="Courier New"/>
              </a:rPr>
              <a:t>  int k = max(i, j);</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System.out.println(</a:t>
            </a:r>
          </a:p>
          <a:p>
            <a:pPr algn="l">
              <a:lnSpc>
                <a:spcPts val="1539"/>
              </a:lnSpc>
            </a:pPr>
            <a:r>
              <a:rPr sz="1100" b="1" i="0">
                <a:solidFill>
                  <a:srgbClr val="000000"/>
                </a:solidFill>
                <a:latin typeface="Courier New"/>
                <a:ea typeface="Courier New"/>
                <a:cs typeface="Courier New"/>
              </a:rPr>
              <a:t>   "The maximum between " + i +</a:t>
            </a:r>
          </a:p>
          <a:p>
            <a:pPr algn="l">
              <a:lnSpc>
                <a:spcPts val="1539"/>
              </a:lnSpc>
            </a:pPr>
            <a:r>
              <a:rPr sz="1100" b="1" i="0">
                <a:solidFill>
                  <a:srgbClr val="000000"/>
                </a:solidFill>
                <a:latin typeface="Courier New"/>
                <a:ea typeface="Courier New"/>
                <a:cs typeface="Courier New"/>
              </a:rPr>
              <a:t>   " and " + j + " is " + k);</a:t>
            </a:r>
          </a:p>
          <a:p>
            <a:pPr algn="l">
              <a:lnSpc>
                <a:spcPts val="1539"/>
              </a:lnSpc>
            </a:pPr>
            <a:r>
              <a:rPr sz="1100" b="1" i="0">
                <a:solidFill>
                  <a:srgbClr val="000000"/>
                </a:solidFill>
                <a:latin typeface="Courier New"/>
                <a:ea typeface="Courier New"/>
                <a:cs typeface="Courier New"/>
              </a:rPr>
              <a:t>}</a:t>
            </a:r>
          </a:p>
        </p:txBody>
      </p:sp>
      <p:sp>
        <p:nvSpPr>
          <p:cNvPr id="6" name="Rectangle 5"/>
          <p:cNvSpPr/>
          <p:nvPr/>
        </p:nvSpPr>
        <p:spPr>
          <a:xfrm>
            <a:off x="571500" y="3868420"/>
            <a:ext cx="5334000" cy="22098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828040" y="5583809"/>
            <a:ext cx="124968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3995420"/>
            <a:ext cx="6096000" cy="208280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int max(int num1, int num2) {</a:t>
            </a:r>
          </a:p>
          <a:p>
            <a:pPr algn="l">
              <a:lnSpc>
                <a:spcPts val="1539"/>
              </a:lnSpc>
            </a:pPr>
            <a:r>
              <a:rPr sz="1100" b="1" i="0">
                <a:solidFill>
                  <a:srgbClr val="000000"/>
                </a:solidFill>
                <a:latin typeface="Courier New"/>
                <a:ea typeface="Courier New"/>
                <a:cs typeface="Courier New"/>
              </a:rPr>
              <a:t>  int result;</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if (num1 &gt; num2)</a:t>
            </a:r>
          </a:p>
          <a:p>
            <a:pPr algn="l">
              <a:lnSpc>
                <a:spcPts val="1539"/>
              </a:lnSpc>
            </a:pPr>
            <a:r>
              <a:rPr sz="1100" b="1" i="0">
                <a:solidFill>
                  <a:srgbClr val="000000"/>
                </a:solidFill>
                <a:latin typeface="Courier New"/>
                <a:ea typeface="Courier New"/>
                <a:cs typeface="Courier New"/>
              </a:rPr>
              <a:t>    result = num1;</a:t>
            </a:r>
          </a:p>
          <a:p>
            <a:pPr algn="l">
              <a:lnSpc>
                <a:spcPts val="1539"/>
              </a:lnSpc>
            </a:pPr>
            <a:r>
              <a:rPr sz="1100" b="1" i="0">
                <a:solidFill>
                  <a:srgbClr val="000000"/>
                </a:solidFill>
                <a:latin typeface="Courier New"/>
                <a:ea typeface="Courier New"/>
                <a:cs typeface="Courier New"/>
              </a:rPr>
              <a:t>  else</a:t>
            </a:r>
          </a:p>
          <a:p>
            <a:pPr algn="l">
              <a:lnSpc>
                <a:spcPts val="1539"/>
              </a:lnSpc>
            </a:pPr>
            <a:r>
              <a:rPr sz="1100" b="1" i="0">
                <a:solidFill>
                  <a:srgbClr val="000000"/>
                </a:solidFill>
                <a:latin typeface="Courier New"/>
                <a:ea typeface="Courier New"/>
                <a:cs typeface="Courier New"/>
              </a:rPr>
              <a:t>    result = num2;</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return result;</a:t>
            </a:r>
          </a:p>
          <a:p>
            <a:pPr algn="l">
              <a:lnSpc>
                <a:spcPts val="1539"/>
              </a:lnSpc>
            </a:pPr>
            <a:r>
              <a:rPr sz="1100" b="1" i="0">
                <a:solidFill>
                  <a:srgbClr val="000000"/>
                </a:solidFill>
                <a:latin typeface="Courier New"/>
                <a:ea typeface="Courier New"/>
                <a:cs typeface="Courier New"/>
              </a:rPr>
              <a:t>}</a:t>
            </a:r>
          </a:p>
        </p:txBody>
      </p:sp>
      <p:sp>
        <p:nvSpPr>
          <p:cNvPr id="9" name="Rounded Rectangle 8"/>
          <p:cNvSpPr/>
          <p:nvPr/>
        </p:nvSpPr>
        <p:spPr>
          <a:xfrm>
            <a:off x="5334000" y="1016000"/>
            <a:ext cx="3302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384800" y="1104900"/>
            <a:ext cx="3200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Return result and assign it to k</a:t>
            </a:r>
          </a:p>
        </p:txBody>
      </p:sp>
      <p:cxnSp>
        <p:nvCxnSpPr>
          <p:cNvPr id="11" name="Connector 10"/>
          <p:cNvCxnSpPr/>
          <p:nvPr/>
        </p:nvCxnSpPr>
        <p:spPr>
          <a:xfrm flipH="1">
            <a:off x="1702816" y="1513840"/>
            <a:ext cx="5282184" cy="4095369"/>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890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049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90000" y="5334000"/>
            <a:ext cx="2159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890000" y="4092575"/>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940800" y="4143375"/>
            <a:ext cx="2057400" cy="445770"/>
          </a:xfrm>
          <a:prstGeom prst="rect">
            <a:avLst/>
          </a:prstGeom>
          <a:noFill/>
        </p:spPr>
        <p:txBody>
          <a:bodyPr wrap="square" lIns="0" tIns="0" rIns="0" bIns="0" anchor="t">
            <a:spAutoFit/>
          </a:bodyPr>
          <a:lstStyle/>
          <a:p>
            <a:pPr algn="l">
              <a:lnSpc>
                <a:spcPts val="1755"/>
              </a:lnSpc>
            </a:pPr>
            <a:r>
              <a:rPr sz="1300" b="0" i="0">
                <a:solidFill>
                  <a:srgbClr val="111111"/>
                </a:solidFill>
                <a:latin typeface="Times New Roman"/>
                <a:ea typeface="Times New Roman"/>
                <a:cs typeface="Times New Roman"/>
              </a:rPr>
              <a:t>Space required for the main method</a:t>
            </a:r>
          </a:p>
        </p:txBody>
      </p:sp>
      <p:sp>
        <p:nvSpPr>
          <p:cNvPr id="17" name="TextBox 16"/>
          <p:cNvSpPr txBox="1"/>
          <p:nvPr/>
        </p:nvSpPr>
        <p:spPr>
          <a:xfrm>
            <a:off x="8940800" y="4589145"/>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k: 5</a:t>
            </a:r>
          </a:p>
          <a:p>
            <a:pPr algn="r">
              <a:lnSpc>
                <a:spcPts val="1755"/>
              </a:lnSpc>
            </a:pPr>
            <a:r>
              <a:rPr sz="1300" b="0" i="0">
                <a:solidFill>
                  <a:srgbClr val="111111"/>
                </a:solidFill>
                <a:latin typeface="Times New Roman"/>
                <a:ea typeface="Times New Roman"/>
                <a:cs typeface="Times New Roman"/>
              </a:rPr>
              <a:t>j: 2</a:t>
            </a:r>
          </a:p>
          <a:p>
            <a:pPr algn="r">
              <a:lnSpc>
                <a:spcPts val="1755"/>
              </a:lnSpc>
            </a:pPr>
            <a:r>
              <a:rPr sz="1300" b="0" i="0">
                <a:solidFill>
                  <a:srgbClr val="111111"/>
                </a:solidFill>
                <a:latin typeface="Times New Roman"/>
                <a:ea typeface="Times New Roman"/>
                <a:cs typeface="Times New Roman"/>
              </a:rPr>
              <a:t>i: 5</a:t>
            </a:r>
          </a:p>
        </p:txBody>
      </p:sp>
      <p:cxnSp>
        <p:nvCxnSpPr>
          <p:cNvPr id="18" name="Connector 17"/>
          <p:cNvCxnSpPr/>
          <p:nvPr/>
        </p:nvCxnSpPr>
        <p:spPr>
          <a:xfrm>
            <a:off x="8890000" y="2851150"/>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940800" y="2901950"/>
            <a:ext cx="2057400" cy="445770"/>
          </a:xfrm>
          <a:prstGeom prst="rect">
            <a:avLst/>
          </a:prstGeom>
          <a:noFill/>
        </p:spPr>
        <p:txBody>
          <a:bodyPr wrap="square" lIns="0" tIns="0" rIns="0" bIns="0" anchor="t">
            <a:spAutoFit/>
          </a:bodyPr>
          <a:lstStyle/>
          <a:p>
            <a:pPr algn="l">
              <a:lnSpc>
                <a:spcPts val="1755"/>
              </a:lnSpc>
            </a:pPr>
            <a:r>
              <a:rPr sz="1300" b="0" i="0">
                <a:solidFill>
                  <a:srgbClr val="111111"/>
                </a:solidFill>
                <a:latin typeface="Times New Roman"/>
                <a:ea typeface="Times New Roman"/>
                <a:cs typeface="Times New Roman"/>
              </a:rPr>
              <a:t>Space required for the max method</a:t>
            </a:r>
          </a:p>
        </p:txBody>
      </p:sp>
      <p:sp>
        <p:nvSpPr>
          <p:cNvPr id="20" name="TextBox 19"/>
          <p:cNvSpPr txBox="1"/>
          <p:nvPr/>
        </p:nvSpPr>
        <p:spPr>
          <a:xfrm>
            <a:off x="8940800" y="3347720"/>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result: 5</a:t>
            </a:r>
          </a:p>
          <a:p>
            <a:pPr algn="r">
              <a:lnSpc>
                <a:spcPts val="1755"/>
              </a:lnSpc>
            </a:pPr>
            <a:r>
              <a:rPr sz="1300" b="0" i="0">
                <a:solidFill>
                  <a:srgbClr val="111111"/>
                </a:solidFill>
                <a:latin typeface="Times New Roman"/>
                <a:ea typeface="Times New Roman"/>
                <a:cs typeface="Times New Roman"/>
              </a:rPr>
              <a:t>num2: 2</a:t>
            </a:r>
          </a:p>
          <a:p>
            <a:pPr algn="r">
              <a:lnSpc>
                <a:spcPts val="1755"/>
              </a:lnSpc>
            </a:pPr>
            <a:r>
              <a:rPr sz="1300" b="0" i="0">
                <a:solidFill>
                  <a:srgbClr val="111111"/>
                </a:solidFill>
                <a:latin typeface="Times New Roman"/>
                <a:ea typeface="Times New Roman"/>
                <a:cs typeface="Times New Roman"/>
              </a:rPr>
              <a:t>num1: 5</a:t>
            </a:r>
          </a:p>
        </p:txBody>
      </p:sp>
      <p:sp>
        <p:nvSpPr>
          <p:cNvPr id="21" name="TextBox 20"/>
          <p:cNvSpPr txBox="1"/>
          <p:nvPr/>
        </p:nvSpPr>
        <p:spPr>
          <a:xfrm>
            <a:off x="9017000" y="5486400"/>
            <a:ext cx="2413000" cy="508000"/>
          </a:xfrm>
          <a:prstGeom prst="rect">
            <a:avLst/>
          </a:prstGeom>
          <a:noFill/>
        </p:spPr>
        <p:txBody>
          <a:bodyPr wrap="square" lIns="0" tIns="0" rIns="0" bIns="0" anchor="t">
            <a:spAutoFit/>
          </a:bodyPr>
          <a:lstStyle/>
          <a:p>
            <a:pPr algn="l">
              <a:lnSpc>
                <a:spcPts val="1800"/>
              </a:lnSpc>
            </a:pPr>
            <a:r>
              <a:rPr sz="1500" b="0" i="0">
                <a:solidFill>
                  <a:srgbClr val="111111"/>
                </a:solidFill>
                <a:latin typeface="Times New Roman"/>
                <a:ea typeface="Times New Roman"/>
                <a:cs typeface="Times New Roman"/>
              </a:rPr>
              <a:t>The max method is
invoked.</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Call Stack</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47A2547-C39D-4B10-A961-070DA710902D}" type="slidenum">
              <a:rPr sz="1200" b="0" i="0">
                <a:solidFill>
                  <a:srgbClr val="6B6B6B"/>
                </a:solidFill>
                <a:latin typeface="Source Sans 3"/>
                <a:ea typeface="Source Sans 3"/>
                <a:cs typeface="Source Sans 3"/>
              </a:rPr>
              <a:pPr algn="l">
                <a:lnSpc>
                  <a:spcPts val="1500"/>
                </a:lnSpc>
              </a:pPr>
              <a:t>140</a:t>
            </a:fld>
            <a:endParaRPr sz="1200" b="0" i="0">
              <a:solidFill>
                <a:srgbClr val="6B6B6B"/>
              </a:solidFill>
              <a:latin typeface="Source Sans 3"/>
              <a:ea typeface="Source Sans 3"/>
              <a:cs typeface="Source Sans 3"/>
            </a:endParaRPr>
          </a:p>
        </p:txBody>
      </p:sp>
      <p:sp>
        <p:nvSpPr>
          <p:cNvPr id="4" name="Rectangle 3"/>
          <p:cNvSpPr/>
          <p:nvPr/>
        </p:nvSpPr>
        <p:spPr>
          <a:xfrm>
            <a:off x="571500" y="1752600"/>
            <a:ext cx="5334000" cy="201422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ectangle 4"/>
          <p:cNvSpPr/>
          <p:nvPr/>
        </p:nvSpPr>
        <p:spPr>
          <a:xfrm>
            <a:off x="828040" y="2881249"/>
            <a:ext cx="166878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911860" y="3076829"/>
            <a:ext cx="242316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11860" y="3272409"/>
            <a:ext cx="2255520" cy="182880"/>
          </a:xfrm>
          <a:prstGeom prst="rect">
            <a:avLst/>
          </a:prstGeom>
          <a:solidFill>
            <a:srgbClr val="E6E6E6"/>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98500" y="1879600"/>
            <a:ext cx="6096000" cy="188722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void main(String[] args) {</a:t>
            </a:r>
          </a:p>
          <a:p>
            <a:pPr algn="l">
              <a:lnSpc>
                <a:spcPts val="1539"/>
              </a:lnSpc>
            </a:pPr>
            <a:r>
              <a:rPr sz="1100" b="1" i="0">
                <a:solidFill>
                  <a:srgbClr val="000000"/>
                </a:solidFill>
                <a:latin typeface="Courier New"/>
                <a:ea typeface="Courier New"/>
                <a:cs typeface="Courier New"/>
              </a:rPr>
              <a:t>  int i = 5;</a:t>
            </a:r>
          </a:p>
          <a:p>
            <a:pPr algn="l">
              <a:lnSpc>
                <a:spcPts val="1539"/>
              </a:lnSpc>
            </a:pPr>
            <a:r>
              <a:rPr sz="1100" b="1" i="0">
                <a:solidFill>
                  <a:srgbClr val="000000"/>
                </a:solidFill>
                <a:latin typeface="Courier New"/>
                <a:ea typeface="Courier New"/>
                <a:cs typeface="Courier New"/>
              </a:rPr>
              <a:t>  int j = 2;</a:t>
            </a:r>
          </a:p>
          <a:p>
            <a:pPr algn="l">
              <a:lnSpc>
                <a:spcPts val="1539"/>
              </a:lnSpc>
            </a:pPr>
            <a:r>
              <a:rPr sz="1100" b="1" i="0">
                <a:solidFill>
                  <a:srgbClr val="000000"/>
                </a:solidFill>
                <a:latin typeface="Courier New"/>
                <a:ea typeface="Courier New"/>
                <a:cs typeface="Courier New"/>
              </a:rPr>
              <a:t>  int k = max(i, j);</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System.out.println(</a:t>
            </a:r>
          </a:p>
          <a:p>
            <a:pPr algn="l">
              <a:lnSpc>
                <a:spcPts val="1539"/>
              </a:lnSpc>
            </a:pPr>
            <a:r>
              <a:rPr sz="1100" b="1" i="0">
                <a:solidFill>
                  <a:srgbClr val="000000"/>
                </a:solidFill>
                <a:latin typeface="Courier New"/>
                <a:ea typeface="Courier New"/>
                <a:cs typeface="Courier New"/>
              </a:rPr>
              <a:t>   "The maximum between " + i +</a:t>
            </a:r>
          </a:p>
          <a:p>
            <a:pPr algn="l">
              <a:lnSpc>
                <a:spcPts val="1539"/>
              </a:lnSpc>
            </a:pPr>
            <a:r>
              <a:rPr sz="1100" b="1" i="0">
                <a:solidFill>
                  <a:srgbClr val="000000"/>
                </a:solidFill>
                <a:latin typeface="Courier New"/>
                <a:ea typeface="Courier New"/>
                <a:cs typeface="Courier New"/>
              </a:rPr>
              <a:t>   " and " + j + " is " + k);</a:t>
            </a:r>
          </a:p>
          <a:p>
            <a:pPr algn="l">
              <a:lnSpc>
                <a:spcPts val="1539"/>
              </a:lnSpc>
            </a:pPr>
            <a:r>
              <a:rPr sz="1100" b="1" i="0">
                <a:solidFill>
                  <a:srgbClr val="000000"/>
                </a:solidFill>
                <a:latin typeface="Courier New"/>
                <a:ea typeface="Courier New"/>
                <a:cs typeface="Courier New"/>
              </a:rPr>
              <a:t>}</a:t>
            </a:r>
          </a:p>
        </p:txBody>
      </p:sp>
      <p:sp>
        <p:nvSpPr>
          <p:cNvPr id="9" name="Rectangle 8"/>
          <p:cNvSpPr/>
          <p:nvPr/>
        </p:nvSpPr>
        <p:spPr>
          <a:xfrm>
            <a:off x="571500" y="3868420"/>
            <a:ext cx="5334000" cy="2209800"/>
          </a:xfrm>
          <a:prstGeom prst="rect">
            <a:avLst/>
          </a:prstGeom>
          <a:solidFill>
            <a:srgbClr val="FFFFFF"/>
          </a:solidFill>
          <a:ln w="12700">
            <a:solidFill>
              <a:srgbClr val="33CC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98500" y="3995420"/>
            <a:ext cx="6096000" cy="2082800"/>
          </a:xfrm>
          <a:prstGeom prst="rect">
            <a:avLst/>
          </a:prstGeom>
          <a:noFill/>
        </p:spPr>
        <p:txBody>
          <a:bodyPr wrap="square" lIns="0" tIns="0" rIns="0" bIns="0" anchor="t">
            <a:spAutoFit/>
          </a:bodyPr>
          <a:lstStyle/>
          <a:p>
            <a:pPr algn="l">
              <a:lnSpc>
                <a:spcPts val="1539"/>
              </a:lnSpc>
            </a:pPr>
            <a:r>
              <a:rPr sz="1100" b="1" i="0">
                <a:solidFill>
                  <a:srgbClr val="000000"/>
                </a:solidFill>
                <a:latin typeface="Courier New"/>
                <a:ea typeface="Courier New"/>
                <a:cs typeface="Courier New"/>
              </a:rPr>
              <a:t>public static int max(int num1, int num2) {</a:t>
            </a:r>
          </a:p>
          <a:p>
            <a:pPr algn="l">
              <a:lnSpc>
                <a:spcPts val="1539"/>
              </a:lnSpc>
            </a:pPr>
            <a:r>
              <a:rPr sz="1100" b="1" i="0">
                <a:solidFill>
                  <a:srgbClr val="000000"/>
                </a:solidFill>
                <a:latin typeface="Courier New"/>
                <a:ea typeface="Courier New"/>
                <a:cs typeface="Courier New"/>
              </a:rPr>
              <a:t>  int result;</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if (num1 &gt; num2)</a:t>
            </a:r>
          </a:p>
          <a:p>
            <a:pPr algn="l">
              <a:lnSpc>
                <a:spcPts val="1539"/>
              </a:lnSpc>
            </a:pPr>
            <a:r>
              <a:rPr sz="1100" b="1" i="0">
                <a:solidFill>
                  <a:srgbClr val="000000"/>
                </a:solidFill>
                <a:latin typeface="Courier New"/>
                <a:ea typeface="Courier New"/>
                <a:cs typeface="Courier New"/>
              </a:rPr>
              <a:t>    result = num1;</a:t>
            </a:r>
          </a:p>
          <a:p>
            <a:pPr algn="l">
              <a:lnSpc>
                <a:spcPts val="1539"/>
              </a:lnSpc>
            </a:pPr>
            <a:r>
              <a:rPr sz="1100" b="1" i="0">
                <a:solidFill>
                  <a:srgbClr val="000000"/>
                </a:solidFill>
                <a:latin typeface="Courier New"/>
                <a:ea typeface="Courier New"/>
                <a:cs typeface="Courier New"/>
              </a:rPr>
              <a:t>  else</a:t>
            </a:r>
          </a:p>
          <a:p>
            <a:pPr algn="l">
              <a:lnSpc>
                <a:spcPts val="1539"/>
              </a:lnSpc>
            </a:pPr>
            <a:r>
              <a:rPr sz="1100" b="1" i="0">
                <a:solidFill>
                  <a:srgbClr val="000000"/>
                </a:solidFill>
                <a:latin typeface="Courier New"/>
                <a:ea typeface="Courier New"/>
                <a:cs typeface="Courier New"/>
              </a:rPr>
              <a:t>    result = num2;</a:t>
            </a:r>
          </a:p>
          <a:p>
            <a:pPr algn="l">
              <a:lnSpc>
                <a:spcPts val="1539"/>
              </a:lnSpc>
            </a:pPr>
            <a:r>
              <a:rPr sz="1100" b="1" i="0">
                <a:solidFill>
                  <a:srgbClr val="000000"/>
                </a:solidFill>
                <a:latin typeface="Courier New"/>
                <a:ea typeface="Courier New"/>
                <a:cs typeface="Courier New"/>
              </a:rPr>
              <a:t> </a:t>
            </a:r>
          </a:p>
          <a:p>
            <a:pPr algn="l">
              <a:lnSpc>
                <a:spcPts val="1539"/>
              </a:lnSpc>
            </a:pPr>
            <a:r>
              <a:rPr sz="1100" b="1" i="0">
                <a:solidFill>
                  <a:srgbClr val="000000"/>
                </a:solidFill>
                <a:latin typeface="Courier New"/>
                <a:ea typeface="Courier New"/>
                <a:cs typeface="Courier New"/>
              </a:rPr>
              <a:t>  return result;</a:t>
            </a:r>
          </a:p>
          <a:p>
            <a:pPr algn="l">
              <a:lnSpc>
                <a:spcPts val="1539"/>
              </a:lnSpc>
            </a:pPr>
            <a:r>
              <a:rPr sz="1100" b="1" i="0">
                <a:solidFill>
                  <a:srgbClr val="000000"/>
                </a:solidFill>
                <a:latin typeface="Courier New"/>
                <a:ea typeface="Courier New"/>
                <a:cs typeface="Courier New"/>
              </a:rPr>
              <a:t>}</a:t>
            </a:r>
          </a:p>
        </p:txBody>
      </p:sp>
      <p:sp>
        <p:nvSpPr>
          <p:cNvPr id="11" name="Rounded Rectangle 10"/>
          <p:cNvSpPr/>
          <p:nvPr/>
        </p:nvSpPr>
        <p:spPr>
          <a:xfrm>
            <a:off x="5334000" y="1016000"/>
            <a:ext cx="3302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5384800" y="1104900"/>
            <a:ext cx="3200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Execute print statement</a:t>
            </a:r>
          </a:p>
        </p:txBody>
      </p:sp>
      <p:cxnSp>
        <p:nvCxnSpPr>
          <p:cNvPr id="13" name="Connector 12"/>
          <p:cNvCxnSpPr/>
          <p:nvPr/>
        </p:nvCxnSpPr>
        <p:spPr>
          <a:xfrm flipH="1">
            <a:off x="1996186" y="1513840"/>
            <a:ext cx="4988814" cy="1392809"/>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890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049000" y="1905000"/>
            <a:ext cx="0" cy="3429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890000" y="5334000"/>
            <a:ext cx="2159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890000" y="4092575"/>
            <a:ext cx="2159000" cy="0"/>
          </a:xfrm>
          <a:prstGeom prst="line">
            <a:avLst/>
          </a:prstGeom>
          <a:ln w="9525">
            <a:solidFill>
              <a:srgbClr val="111111"/>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940800" y="4143375"/>
            <a:ext cx="2057400" cy="445770"/>
          </a:xfrm>
          <a:prstGeom prst="rect">
            <a:avLst/>
          </a:prstGeom>
          <a:noFill/>
        </p:spPr>
        <p:txBody>
          <a:bodyPr wrap="square" lIns="0" tIns="0" rIns="0" bIns="0" anchor="t">
            <a:spAutoFit/>
          </a:bodyPr>
          <a:lstStyle/>
          <a:p>
            <a:pPr algn="l">
              <a:lnSpc>
                <a:spcPts val="1755"/>
              </a:lnSpc>
            </a:pPr>
            <a:r>
              <a:rPr sz="1300" b="0" i="0">
                <a:solidFill>
                  <a:srgbClr val="111111"/>
                </a:solidFill>
                <a:latin typeface="Times New Roman"/>
                <a:ea typeface="Times New Roman"/>
                <a:cs typeface="Times New Roman"/>
              </a:rPr>
              <a:t>Space required for the main method</a:t>
            </a:r>
          </a:p>
        </p:txBody>
      </p:sp>
      <p:sp>
        <p:nvSpPr>
          <p:cNvPr id="19" name="TextBox 18"/>
          <p:cNvSpPr txBox="1"/>
          <p:nvPr/>
        </p:nvSpPr>
        <p:spPr>
          <a:xfrm>
            <a:off x="8940800" y="4589145"/>
            <a:ext cx="2006600" cy="668655"/>
          </a:xfrm>
          <a:prstGeom prst="rect">
            <a:avLst/>
          </a:prstGeom>
          <a:noFill/>
        </p:spPr>
        <p:txBody>
          <a:bodyPr wrap="square" lIns="0" tIns="0" rIns="0" bIns="0" anchor="t">
            <a:spAutoFit/>
          </a:bodyPr>
          <a:lstStyle/>
          <a:p>
            <a:pPr algn="r">
              <a:lnSpc>
                <a:spcPts val="1755"/>
              </a:lnSpc>
            </a:pPr>
            <a:r>
              <a:rPr sz="1300" b="0" i="0">
                <a:solidFill>
                  <a:srgbClr val="111111"/>
                </a:solidFill>
                <a:latin typeface="Times New Roman"/>
                <a:ea typeface="Times New Roman"/>
                <a:cs typeface="Times New Roman"/>
              </a:rPr>
              <a:t>k: 5</a:t>
            </a:r>
          </a:p>
          <a:p>
            <a:pPr algn="r">
              <a:lnSpc>
                <a:spcPts val="1755"/>
              </a:lnSpc>
            </a:pPr>
            <a:r>
              <a:rPr sz="1300" b="0" i="0">
                <a:solidFill>
                  <a:srgbClr val="111111"/>
                </a:solidFill>
                <a:latin typeface="Times New Roman"/>
                <a:ea typeface="Times New Roman"/>
                <a:cs typeface="Times New Roman"/>
              </a:rPr>
              <a:t>j: 2</a:t>
            </a:r>
          </a:p>
          <a:p>
            <a:pPr algn="r">
              <a:lnSpc>
                <a:spcPts val="1755"/>
              </a:lnSpc>
            </a:pPr>
            <a:r>
              <a:rPr sz="1300" b="0" i="0">
                <a:solidFill>
                  <a:srgbClr val="111111"/>
                </a:solidFill>
                <a:latin typeface="Times New Roman"/>
                <a:ea typeface="Times New Roman"/>
                <a:cs typeface="Times New Roman"/>
              </a:rPr>
              <a:t>i: 5</a:t>
            </a:r>
          </a:p>
        </p:txBody>
      </p:sp>
      <p:sp>
        <p:nvSpPr>
          <p:cNvPr id="20" name="TextBox 19"/>
          <p:cNvSpPr txBox="1"/>
          <p:nvPr/>
        </p:nvSpPr>
        <p:spPr>
          <a:xfrm>
            <a:off x="9017000" y="5486400"/>
            <a:ext cx="2413000" cy="508000"/>
          </a:xfrm>
          <a:prstGeom prst="rect">
            <a:avLst/>
          </a:prstGeom>
          <a:noFill/>
        </p:spPr>
        <p:txBody>
          <a:bodyPr wrap="square" lIns="0" tIns="0" rIns="0" bIns="0" anchor="t">
            <a:spAutoFit/>
          </a:bodyPr>
          <a:lstStyle/>
          <a:p>
            <a:pPr algn="l">
              <a:lnSpc>
                <a:spcPts val="1800"/>
              </a:lnSpc>
            </a:pPr>
            <a:r>
              <a:rPr sz="1500" b="0" i="0">
                <a:solidFill>
                  <a:srgbClr val="111111"/>
                </a:solidFill>
                <a:latin typeface="Times New Roman"/>
                <a:ea typeface="Times New Roman"/>
                <a:cs typeface="Times New Roman"/>
              </a:rPr>
              <a:t>The main method
is invoked.</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Courier New"/>
                <a:ea typeface="Courier New"/>
                <a:cs typeface="Courier New"/>
              </a:rPr>
              <a:t>void</a:t>
            </a:r>
            <a:r>
              <a:rPr sz="3300" b="0" i="0">
                <a:solidFill>
                  <a:srgbClr val="111111"/>
                </a:solidFill>
                <a:latin typeface="Times New Roman"/>
                <a:ea typeface="Times New Roman"/>
                <a:cs typeface="Times New Roman"/>
              </a:rPr>
              <a:t> Method Example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212D93F-40A7-49E4-A6E8-CA72A9E80B19}" type="slidenum">
              <a:rPr sz="1200" b="0" i="0">
                <a:solidFill>
                  <a:srgbClr val="6B6B6B"/>
                </a:solidFill>
                <a:latin typeface="Source Sans 3"/>
                <a:ea typeface="Source Sans 3"/>
                <a:cs typeface="Source Sans 3"/>
              </a:rPr>
              <a:pPr algn="l">
                <a:lnSpc>
                  <a:spcPts val="1500"/>
                </a:lnSpc>
              </a:pPr>
              <a:t>141</a:t>
            </a:fld>
            <a:endParaRPr sz="1200" b="0" i="0">
              <a:solidFill>
                <a:srgbClr val="6B6B6B"/>
              </a:solidFill>
              <a:latin typeface="Source Sans 3"/>
              <a:ea typeface="Source Sans 3"/>
              <a:cs typeface="Source Sans 3"/>
            </a:endParaRPr>
          </a:p>
        </p:txBody>
      </p:sp>
      <p:sp>
        <p:nvSpPr>
          <p:cNvPr id="4" name="TextBox 3"/>
          <p:cNvSpPr txBox="1"/>
          <p:nvPr/>
        </p:nvSpPr>
        <p:spPr>
          <a:xfrm>
            <a:off x="952500" y="1524000"/>
            <a:ext cx="10287000" cy="5080000"/>
          </a:xfrm>
          <a:prstGeom prst="rect">
            <a:avLst/>
          </a:prstGeom>
          <a:noFill/>
        </p:spPr>
        <p:txBody>
          <a:bodyPr wrap="square" lIns="0" tIns="0" rIns="0" bIns="0" anchor="t">
            <a:spAutoFit/>
          </a:bodyPr>
          <a:lstStyle/>
          <a:p>
            <a:pPr algn="l">
              <a:lnSpc>
                <a:spcPts val="3250"/>
              </a:lnSpc>
            </a:pPr>
            <a:r>
              <a:rPr sz="2600" b="0" i="0">
                <a:solidFill>
                  <a:srgbClr val="111111"/>
                </a:solidFill>
                <a:latin typeface="Times New Roman"/>
                <a:ea typeface="Times New Roman"/>
                <a:cs typeface="Times New Roman"/>
              </a:rPr>
              <a:t>This type of method does not return a value. The method performs some actions.</a:t>
            </a:r>
          </a:p>
        </p:txBody>
      </p:sp>
      <p:sp>
        <p:nvSpPr>
          <p:cNvPr id="5" name="Rounded Rectangle 4"/>
          <p:cNvSpPr/>
          <p:nvPr/>
        </p:nvSpPr>
        <p:spPr>
          <a:xfrm>
            <a:off x="8679180" y="5732780"/>
            <a:ext cx="256032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TestReturnGradeMethod</a:t>
            </a:r>
            <a:endParaRPr sz="1400" b="1" i="0">
              <a:solidFill>
                <a:srgbClr val="222222"/>
              </a:solidFill>
              <a:latin typeface="Source Sans 3"/>
              <a:ea typeface="Source Sans 3"/>
              <a:cs typeface="Source Sans 3"/>
            </a:endParaRPr>
          </a:p>
        </p:txBody>
      </p:sp>
      <p:sp>
        <p:nvSpPr>
          <p:cNvPr id="6" name="Rounded Rectangle 5"/>
          <p:cNvSpPr/>
          <p:nvPr/>
        </p:nvSpPr>
        <p:spPr>
          <a:xfrm>
            <a:off x="6667500" y="5732780"/>
            <a:ext cx="188468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3"/>
              </a:rPr>
              <a:t>▶ TestVoidMethod</a:t>
            </a:r>
            <a:endParaRPr sz="1400" b="1" i="0">
              <a:solidFill>
                <a:srgbClr val="222222"/>
              </a:solidFill>
              <a:latin typeface="Source Sans 3"/>
              <a:ea typeface="Source Sans 3"/>
              <a:cs typeface="Source Sans 3"/>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Passing Parameters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5D94871-57A2-41DE-A90E-05A0790F661E}" type="slidenum">
              <a:rPr sz="1200" b="0" i="0">
                <a:solidFill>
                  <a:srgbClr val="6B6B6B"/>
                </a:solidFill>
                <a:latin typeface="Source Sans 3"/>
                <a:ea typeface="Source Sans 3"/>
                <a:cs typeface="Source Sans 3"/>
              </a:rPr>
              <a:pPr algn="l">
                <a:lnSpc>
                  <a:spcPts val="1500"/>
                </a:lnSpc>
              </a:pPr>
              <a:t>142</a:t>
            </a:fld>
            <a:endParaRPr sz="1200" b="0" i="0">
              <a:solidFill>
                <a:srgbClr val="6B6B6B"/>
              </a:solidFill>
              <a:latin typeface="Source Sans 3"/>
              <a:ea typeface="Source Sans 3"/>
              <a:cs typeface="Source Sans 3"/>
            </a:endParaRPr>
          </a:p>
        </p:txBody>
      </p:sp>
      <p:sp>
        <p:nvSpPr>
          <p:cNvPr id="4" name="TextBox 3"/>
          <p:cNvSpPr txBox="1"/>
          <p:nvPr/>
        </p:nvSpPr>
        <p:spPr>
          <a:xfrm>
            <a:off x="1079500" y="1295400"/>
            <a:ext cx="7802880" cy="133604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public static void nPrintln(String message, int n) {</a:t>
            </a:r>
          </a:p>
          <a:p>
            <a:pPr algn="l">
              <a:lnSpc>
                <a:spcPts val="2379"/>
              </a:lnSpc>
            </a:pPr>
            <a:r>
              <a:rPr sz="1700" b="1" i="0">
                <a:solidFill>
                  <a:srgbClr val="000000"/>
                </a:solidFill>
                <a:latin typeface="Courier New"/>
                <a:ea typeface="Courier New"/>
                <a:cs typeface="Courier New"/>
              </a:rPr>
              <a:t>  for (int i = 0; i &lt; n; i++)</a:t>
            </a:r>
          </a:p>
          <a:p>
            <a:pPr algn="l">
              <a:lnSpc>
                <a:spcPts val="2379"/>
              </a:lnSpc>
            </a:pPr>
            <a:r>
              <a:rPr sz="1700" b="1" i="0">
                <a:solidFill>
                  <a:srgbClr val="000000"/>
                </a:solidFill>
                <a:latin typeface="Courier New"/>
                <a:ea typeface="Courier New"/>
                <a:cs typeface="Courier New"/>
              </a:rPr>
              <a:t>    System.out.println(message);</a:t>
            </a:r>
          </a:p>
          <a:p>
            <a:pPr algn="l">
              <a:lnSpc>
                <a:spcPts val="2379"/>
              </a:lnSpc>
            </a:pPr>
            <a:r>
              <a:rPr sz="1700" b="1" i="0">
                <a:solidFill>
                  <a:srgbClr val="000000"/>
                </a:solidFill>
                <a:latin typeface="Courier New"/>
                <a:ea typeface="Courier New"/>
                <a:cs typeface="Courier New"/>
              </a:rPr>
              <a:t>}</a:t>
            </a:r>
          </a:p>
        </p:txBody>
      </p:sp>
      <p:sp>
        <p:nvSpPr>
          <p:cNvPr id="5" name="TextBox 4"/>
          <p:cNvSpPr txBox="1"/>
          <p:nvPr/>
        </p:nvSpPr>
        <p:spPr>
          <a:xfrm>
            <a:off x="952500" y="2730500"/>
            <a:ext cx="10287000" cy="5080000"/>
          </a:xfrm>
          <a:prstGeom prst="rect">
            <a:avLst/>
          </a:prstGeom>
          <a:noFill/>
        </p:spPr>
        <p:txBody>
          <a:bodyPr wrap="square" lIns="0" tIns="0" rIns="0" bIns="0" anchor="t">
            <a:spAutoFit/>
          </a:bodyPr>
          <a:lstStyle/>
          <a:p>
            <a:pPr algn="l">
              <a:lnSpc>
                <a:spcPts val="2500"/>
              </a:lnSpc>
            </a:pPr>
            <a:r>
              <a:rPr sz="2000" b="0" i="0">
                <a:solidFill>
                  <a:srgbClr val="111111"/>
                </a:solidFill>
                <a:latin typeface="Times New Roman"/>
                <a:ea typeface="Times New Roman"/>
                <a:cs typeface="Times New Roman"/>
              </a:rPr>
              <a:t>Suppose you invoke the method using</a:t>
            </a:r>
          </a:p>
          <a:p>
            <a:pPr marL="457200" indent="0" algn="l">
              <a:lnSpc>
                <a:spcPts val="2465"/>
              </a:lnSpc>
              <a:spcBef>
                <a:spcPts val="359"/>
              </a:spcBef>
            </a:pPr>
            <a:r>
              <a:rPr sz="1700" b="1" i="0">
                <a:solidFill>
                  <a:srgbClr val="111111"/>
                </a:solidFill>
                <a:latin typeface="Courier New"/>
                <a:ea typeface="Courier New"/>
                <a:cs typeface="Courier New"/>
              </a:rPr>
              <a:t>nPrintln("Welcome to Java", 5);</a:t>
            </a:r>
          </a:p>
          <a:p>
            <a:pPr algn="l">
              <a:lnSpc>
                <a:spcPts val="2500"/>
              </a:lnSpc>
              <a:spcBef>
                <a:spcPts val="600"/>
              </a:spcBef>
            </a:pPr>
            <a:r>
              <a:rPr sz="2000" b="0" i="0">
                <a:solidFill>
                  <a:srgbClr val="111111"/>
                </a:solidFill>
                <a:latin typeface="Times New Roman"/>
                <a:ea typeface="Times New Roman"/>
                <a:cs typeface="Times New Roman"/>
              </a:rPr>
              <a:t>What is the output?</a:t>
            </a:r>
          </a:p>
          <a:p>
            <a:pPr algn="l">
              <a:lnSpc>
                <a:spcPts val="2500"/>
              </a:lnSpc>
              <a:spcBef>
                <a:spcPts val="600"/>
              </a:spcBef>
            </a:pPr>
            <a:r>
              <a:rPr sz="2000" b="0" i="0">
                <a:solidFill>
                  <a:srgbClr val="111111"/>
                </a:solidFill>
                <a:latin typeface="Times New Roman"/>
                <a:ea typeface="Times New Roman"/>
                <a:cs typeface="Times New Roman"/>
              </a:rPr>
              <a:t>Suppose you invoke the method using</a:t>
            </a:r>
          </a:p>
          <a:p>
            <a:pPr marL="457200" indent="0" algn="l">
              <a:lnSpc>
                <a:spcPts val="2465"/>
              </a:lnSpc>
              <a:spcBef>
                <a:spcPts val="359"/>
              </a:spcBef>
            </a:pPr>
            <a:r>
              <a:rPr sz="1700" b="1" i="0">
                <a:solidFill>
                  <a:srgbClr val="111111"/>
                </a:solidFill>
                <a:latin typeface="Courier New"/>
                <a:ea typeface="Courier New"/>
                <a:cs typeface="Courier New"/>
              </a:rPr>
              <a:t>nPrintln("Computer Science", 15);</a:t>
            </a:r>
          </a:p>
          <a:p>
            <a:pPr algn="l">
              <a:lnSpc>
                <a:spcPts val="2500"/>
              </a:lnSpc>
              <a:spcBef>
                <a:spcPts val="600"/>
              </a:spcBef>
            </a:pPr>
            <a:r>
              <a:rPr sz="2000" b="0" i="0">
                <a:solidFill>
                  <a:srgbClr val="111111"/>
                </a:solidFill>
                <a:latin typeface="Times New Roman"/>
                <a:ea typeface="Times New Roman"/>
                <a:cs typeface="Times New Roman"/>
              </a:rPr>
              <a:t>What is the output?</a:t>
            </a:r>
          </a:p>
          <a:p>
            <a:pPr algn="l">
              <a:lnSpc>
                <a:spcPts val="2500"/>
              </a:lnSpc>
              <a:spcBef>
                <a:spcPts val="600"/>
              </a:spcBef>
            </a:pPr>
            <a:r>
              <a:rPr sz="2000" b="0" i="0">
                <a:solidFill>
                  <a:srgbClr val="111111"/>
                </a:solidFill>
                <a:latin typeface="Times New Roman"/>
                <a:ea typeface="Times New Roman"/>
                <a:cs typeface="Times New Roman"/>
              </a:rPr>
              <a:t>Can you invoke the method using</a:t>
            </a:r>
          </a:p>
          <a:p>
            <a:pPr marL="457200" indent="0" algn="l">
              <a:lnSpc>
                <a:spcPts val="2465"/>
              </a:lnSpc>
              <a:spcBef>
                <a:spcPts val="359"/>
              </a:spcBef>
            </a:pPr>
            <a:r>
              <a:rPr sz="1700" b="1" i="0">
                <a:solidFill>
                  <a:srgbClr val="111111"/>
                </a:solidFill>
                <a:latin typeface="Courier New"/>
                <a:ea typeface="Courier New"/>
                <a:cs typeface="Courier New"/>
              </a:rPr>
              <a:t>nPrintln(15, "Computer Science");</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Pass by Value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7DE30E8-1EF6-42DD-88D6-274F2E5CB9AC}" type="slidenum">
              <a:rPr sz="1200" b="0" i="0">
                <a:solidFill>
                  <a:srgbClr val="6B6B6B"/>
                </a:solidFill>
                <a:latin typeface="Source Sans 3"/>
                <a:ea typeface="Source Sans 3"/>
                <a:cs typeface="Source Sans 3"/>
              </a:rPr>
              <a:pPr algn="l">
                <a:lnSpc>
                  <a:spcPts val="1500"/>
                </a:lnSpc>
              </a:pPr>
              <a:t>143</a:t>
            </a:fld>
            <a:endParaRPr sz="1200" b="0" i="0">
              <a:solidFill>
                <a:srgbClr val="6B6B6B"/>
              </a:solidFill>
              <a:latin typeface="Source Sans 3"/>
              <a:ea typeface="Source Sans 3"/>
              <a:cs typeface="Source Sans 3"/>
            </a:endParaRPr>
          </a:p>
        </p:txBody>
      </p:sp>
      <p:sp>
        <p:nvSpPr>
          <p:cNvPr id="4" name="TextBox 3"/>
          <p:cNvSpPr txBox="1"/>
          <p:nvPr/>
        </p:nvSpPr>
        <p:spPr>
          <a:xfrm>
            <a:off x="952500" y="1524000"/>
            <a:ext cx="10287000" cy="5080000"/>
          </a:xfrm>
          <a:prstGeom prst="rect">
            <a:avLst/>
          </a:prstGeom>
          <a:noFill/>
        </p:spPr>
        <p:txBody>
          <a:bodyPr wrap="square" lIns="0" tIns="0" rIns="0" bIns="0" anchor="t">
            <a:spAutoFit/>
          </a:bodyPr>
          <a:lstStyle/>
          <a:p>
            <a:pPr algn="l">
              <a:lnSpc>
                <a:spcPts val="3250"/>
              </a:lnSpc>
            </a:pPr>
            <a:r>
              <a:rPr sz="2600" b="0" i="0">
                <a:solidFill>
                  <a:srgbClr val="111111"/>
                </a:solidFill>
                <a:latin typeface="Times New Roman"/>
                <a:ea typeface="Times New Roman"/>
                <a:cs typeface="Times New Roman"/>
              </a:rPr>
              <a:t>Testing Pass by value</a:t>
            </a:r>
          </a:p>
          <a:p>
            <a:pPr algn="l">
              <a:lnSpc>
                <a:spcPts val="3250"/>
              </a:lnSpc>
              <a:spcBef>
                <a:spcPts val="1800"/>
              </a:spcBef>
            </a:pPr>
            <a:r>
              <a:rPr sz="2600" b="0" i="0">
                <a:solidFill>
                  <a:srgbClr val="111111"/>
                </a:solidFill>
                <a:latin typeface="Times New Roman"/>
                <a:ea typeface="Times New Roman"/>
                <a:cs typeface="Times New Roman"/>
              </a:rPr>
              <a:t>This program demonstrates passing values to the methods.</a:t>
            </a:r>
          </a:p>
        </p:txBody>
      </p:sp>
      <p:sp>
        <p:nvSpPr>
          <p:cNvPr id="5" name="Rounded Rectangle 4"/>
          <p:cNvSpPr/>
          <p:nvPr/>
        </p:nvSpPr>
        <p:spPr>
          <a:xfrm>
            <a:off x="9258300" y="5732780"/>
            <a:ext cx="198120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TestPassByValue</a:t>
            </a:r>
            <a:endParaRPr sz="1400" b="1" i="0">
              <a:solidFill>
                <a:srgbClr val="222222"/>
              </a:solidFill>
              <a:latin typeface="Source Sans 3"/>
              <a:ea typeface="Source Sans 3"/>
              <a:cs typeface="Source Sans 3"/>
            </a:endParaRPr>
          </a:p>
        </p:txBody>
      </p:sp>
      <p:sp>
        <p:nvSpPr>
          <p:cNvPr id="6" name="Rounded Rectangle 5"/>
          <p:cNvSpPr/>
          <p:nvPr/>
        </p:nvSpPr>
        <p:spPr>
          <a:xfrm>
            <a:off x="7729220" y="5732780"/>
            <a:ext cx="140208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3"/>
              </a:rPr>
              <a:t>▶ Increment</a:t>
            </a:r>
            <a:endParaRPr sz="1400" b="1" i="0">
              <a:solidFill>
                <a:srgbClr val="222222"/>
              </a:solidFill>
              <a:latin typeface="Source Sans 3"/>
              <a:ea typeface="Source Sans 3"/>
              <a:cs typeface="Source Sans 3"/>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Pass by Value, cont.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1FDDD4B-E4D1-4365-A3F8-D53C7E137872}" type="slidenum">
              <a:rPr sz="1200" b="0" i="0">
                <a:solidFill>
                  <a:srgbClr val="6B6B6B"/>
                </a:solidFill>
                <a:latin typeface="Source Sans 3"/>
                <a:ea typeface="Source Sans 3"/>
                <a:cs typeface="Source Sans 3"/>
              </a:rPr>
              <a:pPr algn="l">
                <a:lnSpc>
                  <a:spcPts val="1500"/>
                </a:lnSpc>
              </a:pPr>
              <a:t>144</a:t>
            </a:fld>
            <a:endParaRPr sz="1200" b="0" i="0">
              <a:solidFill>
                <a:srgbClr val="6B6B6B"/>
              </a:solidFill>
              <a:latin typeface="Source Sans 3"/>
              <a:ea typeface="Source Sans 3"/>
              <a:cs typeface="Source Sans 3"/>
            </a:endParaRPr>
          </a:p>
        </p:txBody>
      </p:sp>
      <p:pic>
        <p:nvPicPr>
          <p:cNvPr id="4" name="Picture 3" descr="passbyvalue.png"/>
          <p:cNvPicPr>
            <a:picLocks noChangeAspect="1"/>
          </p:cNvPicPr>
          <p:nvPr/>
        </p:nvPicPr>
        <p:blipFill>
          <a:blip r:embed="rId2"/>
          <a:stretch>
            <a:fillRect/>
          </a:stretch>
        </p:blipFill>
        <p:spPr>
          <a:xfrm>
            <a:off x="762000" y="1524000"/>
            <a:ext cx="10668000" cy="3685876"/>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Modularizing Code</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58721BA-C156-4490-984D-141647927FA0}" type="slidenum">
              <a:rPr sz="1200" b="0" i="0">
                <a:solidFill>
                  <a:srgbClr val="6B6B6B"/>
                </a:solidFill>
                <a:latin typeface="Source Sans 3"/>
                <a:ea typeface="Source Sans 3"/>
                <a:cs typeface="Source Sans 3"/>
              </a:rPr>
              <a:pPr algn="l">
                <a:lnSpc>
                  <a:spcPts val="1500"/>
                </a:lnSpc>
              </a:pPr>
              <a:t>145</a:t>
            </a:fld>
            <a:endParaRPr sz="1200" b="0" i="0">
              <a:solidFill>
                <a:srgbClr val="6B6B6B"/>
              </a:solidFill>
              <a:latin typeface="Source Sans 3"/>
              <a:ea typeface="Source Sans 3"/>
              <a:cs typeface="Source Sans 3"/>
            </a:endParaRPr>
          </a:p>
        </p:txBody>
      </p:sp>
      <p:sp>
        <p:nvSpPr>
          <p:cNvPr id="4" name="TextBox 3"/>
          <p:cNvSpPr txBox="1"/>
          <p:nvPr/>
        </p:nvSpPr>
        <p:spPr>
          <a:xfrm>
            <a:off x="952500" y="1524000"/>
            <a:ext cx="10287000" cy="1665136"/>
          </a:xfrm>
          <a:prstGeom prst="rect">
            <a:avLst/>
          </a:prstGeom>
          <a:noFill/>
        </p:spPr>
        <p:txBody>
          <a:bodyPr wrap="square" lIns="0" tIns="0" rIns="0" bIns="0" anchor="t">
            <a:spAutoFit/>
          </a:bodyPr>
          <a:lstStyle/>
          <a:p>
            <a:pPr algn="just">
              <a:lnSpc>
                <a:spcPts val="3250"/>
              </a:lnSpc>
            </a:pPr>
            <a:r>
              <a:rPr sz="2600" b="0" i="0">
                <a:solidFill>
                  <a:srgbClr val="111111"/>
                </a:solidFill>
                <a:latin typeface="Times New Roman"/>
                <a:ea typeface="Times New Roman"/>
                <a:cs typeface="Times New Roman"/>
              </a:rPr>
              <a:t>Methods can be used to reduce redundant coding and enable code reuse. </a:t>
            </a:r>
            <a:endParaRPr lang="en-US" sz="2600" b="0" i="0" dirty="0" smtClean="0">
              <a:solidFill>
                <a:srgbClr val="111111"/>
              </a:solidFill>
              <a:latin typeface="Times New Roman"/>
              <a:ea typeface="Times New Roman"/>
              <a:cs typeface="Times New Roman"/>
            </a:endParaRPr>
          </a:p>
          <a:p>
            <a:pPr algn="just">
              <a:lnSpc>
                <a:spcPts val="3250"/>
              </a:lnSpc>
            </a:pPr>
            <a:endParaRPr lang="en-US" sz="2600" dirty="0" smtClean="0">
              <a:solidFill>
                <a:srgbClr val="111111"/>
              </a:solidFill>
              <a:latin typeface="Times New Roman"/>
              <a:ea typeface="Times New Roman"/>
              <a:cs typeface="Times New Roman"/>
            </a:endParaRPr>
          </a:p>
          <a:p>
            <a:pPr algn="just">
              <a:lnSpc>
                <a:spcPts val="3250"/>
              </a:lnSpc>
            </a:pPr>
            <a:r>
              <a:rPr sz="2600" b="0" i="0" smtClean="0">
                <a:solidFill>
                  <a:srgbClr val="111111"/>
                </a:solidFill>
                <a:latin typeface="Times New Roman"/>
                <a:ea typeface="Times New Roman"/>
                <a:cs typeface="Times New Roman"/>
              </a:rPr>
              <a:t>Methods </a:t>
            </a:r>
            <a:r>
              <a:rPr sz="2600" b="0" i="0">
                <a:solidFill>
                  <a:srgbClr val="111111"/>
                </a:solidFill>
                <a:latin typeface="Times New Roman"/>
                <a:ea typeface="Times New Roman"/>
                <a:cs typeface="Times New Roman"/>
              </a:rPr>
              <a:t>can also be used to modularize code and improve the quality of the program.</a:t>
            </a:r>
          </a:p>
        </p:txBody>
      </p:sp>
      <p:sp>
        <p:nvSpPr>
          <p:cNvPr id="5" name="Rounded Rectangle 4"/>
          <p:cNvSpPr/>
          <p:nvPr/>
        </p:nvSpPr>
        <p:spPr>
          <a:xfrm>
            <a:off x="9065260" y="5732780"/>
            <a:ext cx="217424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PrimeNumberMethod</a:t>
            </a:r>
            <a:endParaRPr sz="1400" b="1" i="0">
              <a:solidFill>
                <a:srgbClr val="222222"/>
              </a:solidFill>
              <a:latin typeface="Source Sans 3"/>
              <a:ea typeface="Source Sans 3"/>
              <a:cs typeface="Source Sans 3"/>
            </a:endParaRPr>
          </a:p>
        </p:txBody>
      </p:sp>
      <p:sp>
        <p:nvSpPr>
          <p:cNvPr id="6" name="Rounded Rectangle 5"/>
          <p:cNvSpPr/>
          <p:nvPr/>
        </p:nvSpPr>
        <p:spPr>
          <a:xfrm>
            <a:off x="5798820" y="5732780"/>
            <a:ext cx="313944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3"/>
              </a:rPr>
              <a:t>▶ GreatestCommonDivisorMethod</a:t>
            </a:r>
            <a:endParaRPr sz="1400" b="1" i="0">
              <a:solidFill>
                <a:srgbClr val="222222"/>
              </a:solidFill>
              <a:latin typeface="Source Sans 3"/>
              <a:ea typeface="Source Sans 3"/>
              <a:cs typeface="Source Sans 3"/>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Overloading Methods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05C75491-8150-496E-9C26-F044F300D303}" type="slidenum">
              <a:rPr sz="1200" b="0" i="0">
                <a:solidFill>
                  <a:srgbClr val="6B6B6B"/>
                </a:solidFill>
                <a:latin typeface="Source Sans 3"/>
                <a:ea typeface="Source Sans 3"/>
                <a:cs typeface="Source Sans 3"/>
              </a:rPr>
              <a:pPr algn="l">
                <a:lnSpc>
                  <a:spcPts val="1500"/>
                </a:lnSpc>
              </a:pPr>
              <a:t>146</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7620000" cy="381000"/>
          </a:xfrm>
          <a:prstGeom prst="rect">
            <a:avLst/>
          </a:prstGeom>
          <a:noFill/>
        </p:spPr>
        <p:txBody>
          <a:bodyPr wrap="square" lIns="0" tIns="0" rIns="0" bIns="0" anchor="t">
            <a:spAutoFit/>
          </a:bodyPr>
          <a:lstStyle/>
          <a:p>
            <a:pPr algn="l">
              <a:lnSpc>
                <a:spcPts val="3000"/>
              </a:lnSpc>
            </a:pPr>
            <a:r>
              <a:rPr sz="2400" b="0" i="0">
                <a:solidFill>
                  <a:srgbClr val="111111"/>
                </a:solidFill>
                <a:latin typeface="Times New Roman"/>
                <a:ea typeface="Times New Roman"/>
                <a:cs typeface="Times New Roman"/>
              </a:rPr>
              <a:t>Overloading the </a:t>
            </a:r>
            <a:r>
              <a:rPr sz="2200" b="1" i="0">
                <a:solidFill>
                  <a:srgbClr val="111111"/>
                </a:solidFill>
                <a:latin typeface="Courier New"/>
                <a:ea typeface="Courier New"/>
                <a:cs typeface="Courier New"/>
              </a:rPr>
              <a:t>max</a:t>
            </a:r>
            <a:r>
              <a:rPr sz="2400" b="0" i="0">
                <a:solidFill>
                  <a:srgbClr val="111111"/>
                </a:solidFill>
                <a:latin typeface="Times New Roman"/>
                <a:ea typeface="Times New Roman"/>
                <a:cs typeface="Times New Roman"/>
              </a:rPr>
              <a:t> Method</a:t>
            </a:r>
          </a:p>
        </p:txBody>
      </p:sp>
      <p:sp>
        <p:nvSpPr>
          <p:cNvPr id="5" name="TextBox 4"/>
          <p:cNvSpPr txBox="1"/>
          <p:nvPr/>
        </p:nvSpPr>
        <p:spPr>
          <a:xfrm>
            <a:off x="1079500" y="2032000"/>
            <a:ext cx="8595360" cy="2153920"/>
          </a:xfrm>
          <a:prstGeom prst="rect">
            <a:avLst/>
          </a:prstGeom>
          <a:noFill/>
        </p:spPr>
        <p:txBody>
          <a:bodyPr wrap="square" lIns="0" tIns="0" rIns="0" bIns="0" anchor="t">
            <a:spAutoFit/>
          </a:bodyPr>
          <a:lstStyle/>
          <a:p>
            <a:pPr algn="l">
              <a:lnSpc>
                <a:spcPts val="2660"/>
              </a:lnSpc>
            </a:pPr>
            <a:r>
              <a:rPr sz="1900" b="1" i="0">
                <a:solidFill>
                  <a:srgbClr val="000000"/>
                </a:solidFill>
                <a:latin typeface="Courier New"/>
                <a:ea typeface="Courier New"/>
                <a:cs typeface="Courier New"/>
              </a:rPr>
              <a:t>public static double max(double num1, double num2) {</a:t>
            </a:r>
          </a:p>
          <a:p>
            <a:pPr algn="l">
              <a:lnSpc>
                <a:spcPts val="2660"/>
              </a:lnSpc>
            </a:pPr>
            <a:r>
              <a:rPr sz="1900" b="1" i="0">
                <a:solidFill>
                  <a:srgbClr val="000000"/>
                </a:solidFill>
                <a:latin typeface="Courier New"/>
                <a:ea typeface="Courier New"/>
                <a:cs typeface="Courier New"/>
              </a:rPr>
              <a:t>  if (num1 &gt; num2)</a:t>
            </a:r>
          </a:p>
          <a:p>
            <a:pPr algn="l">
              <a:lnSpc>
                <a:spcPts val="2660"/>
              </a:lnSpc>
            </a:pPr>
            <a:r>
              <a:rPr sz="1900" b="1" i="0">
                <a:solidFill>
                  <a:srgbClr val="000000"/>
                </a:solidFill>
                <a:latin typeface="Courier New"/>
                <a:ea typeface="Courier New"/>
                <a:cs typeface="Courier New"/>
              </a:rPr>
              <a:t>    return num1;</a:t>
            </a:r>
          </a:p>
          <a:p>
            <a:pPr algn="l">
              <a:lnSpc>
                <a:spcPts val="2660"/>
              </a:lnSpc>
            </a:pPr>
            <a:r>
              <a:rPr sz="1900" b="1" i="0">
                <a:solidFill>
                  <a:srgbClr val="000000"/>
                </a:solidFill>
                <a:latin typeface="Courier New"/>
                <a:ea typeface="Courier New"/>
                <a:cs typeface="Courier New"/>
              </a:rPr>
              <a:t>  else</a:t>
            </a:r>
          </a:p>
          <a:p>
            <a:pPr algn="l">
              <a:lnSpc>
                <a:spcPts val="2660"/>
              </a:lnSpc>
            </a:pPr>
            <a:r>
              <a:rPr sz="1900" b="1" i="0">
                <a:solidFill>
                  <a:srgbClr val="000000"/>
                </a:solidFill>
                <a:latin typeface="Courier New"/>
                <a:ea typeface="Courier New"/>
                <a:cs typeface="Courier New"/>
              </a:rPr>
              <a:t>    return num2;</a:t>
            </a:r>
          </a:p>
          <a:p>
            <a:pPr algn="l">
              <a:lnSpc>
                <a:spcPts val="2660"/>
              </a:lnSpc>
            </a:pPr>
            <a:r>
              <a:rPr sz="1900" b="1" i="0">
                <a:solidFill>
                  <a:srgbClr val="000000"/>
                </a:solidFill>
                <a:latin typeface="Courier New"/>
                <a:ea typeface="Courier New"/>
                <a:cs typeface="Courier New"/>
              </a:rPr>
              <a:t>}</a:t>
            </a:r>
          </a:p>
        </p:txBody>
      </p:sp>
      <p:sp>
        <p:nvSpPr>
          <p:cNvPr id="6" name="Rounded Rectangle 5"/>
          <p:cNvSpPr/>
          <p:nvPr/>
        </p:nvSpPr>
        <p:spPr>
          <a:xfrm>
            <a:off x="8679180" y="5732780"/>
            <a:ext cx="256032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TestMethodOverloading</a:t>
            </a:r>
            <a:endParaRPr sz="1400" b="1" i="0">
              <a:solidFill>
                <a:srgbClr val="222222"/>
              </a:solidFill>
              <a:latin typeface="Source Sans 3"/>
              <a:ea typeface="Source Sans 3"/>
              <a:cs typeface="Source Sans 3"/>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Ambiguous Invocation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70DB85B-F4D9-47CF-A2B2-E6CE63F0151F}" type="slidenum">
              <a:rPr sz="1200" b="0" i="0">
                <a:solidFill>
                  <a:srgbClr val="6B6B6B"/>
                </a:solidFill>
                <a:latin typeface="Source Sans 3"/>
                <a:ea typeface="Source Sans 3"/>
                <a:cs typeface="Source Sans 3"/>
              </a:rPr>
              <a:pPr algn="l">
                <a:lnSpc>
                  <a:spcPts val="1500"/>
                </a:lnSpc>
              </a:pPr>
              <a:t>147</a:t>
            </a:fld>
            <a:endParaRPr sz="1200" b="0" i="0">
              <a:solidFill>
                <a:srgbClr val="6B6B6B"/>
              </a:solidFill>
              <a:latin typeface="Source Sans 3"/>
              <a:ea typeface="Source Sans 3"/>
              <a:cs typeface="Source Sans 3"/>
            </a:endParaRPr>
          </a:p>
        </p:txBody>
      </p:sp>
      <p:sp>
        <p:nvSpPr>
          <p:cNvPr id="4" name="TextBox 3"/>
          <p:cNvSpPr txBox="1"/>
          <p:nvPr/>
        </p:nvSpPr>
        <p:spPr>
          <a:xfrm>
            <a:off x="1079500" y="1206500"/>
            <a:ext cx="6507480" cy="4856480"/>
          </a:xfrm>
          <a:prstGeom prst="rect">
            <a:avLst/>
          </a:prstGeom>
          <a:noFill/>
        </p:spPr>
        <p:txBody>
          <a:bodyPr wrap="square" lIns="0" tIns="0" rIns="0" bIns="0" anchor="t">
            <a:spAutoFit/>
          </a:bodyPr>
          <a:lstStyle/>
          <a:p>
            <a:pPr algn="l">
              <a:lnSpc>
                <a:spcPts val="1959"/>
              </a:lnSpc>
            </a:pPr>
            <a:r>
              <a:rPr sz="1400" b="1" i="0">
                <a:solidFill>
                  <a:srgbClr val="000000"/>
                </a:solidFill>
                <a:latin typeface="Courier New"/>
                <a:ea typeface="Courier New"/>
                <a:cs typeface="Courier New"/>
              </a:rPr>
              <a:t>public class AmbiguousOverloading {</a:t>
            </a:r>
          </a:p>
          <a:p>
            <a:pPr algn="l">
              <a:lnSpc>
                <a:spcPts val="1959"/>
              </a:lnSpc>
            </a:pPr>
            <a:r>
              <a:rPr sz="1400" b="1" i="0">
                <a:solidFill>
                  <a:srgbClr val="000000"/>
                </a:solidFill>
                <a:latin typeface="Courier New"/>
                <a:ea typeface="Courier New"/>
                <a:cs typeface="Courier New"/>
              </a:rPr>
              <a:t>  public static void main(String[] args) {</a:t>
            </a:r>
          </a:p>
          <a:p>
            <a:pPr algn="l">
              <a:lnSpc>
                <a:spcPts val="1959"/>
              </a:lnSpc>
            </a:pPr>
            <a:r>
              <a:rPr sz="1400" b="1" i="0">
                <a:solidFill>
                  <a:srgbClr val="000000"/>
                </a:solidFill>
                <a:latin typeface="Courier New"/>
                <a:ea typeface="Courier New"/>
                <a:cs typeface="Courier New"/>
              </a:rPr>
              <a:t>    System.out.println(max(1, 2));</a:t>
            </a:r>
          </a:p>
          <a:p>
            <a:pPr algn="l">
              <a:lnSpc>
                <a:spcPts val="1959"/>
              </a:lnSpc>
            </a:pPr>
            <a:r>
              <a:rPr sz="1400" b="1" i="0">
                <a:solidFill>
                  <a:srgbClr val="000000"/>
                </a:solidFill>
                <a:latin typeface="Courier New"/>
                <a:ea typeface="Courier New"/>
                <a:cs typeface="Courier New"/>
              </a:rPr>
              <a:t>  }</a:t>
            </a:r>
          </a:p>
          <a:p>
            <a:pPr algn="l">
              <a:lnSpc>
                <a:spcPts val="1959"/>
              </a:lnSpc>
            </a:pPr>
            <a:r>
              <a:rPr sz="1400" b="1" i="0">
                <a:solidFill>
                  <a:srgbClr val="000000"/>
                </a:solidFill>
                <a:latin typeface="Courier New"/>
                <a:ea typeface="Courier New"/>
                <a:cs typeface="Courier New"/>
              </a:rPr>
              <a:t> </a:t>
            </a:r>
          </a:p>
          <a:p>
            <a:pPr algn="l">
              <a:lnSpc>
                <a:spcPts val="1959"/>
              </a:lnSpc>
            </a:pPr>
            <a:r>
              <a:rPr sz="1400" b="1" i="0">
                <a:solidFill>
                  <a:srgbClr val="000000"/>
                </a:solidFill>
                <a:latin typeface="Courier New"/>
                <a:ea typeface="Courier New"/>
                <a:cs typeface="Courier New"/>
              </a:rPr>
              <a:t>  public static double max(int num1, double num2) {</a:t>
            </a:r>
          </a:p>
          <a:p>
            <a:pPr algn="l">
              <a:lnSpc>
                <a:spcPts val="1959"/>
              </a:lnSpc>
            </a:pPr>
            <a:r>
              <a:rPr sz="1400" b="1" i="0">
                <a:solidFill>
                  <a:srgbClr val="000000"/>
                </a:solidFill>
                <a:latin typeface="Courier New"/>
                <a:ea typeface="Courier New"/>
                <a:cs typeface="Courier New"/>
              </a:rPr>
              <a:t>    if (num1 &gt; num2)</a:t>
            </a:r>
          </a:p>
          <a:p>
            <a:pPr algn="l">
              <a:lnSpc>
                <a:spcPts val="1959"/>
              </a:lnSpc>
            </a:pPr>
            <a:r>
              <a:rPr sz="1400" b="1" i="0">
                <a:solidFill>
                  <a:srgbClr val="000000"/>
                </a:solidFill>
                <a:latin typeface="Courier New"/>
                <a:ea typeface="Courier New"/>
                <a:cs typeface="Courier New"/>
              </a:rPr>
              <a:t>      return num1;</a:t>
            </a:r>
          </a:p>
          <a:p>
            <a:pPr algn="l">
              <a:lnSpc>
                <a:spcPts val="1959"/>
              </a:lnSpc>
            </a:pPr>
            <a:r>
              <a:rPr sz="1400" b="1" i="0">
                <a:solidFill>
                  <a:srgbClr val="000000"/>
                </a:solidFill>
                <a:latin typeface="Courier New"/>
                <a:ea typeface="Courier New"/>
                <a:cs typeface="Courier New"/>
              </a:rPr>
              <a:t>    else</a:t>
            </a:r>
          </a:p>
          <a:p>
            <a:pPr algn="l">
              <a:lnSpc>
                <a:spcPts val="1959"/>
              </a:lnSpc>
            </a:pPr>
            <a:r>
              <a:rPr sz="1400" b="1" i="0">
                <a:solidFill>
                  <a:srgbClr val="000000"/>
                </a:solidFill>
                <a:latin typeface="Courier New"/>
                <a:ea typeface="Courier New"/>
                <a:cs typeface="Courier New"/>
              </a:rPr>
              <a:t>      return num2;</a:t>
            </a:r>
          </a:p>
          <a:p>
            <a:pPr algn="l">
              <a:lnSpc>
                <a:spcPts val="1959"/>
              </a:lnSpc>
            </a:pPr>
            <a:r>
              <a:rPr sz="1400" b="1" i="0">
                <a:solidFill>
                  <a:srgbClr val="000000"/>
                </a:solidFill>
                <a:latin typeface="Courier New"/>
                <a:ea typeface="Courier New"/>
                <a:cs typeface="Courier New"/>
              </a:rPr>
              <a:t>  }</a:t>
            </a:r>
          </a:p>
          <a:p>
            <a:pPr algn="l">
              <a:lnSpc>
                <a:spcPts val="1959"/>
              </a:lnSpc>
            </a:pPr>
            <a:r>
              <a:rPr sz="1400" b="1" i="0">
                <a:solidFill>
                  <a:srgbClr val="000000"/>
                </a:solidFill>
                <a:latin typeface="Courier New"/>
                <a:ea typeface="Courier New"/>
                <a:cs typeface="Courier New"/>
              </a:rPr>
              <a:t> </a:t>
            </a:r>
          </a:p>
          <a:p>
            <a:pPr algn="l">
              <a:lnSpc>
                <a:spcPts val="1959"/>
              </a:lnSpc>
            </a:pPr>
            <a:r>
              <a:rPr sz="1400" b="1" i="0">
                <a:solidFill>
                  <a:srgbClr val="000000"/>
                </a:solidFill>
                <a:latin typeface="Courier New"/>
                <a:ea typeface="Courier New"/>
                <a:cs typeface="Courier New"/>
              </a:rPr>
              <a:t>  public static double max(double num1, int num2) {</a:t>
            </a:r>
          </a:p>
          <a:p>
            <a:pPr algn="l">
              <a:lnSpc>
                <a:spcPts val="1959"/>
              </a:lnSpc>
            </a:pPr>
            <a:r>
              <a:rPr sz="1400" b="1" i="0">
                <a:solidFill>
                  <a:srgbClr val="000000"/>
                </a:solidFill>
                <a:latin typeface="Courier New"/>
                <a:ea typeface="Courier New"/>
                <a:cs typeface="Courier New"/>
              </a:rPr>
              <a:t>    if (num1 &gt; num2)</a:t>
            </a:r>
          </a:p>
          <a:p>
            <a:pPr algn="l">
              <a:lnSpc>
                <a:spcPts val="1959"/>
              </a:lnSpc>
            </a:pPr>
            <a:r>
              <a:rPr sz="1400" b="1" i="0">
                <a:solidFill>
                  <a:srgbClr val="000000"/>
                </a:solidFill>
                <a:latin typeface="Courier New"/>
                <a:ea typeface="Courier New"/>
                <a:cs typeface="Courier New"/>
              </a:rPr>
              <a:t>      return num1;</a:t>
            </a:r>
          </a:p>
          <a:p>
            <a:pPr algn="l">
              <a:lnSpc>
                <a:spcPts val="1959"/>
              </a:lnSpc>
            </a:pPr>
            <a:r>
              <a:rPr sz="1400" b="1" i="0">
                <a:solidFill>
                  <a:srgbClr val="000000"/>
                </a:solidFill>
                <a:latin typeface="Courier New"/>
                <a:ea typeface="Courier New"/>
                <a:cs typeface="Courier New"/>
              </a:rPr>
              <a:t>    else</a:t>
            </a:r>
          </a:p>
          <a:p>
            <a:pPr algn="l">
              <a:lnSpc>
                <a:spcPts val="1959"/>
              </a:lnSpc>
            </a:pPr>
            <a:r>
              <a:rPr sz="1400" b="1" i="0">
                <a:solidFill>
                  <a:srgbClr val="000000"/>
                </a:solidFill>
                <a:latin typeface="Courier New"/>
                <a:ea typeface="Courier New"/>
                <a:cs typeface="Courier New"/>
              </a:rPr>
              <a:t>      return num2;</a:t>
            </a:r>
          </a:p>
          <a:p>
            <a:pPr algn="l">
              <a:lnSpc>
                <a:spcPts val="1959"/>
              </a:lnSpc>
            </a:pPr>
            <a:r>
              <a:rPr sz="1400" b="1" i="0">
                <a:solidFill>
                  <a:srgbClr val="000000"/>
                </a:solidFill>
                <a:latin typeface="Courier New"/>
                <a:ea typeface="Courier New"/>
                <a:cs typeface="Courier New"/>
              </a:rPr>
              <a:t>  }</a:t>
            </a:r>
          </a:p>
          <a:p>
            <a:pPr algn="l">
              <a:lnSpc>
                <a:spcPts val="1959"/>
              </a:lnSpc>
            </a:pPr>
            <a:r>
              <a:rPr sz="1400" b="1" i="0">
                <a:solidFill>
                  <a:srgbClr val="000000"/>
                </a:solidFill>
                <a:latin typeface="Courier New"/>
                <a:ea typeface="Courier New"/>
                <a:cs typeface="Courier New"/>
              </a:rPr>
              <a:t>}</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Scope of Local Variables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75ADF7E-0679-48FD-973B-6B9554DEAA16}" type="slidenum">
              <a:rPr sz="1200" b="0" i="0">
                <a:solidFill>
                  <a:srgbClr val="6B6B6B"/>
                </a:solidFill>
                <a:latin typeface="Source Sans 3"/>
                <a:ea typeface="Source Sans 3"/>
                <a:cs typeface="Source Sans 3"/>
              </a:rPr>
              <a:pPr algn="l">
                <a:lnSpc>
                  <a:spcPts val="1500"/>
                </a:lnSpc>
              </a:pPr>
              <a:t>148</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2373855"/>
          </a:xfrm>
          <a:prstGeom prst="rect">
            <a:avLst/>
          </a:prstGeom>
          <a:noFill/>
        </p:spPr>
        <p:txBody>
          <a:bodyPr wrap="square" lIns="0" tIns="0" rIns="0" bIns="0" anchor="t">
            <a:spAutoFit/>
          </a:bodyPr>
          <a:lstStyle/>
          <a:p>
            <a:pPr marL="279400" indent="-279400" algn="just">
              <a:lnSpc>
                <a:spcPts val="3125"/>
              </a:lnSpc>
            </a:pPr>
            <a:r>
              <a:rPr sz="2500" b="0" i="0">
                <a:solidFill>
                  <a:srgbClr val="111111"/>
                </a:solidFill>
                <a:latin typeface="Times New Roman"/>
                <a:ea typeface="Times New Roman"/>
                <a:cs typeface="Times New Roman"/>
              </a:rPr>
              <a:t>▫  A local variable: a variable defined inside a method.</a:t>
            </a:r>
          </a:p>
          <a:p>
            <a:pPr marL="279400" indent="-279400" algn="just">
              <a:lnSpc>
                <a:spcPts val="3125"/>
              </a:lnSpc>
              <a:spcBef>
                <a:spcPts val="1600"/>
              </a:spcBef>
            </a:pPr>
            <a:r>
              <a:rPr sz="2500" b="0" i="0">
                <a:solidFill>
                  <a:srgbClr val="111111"/>
                </a:solidFill>
                <a:latin typeface="Times New Roman"/>
                <a:ea typeface="Times New Roman"/>
                <a:cs typeface="Times New Roman"/>
              </a:rPr>
              <a:t>▫  Scope: the part of the program where the variable can be referenced.</a:t>
            </a:r>
          </a:p>
          <a:p>
            <a:pPr marL="279400" indent="-279400" algn="just">
              <a:lnSpc>
                <a:spcPts val="3125"/>
              </a:lnSpc>
              <a:spcBef>
                <a:spcPts val="1600"/>
              </a:spcBef>
            </a:pPr>
            <a:r>
              <a:rPr sz="2500" b="0" i="0">
                <a:solidFill>
                  <a:srgbClr val="111111"/>
                </a:solidFill>
                <a:latin typeface="Times New Roman"/>
                <a:ea typeface="Times New Roman"/>
                <a:cs typeface="Times New Roman"/>
              </a:rPr>
              <a:t>▫  The scope of a local variable starts from its declaration and continues to the end of the block that contains the variable. A local variable must be declared before it can be used.</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Scope of Local Variables, cont.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6E0B6BA-8FDC-4BA8-87FF-CAF4182E8144}" type="slidenum">
              <a:rPr sz="1200" b="0" i="0">
                <a:solidFill>
                  <a:srgbClr val="6B6B6B"/>
                </a:solidFill>
                <a:latin typeface="Source Sans 3"/>
                <a:ea typeface="Source Sans 3"/>
                <a:cs typeface="Source Sans 3"/>
              </a:rPr>
              <a:pPr algn="l">
                <a:lnSpc>
                  <a:spcPts val="1500"/>
                </a:lnSpc>
              </a:pPr>
              <a:t>149</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053622"/>
          </a:xfrm>
          <a:prstGeom prst="rect">
            <a:avLst/>
          </a:prstGeom>
          <a:noFill/>
        </p:spPr>
        <p:txBody>
          <a:bodyPr wrap="square" lIns="0" tIns="0" rIns="0" bIns="0" anchor="t">
            <a:spAutoFit/>
          </a:bodyPr>
          <a:lstStyle/>
          <a:p>
            <a:pPr algn="just">
              <a:lnSpc>
                <a:spcPts val="2750"/>
              </a:lnSpc>
            </a:pPr>
            <a:r>
              <a:rPr sz="2200" b="0" i="0">
                <a:solidFill>
                  <a:srgbClr val="111111"/>
                </a:solidFill>
                <a:latin typeface="Times New Roman"/>
                <a:ea typeface="Times New Roman"/>
                <a:cs typeface="Times New Roman"/>
              </a:rPr>
              <a:t>A variable declared in the initial action part of a </a:t>
            </a:r>
            <a:r>
              <a:rPr sz="2000" b="1" i="0">
                <a:solidFill>
                  <a:srgbClr val="111111"/>
                </a:solidFill>
                <a:latin typeface="Courier New"/>
                <a:ea typeface="Courier New"/>
                <a:cs typeface="Courier New"/>
              </a:rPr>
              <a:t>for</a:t>
            </a:r>
            <a:r>
              <a:rPr sz="2200" b="0" i="0">
                <a:solidFill>
                  <a:srgbClr val="111111"/>
                </a:solidFill>
                <a:latin typeface="Times New Roman"/>
                <a:ea typeface="Times New Roman"/>
                <a:cs typeface="Times New Roman"/>
              </a:rPr>
              <a:t> loop header has its scope in the entire loop. But a variable declared inside a </a:t>
            </a:r>
            <a:r>
              <a:rPr sz="2000" b="1" i="0">
                <a:solidFill>
                  <a:srgbClr val="111111"/>
                </a:solidFill>
                <a:latin typeface="Courier New"/>
                <a:ea typeface="Courier New"/>
                <a:cs typeface="Courier New"/>
              </a:rPr>
              <a:t>for</a:t>
            </a:r>
            <a:r>
              <a:rPr sz="2200" b="0" i="0">
                <a:solidFill>
                  <a:srgbClr val="111111"/>
                </a:solidFill>
                <a:latin typeface="Times New Roman"/>
                <a:ea typeface="Times New Roman"/>
                <a:cs typeface="Times New Roman"/>
              </a:rPr>
              <a:t> loop body has its scope limited in the loop body from its declaration and to the end of the block that contains the variable.</a:t>
            </a:r>
          </a:p>
        </p:txBody>
      </p:sp>
      <p:pic>
        <p:nvPicPr>
          <p:cNvPr id="5" name="Picture 4" descr="scope_for.png"/>
          <p:cNvPicPr>
            <a:picLocks noChangeAspect="1"/>
          </p:cNvPicPr>
          <p:nvPr/>
        </p:nvPicPr>
        <p:blipFill>
          <a:blip r:embed="rId2"/>
          <a:stretch>
            <a:fillRect/>
          </a:stretch>
        </p:blipFill>
        <p:spPr>
          <a:xfrm>
            <a:off x="2243484" y="2857500"/>
            <a:ext cx="7705032" cy="3365500"/>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Scope of Local Variables, cont.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6DDDB80-E6B0-4940-9381-0958B8D1B6FB}" type="slidenum">
              <a:rPr sz="1200" b="0" i="0">
                <a:solidFill>
                  <a:srgbClr val="6B6B6B"/>
                </a:solidFill>
                <a:latin typeface="Source Sans 3"/>
                <a:ea typeface="Source Sans 3"/>
                <a:cs typeface="Source Sans 3"/>
              </a:rPr>
              <a:pPr algn="l">
                <a:lnSpc>
                  <a:spcPts val="1500"/>
                </a:lnSpc>
              </a:pPr>
              <a:t>150</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091837"/>
          </a:xfrm>
          <a:prstGeom prst="rect">
            <a:avLst/>
          </a:prstGeom>
          <a:noFill/>
        </p:spPr>
        <p:txBody>
          <a:bodyPr wrap="square" lIns="0" tIns="0" rIns="0" bIns="0" anchor="t">
            <a:spAutoFit/>
          </a:bodyPr>
          <a:lstStyle/>
          <a:p>
            <a:pPr algn="just">
              <a:lnSpc>
                <a:spcPts val="2875"/>
              </a:lnSpc>
            </a:pPr>
            <a:r>
              <a:rPr sz="2300" b="0" i="0">
                <a:solidFill>
                  <a:srgbClr val="111111"/>
                </a:solidFill>
                <a:latin typeface="Times New Roman"/>
                <a:ea typeface="Times New Roman"/>
                <a:cs typeface="Times New Roman"/>
              </a:rPr>
              <a:t>You can declare a local variable with the same name multiple times in different non-nesting blocks in a method, but you cannot declare a local variable twice in nested blocks.</a:t>
            </a:r>
          </a:p>
        </p:txBody>
      </p:sp>
      <p:pic>
        <p:nvPicPr>
          <p:cNvPr id="5" name="Picture 4" descr="scope_nest.png"/>
          <p:cNvPicPr>
            <a:picLocks noChangeAspect="1"/>
          </p:cNvPicPr>
          <p:nvPr/>
        </p:nvPicPr>
        <p:blipFill>
          <a:blip r:embed="rId2"/>
          <a:stretch>
            <a:fillRect/>
          </a:stretch>
        </p:blipFill>
        <p:spPr>
          <a:xfrm>
            <a:off x="1454705" y="2540000"/>
            <a:ext cx="9282590" cy="368300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Static Fields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AFAE89B-4370-41B7-85CA-82D048147C9D}" type="slidenum">
              <a:rPr sz="1200" b="0" i="0">
                <a:solidFill>
                  <a:srgbClr val="6B6B6B"/>
                </a:solidFill>
                <a:latin typeface="Source Sans 3"/>
                <a:ea typeface="Source Sans 3"/>
                <a:cs typeface="Source Sans 3"/>
              </a:rPr>
              <a:pPr algn="l">
                <a:lnSpc>
                  <a:spcPts val="1500"/>
                </a:lnSpc>
              </a:pPr>
              <a:t>151</a:t>
            </a:fld>
            <a:endParaRPr sz="1200" b="0" i="0">
              <a:solidFill>
                <a:srgbClr val="6B6B6B"/>
              </a:solidFill>
              <a:latin typeface="Source Sans 3"/>
              <a:ea typeface="Source Sans 3"/>
              <a:cs typeface="Source Sans 3"/>
            </a:endParaRPr>
          </a:p>
        </p:txBody>
      </p:sp>
      <p:sp>
        <p:nvSpPr>
          <p:cNvPr id="4" name="TextBox 3"/>
          <p:cNvSpPr txBox="1"/>
          <p:nvPr/>
        </p:nvSpPr>
        <p:spPr>
          <a:xfrm>
            <a:off x="952500" y="1524000"/>
            <a:ext cx="10287000" cy="5080000"/>
          </a:xfrm>
          <a:prstGeom prst="rect">
            <a:avLst/>
          </a:prstGeom>
          <a:noFill/>
        </p:spPr>
        <p:txBody>
          <a:bodyPr wrap="square" lIns="0" tIns="0" rIns="0" bIns="0" anchor="t">
            <a:spAutoFit/>
          </a:bodyPr>
          <a:lstStyle/>
          <a:p>
            <a:pPr marL="279400" indent="-279400" algn="l">
              <a:lnSpc>
                <a:spcPts val="3250"/>
              </a:lnSpc>
            </a:pPr>
            <a:r>
              <a:rPr sz="2600" b="0" i="0">
                <a:solidFill>
                  <a:srgbClr val="111111"/>
                </a:solidFill>
                <a:latin typeface="Times New Roman"/>
                <a:ea typeface="Times New Roman"/>
                <a:cs typeface="Times New Roman"/>
              </a:rPr>
              <a:t>▫  Static field (class variable): a variable declared static, inside a class but outside any method. Java has no global variables.</a:t>
            </a:r>
          </a:p>
          <a:p>
            <a:pPr marL="279400" indent="-279400" algn="l">
              <a:lnSpc>
                <a:spcPts val="3250"/>
              </a:lnSpc>
              <a:spcBef>
                <a:spcPts val="1800"/>
              </a:spcBef>
            </a:pPr>
            <a:r>
              <a:rPr sz="2600" b="0" i="0">
                <a:solidFill>
                  <a:srgbClr val="111111"/>
                </a:solidFill>
                <a:latin typeface="Times New Roman"/>
                <a:ea typeface="Times New Roman"/>
                <a:cs typeface="Times New Roman"/>
              </a:rPr>
              <a:t>▫  This variable can be accessed by all the methods inside the class.</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Static Fields vs Local Variables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E93ABF3-7CB2-44FB-8BE4-8753598B7E69}" type="slidenum">
              <a:rPr sz="1200" b="0" i="0">
                <a:solidFill>
                  <a:srgbClr val="6B6B6B"/>
                </a:solidFill>
                <a:latin typeface="Source Sans 3"/>
                <a:ea typeface="Source Sans 3"/>
                <a:cs typeface="Source Sans 3"/>
              </a:rPr>
              <a:pPr algn="l">
                <a:lnSpc>
                  <a:spcPts val="1500"/>
                </a:lnSpc>
              </a:pPr>
              <a:t>152</a:t>
            </a:fld>
            <a:endParaRPr sz="1200" b="0" i="0">
              <a:solidFill>
                <a:srgbClr val="6B6B6B"/>
              </a:solidFill>
              <a:latin typeface="Source Sans 3"/>
              <a:ea typeface="Source Sans 3"/>
              <a:cs typeface="Source Sans 3"/>
            </a:endParaRPr>
          </a:p>
        </p:txBody>
      </p:sp>
      <p:sp>
        <p:nvSpPr>
          <p:cNvPr id="4" name="TextBox 3"/>
          <p:cNvSpPr txBox="1"/>
          <p:nvPr/>
        </p:nvSpPr>
        <p:spPr>
          <a:xfrm>
            <a:off x="1079500" y="1168400"/>
            <a:ext cx="5067300" cy="5238750"/>
          </a:xfrm>
          <a:prstGeom prst="rect">
            <a:avLst/>
          </a:prstGeom>
          <a:noFill/>
        </p:spPr>
        <p:txBody>
          <a:bodyPr wrap="square" lIns="0" tIns="0" rIns="0" bIns="0" anchor="t">
            <a:spAutoFit/>
          </a:bodyPr>
          <a:lstStyle/>
          <a:p>
            <a:pPr algn="l">
              <a:lnSpc>
                <a:spcPts val="1750"/>
              </a:lnSpc>
            </a:pPr>
            <a:r>
              <a:rPr sz="1250" b="1" i="0">
                <a:solidFill>
                  <a:srgbClr val="000000"/>
                </a:solidFill>
                <a:latin typeface="Courier New"/>
                <a:ea typeface="Courier New"/>
                <a:cs typeface="Courier New"/>
              </a:rPr>
              <a:t>public class StaticVsLocal {</a:t>
            </a:r>
          </a:p>
          <a:p>
            <a:pPr algn="l">
              <a:lnSpc>
                <a:spcPts val="1750"/>
              </a:lnSpc>
            </a:pPr>
            <a:r>
              <a:rPr sz="1250" b="1" i="0">
                <a:solidFill>
                  <a:srgbClr val="000000"/>
                </a:solidFill>
                <a:latin typeface="Courier New"/>
                <a:ea typeface="Courier New"/>
                <a:cs typeface="Courier New"/>
              </a:rPr>
              <a:t>  static int x=8;</a:t>
            </a:r>
          </a:p>
          <a:p>
            <a:pPr algn="l">
              <a:lnSpc>
                <a:spcPts val="1750"/>
              </a:lnSpc>
            </a:pPr>
            <a:r>
              <a:rPr sz="1250" b="1" i="0">
                <a:solidFill>
                  <a:srgbClr val="000000"/>
                </a:solidFill>
                <a:latin typeface="Courier New"/>
                <a:ea typeface="Courier New"/>
                <a:cs typeface="Courier New"/>
              </a:rPr>
              <a:t> </a:t>
            </a:r>
          </a:p>
          <a:p>
            <a:pPr algn="l">
              <a:lnSpc>
                <a:spcPts val="1750"/>
              </a:lnSpc>
            </a:pPr>
            <a:r>
              <a:rPr sz="1250" b="1" i="0">
                <a:solidFill>
                  <a:srgbClr val="000000"/>
                </a:solidFill>
                <a:latin typeface="Courier New"/>
                <a:ea typeface="Courier New"/>
                <a:cs typeface="Courier New"/>
              </a:rPr>
              <a:t>  public static void main(String[] args) {</a:t>
            </a:r>
          </a:p>
          <a:p>
            <a:pPr algn="l">
              <a:lnSpc>
                <a:spcPts val="1750"/>
              </a:lnSpc>
            </a:pPr>
            <a:r>
              <a:rPr sz="1250" b="1" i="0">
                <a:solidFill>
                  <a:srgbClr val="000000"/>
                </a:solidFill>
                <a:latin typeface="Courier New"/>
                <a:ea typeface="Courier New"/>
                <a:cs typeface="Courier New"/>
              </a:rPr>
              <a:t>    System.out.println(x);</a:t>
            </a:r>
          </a:p>
          <a:p>
            <a:pPr algn="l">
              <a:lnSpc>
                <a:spcPts val="1750"/>
              </a:lnSpc>
            </a:pPr>
            <a:r>
              <a:rPr sz="1250" b="1" i="0">
                <a:solidFill>
                  <a:srgbClr val="000000"/>
                </a:solidFill>
                <a:latin typeface="Courier New"/>
                <a:ea typeface="Courier New"/>
                <a:cs typeface="Courier New"/>
              </a:rPr>
              <a:t>    test();</a:t>
            </a:r>
          </a:p>
          <a:p>
            <a:pPr algn="l">
              <a:lnSpc>
                <a:spcPts val="1750"/>
              </a:lnSpc>
            </a:pPr>
            <a:r>
              <a:rPr sz="1250" b="1" i="0">
                <a:solidFill>
                  <a:srgbClr val="000000"/>
                </a:solidFill>
                <a:latin typeface="Courier New"/>
                <a:ea typeface="Courier New"/>
                <a:cs typeface="Courier New"/>
              </a:rPr>
              <a:t>    System.out.println(x);</a:t>
            </a:r>
          </a:p>
          <a:p>
            <a:pPr algn="l">
              <a:lnSpc>
                <a:spcPts val="1750"/>
              </a:lnSpc>
            </a:pPr>
            <a:r>
              <a:rPr sz="1250" b="1" i="0">
                <a:solidFill>
                  <a:srgbClr val="000000"/>
                </a:solidFill>
                <a:latin typeface="Courier New"/>
                <a:ea typeface="Courier New"/>
                <a:cs typeface="Courier New"/>
              </a:rPr>
              <a:t>    t2();</a:t>
            </a:r>
          </a:p>
          <a:p>
            <a:pPr algn="l">
              <a:lnSpc>
                <a:spcPts val="1750"/>
              </a:lnSpc>
            </a:pPr>
            <a:r>
              <a:rPr sz="1250" b="1" i="0">
                <a:solidFill>
                  <a:srgbClr val="000000"/>
                </a:solidFill>
                <a:latin typeface="Courier New"/>
                <a:ea typeface="Courier New"/>
                <a:cs typeface="Courier New"/>
              </a:rPr>
              <a:t>    System.out.println(x);</a:t>
            </a:r>
          </a:p>
          <a:p>
            <a:pPr algn="l">
              <a:lnSpc>
                <a:spcPts val="1750"/>
              </a:lnSpc>
            </a:pPr>
            <a:r>
              <a:rPr sz="1250" b="1" i="0">
                <a:solidFill>
                  <a:srgbClr val="000000"/>
                </a:solidFill>
                <a:latin typeface="Courier New"/>
                <a:ea typeface="Courier New"/>
                <a:cs typeface="Courier New"/>
              </a:rPr>
              <a:t>  }</a:t>
            </a:r>
          </a:p>
          <a:p>
            <a:pPr algn="l">
              <a:lnSpc>
                <a:spcPts val="1750"/>
              </a:lnSpc>
            </a:pPr>
            <a:r>
              <a:rPr sz="1250" b="1" i="0">
                <a:solidFill>
                  <a:srgbClr val="000000"/>
                </a:solidFill>
                <a:latin typeface="Courier New"/>
                <a:ea typeface="Courier New"/>
                <a:cs typeface="Courier New"/>
              </a:rPr>
              <a:t> </a:t>
            </a:r>
          </a:p>
          <a:p>
            <a:pPr algn="l">
              <a:lnSpc>
                <a:spcPts val="1750"/>
              </a:lnSpc>
            </a:pPr>
            <a:r>
              <a:rPr sz="1250" b="1" i="0">
                <a:solidFill>
                  <a:srgbClr val="000000"/>
                </a:solidFill>
                <a:latin typeface="Courier New"/>
                <a:ea typeface="Courier New"/>
                <a:cs typeface="Courier New"/>
              </a:rPr>
              <a:t>  public static void test(){</a:t>
            </a:r>
          </a:p>
          <a:p>
            <a:pPr algn="l">
              <a:lnSpc>
                <a:spcPts val="1750"/>
              </a:lnSpc>
            </a:pPr>
            <a:r>
              <a:rPr sz="1250" b="1" i="0">
                <a:solidFill>
                  <a:srgbClr val="000000"/>
                </a:solidFill>
                <a:latin typeface="Courier New"/>
                <a:ea typeface="Courier New"/>
                <a:cs typeface="Courier New"/>
              </a:rPr>
              <a:t>    int x=3;</a:t>
            </a:r>
          </a:p>
          <a:p>
            <a:pPr algn="l">
              <a:lnSpc>
                <a:spcPts val="1750"/>
              </a:lnSpc>
            </a:pPr>
            <a:r>
              <a:rPr sz="1250" b="1" i="0">
                <a:solidFill>
                  <a:srgbClr val="000000"/>
                </a:solidFill>
                <a:latin typeface="Courier New"/>
                <a:ea typeface="Courier New"/>
                <a:cs typeface="Courier New"/>
              </a:rPr>
              <a:t>    ++x;</a:t>
            </a:r>
          </a:p>
          <a:p>
            <a:pPr algn="l">
              <a:lnSpc>
                <a:spcPts val="1750"/>
              </a:lnSpc>
            </a:pPr>
            <a:r>
              <a:rPr sz="1250" b="1" i="0">
                <a:solidFill>
                  <a:srgbClr val="000000"/>
                </a:solidFill>
                <a:latin typeface="Courier New"/>
                <a:ea typeface="Courier New"/>
                <a:cs typeface="Courier New"/>
              </a:rPr>
              <a:t>    System.out.println("Local x: "+x);</a:t>
            </a:r>
          </a:p>
          <a:p>
            <a:pPr algn="l">
              <a:lnSpc>
                <a:spcPts val="1750"/>
              </a:lnSpc>
            </a:pPr>
            <a:r>
              <a:rPr sz="1250" b="1" i="0">
                <a:solidFill>
                  <a:srgbClr val="000000"/>
                </a:solidFill>
                <a:latin typeface="Courier New"/>
                <a:ea typeface="Courier New"/>
                <a:cs typeface="Courier New"/>
              </a:rPr>
              <a:t>  }</a:t>
            </a:r>
          </a:p>
          <a:p>
            <a:pPr algn="l">
              <a:lnSpc>
                <a:spcPts val="1750"/>
              </a:lnSpc>
            </a:pPr>
            <a:r>
              <a:rPr sz="1250" b="1" i="0">
                <a:solidFill>
                  <a:srgbClr val="000000"/>
                </a:solidFill>
                <a:latin typeface="Courier New"/>
                <a:ea typeface="Courier New"/>
                <a:cs typeface="Courier New"/>
              </a:rPr>
              <a:t> </a:t>
            </a:r>
          </a:p>
          <a:p>
            <a:pPr algn="l">
              <a:lnSpc>
                <a:spcPts val="1750"/>
              </a:lnSpc>
            </a:pPr>
            <a:r>
              <a:rPr sz="1250" b="1" i="0">
                <a:solidFill>
                  <a:srgbClr val="000000"/>
                </a:solidFill>
                <a:latin typeface="Courier New"/>
                <a:ea typeface="Courier New"/>
                <a:cs typeface="Courier New"/>
              </a:rPr>
              <a:t>  public static void t2(){</a:t>
            </a:r>
          </a:p>
          <a:p>
            <a:pPr algn="l">
              <a:lnSpc>
                <a:spcPts val="1750"/>
              </a:lnSpc>
            </a:pPr>
            <a:r>
              <a:rPr sz="1250" b="1" i="0">
                <a:solidFill>
                  <a:srgbClr val="000000"/>
                </a:solidFill>
                <a:latin typeface="Courier New"/>
                <a:ea typeface="Courier New"/>
                <a:cs typeface="Courier New"/>
              </a:rPr>
              <a:t>    x=7;</a:t>
            </a:r>
          </a:p>
          <a:p>
            <a:pPr algn="l">
              <a:lnSpc>
                <a:spcPts val="1750"/>
              </a:lnSpc>
            </a:pPr>
            <a:r>
              <a:rPr sz="1250" b="1" i="0">
                <a:solidFill>
                  <a:srgbClr val="000000"/>
                </a:solidFill>
                <a:latin typeface="Courier New"/>
                <a:ea typeface="Courier New"/>
                <a:cs typeface="Courier New"/>
              </a:rPr>
              <a:t>    x--;</a:t>
            </a:r>
          </a:p>
          <a:p>
            <a:pPr algn="l">
              <a:lnSpc>
                <a:spcPts val="1750"/>
              </a:lnSpc>
            </a:pPr>
            <a:r>
              <a:rPr sz="1250" b="1" i="0">
                <a:solidFill>
                  <a:srgbClr val="000000"/>
                </a:solidFill>
                <a:latin typeface="Courier New"/>
                <a:ea typeface="Courier New"/>
                <a:cs typeface="Courier New"/>
              </a:rPr>
              <a:t>    System.out.println("Static x: "+x);</a:t>
            </a:r>
          </a:p>
          <a:p>
            <a:pPr algn="l">
              <a:lnSpc>
                <a:spcPts val="1750"/>
              </a:lnSpc>
            </a:pPr>
            <a:r>
              <a:rPr sz="1250" b="1" i="0">
                <a:solidFill>
                  <a:srgbClr val="000000"/>
                </a:solidFill>
                <a:latin typeface="Courier New"/>
                <a:ea typeface="Courier New"/>
                <a:cs typeface="Courier New"/>
              </a:rPr>
              <a:t>  }</a:t>
            </a:r>
          </a:p>
          <a:p>
            <a:pPr algn="l">
              <a:lnSpc>
                <a:spcPts val="1750"/>
              </a:lnSpc>
            </a:pPr>
            <a:r>
              <a:rPr sz="1250" b="1" i="0">
                <a:solidFill>
                  <a:srgbClr val="000000"/>
                </a:solidFill>
                <a:latin typeface="Courier New"/>
                <a:ea typeface="Courier New"/>
                <a:cs typeface="Courier New"/>
              </a:rPr>
              <a:t>}</a:t>
            </a:r>
          </a:p>
        </p:txBody>
      </p:sp>
      <p:sp>
        <p:nvSpPr>
          <p:cNvPr id="5" name="Rectangle 4"/>
          <p:cNvSpPr/>
          <p:nvPr/>
        </p:nvSpPr>
        <p:spPr>
          <a:xfrm>
            <a:off x="7620000" y="1905000"/>
            <a:ext cx="2794000" cy="2032000"/>
          </a:xfrm>
          <a:prstGeom prst="rect">
            <a:avLst/>
          </a:prstGeom>
          <a:noFill/>
          <a:ln w="19050">
            <a:solidFill>
              <a:srgbClr val="E0C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Rectangle 5"/>
          <p:cNvSpPr/>
          <p:nvPr/>
        </p:nvSpPr>
        <p:spPr>
          <a:xfrm>
            <a:off x="7627620" y="1912620"/>
            <a:ext cx="2778760" cy="304800"/>
          </a:xfrm>
          <a:prstGeom prst="rect">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Source Sans 3"/>
                <a:ea typeface="Source Sans 3"/>
                <a:cs typeface="Source Sans 3"/>
              </a:rPr>
              <a:t>Output</a:t>
            </a:r>
          </a:p>
        </p:txBody>
      </p:sp>
      <p:sp>
        <p:nvSpPr>
          <p:cNvPr id="7" name="TextBox 6"/>
          <p:cNvSpPr txBox="1"/>
          <p:nvPr/>
        </p:nvSpPr>
        <p:spPr>
          <a:xfrm>
            <a:off x="7747000" y="2324100"/>
            <a:ext cx="2540000" cy="1727200"/>
          </a:xfrm>
          <a:prstGeom prst="rect">
            <a:avLst/>
          </a:prstGeom>
          <a:noFill/>
        </p:spPr>
        <p:txBody>
          <a:bodyPr wrap="square" lIns="0" tIns="0" rIns="0" bIns="0" anchor="t">
            <a:spAutoFit/>
          </a:bodyPr>
          <a:lstStyle/>
          <a:p>
            <a:pPr algn="l">
              <a:lnSpc>
                <a:spcPts val="2240"/>
              </a:lnSpc>
            </a:pPr>
            <a:r>
              <a:rPr sz="1600" b="0" i="0">
                <a:solidFill>
                  <a:srgbClr val="111111"/>
                </a:solidFill>
                <a:latin typeface="Courier New"/>
                <a:ea typeface="Courier New"/>
                <a:cs typeface="Courier New"/>
              </a:rPr>
              <a:t>8</a:t>
            </a:r>
          </a:p>
          <a:p>
            <a:pPr algn="l">
              <a:lnSpc>
                <a:spcPts val="2240"/>
              </a:lnSpc>
            </a:pPr>
            <a:r>
              <a:rPr sz="1600" b="0" i="0">
                <a:solidFill>
                  <a:srgbClr val="111111"/>
                </a:solidFill>
                <a:latin typeface="Courier New"/>
                <a:ea typeface="Courier New"/>
                <a:cs typeface="Courier New"/>
              </a:rPr>
              <a:t>Local x: 4</a:t>
            </a:r>
          </a:p>
          <a:p>
            <a:pPr algn="l">
              <a:lnSpc>
                <a:spcPts val="2240"/>
              </a:lnSpc>
            </a:pPr>
            <a:r>
              <a:rPr sz="1600" b="0" i="0">
                <a:solidFill>
                  <a:srgbClr val="111111"/>
                </a:solidFill>
                <a:latin typeface="Courier New"/>
                <a:ea typeface="Courier New"/>
                <a:cs typeface="Courier New"/>
              </a:rPr>
              <a:t>8</a:t>
            </a:r>
          </a:p>
          <a:p>
            <a:pPr algn="l">
              <a:lnSpc>
                <a:spcPts val="2240"/>
              </a:lnSpc>
            </a:pPr>
            <a:r>
              <a:rPr sz="1600" b="0" i="0">
                <a:solidFill>
                  <a:srgbClr val="111111"/>
                </a:solidFill>
                <a:latin typeface="Courier New"/>
                <a:ea typeface="Courier New"/>
                <a:cs typeface="Courier New"/>
              </a:rPr>
              <a:t>Static x: 6</a:t>
            </a:r>
          </a:p>
          <a:p>
            <a:pPr algn="l">
              <a:lnSpc>
                <a:spcPts val="2240"/>
              </a:lnSpc>
            </a:pPr>
            <a:r>
              <a:rPr sz="1600" b="0" i="0">
                <a:solidFill>
                  <a:srgbClr val="111111"/>
                </a:solidFill>
                <a:latin typeface="Courier New"/>
                <a:ea typeface="Courier New"/>
                <a:cs typeface="Courier New"/>
              </a:rPr>
              <a:t>6</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Benefits of Methods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ED54325-4680-409A-9BF8-C5913BF0F076}" type="slidenum">
              <a:rPr sz="1200" b="0" i="0">
                <a:solidFill>
                  <a:srgbClr val="6B6B6B"/>
                </a:solidFill>
                <a:latin typeface="Source Sans 3"/>
                <a:ea typeface="Source Sans 3"/>
                <a:cs typeface="Source Sans 3"/>
              </a:rPr>
              <a:pPr algn="l">
                <a:lnSpc>
                  <a:spcPts val="1500"/>
                </a:lnSpc>
              </a:pPr>
              <a:t>153</a:t>
            </a:fld>
            <a:endParaRPr sz="1200" b="0" i="0">
              <a:solidFill>
                <a:srgbClr val="6B6B6B"/>
              </a:solidFill>
              <a:latin typeface="Source Sans 3"/>
              <a:ea typeface="Source Sans 3"/>
              <a:cs typeface="Source Sans 3"/>
            </a:endParaRPr>
          </a:p>
        </p:txBody>
      </p:sp>
      <p:sp>
        <p:nvSpPr>
          <p:cNvPr id="4" name="TextBox 3"/>
          <p:cNvSpPr txBox="1"/>
          <p:nvPr/>
        </p:nvSpPr>
        <p:spPr>
          <a:xfrm>
            <a:off x="952500" y="1524000"/>
            <a:ext cx="10287000" cy="5080000"/>
          </a:xfrm>
          <a:prstGeom prst="rect">
            <a:avLst/>
          </a:prstGeom>
          <a:noFill/>
        </p:spPr>
        <p:txBody>
          <a:bodyPr wrap="square" lIns="0" tIns="0" rIns="0" bIns="0" anchor="t">
            <a:spAutoFit/>
          </a:bodyPr>
          <a:lstStyle/>
          <a:p>
            <a:pPr marL="279400" indent="-279400" algn="l">
              <a:lnSpc>
                <a:spcPts val="3250"/>
              </a:lnSpc>
            </a:pPr>
            <a:r>
              <a:rPr sz="2600" b="0" i="0">
                <a:solidFill>
                  <a:srgbClr val="111111"/>
                </a:solidFill>
                <a:latin typeface="Times New Roman"/>
                <a:ea typeface="Times New Roman"/>
                <a:cs typeface="Times New Roman"/>
              </a:rPr>
              <a:t>▫  Write a method once and reuse it anywhere.</a:t>
            </a:r>
          </a:p>
          <a:p>
            <a:pPr marL="279400" indent="-279400" algn="l">
              <a:lnSpc>
                <a:spcPts val="3250"/>
              </a:lnSpc>
              <a:spcBef>
                <a:spcPts val="1800"/>
              </a:spcBef>
            </a:pPr>
            <a:r>
              <a:rPr sz="2600" b="0" i="0">
                <a:solidFill>
                  <a:srgbClr val="111111"/>
                </a:solidFill>
                <a:latin typeface="Times New Roman"/>
                <a:ea typeface="Times New Roman"/>
                <a:cs typeface="Times New Roman"/>
              </a:rPr>
              <a:t>▫  Information hiding. Hide the implementation from the user.</a:t>
            </a:r>
          </a:p>
          <a:p>
            <a:pPr marL="279400" indent="-279400" algn="l">
              <a:lnSpc>
                <a:spcPts val="3250"/>
              </a:lnSpc>
              <a:spcBef>
                <a:spcPts val="1800"/>
              </a:spcBef>
            </a:pPr>
            <a:r>
              <a:rPr sz="2600" b="0" i="0">
                <a:solidFill>
                  <a:srgbClr val="111111"/>
                </a:solidFill>
                <a:latin typeface="Times New Roman"/>
                <a:ea typeface="Times New Roman"/>
                <a:cs typeface="Times New Roman"/>
              </a:rPr>
              <a:t>▫  Reduce complexity.</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900680"/>
            <a:ext cx="10883900" cy="768350"/>
          </a:xfrm>
        </p:spPr>
        <p:txBody>
          <a:bodyPr lIns="0" tIns="0" rIns="0" bIns="0" anchor="t"/>
          <a:lstStyle/>
          <a:p>
            <a:pPr algn="l">
              <a:lnSpc>
                <a:spcPts val="5775"/>
              </a:lnSpc>
            </a:pPr>
            <a:r>
              <a:rPr sz="5500" b="0" i="0">
                <a:solidFill>
                  <a:srgbClr val="222222"/>
                </a:solidFill>
                <a:latin typeface="Times New Roman"/>
                <a:ea typeface="Times New Roman"/>
                <a:cs typeface="Times New Roman"/>
              </a:rPr>
              <a:t>Single-Dimensional Arrays</a:t>
            </a:r>
          </a:p>
        </p:txBody>
      </p:sp>
      <p:sp>
        <p:nvSpPr>
          <p:cNvPr id="3" name="TextBox 2"/>
          <p:cNvSpPr txBox="1"/>
          <p:nvPr/>
        </p:nvSpPr>
        <p:spPr>
          <a:xfrm>
            <a:off x="812800" y="2456180"/>
            <a:ext cx="10883900" cy="292100"/>
          </a:xfrm>
          <a:prstGeom prst="rect">
            <a:avLst/>
          </a:prstGeom>
          <a:noFill/>
        </p:spPr>
        <p:txBody>
          <a:bodyPr wrap="square" lIns="0" tIns="0" rIns="0" bIns="0" anchor="t">
            <a:spAutoFit/>
          </a:bodyPr>
          <a:lstStyle/>
          <a:p>
            <a:pPr algn="l">
              <a:lnSpc>
                <a:spcPts val="1875"/>
              </a:lnSpc>
            </a:pPr>
            <a:r>
              <a:rPr sz="1500" b="1" i="0">
                <a:solidFill>
                  <a:srgbClr val="B5500F"/>
                </a:solidFill>
                <a:latin typeface="Source Sans 3"/>
                <a:ea typeface="Source Sans 3"/>
                <a:cs typeface="Source Sans 3"/>
              </a:rPr>
              <a:t>Java basics</a:t>
            </a:r>
          </a:p>
        </p:txBody>
      </p:sp>
      <p:sp>
        <p:nvSpPr>
          <p:cNvPr id="4" name="Rectangle 3"/>
          <p:cNvSpPr/>
          <p:nvPr/>
        </p:nvSpPr>
        <p:spPr>
          <a:xfrm>
            <a:off x="812800" y="3811905"/>
            <a:ext cx="1524000" cy="38100"/>
          </a:xfrm>
          <a:prstGeom prst="rect">
            <a:avLst/>
          </a:prstGeom>
          <a:solidFill>
            <a:srgbClr val="E87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3A7A48A-CFC8-487C-96FD-22ED4080D06C}" type="slidenum">
              <a:rPr sz="1200" b="0" i="0">
                <a:solidFill>
                  <a:srgbClr val="6B6B6B"/>
                </a:solidFill>
                <a:latin typeface="Source Sans 3"/>
                <a:ea typeface="Source Sans 3"/>
                <a:cs typeface="Source Sans 3"/>
              </a:rPr>
              <a:pPr algn="l">
                <a:lnSpc>
                  <a:spcPts val="1500"/>
                </a:lnSpc>
              </a:pPr>
              <a:t>154</a:t>
            </a:fld>
            <a:endParaRPr sz="1200" b="0" i="0">
              <a:solidFill>
                <a:srgbClr val="6B6B6B"/>
              </a:solidFill>
              <a:latin typeface="Source Sans 3"/>
              <a:ea typeface="Source Sans 3"/>
              <a:cs typeface="Source Sans 3"/>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Opening Problem</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DE4E11D-B89B-49C3-8C59-68F3DB1408F4}" type="slidenum">
              <a:rPr sz="1200" b="0" i="0">
                <a:solidFill>
                  <a:srgbClr val="6B6B6B"/>
                </a:solidFill>
                <a:latin typeface="Source Sans 3"/>
                <a:ea typeface="Source Sans 3"/>
                <a:cs typeface="Source Sans 3"/>
              </a:rPr>
              <a:pPr algn="l">
                <a:lnSpc>
                  <a:spcPts val="1500"/>
                </a:lnSpc>
              </a:pPr>
              <a:t>155</a:t>
            </a:fld>
            <a:endParaRPr sz="1200" b="0" i="0">
              <a:solidFill>
                <a:srgbClr val="6B6B6B"/>
              </a:solidFill>
              <a:latin typeface="Source Sans 3"/>
              <a:ea typeface="Source Sans 3"/>
              <a:cs typeface="Source Sans 3"/>
            </a:endParaRPr>
          </a:p>
        </p:txBody>
      </p:sp>
      <p:sp>
        <p:nvSpPr>
          <p:cNvPr id="4" name="TextBox 3"/>
          <p:cNvSpPr txBox="1"/>
          <p:nvPr/>
        </p:nvSpPr>
        <p:spPr>
          <a:xfrm>
            <a:off x="952500" y="1524000"/>
            <a:ext cx="10287000" cy="5080000"/>
          </a:xfrm>
          <a:prstGeom prst="rect">
            <a:avLst/>
          </a:prstGeom>
          <a:noFill/>
        </p:spPr>
        <p:txBody>
          <a:bodyPr wrap="square" lIns="0" tIns="0" rIns="0" bIns="0" anchor="t">
            <a:spAutoFit/>
          </a:bodyPr>
          <a:lstStyle/>
          <a:p>
            <a:pPr algn="l">
              <a:lnSpc>
                <a:spcPts val="3250"/>
              </a:lnSpc>
            </a:pPr>
            <a:r>
              <a:rPr sz="2600" b="0" i="0">
                <a:solidFill>
                  <a:srgbClr val="111111"/>
                </a:solidFill>
                <a:latin typeface="Times New Roman"/>
                <a:ea typeface="Times New Roman"/>
                <a:cs typeface="Times New Roman"/>
              </a:rPr>
              <a:t>Read one hundred numbers, compute their average, and find out how many numbers are above the average.</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Introducing Arrays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BB4D0435-9234-42B6-86E8-2D2A15B31CBF}" type="slidenum">
              <a:rPr sz="1200" b="0" i="0">
                <a:solidFill>
                  <a:srgbClr val="6B6B6B"/>
                </a:solidFill>
                <a:latin typeface="Source Sans 3"/>
                <a:ea typeface="Source Sans 3"/>
                <a:cs typeface="Source Sans 3"/>
              </a:rPr>
              <a:pPr algn="l">
                <a:lnSpc>
                  <a:spcPts val="1500"/>
                </a:lnSpc>
              </a:pPr>
              <a:t>156</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3000"/>
              </a:lnSpc>
            </a:pPr>
            <a:r>
              <a:rPr sz="2400" b="0" i="0">
                <a:solidFill>
                  <a:srgbClr val="111111"/>
                </a:solidFill>
                <a:latin typeface="Times New Roman"/>
                <a:ea typeface="Times New Roman"/>
                <a:cs typeface="Times New Roman"/>
              </a:rPr>
              <a:t>Array is a data structure that represents a collection of the same types of data.</a:t>
            </a:r>
          </a:p>
        </p:txBody>
      </p:sp>
      <p:pic>
        <p:nvPicPr>
          <p:cNvPr id="5" name="Picture 4" descr="array_intro.png"/>
          <p:cNvPicPr>
            <a:picLocks noChangeAspect="1"/>
          </p:cNvPicPr>
          <p:nvPr/>
        </p:nvPicPr>
        <p:blipFill>
          <a:blip r:embed="rId2"/>
          <a:stretch>
            <a:fillRect/>
          </a:stretch>
        </p:blipFill>
        <p:spPr>
          <a:xfrm>
            <a:off x="2561553" y="1841500"/>
            <a:ext cx="7068894" cy="4381500"/>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Declaring Array Variables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624F1FB-4EE3-4D62-99B2-6271782FA737}" type="slidenum">
              <a:rPr sz="1200" b="0" i="0">
                <a:solidFill>
                  <a:srgbClr val="6B6B6B"/>
                </a:solidFill>
                <a:latin typeface="Source Sans 3"/>
                <a:ea typeface="Source Sans 3"/>
                <a:cs typeface="Source Sans 3"/>
              </a:rPr>
              <a:pPr algn="l">
                <a:lnSpc>
                  <a:spcPts val="1500"/>
                </a:lnSpc>
              </a:pPr>
              <a:t>157</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marL="457200" indent="0" algn="l">
              <a:lnSpc>
                <a:spcPts val="2900"/>
              </a:lnSpc>
            </a:pPr>
            <a:r>
              <a:rPr sz="2000" b="1" i="0">
                <a:solidFill>
                  <a:srgbClr val="111111"/>
                </a:solidFill>
                <a:latin typeface="Courier New"/>
                <a:ea typeface="Courier New"/>
                <a:cs typeface="Courier New"/>
              </a:rPr>
              <a:t>datatype[] arrayRefVar;</a:t>
            </a:r>
          </a:p>
          <a:p>
            <a:pPr algn="l">
              <a:lnSpc>
                <a:spcPts val="3000"/>
              </a:lnSpc>
              <a:spcBef>
                <a:spcPts val="1000"/>
              </a:spcBef>
            </a:pPr>
            <a:r>
              <a:rPr sz="2400" b="0" i="0">
                <a:solidFill>
                  <a:srgbClr val="111111"/>
                </a:solidFill>
                <a:latin typeface="Times New Roman"/>
                <a:ea typeface="Times New Roman"/>
                <a:cs typeface="Times New Roman"/>
              </a:rPr>
              <a:t>Example:</a:t>
            </a:r>
          </a:p>
          <a:p>
            <a:pPr marL="457200" indent="0" algn="l">
              <a:lnSpc>
                <a:spcPts val="2900"/>
              </a:lnSpc>
              <a:spcBef>
                <a:spcPts val="600"/>
              </a:spcBef>
            </a:pPr>
            <a:r>
              <a:rPr sz="2000" b="1" i="0">
                <a:solidFill>
                  <a:srgbClr val="111111"/>
                </a:solidFill>
                <a:latin typeface="Courier New"/>
                <a:ea typeface="Courier New"/>
                <a:cs typeface="Courier New"/>
              </a:rPr>
              <a:t>double[] myList;</a:t>
            </a:r>
          </a:p>
          <a:p>
            <a:pPr algn="l">
              <a:lnSpc>
                <a:spcPts val="3000"/>
              </a:lnSpc>
              <a:spcBef>
                <a:spcPts val="1000"/>
              </a:spcBef>
            </a:pPr>
            <a:endParaRPr sz="2000" b="1" i="0">
              <a:solidFill>
                <a:srgbClr val="111111"/>
              </a:solidFill>
              <a:latin typeface="Courier New"/>
              <a:ea typeface="Courier New"/>
              <a:cs typeface="Courier New"/>
            </a:endParaRPr>
          </a:p>
          <a:p>
            <a:pPr marL="457200" indent="0" algn="l">
              <a:lnSpc>
                <a:spcPts val="2610"/>
              </a:lnSpc>
              <a:spcBef>
                <a:spcPts val="600"/>
              </a:spcBef>
            </a:pPr>
            <a:r>
              <a:rPr sz="1800" b="1" i="0">
                <a:solidFill>
                  <a:srgbClr val="111111"/>
                </a:solidFill>
                <a:latin typeface="Courier New"/>
                <a:ea typeface="Courier New"/>
                <a:cs typeface="Courier New"/>
              </a:rPr>
              <a:t>datatype arrayRefVar[]; // This style is allowed, but not preferred</a:t>
            </a:r>
          </a:p>
          <a:p>
            <a:pPr algn="l">
              <a:lnSpc>
                <a:spcPts val="3000"/>
              </a:lnSpc>
              <a:spcBef>
                <a:spcPts val="1000"/>
              </a:spcBef>
            </a:pPr>
            <a:r>
              <a:rPr sz="2400" b="0" i="0">
                <a:solidFill>
                  <a:srgbClr val="111111"/>
                </a:solidFill>
                <a:latin typeface="Times New Roman"/>
                <a:ea typeface="Times New Roman"/>
                <a:cs typeface="Times New Roman"/>
              </a:rPr>
              <a:t>Example:</a:t>
            </a:r>
          </a:p>
          <a:p>
            <a:pPr marL="457200" indent="0" algn="l">
              <a:lnSpc>
                <a:spcPts val="2900"/>
              </a:lnSpc>
              <a:spcBef>
                <a:spcPts val="600"/>
              </a:spcBef>
            </a:pPr>
            <a:r>
              <a:rPr sz="2000" b="1" i="0">
                <a:solidFill>
                  <a:srgbClr val="111111"/>
                </a:solidFill>
                <a:latin typeface="Courier New"/>
                <a:ea typeface="Courier New"/>
                <a:cs typeface="Courier New"/>
              </a:rPr>
              <a:t>double myList[];</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Creating Arrays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AD878B5-BDBC-422F-B1F5-C5A74D1E5DC8}" type="slidenum">
              <a:rPr sz="1200" b="0" i="0">
                <a:solidFill>
                  <a:srgbClr val="6B6B6B"/>
                </a:solidFill>
                <a:latin typeface="Source Sans 3"/>
                <a:ea typeface="Source Sans 3"/>
                <a:cs typeface="Source Sans 3"/>
              </a:rPr>
              <a:pPr algn="l">
                <a:lnSpc>
                  <a:spcPts val="1500"/>
                </a:lnSpc>
              </a:pPr>
              <a:t>158</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marL="457200" indent="0" algn="l">
              <a:lnSpc>
                <a:spcPts val="2900"/>
              </a:lnSpc>
            </a:pPr>
            <a:r>
              <a:rPr sz="2000" b="1" i="0">
                <a:solidFill>
                  <a:srgbClr val="111111"/>
                </a:solidFill>
                <a:latin typeface="Courier New"/>
                <a:ea typeface="Courier New"/>
                <a:cs typeface="Courier New"/>
              </a:rPr>
              <a:t>arrayRefVar = new datatype[arraySize];</a:t>
            </a:r>
          </a:p>
          <a:p>
            <a:pPr algn="l">
              <a:lnSpc>
                <a:spcPts val="3000"/>
              </a:lnSpc>
              <a:spcBef>
                <a:spcPts val="1000"/>
              </a:spcBef>
            </a:pPr>
            <a:r>
              <a:rPr sz="2400" b="0" i="0">
                <a:solidFill>
                  <a:srgbClr val="111111"/>
                </a:solidFill>
                <a:latin typeface="Times New Roman"/>
                <a:ea typeface="Times New Roman"/>
                <a:cs typeface="Times New Roman"/>
              </a:rPr>
              <a:t>Example:</a:t>
            </a:r>
          </a:p>
          <a:p>
            <a:pPr marL="457200" indent="0" algn="l">
              <a:lnSpc>
                <a:spcPts val="2900"/>
              </a:lnSpc>
              <a:spcBef>
                <a:spcPts val="600"/>
              </a:spcBef>
            </a:pPr>
            <a:r>
              <a:rPr sz="2000" b="1" i="0">
                <a:solidFill>
                  <a:srgbClr val="111111"/>
                </a:solidFill>
                <a:latin typeface="Courier New"/>
                <a:ea typeface="Courier New"/>
                <a:cs typeface="Courier New"/>
              </a:rPr>
              <a:t>myList = new double[10];</a:t>
            </a:r>
          </a:p>
          <a:p>
            <a:pPr algn="l">
              <a:lnSpc>
                <a:spcPts val="3000"/>
              </a:lnSpc>
              <a:spcBef>
                <a:spcPts val="1000"/>
              </a:spcBef>
            </a:pPr>
            <a:endParaRPr sz="2000" b="1" i="0">
              <a:solidFill>
                <a:srgbClr val="111111"/>
              </a:solidFill>
              <a:latin typeface="Courier New"/>
              <a:ea typeface="Courier New"/>
              <a:cs typeface="Courier New"/>
            </a:endParaRPr>
          </a:p>
          <a:p>
            <a:pPr algn="l">
              <a:lnSpc>
                <a:spcPts val="3000"/>
              </a:lnSpc>
              <a:spcBef>
                <a:spcPts val="1000"/>
              </a:spcBef>
            </a:pPr>
            <a:r>
              <a:rPr sz="2200" b="1" i="0">
                <a:solidFill>
                  <a:srgbClr val="111111"/>
                </a:solidFill>
                <a:latin typeface="Courier New"/>
                <a:ea typeface="Courier New"/>
                <a:cs typeface="Courier New"/>
              </a:rPr>
              <a:t>myList[0]</a:t>
            </a:r>
            <a:r>
              <a:rPr sz="2400" b="0" i="0">
                <a:solidFill>
                  <a:srgbClr val="111111"/>
                </a:solidFill>
                <a:latin typeface="Times New Roman"/>
                <a:ea typeface="Times New Roman"/>
                <a:cs typeface="Times New Roman"/>
              </a:rPr>
              <a:t> references the first element in the array.</a:t>
            </a:r>
          </a:p>
          <a:p>
            <a:pPr algn="l">
              <a:lnSpc>
                <a:spcPts val="3000"/>
              </a:lnSpc>
              <a:spcBef>
                <a:spcPts val="1000"/>
              </a:spcBef>
            </a:pPr>
            <a:r>
              <a:rPr sz="2200" b="1" i="0">
                <a:solidFill>
                  <a:srgbClr val="111111"/>
                </a:solidFill>
                <a:latin typeface="Courier New"/>
                <a:ea typeface="Courier New"/>
                <a:cs typeface="Courier New"/>
              </a:rPr>
              <a:t>myList[9]</a:t>
            </a:r>
            <a:r>
              <a:rPr sz="2400" b="0" i="0">
                <a:solidFill>
                  <a:srgbClr val="111111"/>
                </a:solidFill>
                <a:latin typeface="Times New Roman"/>
                <a:ea typeface="Times New Roman"/>
                <a:cs typeface="Times New Roman"/>
              </a:rPr>
              <a:t> references the last element in the array.</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Declaring and Creating in One Step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98BA905-D744-4235-881F-7872498260B7}" type="slidenum">
              <a:rPr sz="1200" b="0" i="0">
                <a:solidFill>
                  <a:srgbClr val="6B6B6B"/>
                </a:solidFill>
                <a:latin typeface="Source Sans 3"/>
                <a:ea typeface="Source Sans 3"/>
                <a:cs typeface="Source Sans 3"/>
              </a:rPr>
              <a:pPr algn="l">
                <a:lnSpc>
                  <a:spcPts val="1500"/>
                </a:lnSpc>
              </a:pPr>
              <a:t>159</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marL="457200" indent="0" algn="l">
              <a:lnSpc>
                <a:spcPts val="2900"/>
              </a:lnSpc>
            </a:pPr>
            <a:r>
              <a:rPr sz="2000" b="1" i="0">
                <a:solidFill>
                  <a:srgbClr val="111111"/>
                </a:solidFill>
                <a:latin typeface="Courier New"/>
                <a:ea typeface="Courier New"/>
                <a:cs typeface="Courier New"/>
              </a:rPr>
              <a:t>datatype[] arrayRefVar = new datatype[arraySize];</a:t>
            </a:r>
          </a:p>
          <a:p>
            <a:pPr marL="457200" indent="0" algn="l">
              <a:lnSpc>
                <a:spcPts val="2900"/>
              </a:lnSpc>
              <a:spcBef>
                <a:spcPts val="840"/>
              </a:spcBef>
            </a:pPr>
            <a:r>
              <a:rPr sz="2000" b="1" i="0">
                <a:solidFill>
                  <a:srgbClr val="111111"/>
                </a:solidFill>
                <a:latin typeface="Courier New"/>
                <a:ea typeface="Courier New"/>
                <a:cs typeface="Courier New"/>
              </a:rPr>
              <a:t>double[] myList = new double[10];</a:t>
            </a:r>
          </a:p>
          <a:p>
            <a:pPr algn="l">
              <a:lnSpc>
                <a:spcPts val="3000"/>
              </a:lnSpc>
              <a:spcBef>
                <a:spcPts val="1400"/>
              </a:spcBef>
            </a:pPr>
            <a:endParaRPr sz="2000" b="1" i="0">
              <a:solidFill>
                <a:srgbClr val="111111"/>
              </a:solidFill>
              <a:latin typeface="Courier New"/>
              <a:ea typeface="Courier New"/>
              <a:cs typeface="Courier New"/>
            </a:endParaRPr>
          </a:p>
          <a:p>
            <a:pPr marL="457200" indent="0" algn="l">
              <a:lnSpc>
                <a:spcPts val="2900"/>
              </a:lnSpc>
              <a:spcBef>
                <a:spcPts val="840"/>
              </a:spcBef>
            </a:pPr>
            <a:r>
              <a:rPr sz="2000" b="1" i="0">
                <a:solidFill>
                  <a:srgbClr val="111111"/>
                </a:solidFill>
                <a:latin typeface="Courier New"/>
                <a:ea typeface="Courier New"/>
                <a:cs typeface="Courier New"/>
              </a:rPr>
              <a:t>datatype arrayRefVar[] = new datatype[arraySize];</a:t>
            </a:r>
          </a:p>
          <a:p>
            <a:pPr marL="457200" indent="0" algn="l">
              <a:lnSpc>
                <a:spcPts val="2900"/>
              </a:lnSpc>
              <a:spcBef>
                <a:spcPts val="840"/>
              </a:spcBef>
            </a:pPr>
            <a:r>
              <a:rPr sz="2000" b="1" i="0">
                <a:solidFill>
                  <a:srgbClr val="111111"/>
                </a:solidFill>
                <a:latin typeface="Courier New"/>
                <a:ea typeface="Courier New"/>
                <a:cs typeface="Courier New"/>
              </a:rPr>
              <a:t>double myList[] = new double[10];</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The Length of an Array</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6DC01A64-148F-455D-B79F-219D33A05BCC}" type="slidenum">
              <a:rPr sz="1200" b="0" i="0">
                <a:solidFill>
                  <a:srgbClr val="6B6B6B"/>
                </a:solidFill>
                <a:latin typeface="Source Sans 3"/>
                <a:ea typeface="Source Sans 3"/>
                <a:cs typeface="Source Sans 3"/>
              </a:rPr>
              <a:pPr algn="l">
                <a:lnSpc>
                  <a:spcPts val="1500"/>
                </a:lnSpc>
              </a:pPr>
              <a:t>160</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3125"/>
              </a:lnSpc>
            </a:pPr>
            <a:r>
              <a:rPr sz="2500" b="0" i="0">
                <a:solidFill>
                  <a:srgbClr val="111111"/>
                </a:solidFill>
                <a:latin typeface="Times New Roman"/>
                <a:ea typeface="Times New Roman"/>
                <a:cs typeface="Times New Roman"/>
              </a:rPr>
              <a:t>Once an array is created, its size is fixed. It cannot be changed. You can find its size using</a:t>
            </a:r>
          </a:p>
          <a:p>
            <a:pPr marL="457200" indent="0" algn="l">
              <a:lnSpc>
                <a:spcPts val="2900"/>
              </a:lnSpc>
              <a:spcBef>
                <a:spcPts val="960"/>
              </a:spcBef>
            </a:pPr>
            <a:r>
              <a:rPr sz="2000" b="1" i="0">
                <a:solidFill>
                  <a:srgbClr val="111111"/>
                </a:solidFill>
                <a:latin typeface="Courier New"/>
                <a:ea typeface="Courier New"/>
                <a:cs typeface="Courier New"/>
              </a:rPr>
              <a:t>arrayRefVar.length</a:t>
            </a:r>
          </a:p>
          <a:p>
            <a:pPr algn="l">
              <a:lnSpc>
                <a:spcPts val="3125"/>
              </a:lnSpc>
              <a:spcBef>
                <a:spcPts val="1600"/>
              </a:spcBef>
            </a:pPr>
            <a:r>
              <a:rPr sz="2500" b="0" i="0">
                <a:solidFill>
                  <a:srgbClr val="111111"/>
                </a:solidFill>
                <a:latin typeface="Times New Roman"/>
                <a:ea typeface="Times New Roman"/>
                <a:cs typeface="Times New Roman"/>
              </a:rPr>
              <a:t>For example,</a:t>
            </a:r>
          </a:p>
          <a:p>
            <a:pPr marL="457200" indent="0" algn="l">
              <a:lnSpc>
                <a:spcPts val="2900"/>
              </a:lnSpc>
              <a:spcBef>
                <a:spcPts val="960"/>
              </a:spcBef>
            </a:pPr>
            <a:r>
              <a:rPr sz="2000" b="1" i="0">
                <a:solidFill>
                  <a:srgbClr val="111111"/>
                </a:solidFill>
                <a:latin typeface="Courier New"/>
                <a:ea typeface="Courier New"/>
                <a:cs typeface="Courier New"/>
              </a:rPr>
              <a:t>myList.length returns 10</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Default Values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C6D96A5-54C2-4385-8772-7D4DB0E93BF7}" type="slidenum">
              <a:rPr sz="1200" b="0" i="0">
                <a:solidFill>
                  <a:srgbClr val="6B6B6B"/>
                </a:solidFill>
                <a:latin typeface="Source Sans 3"/>
                <a:ea typeface="Source Sans 3"/>
                <a:cs typeface="Source Sans 3"/>
              </a:rPr>
              <a:pPr algn="l">
                <a:lnSpc>
                  <a:spcPts val="1500"/>
                </a:lnSpc>
              </a:pPr>
              <a:t>161</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3125"/>
              </a:lnSpc>
            </a:pPr>
            <a:r>
              <a:rPr sz="2500" b="0" i="0">
                <a:solidFill>
                  <a:srgbClr val="111111"/>
                </a:solidFill>
                <a:latin typeface="Times New Roman"/>
                <a:ea typeface="Times New Roman"/>
                <a:cs typeface="Times New Roman"/>
              </a:rPr>
              <a:t>When an array is created, its elements are assigned the default value of</a:t>
            </a:r>
          </a:p>
          <a:p>
            <a:pPr marL="279400" indent="-279400" algn="l">
              <a:lnSpc>
                <a:spcPts val="3125"/>
              </a:lnSpc>
              <a:spcBef>
                <a:spcPts val="1400"/>
              </a:spcBef>
            </a:pPr>
            <a:r>
              <a:rPr sz="2500" b="0" i="0">
                <a:solidFill>
                  <a:srgbClr val="111111"/>
                </a:solidFill>
                <a:latin typeface="Times New Roman"/>
                <a:ea typeface="Times New Roman"/>
                <a:cs typeface="Times New Roman"/>
              </a:rPr>
              <a:t>▫  0 for the numeric primitive data types,</a:t>
            </a:r>
          </a:p>
          <a:p>
            <a:pPr marL="279400" indent="-279400" algn="l">
              <a:lnSpc>
                <a:spcPts val="3125"/>
              </a:lnSpc>
              <a:spcBef>
                <a:spcPts val="1400"/>
              </a:spcBef>
            </a:pPr>
            <a:r>
              <a:rPr sz="2500" b="0" i="0">
                <a:solidFill>
                  <a:srgbClr val="111111"/>
                </a:solidFill>
                <a:latin typeface="Times New Roman"/>
                <a:ea typeface="Times New Roman"/>
                <a:cs typeface="Times New Roman"/>
              </a:rPr>
              <a:t>▫  </a:t>
            </a:r>
            <a:r>
              <a:rPr sz="2300" b="1" i="0">
                <a:solidFill>
                  <a:srgbClr val="111111"/>
                </a:solidFill>
                <a:latin typeface="Courier New"/>
                <a:ea typeface="Courier New"/>
                <a:cs typeface="Courier New"/>
              </a:rPr>
              <a:t>'\u0000'</a:t>
            </a:r>
            <a:r>
              <a:rPr sz="2500" b="0" i="0">
                <a:solidFill>
                  <a:srgbClr val="111111"/>
                </a:solidFill>
                <a:latin typeface="Times New Roman"/>
                <a:ea typeface="Times New Roman"/>
                <a:cs typeface="Times New Roman"/>
              </a:rPr>
              <a:t> for </a:t>
            </a:r>
            <a:r>
              <a:rPr sz="2300" b="1" i="0">
                <a:solidFill>
                  <a:srgbClr val="111111"/>
                </a:solidFill>
                <a:latin typeface="Courier New"/>
                <a:ea typeface="Courier New"/>
                <a:cs typeface="Courier New"/>
              </a:rPr>
              <a:t>char</a:t>
            </a:r>
            <a:r>
              <a:rPr sz="2500" b="0" i="0">
                <a:solidFill>
                  <a:srgbClr val="111111"/>
                </a:solidFill>
                <a:latin typeface="Times New Roman"/>
                <a:ea typeface="Times New Roman"/>
                <a:cs typeface="Times New Roman"/>
              </a:rPr>
              <a:t> types, and</a:t>
            </a:r>
          </a:p>
          <a:p>
            <a:pPr marL="279400" indent="-279400" algn="l">
              <a:lnSpc>
                <a:spcPts val="3125"/>
              </a:lnSpc>
              <a:spcBef>
                <a:spcPts val="1400"/>
              </a:spcBef>
            </a:pPr>
            <a:r>
              <a:rPr sz="2500" b="0" i="0">
                <a:solidFill>
                  <a:srgbClr val="111111"/>
                </a:solidFill>
                <a:latin typeface="Times New Roman"/>
                <a:ea typeface="Times New Roman"/>
                <a:cs typeface="Times New Roman"/>
              </a:rPr>
              <a:t>▫  </a:t>
            </a:r>
            <a:r>
              <a:rPr sz="2300" b="1" i="0">
                <a:solidFill>
                  <a:srgbClr val="111111"/>
                </a:solidFill>
                <a:latin typeface="Courier New"/>
                <a:ea typeface="Courier New"/>
                <a:cs typeface="Courier New"/>
              </a:rPr>
              <a:t>false</a:t>
            </a:r>
            <a:r>
              <a:rPr sz="2500" b="0" i="0">
                <a:solidFill>
                  <a:srgbClr val="111111"/>
                </a:solidFill>
                <a:latin typeface="Times New Roman"/>
                <a:ea typeface="Times New Roman"/>
                <a:cs typeface="Times New Roman"/>
              </a:rPr>
              <a:t> for </a:t>
            </a:r>
            <a:r>
              <a:rPr sz="2300" b="1" i="0">
                <a:solidFill>
                  <a:srgbClr val="111111"/>
                </a:solidFill>
                <a:latin typeface="Courier New"/>
                <a:ea typeface="Courier New"/>
                <a:cs typeface="Courier New"/>
              </a:rPr>
              <a:t>boolean</a:t>
            </a:r>
            <a:r>
              <a:rPr sz="2500" b="0" i="0">
                <a:solidFill>
                  <a:srgbClr val="111111"/>
                </a:solidFill>
                <a:latin typeface="Times New Roman"/>
                <a:ea typeface="Times New Roman"/>
                <a:cs typeface="Times New Roman"/>
              </a:rPr>
              <a:t> types.</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Indexed Variables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6386E62-9BE4-4C30-BA15-25F89F7E9D9D}" type="slidenum">
              <a:rPr sz="1200" b="0" i="0">
                <a:solidFill>
                  <a:srgbClr val="6B6B6B"/>
                </a:solidFill>
                <a:latin typeface="Source Sans 3"/>
                <a:ea typeface="Source Sans 3"/>
                <a:cs typeface="Source Sans 3"/>
              </a:rPr>
              <a:pPr algn="l">
                <a:lnSpc>
                  <a:spcPts val="1500"/>
                </a:lnSpc>
              </a:pPr>
              <a:t>162</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2244204"/>
          </a:xfrm>
          <a:prstGeom prst="rect">
            <a:avLst/>
          </a:prstGeom>
          <a:noFill/>
        </p:spPr>
        <p:txBody>
          <a:bodyPr wrap="square" lIns="0" tIns="0" rIns="0" bIns="0" anchor="t">
            <a:spAutoFit/>
          </a:bodyPr>
          <a:lstStyle/>
          <a:p>
            <a:pPr algn="l">
              <a:lnSpc>
                <a:spcPts val="3000"/>
              </a:lnSpc>
            </a:pPr>
            <a:r>
              <a:rPr sz="2400" b="0" i="0">
                <a:solidFill>
                  <a:srgbClr val="111111"/>
                </a:solidFill>
                <a:latin typeface="Times New Roman"/>
                <a:ea typeface="Times New Roman"/>
                <a:cs typeface="Times New Roman"/>
              </a:rPr>
              <a:t>The array elements are accessed through the index. The array indices are 0-based, i.e., it starts from 0 to </a:t>
            </a:r>
            <a:r>
              <a:rPr sz="2200" b="1" i="0">
                <a:solidFill>
                  <a:srgbClr val="111111"/>
                </a:solidFill>
                <a:latin typeface="Courier New"/>
                <a:ea typeface="Courier New"/>
                <a:cs typeface="Courier New"/>
              </a:rPr>
              <a:t>arrayRefVar.length-1</a:t>
            </a:r>
            <a:r>
              <a:rPr sz="2400" b="0" i="0">
                <a:solidFill>
                  <a:srgbClr val="111111"/>
                </a:solidFill>
                <a:latin typeface="Times New Roman"/>
                <a:ea typeface="Times New Roman"/>
                <a:cs typeface="Times New Roman"/>
              </a:rPr>
              <a:t>. </a:t>
            </a:r>
          </a:p>
          <a:p>
            <a:pPr algn="l">
              <a:lnSpc>
                <a:spcPts val="3000"/>
              </a:lnSpc>
              <a:spcBef>
                <a:spcPts val="1600"/>
              </a:spcBef>
            </a:pPr>
            <a:r>
              <a:rPr sz="2400" b="0" i="0">
                <a:solidFill>
                  <a:srgbClr val="111111"/>
                </a:solidFill>
                <a:latin typeface="Times New Roman"/>
                <a:ea typeface="Times New Roman"/>
                <a:cs typeface="Times New Roman"/>
              </a:rPr>
              <a:t>Each element in the array is represented using the following syntax, known as an indexed variable:</a:t>
            </a:r>
          </a:p>
          <a:p>
            <a:pPr marL="457200" indent="0" algn="l">
              <a:lnSpc>
                <a:spcPts val="2900"/>
              </a:lnSpc>
              <a:spcBef>
                <a:spcPts val="960"/>
              </a:spcBef>
            </a:pPr>
            <a:r>
              <a:rPr sz="2000" b="1" i="0">
                <a:solidFill>
                  <a:srgbClr val="111111"/>
                </a:solidFill>
                <a:latin typeface="Courier New"/>
                <a:ea typeface="Courier New"/>
                <a:cs typeface="Courier New"/>
              </a:rPr>
              <a:t>arrayRefVar[index];</a:t>
            </a:r>
          </a:p>
        </p:txBody>
      </p:sp>
      <p:sp>
        <p:nvSpPr>
          <p:cNvPr id="5" name="TextBox 4"/>
          <p:cNvSpPr txBox="1"/>
          <p:nvPr/>
        </p:nvSpPr>
        <p:spPr>
          <a:xfrm>
            <a:off x="812800" y="3616960"/>
            <a:ext cx="10287000" cy="2103140"/>
          </a:xfrm>
          <a:prstGeom prst="rect">
            <a:avLst/>
          </a:prstGeom>
          <a:noFill/>
        </p:spPr>
        <p:txBody>
          <a:bodyPr wrap="square" lIns="0" tIns="0" rIns="0" bIns="0" anchor="t">
            <a:spAutoFit/>
          </a:bodyPr>
          <a:lstStyle/>
          <a:p>
            <a:pPr algn="just">
              <a:lnSpc>
                <a:spcPts val="3125"/>
              </a:lnSpc>
            </a:pPr>
            <a:r>
              <a:rPr sz="2400" b="0" i="0">
                <a:solidFill>
                  <a:srgbClr val="111111"/>
                </a:solidFill>
                <a:latin typeface="Times New Roman"/>
                <a:ea typeface="Times New Roman"/>
                <a:cs typeface="Times New Roman"/>
              </a:rPr>
              <a:t>After an array is created, an indexed variable can be used in the same way as a regular variable. </a:t>
            </a:r>
            <a:endParaRPr lang="en-US" sz="2400" b="0" i="0" dirty="0" smtClean="0">
              <a:solidFill>
                <a:srgbClr val="111111"/>
              </a:solidFill>
              <a:latin typeface="Times New Roman"/>
              <a:ea typeface="Times New Roman"/>
              <a:cs typeface="Times New Roman"/>
            </a:endParaRPr>
          </a:p>
          <a:p>
            <a:pPr algn="just">
              <a:lnSpc>
                <a:spcPts val="3125"/>
              </a:lnSpc>
            </a:pPr>
            <a:r>
              <a:rPr sz="2400" b="0" i="0" smtClean="0">
                <a:solidFill>
                  <a:srgbClr val="111111"/>
                </a:solidFill>
                <a:latin typeface="Times New Roman"/>
                <a:ea typeface="Times New Roman"/>
                <a:cs typeface="Times New Roman"/>
              </a:rPr>
              <a:t>For </a:t>
            </a:r>
            <a:r>
              <a:rPr sz="2400" b="0" i="0">
                <a:solidFill>
                  <a:srgbClr val="111111"/>
                </a:solidFill>
                <a:latin typeface="Times New Roman"/>
                <a:ea typeface="Times New Roman"/>
                <a:cs typeface="Times New Roman"/>
              </a:rPr>
              <a:t>example, the following code adds the value in </a:t>
            </a:r>
            <a:r>
              <a:rPr sz="2400" b="1" i="0">
                <a:solidFill>
                  <a:srgbClr val="111111"/>
                </a:solidFill>
                <a:latin typeface="Courier New"/>
                <a:ea typeface="Courier New"/>
                <a:cs typeface="Courier New"/>
              </a:rPr>
              <a:t>myList[0]</a:t>
            </a:r>
            <a:r>
              <a:rPr sz="2400" b="0" i="0">
                <a:solidFill>
                  <a:srgbClr val="111111"/>
                </a:solidFill>
                <a:latin typeface="Times New Roman"/>
                <a:ea typeface="Times New Roman"/>
                <a:cs typeface="Times New Roman"/>
              </a:rPr>
              <a:t> and </a:t>
            </a:r>
            <a:r>
              <a:rPr sz="2400" b="1" i="0">
                <a:solidFill>
                  <a:srgbClr val="111111"/>
                </a:solidFill>
                <a:latin typeface="Courier New"/>
                <a:ea typeface="Courier New"/>
                <a:cs typeface="Courier New"/>
              </a:rPr>
              <a:t>myList[1]</a:t>
            </a:r>
            <a:r>
              <a:rPr sz="2400" b="0" i="0">
                <a:solidFill>
                  <a:srgbClr val="111111"/>
                </a:solidFill>
                <a:latin typeface="Times New Roman"/>
                <a:ea typeface="Times New Roman"/>
                <a:cs typeface="Times New Roman"/>
              </a:rPr>
              <a:t> to </a:t>
            </a:r>
            <a:r>
              <a:rPr sz="2400" b="1" i="0">
                <a:solidFill>
                  <a:srgbClr val="111111"/>
                </a:solidFill>
                <a:latin typeface="Courier New"/>
                <a:ea typeface="Courier New"/>
                <a:cs typeface="Courier New"/>
              </a:rPr>
              <a:t>myList[2]</a:t>
            </a:r>
            <a:r>
              <a:rPr sz="2400" b="0" i="0">
                <a:solidFill>
                  <a:srgbClr val="111111"/>
                </a:solidFill>
                <a:latin typeface="Times New Roman"/>
                <a:ea typeface="Times New Roman"/>
                <a:cs typeface="Times New Roman"/>
              </a:rPr>
              <a:t>.</a:t>
            </a:r>
          </a:p>
          <a:p>
            <a:pPr marL="457200" indent="0" algn="l">
              <a:lnSpc>
                <a:spcPts val="2900"/>
              </a:lnSpc>
              <a:spcBef>
                <a:spcPts val="1080"/>
              </a:spcBef>
            </a:pPr>
            <a:r>
              <a:rPr sz="2000" b="1" i="0">
                <a:solidFill>
                  <a:srgbClr val="111111"/>
                </a:solidFill>
                <a:latin typeface="Courier New"/>
                <a:ea typeface="Courier New"/>
                <a:cs typeface="Courier New"/>
              </a:rPr>
              <a:t>myList[2] = myList[0] + myList[1];</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Array Initializers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A4B9099-F85D-4F29-A519-27E2137C083F}" type="slidenum">
              <a:rPr sz="1200" b="0" i="0">
                <a:solidFill>
                  <a:srgbClr val="6B6B6B"/>
                </a:solidFill>
                <a:latin typeface="Source Sans 3"/>
                <a:ea typeface="Source Sans 3"/>
                <a:cs typeface="Source Sans 3"/>
              </a:rPr>
              <a:pPr algn="l">
                <a:lnSpc>
                  <a:spcPts val="1500"/>
                </a:lnSpc>
              </a:pPr>
              <a:t>163</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875"/>
              </a:lnSpc>
            </a:pPr>
            <a:r>
              <a:rPr sz="2300" b="0" i="0">
                <a:solidFill>
                  <a:srgbClr val="111111"/>
                </a:solidFill>
                <a:latin typeface="Times New Roman"/>
                <a:ea typeface="Times New Roman"/>
                <a:cs typeface="Times New Roman"/>
              </a:rPr>
              <a:t>Declaring, creating, initializing in one step:</a:t>
            </a:r>
          </a:p>
          <a:p>
            <a:pPr marL="457200" indent="0" algn="l">
              <a:lnSpc>
                <a:spcPts val="2755"/>
              </a:lnSpc>
              <a:spcBef>
                <a:spcPts val="719"/>
              </a:spcBef>
            </a:pPr>
            <a:r>
              <a:rPr sz="1900" b="1" i="0">
                <a:solidFill>
                  <a:srgbClr val="111111"/>
                </a:solidFill>
                <a:latin typeface="Courier New"/>
                <a:ea typeface="Courier New"/>
                <a:cs typeface="Courier New"/>
              </a:rPr>
              <a:t>double[] myList = {1.9, 2.9, 3.4, 3.5};</a:t>
            </a:r>
          </a:p>
          <a:p>
            <a:pPr algn="l">
              <a:lnSpc>
                <a:spcPts val="2875"/>
              </a:lnSpc>
              <a:spcBef>
                <a:spcPts val="1200"/>
              </a:spcBef>
            </a:pPr>
            <a:r>
              <a:rPr sz="2300" b="0" i="0">
                <a:solidFill>
                  <a:srgbClr val="111111"/>
                </a:solidFill>
                <a:latin typeface="Times New Roman"/>
                <a:ea typeface="Times New Roman"/>
                <a:cs typeface="Times New Roman"/>
              </a:rPr>
              <a:t>This shorthand syntax must be in one statement. This shorthand notation is equivalent to the following statements:</a:t>
            </a:r>
          </a:p>
          <a:p>
            <a:pPr marL="457200" indent="0" algn="l">
              <a:lnSpc>
                <a:spcPts val="2755"/>
              </a:lnSpc>
              <a:spcBef>
                <a:spcPts val="719"/>
              </a:spcBef>
            </a:pPr>
            <a:r>
              <a:rPr sz="1900" b="1" i="0">
                <a:solidFill>
                  <a:srgbClr val="111111"/>
                </a:solidFill>
                <a:latin typeface="Courier New"/>
                <a:ea typeface="Courier New"/>
                <a:cs typeface="Courier New"/>
              </a:rPr>
              <a:t>double[] myList = new double[4];</a:t>
            </a:r>
          </a:p>
          <a:p>
            <a:pPr marL="457200" indent="0" algn="l">
              <a:lnSpc>
                <a:spcPts val="2755"/>
              </a:lnSpc>
            </a:pPr>
            <a:r>
              <a:rPr sz="1900" b="1" i="0">
                <a:solidFill>
                  <a:srgbClr val="111111"/>
                </a:solidFill>
                <a:latin typeface="Courier New"/>
                <a:ea typeface="Courier New"/>
                <a:cs typeface="Courier New"/>
              </a:rPr>
              <a:t>myList[0] = 1.9;</a:t>
            </a:r>
          </a:p>
          <a:p>
            <a:pPr marL="457200" indent="0" algn="l">
              <a:lnSpc>
                <a:spcPts val="2755"/>
              </a:lnSpc>
            </a:pPr>
            <a:r>
              <a:rPr sz="1900" b="1" i="0">
                <a:solidFill>
                  <a:srgbClr val="111111"/>
                </a:solidFill>
                <a:latin typeface="Courier New"/>
                <a:ea typeface="Courier New"/>
                <a:cs typeface="Courier New"/>
              </a:rPr>
              <a:t>myList[1] = 2.9;</a:t>
            </a:r>
          </a:p>
          <a:p>
            <a:pPr marL="457200" indent="0" algn="l">
              <a:lnSpc>
                <a:spcPts val="2755"/>
              </a:lnSpc>
            </a:pPr>
            <a:r>
              <a:rPr sz="1900" b="1" i="0">
                <a:solidFill>
                  <a:srgbClr val="111111"/>
                </a:solidFill>
                <a:latin typeface="Courier New"/>
                <a:ea typeface="Courier New"/>
                <a:cs typeface="Courier New"/>
              </a:rPr>
              <a:t>myList[2] = 3.4;</a:t>
            </a:r>
          </a:p>
          <a:p>
            <a:pPr marL="457200" indent="0" algn="l">
              <a:lnSpc>
                <a:spcPts val="2755"/>
              </a:lnSpc>
            </a:pPr>
            <a:r>
              <a:rPr sz="1900" b="1" i="0">
                <a:solidFill>
                  <a:srgbClr val="111111"/>
                </a:solidFill>
                <a:latin typeface="Courier New"/>
                <a:ea typeface="Courier New"/>
                <a:cs typeface="Courier New"/>
              </a:rPr>
              <a:t>myList[3] = 3.5;</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CAUTION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6953882-C558-4776-891E-397D83C48FEE}" type="slidenum">
              <a:rPr sz="1200" b="0" i="0">
                <a:solidFill>
                  <a:srgbClr val="6B6B6B"/>
                </a:solidFill>
                <a:latin typeface="Source Sans 3"/>
                <a:ea typeface="Source Sans 3"/>
                <a:cs typeface="Source Sans 3"/>
              </a:rPr>
              <a:pPr algn="l">
                <a:lnSpc>
                  <a:spcPts val="1500"/>
                </a:lnSpc>
              </a:pPr>
              <a:t>164</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3125"/>
              </a:lnSpc>
            </a:pPr>
            <a:r>
              <a:rPr sz="2500" b="0" i="0">
                <a:solidFill>
                  <a:srgbClr val="111111"/>
                </a:solidFill>
                <a:latin typeface="Times New Roman"/>
                <a:ea typeface="Times New Roman"/>
                <a:cs typeface="Times New Roman"/>
              </a:rPr>
              <a:t>Using the shorthand notation, you have to declare, create, and initialize the array all in one statement. Splitting it would cause a syntax error. For example, the following is wrong:</a:t>
            </a:r>
          </a:p>
          <a:p>
            <a:pPr marL="457200" indent="0" algn="l">
              <a:lnSpc>
                <a:spcPts val="2900"/>
              </a:lnSpc>
              <a:spcBef>
                <a:spcPts val="1080"/>
              </a:spcBef>
            </a:pPr>
            <a:r>
              <a:rPr sz="2000" b="1" i="0">
                <a:solidFill>
                  <a:srgbClr val="111111"/>
                </a:solidFill>
                <a:latin typeface="Courier New"/>
                <a:ea typeface="Courier New"/>
                <a:cs typeface="Courier New"/>
              </a:rPr>
              <a:t>double[] myList;</a:t>
            </a:r>
          </a:p>
          <a:p>
            <a:pPr marL="457200" indent="0" algn="l">
              <a:lnSpc>
                <a:spcPts val="2900"/>
              </a:lnSpc>
            </a:pPr>
            <a:r>
              <a:rPr sz="2000" b="1" i="0">
                <a:solidFill>
                  <a:srgbClr val="111111"/>
                </a:solidFill>
                <a:latin typeface="Courier New"/>
                <a:ea typeface="Courier New"/>
                <a:cs typeface="Courier New"/>
              </a:rPr>
              <a:t> </a:t>
            </a:r>
          </a:p>
          <a:p>
            <a:pPr marL="457200" indent="0" algn="l">
              <a:lnSpc>
                <a:spcPts val="2900"/>
              </a:lnSpc>
            </a:pPr>
            <a:r>
              <a:rPr sz="2000" b="1" i="0">
                <a:solidFill>
                  <a:srgbClr val="111111"/>
                </a:solidFill>
                <a:latin typeface="Courier New"/>
                <a:ea typeface="Courier New"/>
                <a:cs typeface="Courier New"/>
              </a:rPr>
              <a:t>myList = {1.9, 2.9, 3.4, 3.5};</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Processing Arrays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775BBA5-5850-4BA2-8D01-D7311CA1D01C}" type="slidenum">
              <a:rPr sz="1200" b="0" i="0">
                <a:solidFill>
                  <a:srgbClr val="6B6B6B"/>
                </a:solidFill>
                <a:latin typeface="Source Sans 3"/>
                <a:ea typeface="Source Sans 3"/>
                <a:cs typeface="Source Sans 3"/>
              </a:rPr>
              <a:pPr algn="l">
                <a:lnSpc>
                  <a:spcPts val="1500"/>
                </a:lnSpc>
              </a:pPr>
              <a:t>165</a:t>
            </a:fld>
            <a:endParaRPr sz="1200" b="0" i="0">
              <a:solidFill>
                <a:srgbClr val="6B6B6B"/>
              </a:solidFill>
              <a:latin typeface="Source Sans 3"/>
              <a:ea typeface="Source Sans 3"/>
              <a:cs typeface="Source Sans 3"/>
            </a:endParaRPr>
          </a:p>
        </p:txBody>
      </p:sp>
      <p:sp>
        <p:nvSpPr>
          <p:cNvPr id="4" name="TextBox 3"/>
          <p:cNvSpPr txBox="1"/>
          <p:nvPr/>
        </p:nvSpPr>
        <p:spPr>
          <a:xfrm>
            <a:off x="952500" y="1117600"/>
            <a:ext cx="10287000" cy="330200"/>
          </a:xfrm>
          <a:prstGeom prst="rect">
            <a:avLst/>
          </a:prstGeom>
          <a:noFill/>
        </p:spPr>
        <p:txBody>
          <a:bodyPr wrap="square" lIns="0" tIns="0" rIns="0" bIns="0" anchor="t">
            <a:spAutoFit/>
          </a:bodyPr>
          <a:lstStyle/>
          <a:p>
            <a:pPr algn="l">
              <a:lnSpc>
                <a:spcPts val="2625"/>
              </a:lnSpc>
            </a:pPr>
            <a:r>
              <a:rPr sz="2100" b="1" i="0">
                <a:solidFill>
                  <a:srgbClr val="111111"/>
                </a:solidFill>
                <a:latin typeface="Times New Roman"/>
                <a:ea typeface="Times New Roman"/>
                <a:cs typeface="Times New Roman"/>
              </a:rPr>
              <a:t>Initializing arrays with input values</a:t>
            </a:r>
          </a:p>
        </p:txBody>
      </p:sp>
      <p:sp>
        <p:nvSpPr>
          <p:cNvPr id="5" name="TextBox 4"/>
          <p:cNvSpPr txBox="1"/>
          <p:nvPr/>
        </p:nvSpPr>
        <p:spPr>
          <a:xfrm>
            <a:off x="1079500" y="1549400"/>
            <a:ext cx="7810500" cy="1193800"/>
          </a:xfrm>
          <a:prstGeom prst="rect">
            <a:avLst/>
          </a:prstGeom>
          <a:noFill/>
        </p:spPr>
        <p:txBody>
          <a:bodyPr wrap="square" lIns="0" tIns="0" rIns="0" bIns="0" anchor="t">
            <a:spAutoFit/>
          </a:bodyPr>
          <a:lstStyle/>
          <a:p>
            <a:pPr algn="l">
              <a:lnSpc>
                <a:spcPts val="2100"/>
              </a:lnSpc>
            </a:pPr>
            <a:r>
              <a:rPr sz="1500" b="1" i="0">
                <a:solidFill>
                  <a:srgbClr val="000000"/>
                </a:solidFill>
                <a:latin typeface="Courier New"/>
                <a:ea typeface="Courier New"/>
                <a:cs typeface="Courier New"/>
              </a:rPr>
              <a:t>java.util.Scanner input = new java.util.Scanner(System.in);</a:t>
            </a:r>
          </a:p>
          <a:p>
            <a:pPr algn="l">
              <a:lnSpc>
                <a:spcPts val="2100"/>
              </a:lnSpc>
            </a:pPr>
            <a:r>
              <a:rPr sz="1500" b="1" i="0">
                <a:solidFill>
                  <a:srgbClr val="000000"/>
                </a:solidFill>
                <a:latin typeface="Courier New"/>
                <a:ea typeface="Courier New"/>
                <a:cs typeface="Courier New"/>
              </a:rPr>
              <a:t>System.out.print("Enter " + myList.length + " values: ");</a:t>
            </a:r>
          </a:p>
          <a:p>
            <a:pPr algn="l">
              <a:lnSpc>
                <a:spcPts val="2100"/>
              </a:lnSpc>
            </a:pPr>
            <a:r>
              <a:rPr sz="1500" b="1" i="0">
                <a:solidFill>
                  <a:srgbClr val="000000"/>
                </a:solidFill>
                <a:latin typeface="Courier New"/>
                <a:ea typeface="Courier New"/>
                <a:cs typeface="Courier New"/>
              </a:rPr>
              <a:t>for (int i = 0; i &lt; myList.length; i++)</a:t>
            </a:r>
          </a:p>
          <a:p>
            <a:pPr algn="l">
              <a:lnSpc>
                <a:spcPts val="2100"/>
              </a:lnSpc>
            </a:pPr>
            <a:r>
              <a:rPr sz="1500" b="1" i="0">
                <a:solidFill>
                  <a:srgbClr val="000000"/>
                </a:solidFill>
                <a:latin typeface="Courier New"/>
                <a:ea typeface="Courier New"/>
                <a:cs typeface="Courier New"/>
              </a:rPr>
              <a:t>  myList[i] = input.nextDouble();</a:t>
            </a:r>
          </a:p>
        </p:txBody>
      </p:sp>
      <p:sp>
        <p:nvSpPr>
          <p:cNvPr id="6" name="TextBox 5"/>
          <p:cNvSpPr txBox="1"/>
          <p:nvPr/>
        </p:nvSpPr>
        <p:spPr>
          <a:xfrm>
            <a:off x="952500" y="2857500"/>
            <a:ext cx="10287000" cy="330200"/>
          </a:xfrm>
          <a:prstGeom prst="rect">
            <a:avLst/>
          </a:prstGeom>
          <a:noFill/>
        </p:spPr>
        <p:txBody>
          <a:bodyPr wrap="square" lIns="0" tIns="0" rIns="0" bIns="0" anchor="t">
            <a:spAutoFit/>
          </a:bodyPr>
          <a:lstStyle/>
          <a:p>
            <a:pPr algn="l">
              <a:lnSpc>
                <a:spcPts val="2625"/>
              </a:lnSpc>
            </a:pPr>
            <a:r>
              <a:rPr sz="2100" b="1" i="0">
                <a:solidFill>
                  <a:srgbClr val="111111"/>
                </a:solidFill>
                <a:latin typeface="Times New Roman"/>
                <a:ea typeface="Times New Roman"/>
                <a:cs typeface="Times New Roman"/>
              </a:rPr>
              <a:t>Initializing arrays with random values</a:t>
            </a:r>
          </a:p>
        </p:txBody>
      </p:sp>
      <p:sp>
        <p:nvSpPr>
          <p:cNvPr id="7" name="TextBox 6"/>
          <p:cNvSpPr txBox="1"/>
          <p:nvPr/>
        </p:nvSpPr>
        <p:spPr>
          <a:xfrm>
            <a:off x="1079500" y="3289300"/>
            <a:ext cx="5753100" cy="927100"/>
          </a:xfrm>
          <a:prstGeom prst="rect">
            <a:avLst/>
          </a:prstGeom>
          <a:noFill/>
        </p:spPr>
        <p:txBody>
          <a:bodyPr wrap="square" lIns="0" tIns="0" rIns="0" bIns="0" anchor="t">
            <a:spAutoFit/>
          </a:bodyPr>
          <a:lstStyle/>
          <a:p>
            <a:pPr algn="l">
              <a:lnSpc>
                <a:spcPts val="2100"/>
              </a:lnSpc>
            </a:pPr>
            <a:r>
              <a:rPr sz="1500" b="1" i="0">
                <a:solidFill>
                  <a:srgbClr val="000000"/>
                </a:solidFill>
                <a:latin typeface="Courier New"/>
                <a:ea typeface="Courier New"/>
                <a:cs typeface="Courier New"/>
              </a:rPr>
              <a:t>for (int i = 0; i &lt; myList.length; i++) {</a:t>
            </a:r>
          </a:p>
          <a:p>
            <a:pPr algn="l">
              <a:lnSpc>
                <a:spcPts val="2100"/>
              </a:lnSpc>
            </a:pPr>
            <a:r>
              <a:rPr sz="1500" b="1" i="0">
                <a:solidFill>
                  <a:srgbClr val="000000"/>
                </a:solidFill>
                <a:latin typeface="Courier New"/>
                <a:ea typeface="Courier New"/>
                <a:cs typeface="Courier New"/>
              </a:rPr>
              <a:t>  myList[i] = Math.random() * 100;</a:t>
            </a:r>
          </a:p>
          <a:p>
            <a:pPr algn="l">
              <a:lnSpc>
                <a:spcPts val="2100"/>
              </a:lnSpc>
            </a:pPr>
            <a:r>
              <a:rPr sz="1500" b="1" i="0">
                <a:solidFill>
                  <a:srgbClr val="000000"/>
                </a:solidFill>
                <a:latin typeface="Courier New"/>
                <a:ea typeface="Courier New"/>
                <a:cs typeface="Courier New"/>
              </a:rPr>
              <a:t>}</a:t>
            </a:r>
          </a:p>
        </p:txBody>
      </p:sp>
      <p:sp>
        <p:nvSpPr>
          <p:cNvPr id="8" name="TextBox 7"/>
          <p:cNvSpPr txBox="1"/>
          <p:nvPr/>
        </p:nvSpPr>
        <p:spPr>
          <a:xfrm>
            <a:off x="952500" y="4318000"/>
            <a:ext cx="10287000" cy="330200"/>
          </a:xfrm>
          <a:prstGeom prst="rect">
            <a:avLst/>
          </a:prstGeom>
          <a:noFill/>
        </p:spPr>
        <p:txBody>
          <a:bodyPr wrap="square" lIns="0" tIns="0" rIns="0" bIns="0" anchor="t">
            <a:spAutoFit/>
          </a:bodyPr>
          <a:lstStyle/>
          <a:p>
            <a:pPr algn="l">
              <a:lnSpc>
                <a:spcPts val="2625"/>
              </a:lnSpc>
            </a:pPr>
            <a:r>
              <a:rPr sz="2100" b="1" i="0">
                <a:solidFill>
                  <a:srgbClr val="111111"/>
                </a:solidFill>
                <a:latin typeface="Times New Roman"/>
                <a:ea typeface="Times New Roman"/>
                <a:cs typeface="Times New Roman"/>
              </a:rPr>
              <a:t>Printing arrays</a:t>
            </a:r>
          </a:p>
        </p:txBody>
      </p:sp>
      <p:sp>
        <p:nvSpPr>
          <p:cNvPr id="9" name="TextBox 8"/>
          <p:cNvSpPr txBox="1"/>
          <p:nvPr/>
        </p:nvSpPr>
        <p:spPr>
          <a:xfrm>
            <a:off x="1079500" y="4749800"/>
            <a:ext cx="5753100" cy="927100"/>
          </a:xfrm>
          <a:prstGeom prst="rect">
            <a:avLst/>
          </a:prstGeom>
          <a:noFill/>
        </p:spPr>
        <p:txBody>
          <a:bodyPr wrap="square" lIns="0" tIns="0" rIns="0" bIns="0" anchor="t">
            <a:spAutoFit/>
          </a:bodyPr>
          <a:lstStyle/>
          <a:p>
            <a:pPr algn="l">
              <a:lnSpc>
                <a:spcPts val="2100"/>
              </a:lnSpc>
            </a:pPr>
            <a:r>
              <a:rPr sz="1500" b="1" i="0">
                <a:solidFill>
                  <a:srgbClr val="000000"/>
                </a:solidFill>
                <a:latin typeface="Courier New"/>
                <a:ea typeface="Courier New"/>
                <a:cs typeface="Courier New"/>
              </a:rPr>
              <a:t>for (int i = 0; i &lt; myList.length; i++) {</a:t>
            </a:r>
          </a:p>
          <a:p>
            <a:pPr algn="l">
              <a:lnSpc>
                <a:spcPts val="2100"/>
              </a:lnSpc>
            </a:pPr>
            <a:r>
              <a:rPr sz="1500" b="1" i="0">
                <a:solidFill>
                  <a:srgbClr val="000000"/>
                </a:solidFill>
                <a:latin typeface="Courier New"/>
                <a:ea typeface="Courier New"/>
                <a:cs typeface="Courier New"/>
              </a:rPr>
              <a:t>  System.out.print(myList[i] + " ");</a:t>
            </a:r>
          </a:p>
          <a:p>
            <a:pPr algn="l">
              <a:lnSpc>
                <a:spcPts val="2100"/>
              </a:lnSpc>
            </a:pPr>
            <a:r>
              <a:rPr sz="1500" b="1" i="0">
                <a:solidFill>
                  <a:srgbClr val="000000"/>
                </a:solidFill>
                <a:latin typeface="Courier New"/>
                <a:ea typeface="Courier New"/>
                <a:cs typeface="Courier New"/>
              </a:rPr>
              <a:t>}</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Processing Arrays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DF97104-DC4C-46E3-819A-5116330CF742}" type="slidenum">
              <a:rPr sz="1200" b="0" i="0">
                <a:solidFill>
                  <a:srgbClr val="6B6B6B"/>
                </a:solidFill>
                <a:latin typeface="Source Sans 3"/>
                <a:ea typeface="Source Sans 3"/>
                <a:cs typeface="Source Sans 3"/>
              </a:rPr>
              <a:pPr algn="l">
                <a:lnSpc>
                  <a:spcPts val="1500"/>
                </a:lnSpc>
              </a:pPr>
              <a:t>166</a:t>
            </a:fld>
            <a:endParaRPr sz="1200" b="0" i="0">
              <a:solidFill>
                <a:srgbClr val="6B6B6B"/>
              </a:solidFill>
              <a:latin typeface="Source Sans 3"/>
              <a:ea typeface="Source Sans 3"/>
              <a:cs typeface="Source Sans 3"/>
            </a:endParaRPr>
          </a:p>
        </p:txBody>
      </p:sp>
      <p:sp>
        <p:nvSpPr>
          <p:cNvPr id="4" name="TextBox 3"/>
          <p:cNvSpPr txBox="1"/>
          <p:nvPr/>
        </p:nvSpPr>
        <p:spPr>
          <a:xfrm>
            <a:off x="952500" y="1117600"/>
            <a:ext cx="10287000" cy="330200"/>
          </a:xfrm>
          <a:prstGeom prst="rect">
            <a:avLst/>
          </a:prstGeom>
          <a:noFill/>
        </p:spPr>
        <p:txBody>
          <a:bodyPr wrap="square" lIns="0" tIns="0" rIns="0" bIns="0" anchor="t">
            <a:spAutoFit/>
          </a:bodyPr>
          <a:lstStyle/>
          <a:p>
            <a:pPr algn="l">
              <a:lnSpc>
                <a:spcPts val="2625"/>
              </a:lnSpc>
            </a:pPr>
            <a:r>
              <a:rPr sz="2100" b="1" i="0">
                <a:solidFill>
                  <a:srgbClr val="111111"/>
                </a:solidFill>
                <a:latin typeface="Times New Roman"/>
                <a:ea typeface="Times New Roman"/>
                <a:cs typeface="Times New Roman"/>
              </a:rPr>
              <a:t>Summing all elements</a:t>
            </a:r>
          </a:p>
        </p:txBody>
      </p:sp>
      <p:sp>
        <p:nvSpPr>
          <p:cNvPr id="5" name="TextBox 4"/>
          <p:cNvSpPr txBox="1"/>
          <p:nvPr/>
        </p:nvSpPr>
        <p:spPr>
          <a:xfrm>
            <a:off x="1079500" y="1549400"/>
            <a:ext cx="6377940" cy="133604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double total = 0;</a:t>
            </a:r>
          </a:p>
          <a:p>
            <a:pPr algn="l">
              <a:lnSpc>
                <a:spcPts val="2379"/>
              </a:lnSpc>
            </a:pPr>
            <a:r>
              <a:rPr sz="1700" b="1" i="0">
                <a:solidFill>
                  <a:srgbClr val="000000"/>
                </a:solidFill>
                <a:latin typeface="Courier New"/>
                <a:ea typeface="Courier New"/>
                <a:cs typeface="Courier New"/>
              </a:rPr>
              <a:t>for (int i = 0; i &lt; myList.length; i++) {</a:t>
            </a:r>
          </a:p>
          <a:p>
            <a:pPr algn="l">
              <a:lnSpc>
                <a:spcPts val="2379"/>
              </a:lnSpc>
            </a:pPr>
            <a:r>
              <a:rPr sz="1700" b="1" i="0">
                <a:solidFill>
                  <a:srgbClr val="000000"/>
                </a:solidFill>
                <a:latin typeface="Courier New"/>
                <a:ea typeface="Courier New"/>
                <a:cs typeface="Courier New"/>
              </a:rPr>
              <a:t>  total += myList[i];</a:t>
            </a:r>
          </a:p>
          <a:p>
            <a:pPr algn="l">
              <a:lnSpc>
                <a:spcPts val="2379"/>
              </a:lnSpc>
            </a:pPr>
            <a:r>
              <a:rPr sz="1700" b="1" i="0">
                <a:solidFill>
                  <a:srgbClr val="000000"/>
                </a:solidFill>
                <a:latin typeface="Courier New"/>
                <a:ea typeface="Courier New"/>
                <a:cs typeface="Courier New"/>
              </a:rPr>
              <a:t>}</a:t>
            </a:r>
          </a:p>
        </p:txBody>
      </p:sp>
      <p:sp>
        <p:nvSpPr>
          <p:cNvPr id="6" name="TextBox 5"/>
          <p:cNvSpPr txBox="1"/>
          <p:nvPr/>
        </p:nvSpPr>
        <p:spPr>
          <a:xfrm>
            <a:off x="952500" y="3048000"/>
            <a:ext cx="10287000" cy="330200"/>
          </a:xfrm>
          <a:prstGeom prst="rect">
            <a:avLst/>
          </a:prstGeom>
          <a:noFill/>
        </p:spPr>
        <p:txBody>
          <a:bodyPr wrap="square" lIns="0" tIns="0" rIns="0" bIns="0" anchor="t">
            <a:spAutoFit/>
          </a:bodyPr>
          <a:lstStyle/>
          <a:p>
            <a:pPr algn="l">
              <a:lnSpc>
                <a:spcPts val="2625"/>
              </a:lnSpc>
            </a:pPr>
            <a:r>
              <a:rPr sz="2100" b="1" i="0">
                <a:solidFill>
                  <a:srgbClr val="111111"/>
                </a:solidFill>
                <a:latin typeface="Times New Roman"/>
                <a:ea typeface="Times New Roman"/>
                <a:cs typeface="Times New Roman"/>
              </a:rPr>
              <a:t>Finding the largest element</a:t>
            </a:r>
          </a:p>
        </p:txBody>
      </p:sp>
      <p:sp>
        <p:nvSpPr>
          <p:cNvPr id="7" name="TextBox 6"/>
          <p:cNvSpPr txBox="1"/>
          <p:nvPr/>
        </p:nvSpPr>
        <p:spPr>
          <a:xfrm>
            <a:off x="1079500" y="3479800"/>
            <a:ext cx="6377940" cy="133604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double max = myList[0];</a:t>
            </a:r>
          </a:p>
          <a:p>
            <a:pPr algn="l">
              <a:lnSpc>
                <a:spcPts val="2379"/>
              </a:lnSpc>
            </a:pPr>
            <a:r>
              <a:rPr sz="1700" b="1" i="0">
                <a:solidFill>
                  <a:srgbClr val="000000"/>
                </a:solidFill>
                <a:latin typeface="Courier New"/>
                <a:ea typeface="Courier New"/>
                <a:cs typeface="Courier New"/>
              </a:rPr>
              <a:t>for (int i = 1; i &lt; myList.length; i++) {</a:t>
            </a:r>
          </a:p>
          <a:p>
            <a:pPr algn="l">
              <a:lnSpc>
                <a:spcPts val="2379"/>
              </a:lnSpc>
            </a:pPr>
            <a:r>
              <a:rPr sz="1700" b="1" i="0">
                <a:solidFill>
                  <a:srgbClr val="000000"/>
                </a:solidFill>
                <a:latin typeface="Courier New"/>
                <a:ea typeface="Courier New"/>
                <a:cs typeface="Courier New"/>
              </a:rPr>
              <a:t>  if (myList[i] &gt; max) max = myList[i];</a:t>
            </a:r>
          </a:p>
          <a:p>
            <a:pPr algn="l">
              <a:lnSpc>
                <a:spcPts val="2379"/>
              </a:lnSpc>
            </a:pPr>
            <a:r>
              <a:rPr sz="1700" b="1" i="0">
                <a:solidFill>
                  <a:srgbClr val="000000"/>
                </a:solidFill>
                <a:latin typeface="Courier New"/>
                <a:ea typeface="Courier New"/>
                <a:cs typeface="Courier New"/>
              </a:rPr>
              <a:t>}</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Enhanced for Loop (for-each loop)</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B5BAA2D7-AAEF-4BD2-810E-CD07694E6DE4}" type="slidenum">
              <a:rPr sz="1200" b="0" i="0">
                <a:solidFill>
                  <a:srgbClr val="6B6B6B"/>
                </a:solidFill>
                <a:latin typeface="Source Sans 3"/>
                <a:ea typeface="Source Sans 3"/>
                <a:cs typeface="Source Sans 3"/>
              </a:rPr>
              <a:pPr algn="l">
                <a:lnSpc>
                  <a:spcPts val="1500"/>
                </a:lnSpc>
              </a:pPr>
              <a:t>167</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625"/>
              </a:lnSpc>
            </a:pPr>
            <a:r>
              <a:rPr sz="2100" b="0" i="0">
                <a:solidFill>
                  <a:srgbClr val="111111"/>
                </a:solidFill>
                <a:latin typeface="Times New Roman"/>
                <a:ea typeface="Times New Roman"/>
                <a:cs typeface="Times New Roman"/>
              </a:rPr>
              <a:t>JDK 1.5 introduced a new for loop that enables you to traverse the complete array sequentially without using an index variable. For example, the following code displays all elements in the array </a:t>
            </a:r>
            <a:r>
              <a:rPr sz="1900" b="1" i="0">
                <a:solidFill>
                  <a:srgbClr val="111111"/>
                </a:solidFill>
                <a:latin typeface="Courier New"/>
                <a:ea typeface="Courier New"/>
                <a:cs typeface="Courier New"/>
              </a:rPr>
              <a:t>myList</a:t>
            </a:r>
            <a:r>
              <a:rPr sz="2100" b="0" i="0">
                <a:solidFill>
                  <a:srgbClr val="111111"/>
                </a:solidFill>
                <a:latin typeface="Times New Roman"/>
                <a:ea typeface="Times New Roman"/>
                <a:cs typeface="Times New Roman"/>
              </a:rPr>
              <a:t>:</a:t>
            </a:r>
          </a:p>
          <a:p>
            <a:pPr marL="457200" indent="0" algn="l">
              <a:lnSpc>
                <a:spcPts val="2610"/>
              </a:lnSpc>
              <a:spcBef>
                <a:spcPts val="600"/>
              </a:spcBef>
            </a:pPr>
            <a:r>
              <a:rPr sz="1800" b="1" i="0">
                <a:solidFill>
                  <a:srgbClr val="111111"/>
                </a:solidFill>
                <a:latin typeface="Courier New"/>
                <a:ea typeface="Courier New"/>
                <a:cs typeface="Courier New"/>
              </a:rPr>
              <a:t>for (double value: myList)</a:t>
            </a:r>
          </a:p>
          <a:p>
            <a:pPr marL="457200" indent="0" algn="l">
              <a:lnSpc>
                <a:spcPts val="2610"/>
              </a:lnSpc>
            </a:pPr>
            <a:r>
              <a:rPr sz="1800" b="1" i="0">
                <a:solidFill>
                  <a:srgbClr val="111111"/>
                </a:solidFill>
                <a:latin typeface="Courier New"/>
                <a:ea typeface="Courier New"/>
                <a:cs typeface="Courier New"/>
              </a:rPr>
              <a:t>  System.out.println(value);</a:t>
            </a:r>
          </a:p>
          <a:p>
            <a:pPr algn="l">
              <a:lnSpc>
                <a:spcPts val="2625"/>
              </a:lnSpc>
              <a:spcBef>
                <a:spcPts val="1000"/>
              </a:spcBef>
            </a:pPr>
            <a:r>
              <a:rPr sz="2100" b="0" i="0">
                <a:solidFill>
                  <a:srgbClr val="111111"/>
                </a:solidFill>
                <a:latin typeface="Times New Roman"/>
                <a:ea typeface="Times New Roman"/>
                <a:cs typeface="Times New Roman"/>
              </a:rPr>
              <a:t>In general, the syntax is</a:t>
            </a:r>
          </a:p>
          <a:p>
            <a:pPr marL="457200" indent="0" algn="l">
              <a:lnSpc>
                <a:spcPts val="2610"/>
              </a:lnSpc>
              <a:spcBef>
                <a:spcPts val="600"/>
              </a:spcBef>
            </a:pPr>
            <a:r>
              <a:rPr sz="1800" b="1" i="0">
                <a:solidFill>
                  <a:srgbClr val="111111"/>
                </a:solidFill>
                <a:latin typeface="Courier New"/>
                <a:ea typeface="Courier New"/>
                <a:cs typeface="Courier New"/>
              </a:rPr>
              <a:t>for (elementType value: arrayRefVar) {</a:t>
            </a:r>
          </a:p>
          <a:p>
            <a:pPr marL="457200" indent="0" algn="l">
              <a:lnSpc>
                <a:spcPts val="2610"/>
              </a:lnSpc>
            </a:pPr>
            <a:r>
              <a:rPr sz="1800" b="1" i="0">
                <a:solidFill>
                  <a:srgbClr val="111111"/>
                </a:solidFill>
                <a:latin typeface="Courier New"/>
                <a:ea typeface="Courier New"/>
                <a:cs typeface="Courier New"/>
              </a:rPr>
              <a:t>  // Process the value</a:t>
            </a:r>
          </a:p>
          <a:p>
            <a:pPr marL="457200" indent="0" algn="l">
              <a:lnSpc>
                <a:spcPts val="2610"/>
              </a:lnSpc>
            </a:pPr>
            <a:r>
              <a:rPr sz="1800" b="1" i="0">
                <a:solidFill>
                  <a:srgbClr val="111111"/>
                </a:solidFill>
                <a:latin typeface="Courier New"/>
                <a:ea typeface="Courier New"/>
                <a:cs typeface="Courier New"/>
              </a:rPr>
              <a:t>}</a:t>
            </a:r>
          </a:p>
          <a:p>
            <a:pPr algn="l">
              <a:lnSpc>
                <a:spcPts val="2625"/>
              </a:lnSpc>
              <a:spcBef>
                <a:spcPts val="1000"/>
              </a:spcBef>
            </a:pPr>
            <a:r>
              <a:rPr sz="2100" b="0" i="0">
                <a:solidFill>
                  <a:srgbClr val="111111"/>
                </a:solidFill>
                <a:latin typeface="Times New Roman"/>
                <a:ea typeface="Times New Roman"/>
                <a:cs typeface="Times New Roman"/>
              </a:rPr>
              <a:t>You still have to use an index variable if you wish to traverse the array in a different order or change the elements in the array.</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Copying Arrays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72534C7-9F86-4D08-B45F-EA58CEBF9A4A}" type="slidenum">
              <a:rPr sz="1200" b="0" i="0">
                <a:solidFill>
                  <a:srgbClr val="6B6B6B"/>
                </a:solidFill>
                <a:latin typeface="Source Sans 3"/>
                <a:ea typeface="Source Sans 3"/>
                <a:cs typeface="Source Sans 3"/>
              </a:rPr>
              <a:pPr algn="l">
                <a:lnSpc>
                  <a:spcPts val="1500"/>
                </a:lnSpc>
              </a:pPr>
              <a:t>168</a:t>
            </a:fld>
            <a:endParaRPr sz="1200" b="0" i="0">
              <a:solidFill>
                <a:srgbClr val="6B6B6B"/>
              </a:solidFill>
              <a:latin typeface="Source Sans 3"/>
              <a:ea typeface="Source Sans 3"/>
              <a:cs typeface="Source Sans 3"/>
            </a:endParaRPr>
          </a:p>
        </p:txBody>
      </p:sp>
      <p:sp>
        <p:nvSpPr>
          <p:cNvPr id="4" name="TextBox 3"/>
          <p:cNvSpPr txBox="1"/>
          <p:nvPr/>
        </p:nvSpPr>
        <p:spPr>
          <a:xfrm>
            <a:off x="952500" y="1117600"/>
            <a:ext cx="10287000" cy="330200"/>
          </a:xfrm>
          <a:prstGeom prst="rect">
            <a:avLst/>
          </a:prstGeom>
          <a:noFill/>
        </p:spPr>
        <p:txBody>
          <a:bodyPr wrap="square" lIns="0" tIns="0" rIns="0" bIns="0" anchor="t">
            <a:spAutoFit/>
          </a:bodyPr>
          <a:lstStyle/>
          <a:p>
            <a:pPr algn="l">
              <a:lnSpc>
                <a:spcPts val="2750"/>
              </a:lnSpc>
            </a:pPr>
            <a:r>
              <a:rPr sz="2200" b="1" i="0">
                <a:solidFill>
                  <a:srgbClr val="111111"/>
                </a:solidFill>
                <a:latin typeface="Times New Roman"/>
                <a:ea typeface="Times New Roman"/>
                <a:cs typeface="Times New Roman"/>
              </a:rPr>
              <a:t>Using a loop:</a:t>
            </a:r>
          </a:p>
        </p:txBody>
      </p:sp>
      <p:sp>
        <p:nvSpPr>
          <p:cNvPr id="5" name="TextBox 4"/>
          <p:cNvSpPr txBox="1"/>
          <p:nvPr/>
        </p:nvSpPr>
        <p:spPr>
          <a:xfrm>
            <a:off x="1079500" y="1574800"/>
            <a:ext cx="7284720" cy="163830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int[] sourceArray = {2, 3, 1, 5, 10};</a:t>
            </a:r>
          </a:p>
          <a:p>
            <a:pPr algn="l">
              <a:lnSpc>
                <a:spcPts val="2379"/>
              </a:lnSpc>
            </a:pPr>
            <a:r>
              <a:rPr sz="1700" b="1" i="0">
                <a:solidFill>
                  <a:srgbClr val="000000"/>
                </a:solidFill>
                <a:latin typeface="Courier New"/>
                <a:ea typeface="Courier New"/>
                <a:cs typeface="Courier New"/>
              </a:rPr>
              <a:t>int[] targetArray = new int[sourceArray.length];</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for (int i = 0; i &lt; sourceArray.length; i++)</a:t>
            </a:r>
          </a:p>
          <a:p>
            <a:pPr algn="l">
              <a:lnSpc>
                <a:spcPts val="2379"/>
              </a:lnSpc>
            </a:pPr>
            <a:r>
              <a:rPr sz="1700" b="1" i="0">
                <a:solidFill>
                  <a:srgbClr val="000000"/>
                </a:solidFill>
                <a:latin typeface="Courier New"/>
                <a:ea typeface="Courier New"/>
                <a:cs typeface="Courier New"/>
              </a:rPr>
              <a:t>  targetArray[i] = sourceArray[i];</a:t>
            </a:r>
          </a:p>
        </p:txBody>
      </p:sp>
      <p:sp>
        <p:nvSpPr>
          <p:cNvPr id="6" name="TextBox 5"/>
          <p:cNvSpPr txBox="1"/>
          <p:nvPr/>
        </p:nvSpPr>
        <p:spPr>
          <a:xfrm>
            <a:off x="952500" y="3429000"/>
            <a:ext cx="10287000" cy="330200"/>
          </a:xfrm>
          <a:prstGeom prst="rect">
            <a:avLst/>
          </a:prstGeom>
          <a:noFill/>
        </p:spPr>
        <p:txBody>
          <a:bodyPr wrap="square" lIns="0" tIns="0" rIns="0" bIns="0" anchor="t">
            <a:spAutoFit/>
          </a:bodyPr>
          <a:lstStyle/>
          <a:p>
            <a:pPr algn="l">
              <a:lnSpc>
                <a:spcPts val="2750"/>
              </a:lnSpc>
            </a:pPr>
            <a:r>
              <a:rPr sz="2200" b="1" i="0">
                <a:solidFill>
                  <a:srgbClr val="111111"/>
                </a:solidFill>
                <a:latin typeface="Times New Roman"/>
                <a:ea typeface="Times New Roman"/>
                <a:cs typeface="Times New Roman"/>
              </a:rPr>
              <a:t>The </a:t>
            </a:r>
            <a:r>
              <a:rPr sz="2000" b="1" i="0">
                <a:solidFill>
                  <a:srgbClr val="111111"/>
                </a:solidFill>
                <a:latin typeface="Courier New"/>
                <a:ea typeface="Courier New"/>
                <a:cs typeface="Courier New"/>
              </a:rPr>
              <a:t>arraycopy</a:t>
            </a:r>
            <a:r>
              <a:rPr sz="2200" b="1" i="0">
                <a:solidFill>
                  <a:srgbClr val="111111"/>
                </a:solidFill>
                <a:latin typeface="Times New Roman"/>
                <a:ea typeface="Times New Roman"/>
                <a:cs typeface="Times New Roman"/>
              </a:rPr>
              <a:t> Utility</a:t>
            </a:r>
          </a:p>
        </p:txBody>
      </p:sp>
      <p:sp>
        <p:nvSpPr>
          <p:cNvPr id="7" name="TextBox 6"/>
          <p:cNvSpPr txBox="1"/>
          <p:nvPr/>
        </p:nvSpPr>
        <p:spPr>
          <a:xfrm>
            <a:off x="1079500" y="3886200"/>
            <a:ext cx="9098280" cy="42926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arraycopy(sourceArray, src_pos, targetArray, tar_pos, length);</a:t>
            </a:r>
          </a:p>
        </p:txBody>
      </p:sp>
      <p:sp>
        <p:nvSpPr>
          <p:cNvPr id="8" name="TextBox 7"/>
          <p:cNvSpPr txBox="1"/>
          <p:nvPr/>
        </p:nvSpPr>
        <p:spPr>
          <a:xfrm>
            <a:off x="952500" y="4381500"/>
            <a:ext cx="10287000" cy="3302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Example:</a:t>
            </a:r>
          </a:p>
        </p:txBody>
      </p:sp>
      <p:sp>
        <p:nvSpPr>
          <p:cNvPr id="9" name="TextBox 8"/>
          <p:cNvSpPr txBox="1"/>
          <p:nvPr/>
        </p:nvSpPr>
        <p:spPr>
          <a:xfrm>
            <a:off x="1079500" y="4838700"/>
            <a:ext cx="10005060" cy="42926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System.arraycopy(sourceArray, 0, targetArray, 0, sourceArray.length);</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Passing Arrays to Methods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E64BDA7-6532-4E78-B915-43058ED41B3E}" type="slidenum">
              <a:rPr sz="1200" b="0" i="0">
                <a:solidFill>
                  <a:srgbClr val="6B6B6B"/>
                </a:solidFill>
                <a:latin typeface="Source Sans 3"/>
                <a:ea typeface="Source Sans 3"/>
                <a:cs typeface="Source Sans 3"/>
              </a:rPr>
              <a:pPr algn="l">
                <a:lnSpc>
                  <a:spcPts val="1500"/>
                </a:lnSpc>
              </a:pPr>
              <a:t>169</a:t>
            </a:fld>
            <a:endParaRPr sz="1200" b="0" i="0">
              <a:solidFill>
                <a:srgbClr val="6B6B6B"/>
              </a:solidFill>
              <a:latin typeface="Source Sans 3"/>
              <a:ea typeface="Source Sans 3"/>
              <a:cs typeface="Source Sans 3"/>
            </a:endParaRPr>
          </a:p>
        </p:txBody>
      </p:sp>
      <p:sp>
        <p:nvSpPr>
          <p:cNvPr id="4" name="TextBox 3"/>
          <p:cNvSpPr txBox="1"/>
          <p:nvPr/>
        </p:nvSpPr>
        <p:spPr>
          <a:xfrm>
            <a:off x="1079500" y="1244600"/>
            <a:ext cx="6766560" cy="163830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public static void printArray(int[] array) {</a:t>
            </a:r>
          </a:p>
          <a:p>
            <a:pPr algn="l">
              <a:lnSpc>
                <a:spcPts val="2379"/>
              </a:lnSpc>
            </a:pPr>
            <a:r>
              <a:rPr sz="1700" b="1" i="0">
                <a:solidFill>
                  <a:srgbClr val="000000"/>
                </a:solidFill>
                <a:latin typeface="Courier New"/>
                <a:ea typeface="Courier New"/>
                <a:cs typeface="Courier New"/>
              </a:rPr>
              <a:t>  for (int i = 0; i &lt; array.length; i++) {</a:t>
            </a:r>
          </a:p>
          <a:p>
            <a:pPr algn="l">
              <a:lnSpc>
                <a:spcPts val="2379"/>
              </a:lnSpc>
            </a:pPr>
            <a:r>
              <a:rPr sz="1700" b="1" i="0">
                <a:solidFill>
                  <a:srgbClr val="000000"/>
                </a:solidFill>
                <a:latin typeface="Courier New"/>
                <a:ea typeface="Courier New"/>
                <a:cs typeface="Courier New"/>
              </a:rPr>
              <a:t>    System.out.print(array[i] + " ");</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a:t>
            </a:r>
          </a:p>
        </p:txBody>
      </p:sp>
      <p:sp>
        <p:nvSpPr>
          <p:cNvPr id="5" name="TextBox 4"/>
          <p:cNvSpPr txBox="1"/>
          <p:nvPr/>
        </p:nvSpPr>
        <p:spPr>
          <a:xfrm>
            <a:off x="1905000" y="3048000"/>
            <a:ext cx="5080000" cy="304800"/>
          </a:xfrm>
          <a:prstGeom prst="rect">
            <a:avLst/>
          </a:prstGeom>
          <a:noFill/>
        </p:spPr>
        <p:txBody>
          <a:bodyPr wrap="square" lIns="0" tIns="0" rIns="0" bIns="0" anchor="t">
            <a:spAutoFit/>
          </a:bodyPr>
          <a:lstStyle/>
          <a:p>
            <a:pPr algn="l">
              <a:lnSpc>
                <a:spcPts val="2000"/>
              </a:lnSpc>
            </a:pPr>
            <a:r>
              <a:rPr sz="1600" b="1" i="0">
                <a:solidFill>
                  <a:srgbClr val="111111"/>
                </a:solidFill>
                <a:latin typeface="Courier New"/>
                <a:ea typeface="Courier New"/>
                <a:cs typeface="Courier New"/>
              </a:rPr>
              <a:t>Invoke the method</a:t>
            </a:r>
          </a:p>
        </p:txBody>
      </p:sp>
      <p:sp>
        <p:nvSpPr>
          <p:cNvPr id="6" name="TextBox 5"/>
          <p:cNvSpPr txBox="1"/>
          <p:nvPr/>
        </p:nvSpPr>
        <p:spPr>
          <a:xfrm>
            <a:off x="1905000" y="3454400"/>
            <a:ext cx="5212080" cy="73152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int[] list = {3, 1, 2, 6, 4, 2};</a:t>
            </a:r>
          </a:p>
          <a:p>
            <a:pPr algn="l">
              <a:lnSpc>
                <a:spcPts val="2379"/>
              </a:lnSpc>
            </a:pPr>
            <a:r>
              <a:rPr sz="1700" b="1" i="0">
                <a:solidFill>
                  <a:srgbClr val="000000"/>
                </a:solidFill>
                <a:latin typeface="Courier New"/>
                <a:ea typeface="Courier New"/>
                <a:cs typeface="Courier New"/>
              </a:rPr>
              <a:t>printArray(list);</a:t>
            </a:r>
          </a:p>
        </p:txBody>
      </p:sp>
      <p:sp>
        <p:nvSpPr>
          <p:cNvPr id="7" name="TextBox 6"/>
          <p:cNvSpPr txBox="1"/>
          <p:nvPr/>
        </p:nvSpPr>
        <p:spPr>
          <a:xfrm>
            <a:off x="3683000" y="4381500"/>
            <a:ext cx="5080000" cy="304800"/>
          </a:xfrm>
          <a:prstGeom prst="rect">
            <a:avLst/>
          </a:prstGeom>
          <a:noFill/>
        </p:spPr>
        <p:txBody>
          <a:bodyPr wrap="square" lIns="0" tIns="0" rIns="0" bIns="0" anchor="t">
            <a:spAutoFit/>
          </a:bodyPr>
          <a:lstStyle/>
          <a:p>
            <a:pPr algn="l">
              <a:lnSpc>
                <a:spcPts val="2000"/>
              </a:lnSpc>
            </a:pPr>
            <a:r>
              <a:rPr sz="1600" b="1" i="0">
                <a:solidFill>
                  <a:srgbClr val="111111"/>
                </a:solidFill>
                <a:latin typeface="Courier New"/>
                <a:ea typeface="Courier New"/>
                <a:cs typeface="Courier New"/>
              </a:rPr>
              <a:t>Invoke the method</a:t>
            </a:r>
          </a:p>
        </p:txBody>
      </p:sp>
      <p:sp>
        <p:nvSpPr>
          <p:cNvPr id="8" name="TextBox 7"/>
          <p:cNvSpPr txBox="1"/>
          <p:nvPr/>
        </p:nvSpPr>
        <p:spPr>
          <a:xfrm>
            <a:off x="3683000" y="4787900"/>
            <a:ext cx="6248400" cy="42926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printArray(new int[]{3, 1, 2, 6, 4, 2});</a:t>
            </a:r>
          </a:p>
        </p:txBody>
      </p:sp>
      <p:cxnSp>
        <p:nvCxnSpPr>
          <p:cNvPr id="9" name="Connector 8"/>
          <p:cNvCxnSpPr/>
          <p:nvPr/>
        </p:nvCxnSpPr>
        <p:spPr>
          <a:xfrm flipV="1">
            <a:off x="3601720" y="1570863"/>
            <a:ext cx="1946910" cy="1945640"/>
          </a:xfrm>
          <a:prstGeom prst="line">
            <a:avLst/>
          </a:prstGeom>
          <a:ln w="95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069840" y="5164963"/>
            <a:ext cx="3573780" cy="0"/>
          </a:xfrm>
          <a:prstGeom prst="line">
            <a:avLst/>
          </a:prstGeom>
          <a:ln w="9525">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5998972" y="1570863"/>
            <a:ext cx="857758" cy="3594100"/>
          </a:xfrm>
          <a:prstGeom prst="line">
            <a:avLst/>
          </a:prstGeom>
          <a:ln w="9525">
            <a:solidFill>
              <a:srgbClr val="C00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840730" y="5266563"/>
            <a:ext cx="2540000" cy="304800"/>
          </a:xfrm>
          <a:prstGeom prst="rect">
            <a:avLst/>
          </a:prstGeom>
          <a:noFill/>
        </p:spPr>
        <p:txBody>
          <a:bodyPr wrap="square" lIns="0" tIns="0" rIns="0" bIns="0" anchor="t">
            <a:spAutoFit/>
          </a:bodyPr>
          <a:lstStyle/>
          <a:p>
            <a:pPr algn="l">
              <a:lnSpc>
                <a:spcPts val="2000"/>
              </a:lnSpc>
            </a:pPr>
            <a:r>
              <a:rPr sz="1600" b="1" i="0">
                <a:solidFill>
                  <a:srgbClr val="111111"/>
                </a:solidFill>
                <a:latin typeface="Courier New"/>
                <a:ea typeface="Courier New"/>
                <a:cs typeface="Courier New"/>
              </a:rPr>
              <a:t>Anonymous array</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Anonymous Array</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2C6B799F-56A6-440D-8A9B-AF31D244BB1C}" type="slidenum">
              <a:rPr sz="1200" b="0" i="0">
                <a:solidFill>
                  <a:srgbClr val="6B6B6B"/>
                </a:solidFill>
                <a:latin typeface="Source Sans 3"/>
                <a:ea typeface="Source Sans 3"/>
                <a:cs typeface="Source Sans 3"/>
              </a:rPr>
              <a:pPr algn="l">
                <a:lnSpc>
                  <a:spcPts val="1500"/>
                </a:lnSpc>
              </a:pPr>
              <a:t>170</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3000"/>
              </a:lnSpc>
            </a:pPr>
            <a:r>
              <a:rPr sz="2400" b="0" i="0">
                <a:solidFill>
                  <a:srgbClr val="111111"/>
                </a:solidFill>
                <a:latin typeface="Times New Roman"/>
                <a:ea typeface="Times New Roman"/>
                <a:cs typeface="Times New Roman"/>
              </a:rPr>
              <a:t>The statement</a:t>
            </a:r>
          </a:p>
          <a:p>
            <a:pPr marL="457200" indent="0" algn="l">
              <a:lnSpc>
                <a:spcPts val="2755"/>
              </a:lnSpc>
              <a:spcBef>
                <a:spcPts val="840"/>
              </a:spcBef>
            </a:pPr>
            <a:r>
              <a:rPr sz="1900" b="1" i="0">
                <a:solidFill>
                  <a:srgbClr val="111111"/>
                </a:solidFill>
                <a:latin typeface="Courier New"/>
                <a:ea typeface="Courier New"/>
                <a:cs typeface="Courier New"/>
              </a:rPr>
              <a:t>printArray(new int[]{3, 1, 2, 6, 4, 2});</a:t>
            </a:r>
          </a:p>
          <a:p>
            <a:pPr algn="l">
              <a:lnSpc>
                <a:spcPts val="3000"/>
              </a:lnSpc>
              <a:spcBef>
                <a:spcPts val="1400"/>
              </a:spcBef>
            </a:pPr>
            <a:r>
              <a:rPr sz="2400" b="0" i="0">
                <a:solidFill>
                  <a:srgbClr val="111111"/>
                </a:solidFill>
                <a:latin typeface="Times New Roman"/>
                <a:ea typeface="Times New Roman"/>
                <a:cs typeface="Times New Roman"/>
              </a:rPr>
              <a:t>creates an array using the following syntax:</a:t>
            </a:r>
          </a:p>
          <a:p>
            <a:pPr marL="457200" indent="0" algn="l">
              <a:lnSpc>
                <a:spcPts val="2755"/>
              </a:lnSpc>
              <a:spcBef>
                <a:spcPts val="840"/>
              </a:spcBef>
            </a:pPr>
            <a:r>
              <a:rPr sz="1900" b="1" i="0">
                <a:solidFill>
                  <a:srgbClr val="111111"/>
                </a:solidFill>
                <a:latin typeface="Courier New"/>
                <a:ea typeface="Courier New"/>
                <a:cs typeface="Courier New"/>
              </a:rPr>
              <a:t>new dataType[]{literal0, literal1, ..., literalk};</a:t>
            </a:r>
          </a:p>
          <a:p>
            <a:pPr algn="l">
              <a:lnSpc>
                <a:spcPts val="3000"/>
              </a:lnSpc>
              <a:spcBef>
                <a:spcPts val="1400"/>
              </a:spcBef>
            </a:pPr>
            <a:r>
              <a:rPr sz="2400" b="0" i="0">
                <a:solidFill>
                  <a:srgbClr val="111111"/>
                </a:solidFill>
                <a:latin typeface="Times New Roman"/>
                <a:ea typeface="Times New Roman"/>
                <a:cs typeface="Times New Roman"/>
              </a:rPr>
              <a:t>There is no explicit reference variable for the array. Such array is called an anonymous array.</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Returning an Array from a Method</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4FB09AC-43C1-45EF-BC69-464821F1E7C9}" type="slidenum">
              <a:rPr sz="1200" b="0" i="0">
                <a:solidFill>
                  <a:srgbClr val="6B6B6B"/>
                </a:solidFill>
                <a:latin typeface="Source Sans 3"/>
                <a:ea typeface="Source Sans 3"/>
                <a:cs typeface="Source Sans 3"/>
              </a:rPr>
              <a:pPr algn="l">
                <a:lnSpc>
                  <a:spcPts val="1500"/>
                </a:lnSpc>
              </a:pPr>
              <a:t>171</a:t>
            </a:fld>
            <a:endParaRPr sz="1200" b="0" i="0">
              <a:solidFill>
                <a:srgbClr val="6B6B6B"/>
              </a:solidFill>
              <a:latin typeface="Source Sans 3"/>
              <a:ea typeface="Source Sans 3"/>
              <a:cs typeface="Source Sans 3"/>
            </a:endParaRPr>
          </a:p>
        </p:txBody>
      </p:sp>
      <p:pic>
        <p:nvPicPr>
          <p:cNvPr id="4" name="Picture 3" descr="reverse.png"/>
          <p:cNvPicPr>
            <a:picLocks noChangeAspect="1"/>
          </p:cNvPicPr>
          <p:nvPr/>
        </p:nvPicPr>
        <p:blipFill>
          <a:blip r:embed="rId2"/>
          <a:stretch>
            <a:fillRect/>
          </a:stretch>
        </p:blipFill>
        <p:spPr>
          <a:xfrm>
            <a:off x="1164559" y="1117600"/>
            <a:ext cx="9862882" cy="5080000"/>
          </a:xfrm>
          <a:prstGeom prst="rect">
            <a:avLst/>
          </a:prstGeom>
        </p:spPr>
      </p:pic>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Searching Arrays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0AD8F52F-70B3-4A77-B9F7-8810EBABC5A6}" type="slidenum">
              <a:rPr sz="1200" b="0" i="0">
                <a:solidFill>
                  <a:srgbClr val="6B6B6B"/>
                </a:solidFill>
                <a:latin typeface="Source Sans 3"/>
                <a:ea typeface="Source Sans 3"/>
                <a:cs typeface="Source Sans 3"/>
              </a:rPr>
              <a:pPr algn="l">
                <a:lnSpc>
                  <a:spcPts val="1500"/>
                </a:lnSpc>
              </a:pPr>
              <a:t>172</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1262333"/>
          </a:xfrm>
          <a:prstGeom prst="rect">
            <a:avLst/>
          </a:prstGeom>
          <a:noFill/>
        </p:spPr>
        <p:txBody>
          <a:bodyPr wrap="square" lIns="0" tIns="0" rIns="0" bIns="0" anchor="t">
            <a:spAutoFit/>
          </a:bodyPr>
          <a:lstStyle/>
          <a:p>
            <a:pPr algn="just">
              <a:lnSpc>
                <a:spcPts val="2500"/>
              </a:lnSpc>
            </a:pPr>
            <a:r>
              <a:rPr sz="2000" b="0" i="0">
                <a:solidFill>
                  <a:srgbClr val="111111"/>
                </a:solidFill>
                <a:latin typeface="Times New Roman"/>
                <a:ea typeface="Times New Roman"/>
                <a:cs typeface="Times New Roman"/>
              </a:rPr>
              <a:t>Searching is the process of looking for a specific element in an array; for example, discovering whether a certain score is included in a list of scores. Searching is a common task in computer programming. There are many algorithms and data structures devoted to searching. In this section, two commonly used approaches are discussed, linear search and binary search.</a:t>
            </a:r>
          </a:p>
        </p:txBody>
      </p:sp>
      <p:sp>
        <p:nvSpPr>
          <p:cNvPr id="5" name="Rectangle 4"/>
          <p:cNvSpPr/>
          <p:nvPr/>
        </p:nvSpPr>
        <p:spPr>
          <a:xfrm>
            <a:off x="1247140" y="4213987"/>
            <a:ext cx="3741420" cy="218440"/>
          </a:xfrm>
          <a:prstGeom prst="rect">
            <a:avLst/>
          </a:prstGeom>
          <a:solidFill>
            <a:srgbClr val="FFFF66"/>
          </a:solidFill>
          <a:ln w="12700">
            <a:solidFill>
              <a:srgbClr val="FFFF6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89000" y="3492500"/>
            <a:ext cx="6515100" cy="2207260"/>
          </a:xfrm>
          <a:prstGeom prst="rect">
            <a:avLst/>
          </a:prstGeom>
          <a:noFill/>
        </p:spPr>
        <p:txBody>
          <a:bodyPr wrap="square" lIns="0" tIns="0" rIns="0" bIns="0" anchor="t">
            <a:spAutoFit/>
          </a:bodyPr>
          <a:lstStyle/>
          <a:p>
            <a:pPr algn="l">
              <a:lnSpc>
                <a:spcPts val="1820"/>
              </a:lnSpc>
            </a:pPr>
            <a:r>
              <a:rPr sz="1300" b="1" i="0">
                <a:solidFill>
                  <a:srgbClr val="000000"/>
                </a:solidFill>
                <a:latin typeface="Courier New"/>
                <a:ea typeface="Courier New"/>
                <a:cs typeface="Courier New"/>
              </a:rPr>
              <a:t>public class LinearSearch {</a:t>
            </a:r>
          </a:p>
          <a:p>
            <a:pPr algn="l">
              <a:lnSpc>
                <a:spcPts val="1820"/>
              </a:lnSpc>
            </a:pPr>
            <a:r>
              <a:rPr sz="1300" b="1" i="0">
                <a:solidFill>
                  <a:srgbClr val="000000"/>
                </a:solidFill>
                <a:latin typeface="Courier New"/>
                <a:ea typeface="Courier New"/>
                <a:cs typeface="Courier New"/>
              </a:rPr>
              <a:t>  /** The method for finding a key in the list */</a:t>
            </a:r>
          </a:p>
          <a:p>
            <a:pPr algn="l">
              <a:lnSpc>
                <a:spcPts val="1820"/>
              </a:lnSpc>
            </a:pPr>
            <a:r>
              <a:rPr sz="1300" b="1" i="0">
                <a:solidFill>
                  <a:srgbClr val="000000"/>
                </a:solidFill>
                <a:latin typeface="Courier New"/>
                <a:ea typeface="Courier New"/>
                <a:cs typeface="Courier New"/>
              </a:rPr>
              <a:t>  public static int linearSearch(int[] list, int key) {</a:t>
            </a:r>
          </a:p>
          <a:p>
            <a:pPr algn="l">
              <a:lnSpc>
                <a:spcPts val="1820"/>
              </a:lnSpc>
            </a:pPr>
            <a:r>
              <a:rPr sz="1300" b="1" i="0">
                <a:solidFill>
                  <a:srgbClr val="000000"/>
                </a:solidFill>
                <a:latin typeface="Courier New"/>
                <a:ea typeface="Courier New"/>
                <a:cs typeface="Courier New"/>
              </a:rPr>
              <a:t>    for (int i = 0; i &lt; list.length; i++)</a:t>
            </a:r>
          </a:p>
          <a:p>
            <a:pPr algn="l">
              <a:lnSpc>
                <a:spcPts val="1820"/>
              </a:lnSpc>
            </a:pPr>
            <a:r>
              <a:rPr sz="1300" b="1" i="0">
                <a:solidFill>
                  <a:srgbClr val="000000"/>
                </a:solidFill>
                <a:latin typeface="Courier New"/>
                <a:ea typeface="Courier New"/>
                <a:cs typeface="Courier New"/>
              </a:rPr>
              <a:t>      if (key == list[i])</a:t>
            </a:r>
          </a:p>
          <a:p>
            <a:pPr algn="l">
              <a:lnSpc>
                <a:spcPts val="1820"/>
              </a:lnSpc>
            </a:pPr>
            <a:r>
              <a:rPr sz="1300" b="1" i="0">
                <a:solidFill>
                  <a:srgbClr val="000000"/>
                </a:solidFill>
                <a:latin typeface="Courier New"/>
                <a:ea typeface="Courier New"/>
                <a:cs typeface="Courier New"/>
              </a:rPr>
              <a:t>        return i;</a:t>
            </a:r>
          </a:p>
          <a:p>
            <a:pPr algn="l">
              <a:lnSpc>
                <a:spcPts val="1820"/>
              </a:lnSpc>
            </a:pPr>
            <a:r>
              <a:rPr sz="1300" b="1" i="0">
                <a:solidFill>
                  <a:srgbClr val="000000"/>
                </a:solidFill>
                <a:latin typeface="Courier New"/>
                <a:ea typeface="Courier New"/>
                <a:cs typeface="Courier New"/>
              </a:rPr>
              <a:t>    return -1;</a:t>
            </a:r>
          </a:p>
          <a:p>
            <a:pPr algn="l">
              <a:lnSpc>
                <a:spcPts val="1820"/>
              </a:lnSpc>
            </a:pPr>
            <a:r>
              <a:rPr sz="1300" b="1" i="0">
                <a:solidFill>
                  <a:srgbClr val="000000"/>
                </a:solidFill>
                <a:latin typeface="Courier New"/>
                <a:ea typeface="Courier New"/>
                <a:cs typeface="Courier New"/>
              </a:rPr>
              <a:t>  }</a:t>
            </a:r>
          </a:p>
          <a:p>
            <a:pPr algn="l">
              <a:lnSpc>
                <a:spcPts val="1820"/>
              </a:lnSpc>
            </a:pPr>
            <a:r>
              <a:rPr sz="1300" b="1" i="0">
                <a:solidFill>
                  <a:srgbClr val="000000"/>
                </a:solidFill>
                <a:latin typeface="Courier New"/>
                <a:ea typeface="Courier New"/>
                <a:cs typeface="Courier New"/>
              </a:rPr>
              <a:t>}</a:t>
            </a:r>
          </a:p>
        </p:txBody>
      </p:sp>
      <p:pic>
        <p:nvPicPr>
          <p:cNvPr id="7" name="Picture 6" descr="linsearch_diag.png"/>
          <p:cNvPicPr>
            <a:picLocks noChangeAspect="1"/>
          </p:cNvPicPr>
          <p:nvPr/>
        </p:nvPicPr>
        <p:blipFill>
          <a:blip r:embed="rId2"/>
          <a:stretch>
            <a:fillRect/>
          </a:stretch>
        </p:blipFill>
        <p:spPr>
          <a:xfrm>
            <a:off x="7112000" y="4699000"/>
            <a:ext cx="4191000" cy="1025940"/>
          </a:xfrm>
          <a:prstGeom prst="rect">
            <a:avLst/>
          </a:prstGeom>
        </p:spPr>
      </p:pic>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The </a:t>
            </a:r>
            <a:r>
              <a:rPr sz="3300" b="0" i="0">
                <a:solidFill>
                  <a:srgbClr val="111111"/>
                </a:solidFill>
                <a:latin typeface="Courier New"/>
                <a:ea typeface="Courier New"/>
                <a:cs typeface="Courier New"/>
              </a:rPr>
              <a:t>Arrays.binarySearch</a:t>
            </a:r>
            <a:r>
              <a:rPr sz="3300" b="0" i="0">
                <a:solidFill>
                  <a:srgbClr val="111111"/>
                </a:solidFill>
                <a:latin typeface="Times New Roman"/>
                <a:ea typeface="Times New Roman"/>
                <a:cs typeface="Times New Roman"/>
              </a:rPr>
              <a:t> Method</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B93374C-AE9C-44B1-B3B0-432E303B3A25}" type="slidenum">
              <a:rPr sz="1200" b="0" i="0">
                <a:solidFill>
                  <a:srgbClr val="6B6B6B"/>
                </a:solidFill>
                <a:latin typeface="Source Sans 3"/>
                <a:ea typeface="Source Sans 3"/>
                <a:cs typeface="Source Sans 3"/>
              </a:rPr>
              <a:pPr algn="l">
                <a:lnSpc>
                  <a:spcPts val="1500"/>
                </a:lnSpc>
              </a:pPr>
              <a:t>173</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4385816"/>
          </a:xfrm>
          <a:prstGeom prst="rect">
            <a:avLst/>
          </a:prstGeom>
          <a:noFill/>
        </p:spPr>
        <p:txBody>
          <a:bodyPr wrap="square" lIns="0" tIns="0" rIns="0" bIns="0" anchor="t">
            <a:spAutoFit/>
          </a:bodyPr>
          <a:lstStyle/>
          <a:p>
            <a:pPr algn="just">
              <a:lnSpc>
                <a:spcPts val="2500"/>
              </a:lnSpc>
            </a:pPr>
            <a:r>
              <a:rPr sz="2000" b="0" i="0">
                <a:solidFill>
                  <a:srgbClr val="111111"/>
                </a:solidFill>
                <a:latin typeface="Times New Roman"/>
                <a:ea typeface="Times New Roman"/>
                <a:cs typeface="Times New Roman"/>
              </a:rPr>
              <a:t>Since binary search is frequently used in programming, Java provides several overloaded </a:t>
            </a:r>
            <a:r>
              <a:rPr sz="1800" b="1" i="0">
                <a:solidFill>
                  <a:srgbClr val="111111"/>
                </a:solidFill>
                <a:latin typeface="Courier New"/>
                <a:ea typeface="Courier New"/>
                <a:cs typeface="Courier New"/>
              </a:rPr>
              <a:t>binarySearch</a:t>
            </a:r>
            <a:r>
              <a:rPr sz="2000" b="0" i="0">
                <a:solidFill>
                  <a:srgbClr val="111111"/>
                </a:solidFill>
                <a:latin typeface="Times New Roman"/>
                <a:ea typeface="Times New Roman"/>
                <a:cs typeface="Times New Roman"/>
              </a:rPr>
              <a:t> methods for searching a key in an array of </a:t>
            </a:r>
            <a:r>
              <a:rPr sz="1800" b="1" i="0">
                <a:solidFill>
                  <a:srgbClr val="111111"/>
                </a:solidFill>
                <a:latin typeface="Courier New"/>
                <a:ea typeface="Courier New"/>
                <a:cs typeface="Courier New"/>
              </a:rPr>
              <a:t>int</a:t>
            </a:r>
            <a:r>
              <a:rPr sz="2000" b="0" i="0">
                <a:solidFill>
                  <a:srgbClr val="111111"/>
                </a:solidFill>
                <a:latin typeface="Times New Roman"/>
                <a:ea typeface="Times New Roman"/>
                <a:cs typeface="Times New Roman"/>
              </a:rPr>
              <a:t>, </a:t>
            </a:r>
            <a:r>
              <a:rPr sz="1800" b="1" i="0">
                <a:solidFill>
                  <a:srgbClr val="111111"/>
                </a:solidFill>
                <a:latin typeface="Courier New"/>
                <a:ea typeface="Courier New"/>
                <a:cs typeface="Courier New"/>
              </a:rPr>
              <a:t>double</a:t>
            </a:r>
            <a:r>
              <a:rPr sz="2000" b="0" i="0">
                <a:solidFill>
                  <a:srgbClr val="111111"/>
                </a:solidFill>
                <a:latin typeface="Times New Roman"/>
                <a:ea typeface="Times New Roman"/>
                <a:cs typeface="Times New Roman"/>
              </a:rPr>
              <a:t>, </a:t>
            </a:r>
            <a:r>
              <a:rPr sz="1800" b="1" i="0">
                <a:solidFill>
                  <a:srgbClr val="111111"/>
                </a:solidFill>
                <a:latin typeface="Courier New"/>
                <a:ea typeface="Courier New"/>
                <a:cs typeface="Courier New"/>
              </a:rPr>
              <a:t>char</a:t>
            </a:r>
            <a:r>
              <a:rPr sz="2000" b="0" i="0">
                <a:solidFill>
                  <a:srgbClr val="111111"/>
                </a:solidFill>
                <a:latin typeface="Times New Roman"/>
                <a:ea typeface="Times New Roman"/>
                <a:cs typeface="Times New Roman"/>
              </a:rPr>
              <a:t>, </a:t>
            </a:r>
            <a:r>
              <a:rPr sz="1800" b="1" i="0">
                <a:solidFill>
                  <a:srgbClr val="111111"/>
                </a:solidFill>
                <a:latin typeface="Courier New"/>
                <a:ea typeface="Courier New"/>
                <a:cs typeface="Courier New"/>
              </a:rPr>
              <a:t>short</a:t>
            </a:r>
            <a:r>
              <a:rPr sz="2000" b="0" i="0">
                <a:solidFill>
                  <a:srgbClr val="111111"/>
                </a:solidFill>
                <a:latin typeface="Times New Roman"/>
                <a:ea typeface="Times New Roman"/>
                <a:cs typeface="Times New Roman"/>
              </a:rPr>
              <a:t>, </a:t>
            </a:r>
            <a:r>
              <a:rPr sz="1800" b="1" i="0">
                <a:solidFill>
                  <a:srgbClr val="111111"/>
                </a:solidFill>
                <a:latin typeface="Courier New"/>
                <a:ea typeface="Courier New"/>
                <a:cs typeface="Courier New"/>
              </a:rPr>
              <a:t>long</a:t>
            </a:r>
            <a:r>
              <a:rPr sz="2000" b="0" i="0">
                <a:solidFill>
                  <a:srgbClr val="111111"/>
                </a:solidFill>
                <a:latin typeface="Times New Roman"/>
                <a:ea typeface="Times New Roman"/>
                <a:cs typeface="Times New Roman"/>
              </a:rPr>
              <a:t>, and </a:t>
            </a:r>
            <a:r>
              <a:rPr sz="1800" b="1" i="0">
                <a:solidFill>
                  <a:srgbClr val="111111"/>
                </a:solidFill>
                <a:latin typeface="Courier New"/>
                <a:ea typeface="Courier New"/>
                <a:cs typeface="Courier New"/>
              </a:rPr>
              <a:t>float</a:t>
            </a:r>
            <a:r>
              <a:rPr sz="2000" b="0" i="0">
                <a:solidFill>
                  <a:srgbClr val="111111"/>
                </a:solidFill>
                <a:latin typeface="Times New Roman"/>
                <a:ea typeface="Times New Roman"/>
                <a:cs typeface="Times New Roman"/>
              </a:rPr>
              <a:t> in the </a:t>
            </a:r>
            <a:r>
              <a:rPr sz="1800" b="1" i="0">
                <a:solidFill>
                  <a:srgbClr val="111111"/>
                </a:solidFill>
                <a:latin typeface="Courier New"/>
                <a:ea typeface="Courier New"/>
                <a:cs typeface="Courier New"/>
              </a:rPr>
              <a:t>java.util.Arrays</a:t>
            </a:r>
            <a:r>
              <a:rPr sz="2000" b="0" i="0">
                <a:solidFill>
                  <a:srgbClr val="111111"/>
                </a:solidFill>
                <a:latin typeface="Times New Roman"/>
                <a:ea typeface="Times New Roman"/>
                <a:cs typeface="Times New Roman"/>
              </a:rPr>
              <a:t> class. For example, the following code searches the keys in an array of numbers and an array of characters</a:t>
            </a:r>
            <a:r>
              <a:rPr sz="2000" b="0" i="0" smtClean="0">
                <a:solidFill>
                  <a:srgbClr val="111111"/>
                </a:solidFill>
                <a:latin typeface="Times New Roman"/>
                <a:ea typeface="Times New Roman"/>
                <a:cs typeface="Times New Roman"/>
              </a:rPr>
              <a:t>.</a:t>
            </a:r>
            <a:endParaRPr lang="en-US" sz="2000" b="0" i="0" dirty="0" smtClean="0">
              <a:solidFill>
                <a:srgbClr val="111111"/>
              </a:solidFill>
              <a:latin typeface="Times New Roman"/>
              <a:ea typeface="Times New Roman"/>
              <a:cs typeface="Times New Roman"/>
            </a:endParaRPr>
          </a:p>
          <a:p>
            <a:pPr algn="just">
              <a:lnSpc>
                <a:spcPts val="2500"/>
              </a:lnSpc>
            </a:pPr>
            <a:endParaRPr sz="2000" b="0" i="0">
              <a:solidFill>
                <a:srgbClr val="111111"/>
              </a:solidFill>
              <a:latin typeface="Times New Roman"/>
              <a:ea typeface="Times New Roman"/>
              <a:cs typeface="Times New Roman"/>
            </a:endParaRPr>
          </a:p>
          <a:p>
            <a:pPr marL="457200" indent="0" algn="l">
              <a:lnSpc>
                <a:spcPts val="2175"/>
              </a:lnSpc>
              <a:spcBef>
                <a:spcPts val="600"/>
              </a:spcBef>
            </a:pPr>
            <a:r>
              <a:rPr sz="1500" b="1" i="0">
                <a:solidFill>
                  <a:srgbClr val="111111"/>
                </a:solidFill>
                <a:latin typeface="Courier New"/>
                <a:ea typeface="Courier New"/>
                <a:cs typeface="Courier New"/>
              </a:rPr>
              <a:t>int[] list = {2, 4, 7, 10, 11, 45, 50, 59, 60, 66, 69, 70, 79};</a:t>
            </a:r>
          </a:p>
          <a:p>
            <a:pPr marL="457200" indent="0" algn="l">
              <a:lnSpc>
                <a:spcPts val="2175"/>
              </a:lnSpc>
            </a:pPr>
            <a:r>
              <a:rPr sz="1500" b="1" i="0">
                <a:solidFill>
                  <a:srgbClr val="111111"/>
                </a:solidFill>
                <a:latin typeface="Courier New"/>
                <a:ea typeface="Courier New"/>
                <a:cs typeface="Courier New"/>
              </a:rPr>
              <a:t>System.out.println("Index is " +</a:t>
            </a:r>
          </a:p>
          <a:p>
            <a:pPr marL="457200" indent="0" algn="l">
              <a:lnSpc>
                <a:spcPts val="2175"/>
              </a:lnSpc>
            </a:pPr>
            <a:r>
              <a:rPr sz="1500" b="1" i="0">
                <a:solidFill>
                  <a:srgbClr val="111111"/>
                </a:solidFill>
                <a:latin typeface="Courier New"/>
                <a:ea typeface="Courier New"/>
                <a:cs typeface="Courier New"/>
              </a:rPr>
              <a:t>  java.util.Arrays.binarySearch(list, 11));</a:t>
            </a:r>
          </a:p>
          <a:p>
            <a:pPr marL="457200" indent="0" algn="l">
              <a:lnSpc>
                <a:spcPts val="2175"/>
              </a:lnSpc>
            </a:pPr>
            <a:r>
              <a:rPr sz="1500" b="1" i="0">
                <a:solidFill>
                  <a:srgbClr val="111111"/>
                </a:solidFill>
                <a:latin typeface="Courier New"/>
                <a:ea typeface="Courier New"/>
                <a:cs typeface="Courier New"/>
              </a:rPr>
              <a:t> </a:t>
            </a:r>
          </a:p>
          <a:p>
            <a:pPr marL="457200" indent="0" algn="l">
              <a:lnSpc>
                <a:spcPts val="2175"/>
              </a:lnSpc>
            </a:pPr>
            <a:r>
              <a:rPr sz="1500" b="1" i="0">
                <a:solidFill>
                  <a:srgbClr val="111111"/>
                </a:solidFill>
                <a:latin typeface="Courier New"/>
                <a:ea typeface="Courier New"/>
                <a:cs typeface="Courier New"/>
              </a:rPr>
              <a:t>char[] chars = {'a', 'c', 'g', 'x', 'y', 'z'};</a:t>
            </a:r>
          </a:p>
          <a:p>
            <a:pPr marL="457200" indent="0" algn="l">
              <a:lnSpc>
                <a:spcPts val="2175"/>
              </a:lnSpc>
            </a:pPr>
            <a:r>
              <a:rPr sz="1500" b="1" i="0">
                <a:solidFill>
                  <a:srgbClr val="111111"/>
                </a:solidFill>
                <a:latin typeface="Courier New"/>
                <a:ea typeface="Courier New"/>
                <a:cs typeface="Courier New"/>
              </a:rPr>
              <a:t>System.out.println("Index is " +</a:t>
            </a:r>
          </a:p>
          <a:p>
            <a:pPr marL="457200" indent="0" algn="l">
              <a:lnSpc>
                <a:spcPts val="2175"/>
              </a:lnSpc>
            </a:pPr>
            <a:r>
              <a:rPr sz="1500" b="1" i="0">
                <a:solidFill>
                  <a:srgbClr val="111111"/>
                </a:solidFill>
                <a:latin typeface="Courier New"/>
                <a:ea typeface="Courier New"/>
                <a:cs typeface="Courier New"/>
              </a:rPr>
              <a:t>  java.util.Arrays.binarySearch(chars, 't</a:t>
            </a:r>
            <a:r>
              <a:rPr sz="1500" b="1" i="0" smtClean="0">
                <a:solidFill>
                  <a:srgbClr val="111111"/>
                </a:solidFill>
                <a:latin typeface="Courier New"/>
                <a:ea typeface="Courier New"/>
                <a:cs typeface="Courier New"/>
              </a:rPr>
              <a:t>'));</a:t>
            </a:r>
            <a:endParaRPr lang="en-US" sz="1500" b="1" i="0" dirty="0" smtClean="0">
              <a:solidFill>
                <a:srgbClr val="111111"/>
              </a:solidFill>
              <a:latin typeface="Courier New"/>
              <a:ea typeface="Courier New"/>
              <a:cs typeface="Courier New"/>
            </a:endParaRPr>
          </a:p>
          <a:p>
            <a:pPr marL="457200" indent="0" algn="l">
              <a:lnSpc>
                <a:spcPts val="2175"/>
              </a:lnSpc>
            </a:pPr>
            <a:endParaRPr sz="1500" b="1" i="0">
              <a:solidFill>
                <a:srgbClr val="111111"/>
              </a:solidFill>
              <a:latin typeface="Courier New"/>
              <a:ea typeface="Courier New"/>
              <a:cs typeface="Courier New"/>
            </a:endParaRPr>
          </a:p>
          <a:p>
            <a:pPr algn="l">
              <a:lnSpc>
                <a:spcPts val="2500"/>
              </a:lnSpc>
              <a:spcBef>
                <a:spcPts val="1000"/>
              </a:spcBef>
            </a:pPr>
            <a:r>
              <a:rPr sz="2000" b="0" i="0">
                <a:solidFill>
                  <a:srgbClr val="111111"/>
                </a:solidFill>
                <a:latin typeface="Times New Roman"/>
                <a:ea typeface="Times New Roman"/>
                <a:cs typeface="Times New Roman"/>
              </a:rPr>
              <a:t>For the </a:t>
            </a:r>
            <a:r>
              <a:rPr sz="1800" b="1" i="0">
                <a:solidFill>
                  <a:srgbClr val="111111"/>
                </a:solidFill>
                <a:latin typeface="Courier New"/>
                <a:ea typeface="Courier New"/>
                <a:cs typeface="Courier New"/>
              </a:rPr>
              <a:t>binarySearch</a:t>
            </a:r>
            <a:r>
              <a:rPr sz="2000" b="0" i="0">
                <a:solidFill>
                  <a:srgbClr val="111111"/>
                </a:solidFill>
                <a:latin typeface="Times New Roman"/>
                <a:ea typeface="Times New Roman"/>
                <a:cs typeface="Times New Roman"/>
              </a:rPr>
              <a:t> method to work, the array must be pre-sorted in increasing order.</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The </a:t>
            </a:r>
            <a:r>
              <a:rPr sz="3300" b="0" i="0">
                <a:solidFill>
                  <a:srgbClr val="111111"/>
                </a:solidFill>
                <a:latin typeface="Courier New"/>
                <a:ea typeface="Courier New"/>
                <a:cs typeface="Courier New"/>
              </a:rPr>
              <a:t>Arrays.sort</a:t>
            </a:r>
            <a:r>
              <a:rPr sz="3300" b="0" i="0">
                <a:solidFill>
                  <a:srgbClr val="111111"/>
                </a:solidFill>
                <a:latin typeface="Times New Roman"/>
                <a:ea typeface="Times New Roman"/>
                <a:cs typeface="Times New Roman"/>
              </a:rPr>
              <a:t> Method</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2EEEBFF9-5E9F-436D-B9A8-F42B986A708F}" type="slidenum">
              <a:rPr sz="1200" b="0" i="0">
                <a:solidFill>
                  <a:srgbClr val="6B6B6B"/>
                </a:solidFill>
                <a:latin typeface="Source Sans 3"/>
                <a:ea typeface="Source Sans 3"/>
                <a:cs typeface="Source Sans 3"/>
              </a:rPr>
              <a:pPr algn="l">
                <a:lnSpc>
                  <a:spcPts val="1500"/>
                </a:lnSpc>
              </a:pPr>
              <a:t>174</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4167808"/>
          </a:xfrm>
          <a:prstGeom prst="rect">
            <a:avLst/>
          </a:prstGeom>
          <a:noFill/>
        </p:spPr>
        <p:txBody>
          <a:bodyPr wrap="square" lIns="0" tIns="0" rIns="0" bIns="0" anchor="t">
            <a:spAutoFit/>
          </a:bodyPr>
          <a:lstStyle/>
          <a:p>
            <a:pPr algn="just">
              <a:lnSpc>
                <a:spcPts val="2625"/>
              </a:lnSpc>
            </a:pPr>
            <a:r>
              <a:rPr sz="2100" b="0" i="0">
                <a:solidFill>
                  <a:srgbClr val="111111"/>
                </a:solidFill>
                <a:latin typeface="Times New Roman"/>
                <a:ea typeface="Times New Roman"/>
                <a:cs typeface="Times New Roman"/>
              </a:rPr>
              <a:t>Since sorting is frequently used in programming, Java provides several overloaded </a:t>
            </a:r>
            <a:r>
              <a:rPr sz="1900" b="1" i="0">
                <a:solidFill>
                  <a:srgbClr val="111111"/>
                </a:solidFill>
                <a:latin typeface="Courier New"/>
                <a:ea typeface="Courier New"/>
                <a:cs typeface="Courier New"/>
              </a:rPr>
              <a:t>sort</a:t>
            </a:r>
            <a:r>
              <a:rPr sz="2100" b="0" i="0">
                <a:solidFill>
                  <a:srgbClr val="111111"/>
                </a:solidFill>
                <a:latin typeface="Times New Roman"/>
                <a:ea typeface="Times New Roman"/>
                <a:cs typeface="Times New Roman"/>
              </a:rPr>
              <a:t> methods for sorting an array of </a:t>
            </a:r>
            <a:r>
              <a:rPr sz="1900" b="1" i="0">
                <a:solidFill>
                  <a:srgbClr val="111111"/>
                </a:solidFill>
                <a:latin typeface="Courier New"/>
                <a:ea typeface="Courier New"/>
                <a:cs typeface="Courier New"/>
              </a:rPr>
              <a:t>int</a:t>
            </a:r>
            <a:r>
              <a:rPr sz="2100" b="0" i="0">
                <a:solidFill>
                  <a:srgbClr val="111111"/>
                </a:solidFill>
                <a:latin typeface="Times New Roman"/>
                <a:ea typeface="Times New Roman"/>
                <a:cs typeface="Times New Roman"/>
              </a:rPr>
              <a:t>, </a:t>
            </a:r>
            <a:r>
              <a:rPr sz="1900" b="1" i="0">
                <a:solidFill>
                  <a:srgbClr val="111111"/>
                </a:solidFill>
                <a:latin typeface="Courier New"/>
                <a:ea typeface="Courier New"/>
                <a:cs typeface="Courier New"/>
              </a:rPr>
              <a:t>double</a:t>
            </a:r>
            <a:r>
              <a:rPr sz="2100" b="0" i="0">
                <a:solidFill>
                  <a:srgbClr val="111111"/>
                </a:solidFill>
                <a:latin typeface="Times New Roman"/>
                <a:ea typeface="Times New Roman"/>
                <a:cs typeface="Times New Roman"/>
              </a:rPr>
              <a:t>, </a:t>
            </a:r>
            <a:r>
              <a:rPr sz="1900" b="1" i="0">
                <a:solidFill>
                  <a:srgbClr val="111111"/>
                </a:solidFill>
                <a:latin typeface="Courier New"/>
                <a:ea typeface="Courier New"/>
                <a:cs typeface="Courier New"/>
              </a:rPr>
              <a:t>char</a:t>
            </a:r>
            <a:r>
              <a:rPr sz="2100" b="0" i="0">
                <a:solidFill>
                  <a:srgbClr val="111111"/>
                </a:solidFill>
                <a:latin typeface="Times New Roman"/>
                <a:ea typeface="Times New Roman"/>
                <a:cs typeface="Times New Roman"/>
              </a:rPr>
              <a:t>, </a:t>
            </a:r>
            <a:r>
              <a:rPr sz="1900" b="1" i="0">
                <a:solidFill>
                  <a:srgbClr val="111111"/>
                </a:solidFill>
                <a:latin typeface="Courier New"/>
                <a:ea typeface="Courier New"/>
                <a:cs typeface="Courier New"/>
              </a:rPr>
              <a:t>short</a:t>
            </a:r>
            <a:r>
              <a:rPr sz="2100" b="0" i="0">
                <a:solidFill>
                  <a:srgbClr val="111111"/>
                </a:solidFill>
                <a:latin typeface="Times New Roman"/>
                <a:ea typeface="Times New Roman"/>
                <a:cs typeface="Times New Roman"/>
              </a:rPr>
              <a:t>, </a:t>
            </a:r>
            <a:r>
              <a:rPr sz="1900" b="1" i="0">
                <a:solidFill>
                  <a:srgbClr val="111111"/>
                </a:solidFill>
                <a:latin typeface="Courier New"/>
                <a:ea typeface="Courier New"/>
                <a:cs typeface="Courier New"/>
              </a:rPr>
              <a:t>long</a:t>
            </a:r>
            <a:r>
              <a:rPr sz="2100" b="0" i="0">
                <a:solidFill>
                  <a:srgbClr val="111111"/>
                </a:solidFill>
                <a:latin typeface="Times New Roman"/>
                <a:ea typeface="Times New Roman"/>
                <a:cs typeface="Times New Roman"/>
              </a:rPr>
              <a:t>, and </a:t>
            </a:r>
            <a:r>
              <a:rPr sz="1900" b="1" i="0">
                <a:solidFill>
                  <a:srgbClr val="111111"/>
                </a:solidFill>
                <a:latin typeface="Courier New"/>
                <a:ea typeface="Courier New"/>
                <a:cs typeface="Courier New"/>
              </a:rPr>
              <a:t>float</a:t>
            </a:r>
            <a:r>
              <a:rPr sz="2100" b="0" i="0">
                <a:solidFill>
                  <a:srgbClr val="111111"/>
                </a:solidFill>
                <a:latin typeface="Times New Roman"/>
                <a:ea typeface="Times New Roman"/>
                <a:cs typeface="Times New Roman"/>
              </a:rPr>
              <a:t> in the </a:t>
            </a:r>
            <a:r>
              <a:rPr sz="1900" b="1" i="0">
                <a:solidFill>
                  <a:srgbClr val="111111"/>
                </a:solidFill>
                <a:latin typeface="Courier New"/>
                <a:ea typeface="Courier New"/>
                <a:cs typeface="Courier New"/>
              </a:rPr>
              <a:t>java.util.Arrays</a:t>
            </a:r>
            <a:r>
              <a:rPr sz="2100" b="0" i="0">
                <a:solidFill>
                  <a:srgbClr val="111111"/>
                </a:solidFill>
                <a:latin typeface="Times New Roman"/>
                <a:ea typeface="Times New Roman"/>
                <a:cs typeface="Times New Roman"/>
              </a:rPr>
              <a:t> class. For example, the following code sorts an array of numbers and an array of characters</a:t>
            </a:r>
            <a:r>
              <a:rPr sz="2100" b="0" i="0" smtClean="0">
                <a:solidFill>
                  <a:srgbClr val="111111"/>
                </a:solidFill>
                <a:latin typeface="Times New Roman"/>
                <a:ea typeface="Times New Roman"/>
                <a:cs typeface="Times New Roman"/>
              </a:rPr>
              <a:t>.</a:t>
            </a:r>
            <a:endParaRPr lang="en-US" sz="2100" b="0" i="0" dirty="0" smtClean="0">
              <a:solidFill>
                <a:srgbClr val="111111"/>
              </a:solidFill>
              <a:latin typeface="Times New Roman"/>
              <a:ea typeface="Times New Roman"/>
              <a:cs typeface="Times New Roman"/>
            </a:endParaRPr>
          </a:p>
          <a:p>
            <a:pPr algn="just">
              <a:lnSpc>
                <a:spcPts val="2625"/>
              </a:lnSpc>
            </a:pPr>
            <a:endParaRPr sz="2100" b="0" i="0">
              <a:solidFill>
                <a:srgbClr val="111111"/>
              </a:solidFill>
              <a:latin typeface="Times New Roman"/>
              <a:ea typeface="Times New Roman"/>
              <a:cs typeface="Times New Roman"/>
            </a:endParaRPr>
          </a:p>
          <a:p>
            <a:pPr marL="457200" indent="0" algn="l">
              <a:lnSpc>
                <a:spcPts val="2465"/>
              </a:lnSpc>
              <a:spcBef>
                <a:spcPts val="719"/>
              </a:spcBef>
            </a:pPr>
            <a:r>
              <a:rPr sz="1700" b="1" i="0">
                <a:solidFill>
                  <a:srgbClr val="111111"/>
                </a:solidFill>
                <a:latin typeface="Courier New"/>
                <a:ea typeface="Courier New"/>
                <a:cs typeface="Courier New"/>
              </a:rPr>
              <a:t>double[] numbers = {6.0, 4.4, 1.9, 2.9, 3.4, 3.5};</a:t>
            </a:r>
          </a:p>
          <a:p>
            <a:pPr marL="457200" indent="0" algn="l">
              <a:lnSpc>
                <a:spcPts val="2465"/>
              </a:lnSpc>
            </a:pPr>
            <a:r>
              <a:rPr sz="1700" b="1" i="0">
                <a:solidFill>
                  <a:srgbClr val="111111"/>
                </a:solidFill>
                <a:latin typeface="Courier New"/>
                <a:ea typeface="Courier New"/>
                <a:cs typeface="Courier New"/>
              </a:rPr>
              <a:t>java.util.Arrays.sort(numbers);</a:t>
            </a:r>
          </a:p>
          <a:p>
            <a:pPr marL="457200" indent="0" algn="l">
              <a:lnSpc>
                <a:spcPts val="2465"/>
              </a:lnSpc>
            </a:pPr>
            <a:r>
              <a:rPr sz="1700" b="1" i="0">
                <a:solidFill>
                  <a:srgbClr val="111111"/>
                </a:solidFill>
                <a:latin typeface="Courier New"/>
                <a:ea typeface="Courier New"/>
                <a:cs typeface="Courier New"/>
              </a:rPr>
              <a:t> </a:t>
            </a:r>
          </a:p>
          <a:p>
            <a:pPr marL="457200" indent="0" algn="l">
              <a:lnSpc>
                <a:spcPts val="2465"/>
              </a:lnSpc>
            </a:pPr>
            <a:r>
              <a:rPr sz="1700" b="1" i="0">
                <a:solidFill>
                  <a:srgbClr val="111111"/>
                </a:solidFill>
                <a:latin typeface="Courier New"/>
                <a:ea typeface="Courier New"/>
                <a:cs typeface="Courier New"/>
              </a:rPr>
              <a:t>char[] chars = {'a', 'A', '4', 'F', 'D', 'P'};</a:t>
            </a:r>
          </a:p>
          <a:p>
            <a:pPr marL="457200" indent="0" algn="l">
              <a:lnSpc>
                <a:spcPts val="2465"/>
              </a:lnSpc>
            </a:pPr>
            <a:r>
              <a:rPr sz="1700" b="1" i="0">
                <a:solidFill>
                  <a:srgbClr val="111111"/>
                </a:solidFill>
                <a:latin typeface="Courier New"/>
                <a:ea typeface="Courier New"/>
                <a:cs typeface="Courier New"/>
              </a:rPr>
              <a:t>java.util.Arrays.sort(chars</a:t>
            </a:r>
            <a:r>
              <a:rPr sz="1700" b="1" i="0" smtClean="0">
                <a:solidFill>
                  <a:srgbClr val="111111"/>
                </a:solidFill>
                <a:latin typeface="Courier New"/>
                <a:ea typeface="Courier New"/>
                <a:cs typeface="Courier New"/>
              </a:rPr>
              <a:t>);</a:t>
            </a:r>
            <a:endParaRPr lang="en-US" sz="1700" b="1" i="0" dirty="0" smtClean="0">
              <a:solidFill>
                <a:srgbClr val="111111"/>
              </a:solidFill>
              <a:latin typeface="Courier New"/>
              <a:ea typeface="Courier New"/>
              <a:cs typeface="Courier New"/>
            </a:endParaRPr>
          </a:p>
          <a:p>
            <a:pPr marL="457200" indent="0" algn="l">
              <a:lnSpc>
                <a:spcPts val="2465"/>
              </a:lnSpc>
            </a:pPr>
            <a:endParaRPr sz="1700" b="1" i="0">
              <a:solidFill>
                <a:srgbClr val="111111"/>
              </a:solidFill>
              <a:latin typeface="Courier New"/>
              <a:ea typeface="Courier New"/>
              <a:cs typeface="Courier New"/>
            </a:endParaRPr>
          </a:p>
          <a:p>
            <a:pPr algn="l">
              <a:lnSpc>
                <a:spcPts val="2625"/>
              </a:lnSpc>
              <a:spcBef>
                <a:spcPts val="1200"/>
              </a:spcBef>
            </a:pPr>
            <a:r>
              <a:rPr sz="2100" b="0" i="0" smtClean="0">
                <a:solidFill>
                  <a:srgbClr val="111111"/>
                </a:solidFill>
                <a:latin typeface="Times New Roman"/>
                <a:ea typeface="Times New Roman"/>
                <a:cs typeface="Times New Roman"/>
              </a:rPr>
              <a:t> </a:t>
            </a:r>
            <a:r>
              <a:rPr sz="1900" b="1" i="0">
                <a:solidFill>
                  <a:srgbClr val="111111"/>
                </a:solidFill>
                <a:latin typeface="Courier New"/>
                <a:ea typeface="Courier New"/>
                <a:cs typeface="Courier New"/>
              </a:rPr>
              <a:t>Arrays.parallelSort(list)</a:t>
            </a:r>
            <a:r>
              <a:rPr sz="2100" b="0" i="0">
                <a:solidFill>
                  <a:srgbClr val="111111"/>
                </a:solidFill>
                <a:latin typeface="Times New Roman"/>
                <a:ea typeface="Times New Roman"/>
                <a:cs typeface="Times New Roman"/>
              </a:rPr>
              <a:t> </a:t>
            </a:r>
            <a:r>
              <a:rPr sz="2100" b="0" i="0" smtClean="0">
                <a:solidFill>
                  <a:srgbClr val="111111"/>
                </a:solidFill>
                <a:latin typeface="Times New Roman"/>
                <a:ea typeface="Times New Roman"/>
                <a:cs typeface="Times New Roman"/>
              </a:rPr>
              <a:t>utilizes </a:t>
            </a:r>
            <a:r>
              <a:rPr sz="2100" b="0" i="0">
                <a:solidFill>
                  <a:srgbClr val="111111"/>
                </a:solidFill>
                <a:latin typeface="Times New Roman"/>
                <a:ea typeface="Times New Roman"/>
                <a:cs typeface="Times New Roman"/>
              </a:rPr>
              <a:t>the multicore for fast sorting.</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900680"/>
            <a:ext cx="10883900" cy="768350"/>
          </a:xfrm>
        </p:spPr>
        <p:txBody>
          <a:bodyPr lIns="0" tIns="0" rIns="0" bIns="0" anchor="t"/>
          <a:lstStyle/>
          <a:p>
            <a:pPr algn="l">
              <a:lnSpc>
                <a:spcPts val="5775"/>
              </a:lnSpc>
            </a:pPr>
            <a:r>
              <a:rPr sz="5500" b="0" i="0">
                <a:solidFill>
                  <a:srgbClr val="222222"/>
                </a:solidFill>
                <a:latin typeface="Times New Roman"/>
                <a:ea typeface="Times New Roman"/>
                <a:cs typeface="Times New Roman"/>
              </a:rPr>
              <a:t>Multidimensional Arrays</a:t>
            </a:r>
          </a:p>
        </p:txBody>
      </p:sp>
      <p:sp>
        <p:nvSpPr>
          <p:cNvPr id="3" name="TextBox 2"/>
          <p:cNvSpPr txBox="1"/>
          <p:nvPr/>
        </p:nvSpPr>
        <p:spPr>
          <a:xfrm>
            <a:off x="812800" y="2456180"/>
            <a:ext cx="10883900" cy="292100"/>
          </a:xfrm>
          <a:prstGeom prst="rect">
            <a:avLst/>
          </a:prstGeom>
          <a:noFill/>
        </p:spPr>
        <p:txBody>
          <a:bodyPr wrap="square" lIns="0" tIns="0" rIns="0" bIns="0" anchor="t">
            <a:spAutoFit/>
          </a:bodyPr>
          <a:lstStyle/>
          <a:p>
            <a:pPr algn="l">
              <a:lnSpc>
                <a:spcPts val="1875"/>
              </a:lnSpc>
            </a:pPr>
            <a:r>
              <a:rPr sz="1500" b="1" i="0">
                <a:solidFill>
                  <a:srgbClr val="B5500F"/>
                </a:solidFill>
                <a:latin typeface="Source Sans 3"/>
                <a:ea typeface="Source Sans 3"/>
                <a:cs typeface="Source Sans 3"/>
              </a:rPr>
              <a:t>Java basics</a:t>
            </a:r>
          </a:p>
        </p:txBody>
      </p:sp>
      <p:sp>
        <p:nvSpPr>
          <p:cNvPr id="4" name="Rectangle 3"/>
          <p:cNvSpPr/>
          <p:nvPr/>
        </p:nvSpPr>
        <p:spPr>
          <a:xfrm>
            <a:off x="812800" y="3811905"/>
            <a:ext cx="1524000" cy="38100"/>
          </a:xfrm>
          <a:prstGeom prst="rect">
            <a:avLst/>
          </a:prstGeom>
          <a:solidFill>
            <a:srgbClr val="E87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147364A-D3DF-47B7-9CE4-180CFC699CD0}" type="slidenum">
              <a:rPr sz="1200" b="0" i="0">
                <a:solidFill>
                  <a:srgbClr val="6B6B6B"/>
                </a:solidFill>
                <a:latin typeface="Source Sans 3"/>
                <a:ea typeface="Source Sans 3"/>
                <a:cs typeface="Source Sans 3"/>
              </a:rPr>
              <a:pPr algn="l">
                <a:lnSpc>
                  <a:spcPts val="1500"/>
                </a:lnSpc>
              </a:pPr>
              <a:t>175</a:t>
            </a:fld>
            <a:endParaRPr sz="1200" b="0" i="0">
              <a:solidFill>
                <a:srgbClr val="6B6B6B"/>
              </a:solidFill>
              <a:latin typeface="Source Sans 3"/>
              <a:ea typeface="Source Sans 3"/>
              <a:cs typeface="Source Sans 3"/>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Declare/Create Two-dimensional Arrays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0406292-FF9D-4026-ABB5-D1D834B2BD0A}" type="slidenum">
              <a:rPr sz="1200" b="0" i="0">
                <a:solidFill>
                  <a:srgbClr val="6B6B6B"/>
                </a:solidFill>
                <a:latin typeface="Source Sans 3"/>
                <a:ea typeface="Source Sans 3"/>
                <a:cs typeface="Source Sans 3"/>
              </a:rPr>
              <a:pPr algn="l">
                <a:lnSpc>
                  <a:spcPts val="1500"/>
                </a:lnSpc>
              </a:pPr>
              <a:t>176</a:t>
            </a:fld>
            <a:endParaRPr sz="1200" b="0" i="0">
              <a:solidFill>
                <a:srgbClr val="6B6B6B"/>
              </a:solidFill>
              <a:latin typeface="Source Sans 3"/>
              <a:ea typeface="Source Sans 3"/>
              <a:cs typeface="Source Sans 3"/>
            </a:endParaRPr>
          </a:p>
        </p:txBody>
      </p:sp>
      <p:sp>
        <p:nvSpPr>
          <p:cNvPr id="4" name="TextBox 3"/>
          <p:cNvSpPr txBox="1"/>
          <p:nvPr/>
        </p:nvSpPr>
        <p:spPr>
          <a:xfrm>
            <a:off x="1079500" y="1397000"/>
            <a:ext cx="8199120" cy="3647440"/>
          </a:xfrm>
          <a:prstGeom prst="rect">
            <a:avLst/>
          </a:prstGeom>
          <a:noFill/>
        </p:spPr>
        <p:txBody>
          <a:bodyPr wrap="square" lIns="0" tIns="0" rIns="0" bIns="0" anchor="t">
            <a:spAutoFit/>
          </a:bodyPr>
          <a:lstStyle/>
          <a:p>
            <a:pPr algn="l">
              <a:lnSpc>
                <a:spcPts val="2520"/>
              </a:lnSpc>
            </a:pPr>
            <a:r>
              <a:rPr sz="1800" b="1" i="0">
                <a:solidFill>
                  <a:srgbClr val="000000"/>
                </a:solidFill>
                <a:latin typeface="Courier New"/>
                <a:ea typeface="Courier New"/>
                <a:cs typeface="Courier New"/>
              </a:rPr>
              <a:t>// Declare array ref var</a:t>
            </a:r>
          </a:p>
          <a:p>
            <a:pPr algn="l">
              <a:lnSpc>
                <a:spcPts val="2520"/>
              </a:lnSpc>
            </a:pPr>
            <a:r>
              <a:rPr sz="1800" b="1" i="0">
                <a:solidFill>
                  <a:srgbClr val="000000"/>
                </a:solidFill>
                <a:latin typeface="Courier New"/>
                <a:ea typeface="Courier New"/>
                <a:cs typeface="Courier New"/>
              </a:rPr>
              <a:t>dataType[][] refVar;</a:t>
            </a:r>
          </a:p>
          <a:p>
            <a:pPr algn="l">
              <a:lnSpc>
                <a:spcPts val="2520"/>
              </a:lnSpc>
            </a:pPr>
            <a:r>
              <a:rPr sz="1800" b="1" i="0">
                <a:solidFill>
                  <a:srgbClr val="000000"/>
                </a:solidFill>
                <a:latin typeface="Courier New"/>
                <a:ea typeface="Courier New"/>
                <a:cs typeface="Courier New"/>
              </a:rPr>
              <a:t> </a:t>
            </a:r>
          </a:p>
          <a:p>
            <a:pPr algn="l">
              <a:lnSpc>
                <a:spcPts val="2520"/>
              </a:lnSpc>
            </a:pPr>
            <a:r>
              <a:rPr sz="1800" b="1" i="0">
                <a:solidFill>
                  <a:srgbClr val="000000"/>
                </a:solidFill>
                <a:latin typeface="Courier New"/>
                <a:ea typeface="Courier New"/>
                <a:cs typeface="Courier New"/>
              </a:rPr>
              <a:t>// Create array and assign its reference to variable</a:t>
            </a:r>
          </a:p>
          <a:p>
            <a:pPr algn="l">
              <a:lnSpc>
                <a:spcPts val="2520"/>
              </a:lnSpc>
            </a:pPr>
            <a:r>
              <a:rPr sz="1800" b="1" i="0">
                <a:solidFill>
                  <a:srgbClr val="000000"/>
                </a:solidFill>
                <a:latin typeface="Courier New"/>
                <a:ea typeface="Courier New"/>
                <a:cs typeface="Courier New"/>
              </a:rPr>
              <a:t>refVar = new dataType[10][10];</a:t>
            </a:r>
          </a:p>
          <a:p>
            <a:pPr algn="l">
              <a:lnSpc>
                <a:spcPts val="2520"/>
              </a:lnSpc>
            </a:pPr>
            <a:r>
              <a:rPr sz="1800" b="1" i="0">
                <a:solidFill>
                  <a:srgbClr val="000000"/>
                </a:solidFill>
                <a:latin typeface="Courier New"/>
                <a:ea typeface="Courier New"/>
                <a:cs typeface="Courier New"/>
              </a:rPr>
              <a:t> </a:t>
            </a:r>
          </a:p>
          <a:p>
            <a:pPr algn="l">
              <a:lnSpc>
                <a:spcPts val="2520"/>
              </a:lnSpc>
            </a:pPr>
            <a:r>
              <a:rPr sz="1800" b="1" i="0">
                <a:solidFill>
                  <a:srgbClr val="000000"/>
                </a:solidFill>
                <a:latin typeface="Courier New"/>
                <a:ea typeface="Courier New"/>
                <a:cs typeface="Courier New"/>
              </a:rPr>
              <a:t>// Combine declaration and creation in one statement</a:t>
            </a:r>
          </a:p>
          <a:p>
            <a:pPr algn="l">
              <a:lnSpc>
                <a:spcPts val="2520"/>
              </a:lnSpc>
            </a:pPr>
            <a:r>
              <a:rPr sz="1800" b="1" i="0">
                <a:solidFill>
                  <a:srgbClr val="000000"/>
                </a:solidFill>
                <a:latin typeface="Courier New"/>
                <a:ea typeface="Courier New"/>
                <a:cs typeface="Courier New"/>
              </a:rPr>
              <a:t>dataType[][] refVar = new dataType[10][10];</a:t>
            </a:r>
          </a:p>
          <a:p>
            <a:pPr algn="l">
              <a:lnSpc>
                <a:spcPts val="2520"/>
              </a:lnSpc>
            </a:pPr>
            <a:r>
              <a:rPr sz="1800" b="1" i="0">
                <a:solidFill>
                  <a:srgbClr val="000000"/>
                </a:solidFill>
                <a:latin typeface="Courier New"/>
                <a:ea typeface="Courier New"/>
                <a:cs typeface="Courier New"/>
              </a:rPr>
              <a:t> </a:t>
            </a:r>
          </a:p>
          <a:p>
            <a:pPr algn="l">
              <a:lnSpc>
                <a:spcPts val="2520"/>
              </a:lnSpc>
            </a:pPr>
            <a:r>
              <a:rPr sz="1800" b="1" i="0">
                <a:solidFill>
                  <a:srgbClr val="000000"/>
                </a:solidFill>
                <a:latin typeface="Courier New"/>
                <a:ea typeface="Courier New"/>
                <a:cs typeface="Courier New"/>
              </a:rPr>
              <a:t>// Alternative syntax</a:t>
            </a:r>
          </a:p>
          <a:p>
            <a:pPr algn="l">
              <a:lnSpc>
                <a:spcPts val="2520"/>
              </a:lnSpc>
            </a:pPr>
            <a:r>
              <a:rPr sz="1800" b="1" i="0">
                <a:solidFill>
                  <a:srgbClr val="000000"/>
                </a:solidFill>
                <a:latin typeface="Courier New"/>
                <a:ea typeface="Courier New"/>
                <a:cs typeface="Courier New"/>
              </a:rPr>
              <a:t>dataType refVar[][] = new dataType[10][10];</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Declaring </a:t>
            </a:r>
            <a:r>
              <a:rPr sz="3300" b="0" i="0" smtClean="0">
                <a:solidFill>
                  <a:srgbClr val="111111"/>
                </a:solidFill>
                <a:latin typeface="Times New Roman"/>
                <a:ea typeface="Times New Roman"/>
                <a:cs typeface="Times New Roman"/>
              </a:rPr>
              <a:t>and </a:t>
            </a:r>
            <a:r>
              <a:rPr sz="3300" b="0" i="0">
                <a:solidFill>
                  <a:srgbClr val="111111"/>
                </a:solidFill>
                <a:latin typeface="Times New Roman"/>
                <a:ea typeface="Times New Roman"/>
                <a:cs typeface="Times New Roman"/>
              </a:rPr>
              <a:t>Creating Two-dimensional </a:t>
            </a:r>
            <a:r>
              <a:rPr sz="3300" b="0" i="0" smtClean="0">
                <a:solidFill>
                  <a:srgbClr val="111111"/>
                </a:solidFill>
                <a:latin typeface="Times New Roman"/>
                <a:ea typeface="Times New Roman"/>
                <a:cs typeface="Times New Roman"/>
              </a:rPr>
              <a:t>Arrays</a:t>
            </a:r>
            <a:br>
              <a:rPr sz="3300" b="0" i="0" smtClean="0">
                <a:solidFill>
                  <a:srgbClr val="111111"/>
                </a:solidFill>
                <a:latin typeface="Times New Roman"/>
                <a:ea typeface="Times New Roman"/>
                <a:cs typeface="Times New Roman"/>
              </a:rPr>
            </a:br>
            <a:endParaRPr sz="3300" b="0" i="0">
              <a:solidFill>
                <a:srgbClr val="111111"/>
              </a:solidFill>
              <a:latin typeface="Times New Roman"/>
              <a:ea typeface="Times New Roman"/>
              <a:cs typeface="Times New Roman"/>
            </a:endParaRP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BDF77578-7B9C-412B-B645-0A36B2A553E0}" type="slidenum">
              <a:rPr sz="1200" b="0" i="0">
                <a:solidFill>
                  <a:srgbClr val="6B6B6B"/>
                </a:solidFill>
                <a:latin typeface="Source Sans 3"/>
                <a:ea typeface="Source Sans 3"/>
                <a:cs typeface="Source Sans 3"/>
              </a:rPr>
              <a:pPr algn="l">
                <a:lnSpc>
                  <a:spcPts val="1500"/>
                </a:lnSpc>
              </a:pPr>
              <a:t>177</a:t>
            </a:fld>
            <a:endParaRPr sz="1200" b="0" i="0">
              <a:solidFill>
                <a:srgbClr val="6B6B6B"/>
              </a:solidFill>
              <a:latin typeface="Source Sans 3"/>
              <a:ea typeface="Source Sans 3"/>
              <a:cs typeface="Source Sans 3"/>
            </a:endParaRPr>
          </a:p>
        </p:txBody>
      </p:sp>
      <p:sp>
        <p:nvSpPr>
          <p:cNvPr id="4" name="TextBox 3"/>
          <p:cNvSpPr txBox="1"/>
          <p:nvPr/>
        </p:nvSpPr>
        <p:spPr>
          <a:xfrm>
            <a:off x="1079500" y="1733973"/>
            <a:ext cx="7513320" cy="3327400"/>
          </a:xfrm>
          <a:prstGeom prst="rect">
            <a:avLst/>
          </a:prstGeom>
          <a:noFill/>
        </p:spPr>
        <p:txBody>
          <a:bodyPr wrap="square" lIns="0" tIns="0" rIns="0" bIns="0" anchor="t">
            <a:spAutoFit/>
          </a:bodyPr>
          <a:lstStyle/>
          <a:p>
            <a:pPr algn="l">
              <a:lnSpc>
                <a:spcPts val="2520"/>
              </a:lnSpc>
            </a:pPr>
            <a:r>
              <a:rPr sz="1800" b="1" i="0">
                <a:solidFill>
                  <a:srgbClr val="000000"/>
                </a:solidFill>
                <a:latin typeface="Courier New"/>
                <a:ea typeface="Courier New"/>
                <a:cs typeface="Courier New"/>
              </a:rPr>
              <a:t>int[][] matrix = new int[10][10];</a:t>
            </a:r>
          </a:p>
          <a:p>
            <a:pPr algn="l">
              <a:lnSpc>
                <a:spcPts val="2520"/>
              </a:lnSpc>
            </a:pPr>
            <a:r>
              <a:rPr sz="1800" b="1" i="0">
                <a:solidFill>
                  <a:srgbClr val="000000"/>
                </a:solidFill>
                <a:latin typeface="Courier New"/>
                <a:ea typeface="Courier New"/>
                <a:cs typeface="Courier New"/>
              </a:rPr>
              <a:t> or</a:t>
            </a:r>
          </a:p>
          <a:p>
            <a:pPr algn="l">
              <a:lnSpc>
                <a:spcPts val="2520"/>
              </a:lnSpc>
            </a:pPr>
            <a:r>
              <a:rPr sz="1800" b="1" i="0">
                <a:solidFill>
                  <a:srgbClr val="000000"/>
                </a:solidFill>
                <a:latin typeface="Courier New"/>
                <a:ea typeface="Courier New"/>
                <a:cs typeface="Courier New"/>
              </a:rPr>
              <a:t>int matrix[][] = new int[10][10];</a:t>
            </a:r>
          </a:p>
          <a:p>
            <a:pPr algn="l">
              <a:lnSpc>
                <a:spcPts val="2520"/>
              </a:lnSpc>
            </a:pPr>
            <a:r>
              <a:rPr sz="1800" b="1" i="0">
                <a:solidFill>
                  <a:srgbClr val="000000"/>
                </a:solidFill>
                <a:latin typeface="Courier New"/>
                <a:ea typeface="Courier New"/>
                <a:cs typeface="Courier New"/>
              </a:rPr>
              <a:t>matrix[0][0] = 3;</a:t>
            </a:r>
          </a:p>
          <a:p>
            <a:pPr algn="l">
              <a:lnSpc>
                <a:spcPts val="2520"/>
              </a:lnSpc>
            </a:pPr>
            <a:r>
              <a:rPr sz="1800" b="1" i="0">
                <a:solidFill>
                  <a:srgbClr val="000000"/>
                </a:solidFill>
                <a:latin typeface="Courier New"/>
                <a:ea typeface="Courier New"/>
                <a:cs typeface="Courier New"/>
              </a:rPr>
              <a:t> </a:t>
            </a:r>
          </a:p>
          <a:p>
            <a:pPr algn="l">
              <a:lnSpc>
                <a:spcPts val="2520"/>
              </a:lnSpc>
            </a:pPr>
            <a:r>
              <a:rPr sz="1800" b="1" i="0">
                <a:solidFill>
                  <a:srgbClr val="000000"/>
                </a:solidFill>
                <a:latin typeface="Courier New"/>
                <a:ea typeface="Courier New"/>
                <a:cs typeface="Courier New"/>
              </a:rPr>
              <a:t>for (int i = 0; i &lt; matrix.length; i++)</a:t>
            </a:r>
          </a:p>
          <a:p>
            <a:pPr algn="l">
              <a:lnSpc>
                <a:spcPts val="2520"/>
              </a:lnSpc>
            </a:pPr>
            <a:r>
              <a:rPr sz="1800" b="1" i="0">
                <a:solidFill>
                  <a:srgbClr val="000000"/>
                </a:solidFill>
                <a:latin typeface="Courier New"/>
                <a:ea typeface="Courier New"/>
                <a:cs typeface="Courier New"/>
              </a:rPr>
              <a:t>  for (int j = 0; j &lt; matrix[i].length; j++)</a:t>
            </a:r>
          </a:p>
          <a:p>
            <a:pPr algn="l">
              <a:lnSpc>
                <a:spcPts val="2520"/>
              </a:lnSpc>
            </a:pPr>
            <a:r>
              <a:rPr sz="1800" b="1" i="0">
                <a:solidFill>
                  <a:srgbClr val="000000"/>
                </a:solidFill>
                <a:latin typeface="Courier New"/>
                <a:ea typeface="Courier New"/>
                <a:cs typeface="Courier New"/>
              </a:rPr>
              <a:t>    matrix[i][j] = (int)(Math.random() * 1000);</a:t>
            </a:r>
          </a:p>
          <a:p>
            <a:pPr algn="l">
              <a:lnSpc>
                <a:spcPts val="2520"/>
              </a:lnSpc>
            </a:pPr>
            <a:r>
              <a:rPr sz="1800" b="1" i="0">
                <a:solidFill>
                  <a:srgbClr val="000000"/>
                </a:solidFill>
                <a:latin typeface="Courier New"/>
                <a:ea typeface="Courier New"/>
                <a:cs typeface="Courier New"/>
              </a:rPr>
              <a:t> </a:t>
            </a:r>
          </a:p>
          <a:p>
            <a:pPr algn="l">
              <a:lnSpc>
                <a:spcPts val="2520"/>
              </a:lnSpc>
            </a:pPr>
            <a:r>
              <a:rPr sz="1800" b="1" i="0">
                <a:solidFill>
                  <a:srgbClr val="000000"/>
                </a:solidFill>
                <a:latin typeface="Courier New"/>
                <a:ea typeface="Courier New"/>
                <a:cs typeface="Courier New"/>
              </a:rPr>
              <a:t>double[][] x;</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Two-dimensional Array Illustration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9BDAD8C-9139-44CE-ABC8-A1BAAFE240DB}" type="slidenum">
              <a:rPr sz="1200" b="0" i="0">
                <a:solidFill>
                  <a:srgbClr val="6B6B6B"/>
                </a:solidFill>
                <a:latin typeface="Source Sans 3"/>
                <a:ea typeface="Source Sans 3"/>
                <a:cs typeface="Source Sans 3"/>
              </a:rPr>
              <a:pPr algn="l">
                <a:lnSpc>
                  <a:spcPts val="1500"/>
                </a:lnSpc>
              </a:pPr>
              <a:t>178</a:t>
            </a:fld>
            <a:endParaRPr sz="1200" b="0" i="0">
              <a:solidFill>
                <a:srgbClr val="6B6B6B"/>
              </a:solidFill>
              <a:latin typeface="Source Sans 3"/>
              <a:ea typeface="Source Sans 3"/>
              <a:cs typeface="Source Sans 3"/>
            </a:endParaRPr>
          </a:p>
        </p:txBody>
      </p:sp>
      <p:pic>
        <p:nvPicPr>
          <p:cNvPr id="4" name="Picture 3" descr="array2d.png"/>
          <p:cNvPicPr>
            <a:picLocks noChangeAspect="1"/>
          </p:cNvPicPr>
          <p:nvPr/>
        </p:nvPicPr>
        <p:blipFill>
          <a:blip r:embed="rId2"/>
          <a:stretch>
            <a:fillRect/>
          </a:stretch>
        </p:blipFill>
        <p:spPr>
          <a:xfrm>
            <a:off x="1302871" y="1143000"/>
            <a:ext cx="9586259" cy="4064000"/>
          </a:xfrm>
          <a:prstGeom prst="rect">
            <a:avLst/>
          </a:prstGeom>
        </p:spPr>
      </p:pic>
      <p:sp>
        <p:nvSpPr>
          <p:cNvPr id="5" name="TextBox 4"/>
          <p:cNvSpPr txBox="1"/>
          <p:nvPr/>
        </p:nvSpPr>
        <p:spPr>
          <a:xfrm>
            <a:off x="1524000" y="5435600"/>
            <a:ext cx="3383280" cy="69596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matrix.length? 5</a:t>
            </a:r>
          </a:p>
          <a:p>
            <a:pPr algn="l">
              <a:lnSpc>
                <a:spcPts val="2240"/>
              </a:lnSpc>
            </a:pPr>
            <a:r>
              <a:rPr sz="1600" b="1" i="0">
                <a:solidFill>
                  <a:srgbClr val="000000"/>
                </a:solidFill>
                <a:latin typeface="Courier New"/>
                <a:ea typeface="Courier New"/>
                <a:cs typeface="Courier New"/>
              </a:rPr>
              <a:t>matrix[0].length? 5</a:t>
            </a:r>
          </a:p>
        </p:txBody>
      </p:sp>
      <p:sp>
        <p:nvSpPr>
          <p:cNvPr id="6" name="TextBox 5"/>
          <p:cNvSpPr txBox="1"/>
          <p:nvPr/>
        </p:nvSpPr>
        <p:spPr>
          <a:xfrm>
            <a:off x="7747000" y="5435600"/>
            <a:ext cx="3261360" cy="69596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array.length? 4</a:t>
            </a:r>
          </a:p>
          <a:p>
            <a:pPr algn="l">
              <a:lnSpc>
                <a:spcPts val="2240"/>
              </a:lnSpc>
            </a:pPr>
            <a:r>
              <a:rPr sz="1600" b="1" i="0">
                <a:solidFill>
                  <a:srgbClr val="000000"/>
                </a:solidFill>
                <a:latin typeface="Courier New"/>
                <a:ea typeface="Courier New"/>
                <a:cs typeface="Courier New"/>
              </a:rPr>
              <a:t>array[0].length? 3</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Declaring, Creating, and Initializing Using Shorthand Notations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9D6565D5-470D-46C5-9143-ACA4FA1E2F58}" type="slidenum">
              <a:rPr sz="1200" b="0" i="0">
                <a:solidFill>
                  <a:srgbClr val="6B6B6B"/>
                </a:solidFill>
                <a:latin typeface="Source Sans 3"/>
                <a:ea typeface="Source Sans 3"/>
                <a:cs typeface="Source Sans 3"/>
              </a:rPr>
              <a:pPr algn="l">
                <a:lnSpc>
                  <a:spcPts val="1500"/>
                </a:lnSpc>
              </a:pPr>
              <a:t>179</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You can also use an array initializer to declare, create and initialize a two-dimensional array. For example,</a:t>
            </a:r>
          </a:p>
        </p:txBody>
      </p:sp>
      <p:sp>
        <p:nvSpPr>
          <p:cNvPr id="5" name="Rectangle 4"/>
          <p:cNvSpPr/>
          <p:nvPr/>
        </p:nvSpPr>
        <p:spPr>
          <a:xfrm>
            <a:off x="952500" y="2222500"/>
            <a:ext cx="2377440" cy="1960880"/>
          </a:xfrm>
          <a:prstGeom prst="rect">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1079500" y="2349500"/>
            <a:ext cx="3139440" cy="183388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int[][] array = {</a:t>
            </a:r>
          </a:p>
          <a:p>
            <a:pPr algn="l">
              <a:lnSpc>
                <a:spcPts val="2240"/>
              </a:lnSpc>
            </a:pPr>
            <a:r>
              <a:rPr sz="1600" b="1" i="0">
                <a:solidFill>
                  <a:srgbClr val="000000"/>
                </a:solidFill>
                <a:latin typeface="Courier New"/>
                <a:ea typeface="Courier New"/>
                <a:cs typeface="Courier New"/>
              </a:rPr>
              <a:t>  {1, 2, 3},</a:t>
            </a:r>
          </a:p>
          <a:p>
            <a:pPr algn="l">
              <a:lnSpc>
                <a:spcPts val="2240"/>
              </a:lnSpc>
            </a:pPr>
            <a:r>
              <a:rPr sz="1600" b="1" i="0">
                <a:solidFill>
                  <a:srgbClr val="000000"/>
                </a:solidFill>
                <a:latin typeface="Courier New"/>
                <a:ea typeface="Courier New"/>
                <a:cs typeface="Courier New"/>
              </a:rPr>
              <a:t>  {4, 5, 6},</a:t>
            </a:r>
          </a:p>
          <a:p>
            <a:pPr algn="l">
              <a:lnSpc>
                <a:spcPts val="2240"/>
              </a:lnSpc>
            </a:pPr>
            <a:r>
              <a:rPr sz="1600" b="1" i="0">
                <a:solidFill>
                  <a:srgbClr val="000000"/>
                </a:solidFill>
                <a:latin typeface="Courier New"/>
                <a:ea typeface="Courier New"/>
                <a:cs typeface="Courier New"/>
              </a:rPr>
              <a:t>  {7, 8, 9},</a:t>
            </a:r>
          </a:p>
          <a:p>
            <a:pPr algn="l">
              <a:lnSpc>
                <a:spcPts val="2240"/>
              </a:lnSpc>
            </a:pPr>
            <a:r>
              <a:rPr sz="1600" b="1" i="0">
                <a:solidFill>
                  <a:srgbClr val="000000"/>
                </a:solidFill>
                <a:latin typeface="Courier New"/>
                <a:ea typeface="Courier New"/>
                <a:cs typeface="Courier New"/>
              </a:rPr>
              <a:t>  {10, 11, 12}</a:t>
            </a:r>
          </a:p>
          <a:p>
            <a:pPr algn="l">
              <a:lnSpc>
                <a:spcPts val="2240"/>
              </a:lnSpc>
            </a:pPr>
            <a:r>
              <a:rPr sz="1600" b="1" i="0">
                <a:solidFill>
                  <a:srgbClr val="000000"/>
                </a:solidFill>
                <a:latin typeface="Courier New"/>
                <a:ea typeface="Courier New"/>
                <a:cs typeface="Courier New"/>
              </a:rPr>
              <a:t>};</a:t>
            </a:r>
          </a:p>
        </p:txBody>
      </p:sp>
      <p:sp>
        <p:nvSpPr>
          <p:cNvPr id="7" name="Rectangle 6"/>
          <p:cNvSpPr/>
          <p:nvPr/>
        </p:nvSpPr>
        <p:spPr>
          <a:xfrm>
            <a:off x="4191000" y="2222500"/>
            <a:ext cx="5958840" cy="1498600"/>
          </a:xfrm>
          <a:prstGeom prst="rect">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318000" y="2349500"/>
            <a:ext cx="6720840" cy="1371600"/>
          </a:xfrm>
          <a:prstGeom prst="rect">
            <a:avLst/>
          </a:prstGeom>
          <a:noFill/>
        </p:spPr>
        <p:txBody>
          <a:bodyPr wrap="square" lIns="0" tIns="0" rIns="0" bIns="0" anchor="t">
            <a:spAutoFit/>
          </a:bodyPr>
          <a:lstStyle/>
          <a:p>
            <a:pPr algn="l">
              <a:lnSpc>
                <a:spcPts val="1959"/>
              </a:lnSpc>
            </a:pPr>
            <a:r>
              <a:rPr sz="1400" b="1" i="0">
                <a:solidFill>
                  <a:srgbClr val="000000"/>
                </a:solidFill>
                <a:latin typeface="Courier New"/>
                <a:ea typeface="Courier New"/>
                <a:cs typeface="Courier New"/>
              </a:rPr>
              <a:t>int[][] array = new int[4][3];</a:t>
            </a:r>
          </a:p>
          <a:p>
            <a:pPr algn="l">
              <a:lnSpc>
                <a:spcPts val="1959"/>
              </a:lnSpc>
            </a:pPr>
            <a:r>
              <a:rPr sz="1400" b="1" i="0">
                <a:solidFill>
                  <a:srgbClr val="000000"/>
                </a:solidFill>
                <a:latin typeface="Courier New"/>
                <a:ea typeface="Courier New"/>
                <a:cs typeface="Courier New"/>
              </a:rPr>
              <a:t>array[0][0] = 1; array[0][1] = 2; array[0][2] = 3;</a:t>
            </a:r>
          </a:p>
          <a:p>
            <a:pPr algn="l">
              <a:lnSpc>
                <a:spcPts val="1959"/>
              </a:lnSpc>
            </a:pPr>
            <a:r>
              <a:rPr sz="1400" b="1" i="0">
                <a:solidFill>
                  <a:srgbClr val="000000"/>
                </a:solidFill>
                <a:latin typeface="Courier New"/>
                <a:ea typeface="Courier New"/>
                <a:cs typeface="Courier New"/>
              </a:rPr>
              <a:t>array[1][0] = 4; array[1][1] = 5; array[1][2] = 6;</a:t>
            </a:r>
          </a:p>
          <a:p>
            <a:pPr algn="l">
              <a:lnSpc>
                <a:spcPts val="1959"/>
              </a:lnSpc>
            </a:pPr>
            <a:r>
              <a:rPr sz="1400" b="1" i="0">
                <a:solidFill>
                  <a:srgbClr val="000000"/>
                </a:solidFill>
                <a:latin typeface="Courier New"/>
                <a:ea typeface="Courier New"/>
                <a:cs typeface="Courier New"/>
              </a:rPr>
              <a:t>array[2][0] = 7; array[2][1] = 8; array[2][2] = 9;</a:t>
            </a:r>
          </a:p>
          <a:p>
            <a:pPr algn="l">
              <a:lnSpc>
                <a:spcPts val="1959"/>
              </a:lnSpc>
            </a:pPr>
            <a:r>
              <a:rPr sz="1400" b="1" i="0">
                <a:solidFill>
                  <a:srgbClr val="000000"/>
                </a:solidFill>
                <a:latin typeface="Courier New"/>
                <a:ea typeface="Courier New"/>
                <a:cs typeface="Courier New"/>
              </a:rPr>
              <a:t>array[3][0] = 10; array[3][1] = 11; array[3][2] = 12;</a:t>
            </a:r>
          </a:p>
        </p:txBody>
      </p:sp>
      <p:sp>
        <p:nvSpPr>
          <p:cNvPr id="9" name="TextBox 8"/>
          <p:cNvSpPr txBox="1"/>
          <p:nvPr/>
        </p:nvSpPr>
        <p:spPr>
          <a:xfrm>
            <a:off x="3329940" y="3175000"/>
            <a:ext cx="861060" cy="279400"/>
          </a:xfrm>
          <a:prstGeom prst="rect">
            <a:avLst/>
          </a:prstGeom>
          <a:noFill/>
        </p:spPr>
        <p:txBody>
          <a:bodyPr wrap="square" lIns="0" tIns="0" rIns="0" bIns="0" anchor="t">
            <a:spAutoFit/>
          </a:bodyPr>
          <a:lstStyle/>
          <a:p>
            <a:pPr algn="ctr">
              <a:lnSpc>
                <a:spcPts val="2125"/>
              </a:lnSpc>
            </a:pPr>
            <a:r>
              <a:rPr sz="1700" b="0" i="0">
                <a:solidFill>
                  <a:srgbClr val="111111"/>
                </a:solidFill>
                <a:latin typeface="Times New Roman"/>
                <a:ea typeface="Times New Roman"/>
                <a:cs typeface="Times New Roman"/>
              </a:rPr>
              <a:t>Same as</a:t>
            </a:r>
          </a:p>
        </p:txBody>
      </p:sp>
      <p:cxnSp>
        <p:nvCxnSpPr>
          <p:cNvPr id="10" name="Connector 9"/>
          <p:cNvCxnSpPr/>
          <p:nvPr/>
        </p:nvCxnSpPr>
        <p:spPr>
          <a:xfrm>
            <a:off x="3329940" y="3505200"/>
            <a:ext cx="861060" cy="0"/>
          </a:xfrm>
          <a:prstGeom prst="line">
            <a:avLst/>
          </a:prstGeom>
          <a:ln w="12700">
            <a:solidFill>
              <a:srgbClr val="C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Lengths of Two-dimensional Arrays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6F0FEAB7-E42B-49D2-BB24-C4E7B936FB40}" type="slidenum">
              <a:rPr sz="1200" b="0" i="0">
                <a:solidFill>
                  <a:srgbClr val="6B6B6B"/>
                </a:solidFill>
                <a:latin typeface="Source Sans 3"/>
                <a:ea typeface="Source Sans 3"/>
                <a:cs typeface="Source Sans 3"/>
              </a:rPr>
              <a:pPr algn="l">
                <a:lnSpc>
                  <a:spcPts val="1500"/>
                </a:lnSpc>
              </a:pPr>
              <a:t>180</a:t>
            </a:fld>
            <a:endParaRPr sz="1200" b="0" i="0">
              <a:solidFill>
                <a:srgbClr val="6B6B6B"/>
              </a:solidFill>
              <a:latin typeface="Source Sans 3"/>
              <a:ea typeface="Source Sans 3"/>
              <a:cs typeface="Source Sans 3"/>
            </a:endParaRPr>
          </a:p>
        </p:txBody>
      </p:sp>
      <p:sp>
        <p:nvSpPr>
          <p:cNvPr id="4" name="TextBox 3"/>
          <p:cNvSpPr txBox="1"/>
          <p:nvPr/>
        </p:nvSpPr>
        <p:spPr>
          <a:xfrm>
            <a:off x="1079500" y="1295400"/>
            <a:ext cx="5425440" cy="518160"/>
          </a:xfrm>
          <a:prstGeom prst="rect">
            <a:avLst/>
          </a:prstGeom>
          <a:noFill/>
        </p:spPr>
        <p:txBody>
          <a:bodyPr wrap="square" lIns="0" tIns="0" rIns="0" bIns="0" anchor="t">
            <a:spAutoFit/>
          </a:bodyPr>
          <a:lstStyle/>
          <a:p>
            <a:pPr algn="l">
              <a:lnSpc>
                <a:spcPts val="3079"/>
              </a:lnSpc>
            </a:pPr>
            <a:r>
              <a:rPr sz="2200" b="1" i="0">
                <a:solidFill>
                  <a:srgbClr val="000000"/>
                </a:solidFill>
                <a:latin typeface="Courier New"/>
                <a:ea typeface="Courier New"/>
                <a:cs typeface="Courier New"/>
              </a:rPr>
              <a:t>int[][] x = new int[3][4];</a:t>
            </a:r>
          </a:p>
        </p:txBody>
      </p:sp>
      <p:pic>
        <p:nvPicPr>
          <p:cNvPr id="5" name="Picture 4" descr="array2d_len.png"/>
          <p:cNvPicPr>
            <a:picLocks noChangeAspect="1"/>
          </p:cNvPicPr>
          <p:nvPr/>
        </p:nvPicPr>
        <p:blipFill>
          <a:blip r:embed="rId2"/>
          <a:stretch>
            <a:fillRect/>
          </a:stretch>
        </p:blipFill>
        <p:spPr>
          <a:xfrm>
            <a:off x="952500" y="2032000"/>
            <a:ext cx="10287000" cy="3277274"/>
          </a:xfrm>
          <a:prstGeom prst="rect">
            <a:avLst/>
          </a:prstGeom>
        </p:spPr>
      </p:pic>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Lengths of Two-dimensional Arrays, cont.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FD65ADD5-FEB0-44A1-BC14-C4B41EDD63B2}" type="slidenum">
              <a:rPr sz="1200" b="0" i="0">
                <a:solidFill>
                  <a:srgbClr val="6B6B6B"/>
                </a:solidFill>
                <a:latin typeface="Source Sans 3"/>
                <a:ea typeface="Source Sans 3"/>
                <a:cs typeface="Source Sans 3"/>
              </a:rPr>
              <a:pPr algn="l">
                <a:lnSpc>
                  <a:spcPts val="1500"/>
                </a:lnSpc>
              </a:pPr>
              <a:t>181</a:t>
            </a:fld>
            <a:endParaRPr sz="1200" b="0" i="0">
              <a:solidFill>
                <a:srgbClr val="6B6B6B"/>
              </a:solidFill>
              <a:latin typeface="Source Sans 3"/>
              <a:ea typeface="Source Sans 3"/>
              <a:cs typeface="Source Sans 3"/>
            </a:endParaRPr>
          </a:p>
        </p:txBody>
      </p:sp>
      <p:sp>
        <p:nvSpPr>
          <p:cNvPr id="4" name="TextBox 3"/>
          <p:cNvSpPr txBox="1"/>
          <p:nvPr/>
        </p:nvSpPr>
        <p:spPr>
          <a:xfrm>
            <a:off x="1079500" y="1524000"/>
            <a:ext cx="3528060" cy="2153920"/>
          </a:xfrm>
          <a:prstGeom prst="rect">
            <a:avLst/>
          </a:prstGeom>
          <a:noFill/>
        </p:spPr>
        <p:txBody>
          <a:bodyPr wrap="square" lIns="0" tIns="0" rIns="0" bIns="0" anchor="t">
            <a:spAutoFit/>
          </a:bodyPr>
          <a:lstStyle/>
          <a:p>
            <a:pPr algn="l">
              <a:lnSpc>
                <a:spcPts val="2660"/>
              </a:lnSpc>
            </a:pPr>
            <a:r>
              <a:rPr sz="1900" b="1" i="0">
                <a:solidFill>
                  <a:srgbClr val="000000"/>
                </a:solidFill>
                <a:latin typeface="Courier New"/>
                <a:ea typeface="Courier New"/>
                <a:cs typeface="Courier New"/>
              </a:rPr>
              <a:t>int[][] array = {</a:t>
            </a:r>
          </a:p>
          <a:p>
            <a:pPr algn="l">
              <a:lnSpc>
                <a:spcPts val="2660"/>
              </a:lnSpc>
            </a:pPr>
            <a:r>
              <a:rPr sz="1900" b="1" i="0">
                <a:solidFill>
                  <a:srgbClr val="000000"/>
                </a:solidFill>
                <a:latin typeface="Courier New"/>
                <a:ea typeface="Courier New"/>
                <a:cs typeface="Courier New"/>
              </a:rPr>
              <a:t>  {1, 2, 3},</a:t>
            </a:r>
          </a:p>
          <a:p>
            <a:pPr algn="l">
              <a:lnSpc>
                <a:spcPts val="2660"/>
              </a:lnSpc>
            </a:pPr>
            <a:r>
              <a:rPr sz="1900" b="1" i="0">
                <a:solidFill>
                  <a:srgbClr val="000000"/>
                </a:solidFill>
                <a:latin typeface="Courier New"/>
                <a:ea typeface="Courier New"/>
                <a:cs typeface="Courier New"/>
              </a:rPr>
              <a:t>  {4, 5, 6},</a:t>
            </a:r>
          </a:p>
          <a:p>
            <a:pPr algn="l">
              <a:lnSpc>
                <a:spcPts val="2660"/>
              </a:lnSpc>
            </a:pPr>
            <a:r>
              <a:rPr sz="1900" b="1" i="0">
                <a:solidFill>
                  <a:srgbClr val="000000"/>
                </a:solidFill>
                <a:latin typeface="Courier New"/>
                <a:ea typeface="Courier New"/>
                <a:cs typeface="Courier New"/>
              </a:rPr>
              <a:t>  {7, 8, 9},</a:t>
            </a:r>
          </a:p>
          <a:p>
            <a:pPr algn="l">
              <a:lnSpc>
                <a:spcPts val="2660"/>
              </a:lnSpc>
            </a:pPr>
            <a:r>
              <a:rPr sz="1900" b="1" i="0">
                <a:solidFill>
                  <a:srgbClr val="000000"/>
                </a:solidFill>
                <a:latin typeface="Courier New"/>
                <a:ea typeface="Courier New"/>
                <a:cs typeface="Courier New"/>
              </a:rPr>
              <a:t>  {10, 11, 12}</a:t>
            </a:r>
          </a:p>
          <a:p>
            <a:pPr algn="l">
              <a:lnSpc>
                <a:spcPts val="2660"/>
              </a:lnSpc>
            </a:pPr>
            <a:r>
              <a:rPr sz="1900" b="1" i="0">
                <a:solidFill>
                  <a:srgbClr val="000000"/>
                </a:solidFill>
                <a:latin typeface="Courier New"/>
                <a:ea typeface="Courier New"/>
                <a:cs typeface="Courier New"/>
              </a:rPr>
              <a:t>};</a:t>
            </a:r>
          </a:p>
        </p:txBody>
      </p:sp>
      <p:sp>
        <p:nvSpPr>
          <p:cNvPr id="5" name="TextBox 4"/>
          <p:cNvSpPr txBox="1"/>
          <p:nvPr/>
        </p:nvSpPr>
        <p:spPr>
          <a:xfrm>
            <a:off x="6096000" y="1524000"/>
            <a:ext cx="3238500" cy="1816100"/>
          </a:xfrm>
          <a:prstGeom prst="rect">
            <a:avLst/>
          </a:prstGeom>
          <a:noFill/>
        </p:spPr>
        <p:txBody>
          <a:bodyPr wrap="square" lIns="0" tIns="0" rIns="0" bIns="0" anchor="t">
            <a:spAutoFit/>
          </a:bodyPr>
          <a:lstStyle/>
          <a:p>
            <a:pPr algn="l">
              <a:lnSpc>
                <a:spcPts val="2660"/>
              </a:lnSpc>
            </a:pPr>
            <a:r>
              <a:rPr sz="1900" b="1" i="0">
                <a:solidFill>
                  <a:srgbClr val="000000"/>
                </a:solidFill>
                <a:latin typeface="Courier New"/>
                <a:ea typeface="Courier New"/>
                <a:cs typeface="Courier New"/>
              </a:rPr>
              <a:t>array.length</a:t>
            </a:r>
          </a:p>
          <a:p>
            <a:pPr algn="l">
              <a:lnSpc>
                <a:spcPts val="2660"/>
              </a:lnSpc>
            </a:pPr>
            <a:r>
              <a:rPr sz="1900" b="1" i="0">
                <a:solidFill>
                  <a:srgbClr val="000000"/>
                </a:solidFill>
                <a:latin typeface="Courier New"/>
                <a:ea typeface="Courier New"/>
                <a:cs typeface="Courier New"/>
              </a:rPr>
              <a:t>array[0].length</a:t>
            </a:r>
          </a:p>
          <a:p>
            <a:pPr algn="l">
              <a:lnSpc>
                <a:spcPts val="2660"/>
              </a:lnSpc>
            </a:pPr>
            <a:r>
              <a:rPr sz="1900" b="1" i="0">
                <a:solidFill>
                  <a:srgbClr val="000000"/>
                </a:solidFill>
                <a:latin typeface="Courier New"/>
                <a:ea typeface="Courier New"/>
                <a:cs typeface="Courier New"/>
              </a:rPr>
              <a:t>array[1].length</a:t>
            </a:r>
          </a:p>
          <a:p>
            <a:pPr algn="l">
              <a:lnSpc>
                <a:spcPts val="2660"/>
              </a:lnSpc>
            </a:pPr>
            <a:r>
              <a:rPr sz="1900" b="1" i="0">
                <a:solidFill>
                  <a:srgbClr val="000000"/>
                </a:solidFill>
                <a:latin typeface="Courier New"/>
                <a:ea typeface="Courier New"/>
                <a:cs typeface="Courier New"/>
              </a:rPr>
              <a:t>array[2].length</a:t>
            </a:r>
          </a:p>
          <a:p>
            <a:pPr algn="l">
              <a:lnSpc>
                <a:spcPts val="2660"/>
              </a:lnSpc>
            </a:pPr>
            <a:r>
              <a:rPr sz="1900" b="1" i="0">
                <a:solidFill>
                  <a:srgbClr val="000000"/>
                </a:solidFill>
                <a:latin typeface="Courier New"/>
                <a:ea typeface="Courier New"/>
                <a:cs typeface="Courier New"/>
              </a:rPr>
              <a:t>array[3].length</a:t>
            </a:r>
          </a:p>
        </p:txBody>
      </p:sp>
      <p:sp>
        <p:nvSpPr>
          <p:cNvPr id="6" name="TextBox 5"/>
          <p:cNvSpPr txBox="1"/>
          <p:nvPr/>
        </p:nvSpPr>
        <p:spPr>
          <a:xfrm>
            <a:off x="1079500" y="4953000"/>
            <a:ext cx="3238500" cy="464820"/>
          </a:xfrm>
          <a:prstGeom prst="rect">
            <a:avLst/>
          </a:prstGeom>
          <a:noFill/>
        </p:spPr>
        <p:txBody>
          <a:bodyPr wrap="square" lIns="0" tIns="0" rIns="0" bIns="0" anchor="t">
            <a:spAutoFit/>
          </a:bodyPr>
          <a:lstStyle/>
          <a:p>
            <a:pPr algn="l">
              <a:lnSpc>
                <a:spcPts val="2660"/>
              </a:lnSpc>
            </a:pPr>
            <a:r>
              <a:rPr sz="1900" b="1" i="0">
                <a:solidFill>
                  <a:srgbClr val="000000"/>
                </a:solidFill>
                <a:latin typeface="Courier New"/>
                <a:ea typeface="Courier New"/>
                <a:cs typeface="Courier New"/>
              </a:rPr>
              <a:t>array[4].length</a:t>
            </a:r>
          </a:p>
        </p:txBody>
      </p:sp>
      <p:sp>
        <p:nvSpPr>
          <p:cNvPr id="7" name="TextBox 6"/>
          <p:cNvSpPr txBox="1"/>
          <p:nvPr/>
        </p:nvSpPr>
        <p:spPr>
          <a:xfrm>
            <a:off x="5969000" y="4953000"/>
            <a:ext cx="5080000" cy="330200"/>
          </a:xfrm>
          <a:prstGeom prst="rect">
            <a:avLst/>
          </a:prstGeom>
          <a:noFill/>
        </p:spPr>
        <p:txBody>
          <a:bodyPr wrap="square" lIns="0" tIns="0" rIns="0" bIns="0" anchor="t">
            <a:spAutoFit/>
          </a:bodyPr>
          <a:lstStyle/>
          <a:p>
            <a:pPr algn="l">
              <a:lnSpc>
                <a:spcPts val="2250"/>
              </a:lnSpc>
            </a:pPr>
            <a:r>
              <a:rPr sz="1800" b="1" i="0">
                <a:solidFill>
                  <a:srgbClr val="C00000"/>
                </a:solidFill>
                <a:latin typeface="Courier New"/>
                <a:ea typeface="Courier New"/>
                <a:cs typeface="Courier New"/>
              </a:rPr>
              <a:t>ArrayIndexOutOfBoundsException</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Ragged Arrays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67E9AF4-6A63-4613-A555-773F1B4C3BC6}" type="slidenum">
              <a:rPr sz="1200" b="0" i="0">
                <a:solidFill>
                  <a:srgbClr val="6B6B6B"/>
                </a:solidFill>
                <a:latin typeface="Source Sans 3"/>
                <a:ea typeface="Source Sans 3"/>
                <a:cs typeface="Source Sans 3"/>
              </a:rPr>
              <a:pPr algn="l">
                <a:lnSpc>
                  <a:spcPts val="1500"/>
                </a:lnSpc>
              </a:pPr>
              <a:t>182</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algn="l">
              <a:lnSpc>
                <a:spcPts val="2750"/>
              </a:lnSpc>
            </a:pPr>
            <a:r>
              <a:rPr sz="2200" b="0" i="0">
                <a:solidFill>
                  <a:srgbClr val="111111"/>
                </a:solidFill>
                <a:latin typeface="Times New Roman"/>
                <a:ea typeface="Times New Roman"/>
                <a:cs typeface="Times New Roman"/>
              </a:rPr>
              <a:t>Each row in a two-dimensional array is itself an array. So, the rows can have different lengths. Such an array is known as a ragged array. For example,</a:t>
            </a:r>
          </a:p>
        </p:txBody>
      </p:sp>
      <p:sp>
        <p:nvSpPr>
          <p:cNvPr id="5" name="TextBox 4"/>
          <p:cNvSpPr txBox="1"/>
          <p:nvPr/>
        </p:nvSpPr>
        <p:spPr>
          <a:xfrm>
            <a:off x="1524000" y="2349500"/>
            <a:ext cx="3535680" cy="2367280"/>
          </a:xfrm>
          <a:prstGeom prst="rect">
            <a:avLst/>
          </a:prstGeom>
          <a:noFill/>
        </p:spPr>
        <p:txBody>
          <a:bodyPr wrap="square" lIns="0" tIns="0" rIns="0" bIns="0" anchor="t">
            <a:spAutoFit/>
          </a:bodyPr>
          <a:lstStyle/>
          <a:p>
            <a:pPr algn="l">
              <a:lnSpc>
                <a:spcPts val="2520"/>
              </a:lnSpc>
            </a:pPr>
            <a:r>
              <a:rPr sz="1800" b="1" i="0">
                <a:solidFill>
                  <a:srgbClr val="000000"/>
                </a:solidFill>
                <a:latin typeface="Courier New"/>
                <a:ea typeface="Courier New"/>
                <a:cs typeface="Courier New"/>
              </a:rPr>
              <a:t>int[][] matrix = {</a:t>
            </a:r>
          </a:p>
          <a:p>
            <a:pPr algn="l">
              <a:lnSpc>
                <a:spcPts val="2520"/>
              </a:lnSpc>
            </a:pPr>
            <a:r>
              <a:rPr sz="1800" b="1" i="0">
                <a:solidFill>
                  <a:srgbClr val="000000"/>
                </a:solidFill>
                <a:latin typeface="Courier New"/>
                <a:ea typeface="Courier New"/>
                <a:cs typeface="Courier New"/>
              </a:rPr>
              <a:t>  {1, 2, 3, 4, 5},</a:t>
            </a:r>
          </a:p>
          <a:p>
            <a:pPr algn="l">
              <a:lnSpc>
                <a:spcPts val="2520"/>
              </a:lnSpc>
            </a:pPr>
            <a:r>
              <a:rPr sz="1800" b="1" i="0">
                <a:solidFill>
                  <a:srgbClr val="000000"/>
                </a:solidFill>
                <a:latin typeface="Courier New"/>
                <a:ea typeface="Courier New"/>
                <a:cs typeface="Courier New"/>
              </a:rPr>
              <a:t>  {2, 3, 4, 5},</a:t>
            </a:r>
          </a:p>
          <a:p>
            <a:pPr algn="l">
              <a:lnSpc>
                <a:spcPts val="2520"/>
              </a:lnSpc>
            </a:pPr>
            <a:r>
              <a:rPr sz="1800" b="1" i="0">
                <a:solidFill>
                  <a:srgbClr val="000000"/>
                </a:solidFill>
                <a:latin typeface="Courier New"/>
                <a:ea typeface="Courier New"/>
                <a:cs typeface="Courier New"/>
              </a:rPr>
              <a:t>  {3, 4, 5},</a:t>
            </a:r>
          </a:p>
          <a:p>
            <a:pPr algn="l">
              <a:lnSpc>
                <a:spcPts val="2520"/>
              </a:lnSpc>
            </a:pPr>
            <a:r>
              <a:rPr sz="1800" b="1" i="0">
                <a:solidFill>
                  <a:srgbClr val="000000"/>
                </a:solidFill>
                <a:latin typeface="Courier New"/>
                <a:ea typeface="Courier New"/>
                <a:cs typeface="Courier New"/>
              </a:rPr>
              <a:t>  {4, 5},</a:t>
            </a:r>
          </a:p>
          <a:p>
            <a:pPr algn="l">
              <a:lnSpc>
                <a:spcPts val="2520"/>
              </a:lnSpc>
            </a:pPr>
            <a:r>
              <a:rPr sz="1800" b="1" i="0">
                <a:solidFill>
                  <a:srgbClr val="000000"/>
                </a:solidFill>
                <a:latin typeface="Courier New"/>
                <a:ea typeface="Courier New"/>
                <a:cs typeface="Courier New"/>
              </a:rPr>
              <a:t>  {5}</a:t>
            </a:r>
          </a:p>
          <a:p>
            <a:pPr algn="l">
              <a:lnSpc>
                <a:spcPts val="2520"/>
              </a:lnSpc>
            </a:pPr>
            <a:r>
              <a:rPr sz="1800" b="1" i="0">
                <a:solidFill>
                  <a:srgbClr val="000000"/>
                </a:solidFill>
                <a:latin typeface="Courier New"/>
                <a:ea typeface="Courier New"/>
                <a:cs typeface="Courier New"/>
              </a:rPr>
              <a:t>};</a:t>
            </a:r>
          </a:p>
        </p:txBody>
      </p:sp>
      <p:sp>
        <p:nvSpPr>
          <p:cNvPr id="6" name="Rectangle 5"/>
          <p:cNvSpPr/>
          <p:nvPr/>
        </p:nvSpPr>
        <p:spPr>
          <a:xfrm>
            <a:off x="6604000" y="2222500"/>
            <a:ext cx="3025140" cy="2067560"/>
          </a:xfrm>
          <a:prstGeom prst="rect">
            <a:avLst/>
          </a:prstGeom>
          <a:solidFill>
            <a:srgbClr val="FFFFFF"/>
          </a:solidFill>
          <a:ln w="12700">
            <a:solidFill>
              <a:srgbClr val="9A9A9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6731000" y="2349500"/>
            <a:ext cx="3787140" cy="194056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matrix.length is 5</a:t>
            </a:r>
          </a:p>
          <a:p>
            <a:pPr algn="l">
              <a:lnSpc>
                <a:spcPts val="2379"/>
              </a:lnSpc>
            </a:pPr>
            <a:r>
              <a:rPr sz="1700" b="1" i="0">
                <a:solidFill>
                  <a:srgbClr val="000000"/>
                </a:solidFill>
                <a:latin typeface="Courier New"/>
                <a:ea typeface="Courier New"/>
                <a:cs typeface="Courier New"/>
              </a:rPr>
              <a:t>matrix[0].length is 5</a:t>
            </a:r>
          </a:p>
          <a:p>
            <a:pPr algn="l">
              <a:lnSpc>
                <a:spcPts val="2379"/>
              </a:lnSpc>
            </a:pPr>
            <a:r>
              <a:rPr sz="1700" b="1" i="0">
                <a:solidFill>
                  <a:srgbClr val="000000"/>
                </a:solidFill>
                <a:latin typeface="Courier New"/>
                <a:ea typeface="Courier New"/>
                <a:cs typeface="Courier New"/>
              </a:rPr>
              <a:t>matrix[1].length is 4</a:t>
            </a:r>
          </a:p>
          <a:p>
            <a:pPr algn="l">
              <a:lnSpc>
                <a:spcPts val="2379"/>
              </a:lnSpc>
            </a:pPr>
            <a:r>
              <a:rPr sz="1700" b="1" i="0">
                <a:solidFill>
                  <a:srgbClr val="000000"/>
                </a:solidFill>
                <a:latin typeface="Courier New"/>
                <a:ea typeface="Courier New"/>
                <a:cs typeface="Courier New"/>
              </a:rPr>
              <a:t>matrix[2].length is 3</a:t>
            </a:r>
          </a:p>
          <a:p>
            <a:pPr algn="l">
              <a:lnSpc>
                <a:spcPts val="2379"/>
              </a:lnSpc>
            </a:pPr>
            <a:r>
              <a:rPr sz="1700" b="1" i="0">
                <a:solidFill>
                  <a:srgbClr val="000000"/>
                </a:solidFill>
                <a:latin typeface="Courier New"/>
                <a:ea typeface="Courier New"/>
                <a:cs typeface="Courier New"/>
              </a:rPr>
              <a:t>matrix[3].length is 2</a:t>
            </a:r>
          </a:p>
          <a:p>
            <a:pPr algn="l">
              <a:lnSpc>
                <a:spcPts val="2379"/>
              </a:lnSpc>
            </a:pPr>
            <a:r>
              <a:rPr sz="1700" b="1" i="0">
                <a:solidFill>
                  <a:srgbClr val="000000"/>
                </a:solidFill>
                <a:latin typeface="Courier New"/>
                <a:ea typeface="Courier New"/>
                <a:cs typeface="Courier New"/>
              </a:rPr>
              <a:t>matrix[4].length is 1</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Ragged Arrays, cont.</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0301A184-84D0-44EA-B47C-3F8F8FA62E18}" type="slidenum">
              <a:rPr sz="1200" b="0" i="0">
                <a:solidFill>
                  <a:srgbClr val="6B6B6B"/>
                </a:solidFill>
                <a:latin typeface="Source Sans 3"/>
                <a:ea typeface="Source Sans 3"/>
                <a:cs typeface="Source Sans 3"/>
              </a:rPr>
              <a:pPr algn="l">
                <a:lnSpc>
                  <a:spcPts val="1500"/>
                </a:lnSpc>
              </a:pPr>
              <a:t>183</a:t>
            </a:fld>
            <a:endParaRPr sz="1200" b="0" i="0">
              <a:solidFill>
                <a:srgbClr val="6B6B6B"/>
              </a:solidFill>
              <a:latin typeface="Source Sans 3"/>
              <a:ea typeface="Source Sans 3"/>
              <a:cs typeface="Source Sans 3"/>
            </a:endParaRPr>
          </a:p>
        </p:txBody>
      </p:sp>
      <p:pic>
        <p:nvPicPr>
          <p:cNvPr id="4" name="Picture 3" descr="ragged.png"/>
          <p:cNvPicPr>
            <a:picLocks noChangeAspect="1"/>
          </p:cNvPicPr>
          <p:nvPr/>
        </p:nvPicPr>
        <p:blipFill>
          <a:blip r:embed="rId2"/>
          <a:stretch>
            <a:fillRect/>
          </a:stretch>
        </p:blipFill>
        <p:spPr>
          <a:xfrm>
            <a:off x="952500" y="1397000"/>
            <a:ext cx="10287000" cy="3897670"/>
          </a:xfrm>
          <a:prstGeom prst="rect">
            <a:avLst/>
          </a:prstGeom>
        </p:spPr>
      </p:pic>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Multidimensional Arrays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C3E209B-F402-446F-9430-472EBEA67DE5}" type="slidenum">
              <a:rPr sz="1200" b="0" i="0">
                <a:solidFill>
                  <a:srgbClr val="6B6B6B"/>
                </a:solidFill>
                <a:latin typeface="Source Sans 3"/>
                <a:ea typeface="Source Sans 3"/>
                <a:cs typeface="Source Sans 3"/>
              </a:rPr>
              <a:pPr algn="l">
                <a:lnSpc>
                  <a:spcPts val="1500"/>
                </a:lnSpc>
              </a:pPr>
              <a:t>184</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2795637"/>
          </a:xfrm>
          <a:prstGeom prst="rect">
            <a:avLst/>
          </a:prstGeom>
          <a:noFill/>
        </p:spPr>
        <p:txBody>
          <a:bodyPr wrap="square" lIns="0" tIns="0" rIns="0" bIns="0" anchor="t">
            <a:spAutoFit/>
          </a:bodyPr>
          <a:lstStyle/>
          <a:p>
            <a:pPr algn="just">
              <a:lnSpc>
                <a:spcPts val="2750"/>
              </a:lnSpc>
            </a:pPr>
            <a:r>
              <a:rPr sz="2200" b="0" i="0">
                <a:solidFill>
                  <a:srgbClr val="111111"/>
                </a:solidFill>
                <a:latin typeface="Times New Roman"/>
                <a:ea typeface="Times New Roman"/>
                <a:cs typeface="Times New Roman"/>
              </a:rPr>
              <a:t>Occasionally, you will need to represent n-dimensional data structures. In Java, you can create n-dimensional arrays for any integer n.</a:t>
            </a:r>
          </a:p>
          <a:p>
            <a:pPr algn="just">
              <a:lnSpc>
                <a:spcPts val="2750"/>
              </a:lnSpc>
              <a:spcBef>
                <a:spcPts val="1400"/>
              </a:spcBef>
            </a:pPr>
            <a:r>
              <a:rPr sz="2200" b="0" i="0">
                <a:solidFill>
                  <a:srgbClr val="111111"/>
                </a:solidFill>
                <a:latin typeface="Times New Roman"/>
                <a:ea typeface="Times New Roman"/>
                <a:cs typeface="Times New Roman"/>
              </a:rPr>
              <a:t>The way to declare two-dimensional array variables and create two-dimensional arrays can be generalized to declare n-dimensional array variables and create n-dimensional arrays for n &gt;= 3. For example, the following syntax declares a three-dimensional array variable </a:t>
            </a:r>
            <a:r>
              <a:rPr sz="2000" b="1" i="0">
                <a:solidFill>
                  <a:srgbClr val="111111"/>
                </a:solidFill>
                <a:latin typeface="Courier New"/>
                <a:ea typeface="Courier New"/>
                <a:cs typeface="Courier New"/>
              </a:rPr>
              <a:t>scores</a:t>
            </a:r>
            <a:r>
              <a:rPr sz="2200" b="0" i="0">
                <a:solidFill>
                  <a:srgbClr val="111111"/>
                </a:solidFill>
                <a:latin typeface="Times New Roman"/>
                <a:ea typeface="Times New Roman"/>
                <a:cs typeface="Times New Roman"/>
              </a:rPr>
              <a:t>, creates an array, and assigns its reference to </a:t>
            </a:r>
            <a:r>
              <a:rPr sz="2000" b="1" i="0">
                <a:solidFill>
                  <a:srgbClr val="111111"/>
                </a:solidFill>
                <a:latin typeface="Courier New"/>
                <a:ea typeface="Courier New"/>
                <a:cs typeface="Courier New"/>
              </a:rPr>
              <a:t>scores</a:t>
            </a:r>
            <a:r>
              <a:rPr sz="2200" b="0" i="0">
                <a:solidFill>
                  <a:srgbClr val="111111"/>
                </a:solidFill>
                <a:latin typeface="Times New Roman"/>
                <a:ea typeface="Times New Roman"/>
                <a:cs typeface="Times New Roman"/>
              </a:rPr>
              <a:t>.</a:t>
            </a:r>
          </a:p>
          <a:p>
            <a:pPr marL="457200" indent="0" algn="l">
              <a:lnSpc>
                <a:spcPts val="2755"/>
              </a:lnSpc>
              <a:spcBef>
                <a:spcPts val="840"/>
              </a:spcBef>
            </a:pPr>
            <a:r>
              <a:rPr sz="1900" b="1" i="0">
                <a:solidFill>
                  <a:srgbClr val="111111"/>
                </a:solidFill>
                <a:latin typeface="Courier New"/>
                <a:ea typeface="Courier New"/>
                <a:cs typeface="Courier New"/>
              </a:rPr>
              <a:t>double[][][] scores = new double[10][5][2];</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900680"/>
            <a:ext cx="10883900" cy="768350"/>
          </a:xfrm>
        </p:spPr>
        <p:txBody>
          <a:bodyPr lIns="0" tIns="0" rIns="0" bIns="0" anchor="t"/>
          <a:lstStyle/>
          <a:p>
            <a:pPr algn="l">
              <a:lnSpc>
                <a:spcPts val="5775"/>
              </a:lnSpc>
            </a:pPr>
            <a:r>
              <a:rPr sz="5500" b="0" i="0">
                <a:solidFill>
                  <a:srgbClr val="222222"/>
                </a:solidFill>
                <a:latin typeface="Times New Roman"/>
                <a:ea typeface="Times New Roman"/>
                <a:cs typeface="Times New Roman"/>
              </a:rPr>
              <a:t>Recursion</a:t>
            </a:r>
          </a:p>
        </p:txBody>
      </p:sp>
      <p:sp>
        <p:nvSpPr>
          <p:cNvPr id="3" name="TextBox 2"/>
          <p:cNvSpPr txBox="1"/>
          <p:nvPr/>
        </p:nvSpPr>
        <p:spPr>
          <a:xfrm>
            <a:off x="812800" y="2456180"/>
            <a:ext cx="10883900" cy="292100"/>
          </a:xfrm>
          <a:prstGeom prst="rect">
            <a:avLst/>
          </a:prstGeom>
          <a:noFill/>
        </p:spPr>
        <p:txBody>
          <a:bodyPr wrap="square" lIns="0" tIns="0" rIns="0" bIns="0" anchor="t">
            <a:spAutoFit/>
          </a:bodyPr>
          <a:lstStyle/>
          <a:p>
            <a:pPr algn="l">
              <a:lnSpc>
                <a:spcPts val="1875"/>
              </a:lnSpc>
            </a:pPr>
            <a:r>
              <a:rPr sz="1500" b="1" i="0">
                <a:solidFill>
                  <a:srgbClr val="B5500F"/>
                </a:solidFill>
                <a:latin typeface="Source Sans 3"/>
                <a:ea typeface="Source Sans 3"/>
                <a:cs typeface="Source Sans 3"/>
              </a:rPr>
              <a:t>Java basics</a:t>
            </a:r>
          </a:p>
        </p:txBody>
      </p:sp>
      <p:sp>
        <p:nvSpPr>
          <p:cNvPr id="4" name="Rectangle 3"/>
          <p:cNvSpPr/>
          <p:nvPr/>
        </p:nvSpPr>
        <p:spPr>
          <a:xfrm>
            <a:off x="812800" y="3811905"/>
            <a:ext cx="1524000" cy="38100"/>
          </a:xfrm>
          <a:prstGeom prst="rect">
            <a:avLst/>
          </a:prstGeom>
          <a:solidFill>
            <a:srgbClr val="E87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AE56E11A-B5B2-4778-9BF2-34B4E125A0C1}" type="slidenum">
              <a:rPr sz="1200" b="0" i="0">
                <a:solidFill>
                  <a:srgbClr val="6B6B6B"/>
                </a:solidFill>
                <a:latin typeface="Source Sans 3"/>
                <a:ea typeface="Source Sans 3"/>
                <a:cs typeface="Source Sans 3"/>
              </a:rPr>
              <a:pPr algn="l">
                <a:lnSpc>
                  <a:spcPts val="1500"/>
                </a:lnSpc>
              </a:pPr>
              <a:t>185</a:t>
            </a:fld>
            <a:endParaRPr sz="1200" b="0" i="0">
              <a:solidFill>
                <a:srgbClr val="6B6B6B"/>
              </a:solidFill>
              <a:latin typeface="Source Sans 3"/>
              <a:ea typeface="Source Sans 3"/>
              <a:cs typeface="Source Sans 3"/>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Computing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842233B2-9833-4A73-80C6-43573A7F1FF5}" type="slidenum">
              <a:rPr sz="1200" b="0" i="0">
                <a:solidFill>
                  <a:srgbClr val="6B6B6B"/>
                </a:solidFill>
                <a:latin typeface="Source Sans 3"/>
                <a:ea typeface="Source Sans 3"/>
                <a:cs typeface="Source Sans 3"/>
              </a:rPr>
              <a:pPr algn="l">
                <a:lnSpc>
                  <a:spcPts val="1500"/>
                </a:lnSpc>
              </a:pPr>
              <a:t>186</a:t>
            </a:fld>
            <a:endParaRPr sz="1200" b="0" i="0">
              <a:solidFill>
                <a:srgbClr val="6B6B6B"/>
              </a:solidFill>
              <a:latin typeface="Source Sans 3"/>
              <a:ea typeface="Source Sans 3"/>
              <a:cs typeface="Source Sans 3"/>
            </a:endParaRPr>
          </a:p>
        </p:txBody>
      </p:sp>
      <p:sp>
        <p:nvSpPr>
          <p:cNvPr id="4" name="TextBox 3"/>
          <p:cNvSpPr txBox="1"/>
          <p:nvPr/>
        </p:nvSpPr>
        <p:spPr>
          <a:xfrm>
            <a:off x="1079500" y="1651000"/>
            <a:ext cx="6918960" cy="1833880"/>
          </a:xfrm>
          <a:prstGeom prst="rect">
            <a:avLst/>
          </a:prstGeom>
          <a:noFill/>
        </p:spPr>
        <p:txBody>
          <a:bodyPr wrap="square" lIns="0" tIns="0" rIns="0" bIns="0" anchor="t">
            <a:spAutoFit/>
          </a:bodyPr>
          <a:lstStyle/>
          <a:p>
            <a:pPr algn="l">
              <a:lnSpc>
                <a:spcPts val="3359"/>
              </a:lnSpc>
            </a:pPr>
            <a:r>
              <a:rPr sz="2400" b="1" i="0">
                <a:solidFill>
                  <a:srgbClr val="000000"/>
                </a:solidFill>
                <a:latin typeface="Courier New"/>
                <a:ea typeface="Courier New"/>
                <a:cs typeface="Courier New"/>
              </a:rPr>
              <a:t>factorial(0) = 1;</a:t>
            </a:r>
          </a:p>
          <a:p>
            <a:pPr algn="l">
              <a:lnSpc>
                <a:spcPts val="3359"/>
              </a:lnSpc>
            </a:pPr>
            <a:r>
              <a:rPr sz="2400" b="1" i="0">
                <a:solidFill>
                  <a:srgbClr val="000000"/>
                </a:solidFill>
                <a:latin typeface="Courier New"/>
                <a:ea typeface="Courier New"/>
                <a:cs typeface="Courier New"/>
              </a:rPr>
              <a:t>factorial(n) = n*factorial(n-1);</a:t>
            </a:r>
          </a:p>
          <a:p>
            <a:pPr algn="l">
              <a:lnSpc>
                <a:spcPts val="3359"/>
              </a:lnSpc>
            </a:pPr>
            <a:r>
              <a:rPr sz="2400" b="1" i="0">
                <a:solidFill>
                  <a:srgbClr val="000000"/>
                </a:solidFill>
                <a:latin typeface="Courier New"/>
                <a:ea typeface="Courier New"/>
                <a:cs typeface="Courier New"/>
              </a:rPr>
              <a:t> </a:t>
            </a:r>
          </a:p>
          <a:p>
            <a:pPr algn="l">
              <a:lnSpc>
                <a:spcPts val="3359"/>
              </a:lnSpc>
            </a:pPr>
            <a:r>
              <a:rPr sz="2400" b="1" i="0">
                <a:solidFill>
                  <a:srgbClr val="000000"/>
                </a:solidFill>
                <a:latin typeface="Courier New"/>
                <a:ea typeface="Courier New"/>
                <a:cs typeface="Courier New"/>
              </a:rPr>
              <a:t>n! = n * (n-1)!</a:t>
            </a:r>
          </a:p>
        </p:txBody>
      </p:sp>
      <p:sp>
        <p:nvSpPr>
          <p:cNvPr id="5" name="Rounded Rectangle 4"/>
          <p:cNvSpPr/>
          <p:nvPr/>
        </p:nvSpPr>
        <p:spPr>
          <a:xfrm>
            <a:off x="9161780" y="5732780"/>
            <a:ext cx="207772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ComputeFactorial</a:t>
            </a:r>
            <a:endParaRPr sz="1400" b="1" i="0">
              <a:solidFill>
                <a:srgbClr val="222222"/>
              </a:solidFill>
              <a:latin typeface="Source Sans 3"/>
              <a:ea typeface="Source Sans 3"/>
              <a:cs typeface="Source Sans 3"/>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5A1668C1-658B-4ED4-BBBF-02EE15434270}" type="slidenum">
              <a:rPr sz="1200" b="0" i="0">
                <a:solidFill>
                  <a:srgbClr val="6B6B6B"/>
                </a:solidFill>
                <a:latin typeface="Source Sans 3"/>
                <a:ea typeface="Source Sans 3"/>
                <a:cs typeface="Source Sans 3"/>
              </a:rPr>
              <a:pPr algn="l">
                <a:lnSpc>
                  <a:spcPts val="1500"/>
                </a:lnSpc>
              </a:pPr>
              <a:t>187</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10" name="Rectangle 9"/>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12" name="Rounded Rectangle 11"/>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Executes factorial(4)</a:t>
            </a:r>
          </a:p>
        </p:txBody>
      </p:sp>
      <p:cxnSp>
        <p:nvCxnSpPr>
          <p:cNvPr id="14" name="Connector 13"/>
          <p:cNvCxnSpPr/>
          <p:nvPr/>
        </p:nvCxnSpPr>
        <p:spPr>
          <a:xfrm flipH="1">
            <a:off x="3529838" y="1612900"/>
            <a:ext cx="3582162" cy="1778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3FC3266-85F7-4579-B107-A341E6F60D1E}" type="slidenum">
              <a:rPr sz="1200" b="0" i="0">
                <a:solidFill>
                  <a:srgbClr val="6B6B6B"/>
                </a:solidFill>
                <a:latin typeface="Source Sans 3"/>
                <a:ea typeface="Source Sans 3"/>
                <a:cs typeface="Source Sans 3"/>
              </a:rPr>
              <a:pPr algn="l">
                <a:lnSpc>
                  <a:spcPts val="1500"/>
                </a:lnSpc>
              </a:pPr>
              <a:t>188</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3302000" y="18034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03600" y="18542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0: executes factorial(4)</a:t>
            </a:r>
          </a:p>
        </p:txBody>
      </p:sp>
      <p:sp>
        <p:nvSpPr>
          <p:cNvPr id="8" name="TextBox 7"/>
          <p:cNvSpPr txBox="1"/>
          <p:nvPr/>
        </p:nvSpPr>
        <p:spPr>
          <a:xfrm>
            <a:off x="2844800" y="22606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4 * </a:t>
            </a:r>
          </a:p>
        </p:txBody>
      </p:sp>
      <p:sp>
        <p:nvSpPr>
          <p:cNvPr id="9" name="Rectangle 8"/>
          <p:cNvSpPr/>
          <p:nvPr/>
        </p:nvSpPr>
        <p:spPr>
          <a:xfrm>
            <a:off x="4446905" y="22479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2305" y="22606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factorial(3)</a:t>
            </a:r>
          </a:p>
        </p:txBody>
      </p:sp>
      <p:cxnSp>
        <p:nvCxnSpPr>
          <p:cNvPr id="11" name="Connector 10"/>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15" name="Rectangle 14"/>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17" name="Rectangle 16"/>
          <p:cNvSpPr/>
          <p:nvPr/>
        </p:nvSpPr>
        <p:spPr>
          <a:xfrm>
            <a:off x="9715500" y="52070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9715500" y="52451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factorial(4)</a:t>
            </a:r>
          </a:p>
        </p:txBody>
      </p:sp>
      <p:sp>
        <p:nvSpPr>
          <p:cNvPr id="19" name="Rounded Rectangle 18"/>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Executes factorial(3)</a:t>
            </a:r>
          </a:p>
        </p:txBody>
      </p:sp>
      <p:cxnSp>
        <p:nvCxnSpPr>
          <p:cNvPr id="21" name="Connector 20"/>
          <p:cNvCxnSpPr/>
          <p:nvPr/>
        </p:nvCxnSpPr>
        <p:spPr>
          <a:xfrm flipH="1">
            <a:off x="5030343" y="1612900"/>
            <a:ext cx="2081657" cy="9144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70769F6-5961-44DF-8A1A-C3312C7F24D4}" type="slidenum">
              <a:rPr sz="1200" b="0" i="0">
                <a:solidFill>
                  <a:srgbClr val="6B6B6B"/>
                </a:solidFill>
                <a:latin typeface="Source Sans 3"/>
                <a:ea typeface="Source Sans 3"/>
                <a:cs typeface="Source Sans 3"/>
              </a:rPr>
              <a:pPr algn="l">
                <a:lnSpc>
                  <a:spcPts val="1500"/>
                </a:lnSpc>
              </a:pPr>
              <a:t>189</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3302000" y="18034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03600" y="18542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0: executes factorial(4)</a:t>
            </a:r>
          </a:p>
        </p:txBody>
      </p:sp>
      <p:sp>
        <p:nvSpPr>
          <p:cNvPr id="8" name="TextBox 7"/>
          <p:cNvSpPr txBox="1"/>
          <p:nvPr/>
        </p:nvSpPr>
        <p:spPr>
          <a:xfrm>
            <a:off x="2844800" y="22606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4 * </a:t>
            </a:r>
          </a:p>
        </p:txBody>
      </p:sp>
      <p:sp>
        <p:nvSpPr>
          <p:cNvPr id="9" name="Rectangle 8"/>
          <p:cNvSpPr/>
          <p:nvPr/>
        </p:nvSpPr>
        <p:spPr>
          <a:xfrm>
            <a:off x="4446905" y="22479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2305" y="22606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factorial(3)</a:t>
            </a:r>
          </a:p>
        </p:txBody>
      </p:sp>
      <p:cxnSp>
        <p:nvCxnSpPr>
          <p:cNvPr id="11" name="Connector 10"/>
          <p:cNvCxnSpPr/>
          <p:nvPr/>
        </p:nvCxnSpPr>
        <p:spPr>
          <a:xfrm>
            <a:off x="4802505" y="25400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04105" y="25908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1: executes factorial(3)</a:t>
            </a:r>
          </a:p>
        </p:txBody>
      </p:sp>
      <p:sp>
        <p:nvSpPr>
          <p:cNvPr id="13" name="TextBox 12"/>
          <p:cNvSpPr txBox="1"/>
          <p:nvPr/>
        </p:nvSpPr>
        <p:spPr>
          <a:xfrm>
            <a:off x="3276600" y="29972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3 * </a:t>
            </a:r>
          </a:p>
        </p:txBody>
      </p:sp>
      <p:sp>
        <p:nvSpPr>
          <p:cNvPr id="14" name="Rectangle 13"/>
          <p:cNvSpPr/>
          <p:nvPr/>
        </p:nvSpPr>
        <p:spPr>
          <a:xfrm>
            <a:off x="4878705" y="29845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04105" y="29972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factorial(2)</a:t>
            </a:r>
          </a:p>
        </p:txBody>
      </p:sp>
      <p:cxnSp>
        <p:nvCxnSpPr>
          <p:cNvPr id="16" name="Connector 15"/>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20" name="Rectangle 19"/>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22" name="Rectangle 21"/>
          <p:cNvSpPr/>
          <p:nvPr/>
        </p:nvSpPr>
        <p:spPr>
          <a:xfrm>
            <a:off x="9715500" y="52070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9715500" y="52451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factorial(4)</a:t>
            </a:r>
          </a:p>
        </p:txBody>
      </p:sp>
      <p:sp>
        <p:nvSpPr>
          <p:cNvPr id="24" name="Rectangle 23"/>
          <p:cNvSpPr/>
          <p:nvPr/>
        </p:nvSpPr>
        <p:spPr>
          <a:xfrm>
            <a:off x="9715500" y="47244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715500" y="47625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factorial(3)</a:t>
            </a:r>
          </a:p>
        </p:txBody>
      </p:sp>
      <p:sp>
        <p:nvSpPr>
          <p:cNvPr id="26" name="Rounded Rectangle 25"/>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Executes factorial(2)</a:t>
            </a:r>
          </a:p>
        </p:txBody>
      </p:sp>
      <p:cxnSp>
        <p:nvCxnSpPr>
          <p:cNvPr id="28" name="Connector 27"/>
          <p:cNvCxnSpPr/>
          <p:nvPr/>
        </p:nvCxnSpPr>
        <p:spPr>
          <a:xfrm flipH="1">
            <a:off x="5462143" y="1612900"/>
            <a:ext cx="1649857" cy="16510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5A360B7-1BD9-4257-A2BE-F2FFA24632B2}" type="slidenum">
              <a:rPr sz="1200" b="0" i="0">
                <a:solidFill>
                  <a:srgbClr val="6B6B6B"/>
                </a:solidFill>
                <a:latin typeface="Source Sans 3"/>
                <a:ea typeface="Source Sans 3"/>
                <a:cs typeface="Source Sans 3"/>
              </a:rPr>
              <a:pPr algn="l">
                <a:lnSpc>
                  <a:spcPts val="1500"/>
                </a:lnSpc>
              </a:pPr>
              <a:t>190</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3302000" y="18034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03600" y="18542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0: executes factorial(4)</a:t>
            </a:r>
          </a:p>
        </p:txBody>
      </p:sp>
      <p:sp>
        <p:nvSpPr>
          <p:cNvPr id="8" name="TextBox 7"/>
          <p:cNvSpPr txBox="1"/>
          <p:nvPr/>
        </p:nvSpPr>
        <p:spPr>
          <a:xfrm>
            <a:off x="2844800" y="22606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4 * </a:t>
            </a:r>
          </a:p>
        </p:txBody>
      </p:sp>
      <p:sp>
        <p:nvSpPr>
          <p:cNvPr id="9" name="Rectangle 8"/>
          <p:cNvSpPr/>
          <p:nvPr/>
        </p:nvSpPr>
        <p:spPr>
          <a:xfrm>
            <a:off x="4446905" y="22479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2305" y="22606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factorial(3)</a:t>
            </a:r>
          </a:p>
        </p:txBody>
      </p:sp>
      <p:cxnSp>
        <p:nvCxnSpPr>
          <p:cNvPr id="11" name="Connector 10"/>
          <p:cNvCxnSpPr/>
          <p:nvPr/>
        </p:nvCxnSpPr>
        <p:spPr>
          <a:xfrm>
            <a:off x="4802505" y="25400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04105" y="25908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1: executes factorial(3)</a:t>
            </a:r>
          </a:p>
        </p:txBody>
      </p:sp>
      <p:sp>
        <p:nvSpPr>
          <p:cNvPr id="13" name="TextBox 12"/>
          <p:cNvSpPr txBox="1"/>
          <p:nvPr/>
        </p:nvSpPr>
        <p:spPr>
          <a:xfrm>
            <a:off x="3276600" y="29972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3 * </a:t>
            </a:r>
          </a:p>
        </p:txBody>
      </p:sp>
      <p:sp>
        <p:nvSpPr>
          <p:cNvPr id="14" name="Rectangle 13"/>
          <p:cNvSpPr/>
          <p:nvPr/>
        </p:nvSpPr>
        <p:spPr>
          <a:xfrm>
            <a:off x="4878705" y="29845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04105" y="29972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factorial(2)</a:t>
            </a:r>
          </a:p>
        </p:txBody>
      </p:sp>
      <p:cxnSp>
        <p:nvCxnSpPr>
          <p:cNvPr id="16" name="Connector 15"/>
          <p:cNvCxnSpPr/>
          <p:nvPr/>
        </p:nvCxnSpPr>
        <p:spPr>
          <a:xfrm>
            <a:off x="5234305" y="32766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35905" y="33274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2: executes factorial(2)</a:t>
            </a:r>
          </a:p>
        </p:txBody>
      </p:sp>
      <p:sp>
        <p:nvSpPr>
          <p:cNvPr id="18" name="TextBox 17"/>
          <p:cNvSpPr txBox="1"/>
          <p:nvPr/>
        </p:nvSpPr>
        <p:spPr>
          <a:xfrm>
            <a:off x="3708400" y="37338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2 * </a:t>
            </a:r>
          </a:p>
        </p:txBody>
      </p:sp>
      <p:sp>
        <p:nvSpPr>
          <p:cNvPr id="19" name="Rectangle 18"/>
          <p:cNvSpPr/>
          <p:nvPr/>
        </p:nvSpPr>
        <p:spPr>
          <a:xfrm>
            <a:off x="5310505" y="37211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335905" y="37338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factorial(1)</a:t>
            </a:r>
          </a:p>
        </p:txBody>
      </p:sp>
      <p:cxnSp>
        <p:nvCxnSpPr>
          <p:cNvPr id="21" name="Connector 20"/>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25" name="Rectangle 24"/>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27" name="Rectangle 26"/>
          <p:cNvSpPr/>
          <p:nvPr/>
        </p:nvSpPr>
        <p:spPr>
          <a:xfrm>
            <a:off x="9715500" y="52070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715500" y="52451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factorial(4)</a:t>
            </a:r>
          </a:p>
        </p:txBody>
      </p:sp>
      <p:sp>
        <p:nvSpPr>
          <p:cNvPr id="29" name="Rectangle 28"/>
          <p:cNvSpPr/>
          <p:nvPr/>
        </p:nvSpPr>
        <p:spPr>
          <a:xfrm>
            <a:off x="9715500" y="47244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9715500" y="47625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factorial(3)</a:t>
            </a:r>
          </a:p>
        </p:txBody>
      </p:sp>
      <p:sp>
        <p:nvSpPr>
          <p:cNvPr id="31" name="Rectangle 30"/>
          <p:cNvSpPr/>
          <p:nvPr/>
        </p:nvSpPr>
        <p:spPr>
          <a:xfrm>
            <a:off x="9715500" y="42418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9715500" y="42799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factorial(2)</a:t>
            </a:r>
          </a:p>
        </p:txBody>
      </p:sp>
      <p:sp>
        <p:nvSpPr>
          <p:cNvPr id="33" name="Rounded Rectangle 32"/>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Executes factorial(1)</a:t>
            </a:r>
          </a:p>
        </p:txBody>
      </p:sp>
      <p:cxnSp>
        <p:nvCxnSpPr>
          <p:cNvPr id="35" name="Connector 34"/>
          <p:cNvCxnSpPr/>
          <p:nvPr/>
        </p:nvCxnSpPr>
        <p:spPr>
          <a:xfrm flipH="1">
            <a:off x="5893943" y="1612900"/>
            <a:ext cx="1218057" cy="23876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DF895A4-3213-4F4C-B81C-EFC3F08084A3}" type="slidenum">
              <a:rPr sz="1200" b="0" i="0">
                <a:solidFill>
                  <a:srgbClr val="6B6B6B"/>
                </a:solidFill>
                <a:latin typeface="Source Sans 3"/>
                <a:ea typeface="Source Sans 3"/>
                <a:cs typeface="Source Sans 3"/>
              </a:rPr>
              <a:pPr algn="l">
                <a:lnSpc>
                  <a:spcPts val="1500"/>
                </a:lnSpc>
              </a:pPr>
              <a:t>191</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3302000" y="18034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03600" y="18542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0: executes factorial(4)</a:t>
            </a:r>
          </a:p>
        </p:txBody>
      </p:sp>
      <p:sp>
        <p:nvSpPr>
          <p:cNvPr id="8" name="TextBox 7"/>
          <p:cNvSpPr txBox="1"/>
          <p:nvPr/>
        </p:nvSpPr>
        <p:spPr>
          <a:xfrm>
            <a:off x="2844800" y="22606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4 * </a:t>
            </a:r>
          </a:p>
        </p:txBody>
      </p:sp>
      <p:sp>
        <p:nvSpPr>
          <p:cNvPr id="9" name="Rectangle 8"/>
          <p:cNvSpPr/>
          <p:nvPr/>
        </p:nvSpPr>
        <p:spPr>
          <a:xfrm>
            <a:off x="4446905" y="22479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2305" y="22606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factorial(3)</a:t>
            </a:r>
          </a:p>
        </p:txBody>
      </p:sp>
      <p:cxnSp>
        <p:nvCxnSpPr>
          <p:cNvPr id="11" name="Connector 10"/>
          <p:cNvCxnSpPr/>
          <p:nvPr/>
        </p:nvCxnSpPr>
        <p:spPr>
          <a:xfrm>
            <a:off x="4802505" y="25400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04105" y="25908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1: executes factorial(3)</a:t>
            </a:r>
          </a:p>
        </p:txBody>
      </p:sp>
      <p:sp>
        <p:nvSpPr>
          <p:cNvPr id="13" name="TextBox 12"/>
          <p:cNvSpPr txBox="1"/>
          <p:nvPr/>
        </p:nvSpPr>
        <p:spPr>
          <a:xfrm>
            <a:off x="3276600" y="29972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3 * </a:t>
            </a:r>
          </a:p>
        </p:txBody>
      </p:sp>
      <p:sp>
        <p:nvSpPr>
          <p:cNvPr id="14" name="Rectangle 13"/>
          <p:cNvSpPr/>
          <p:nvPr/>
        </p:nvSpPr>
        <p:spPr>
          <a:xfrm>
            <a:off x="4878705" y="29845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04105" y="29972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factorial(2)</a:t>
            </a:r>
          </a:p>
        </p:txBody>
      </p:sp>
      <p:cxnSp>
        <p:nvCxnSpPr>
          <p:cNvPr id="16" name="Connector 15"/>
          <p:cNvCxnSpPr/>
          <p:nvPr/>
        </p:nvCxnSpPr>
        <p:spPr>
          <a:xfrm>
            <a:off x="5234305" y="32766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35905" y="33274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2: executes factorial(2)</a:t>
            </a:r>
          </a:p>
        </p:txBody>
      </p:sp>
      <p:sp>
        <p:nvSpPr>
          <p:cNvPr id="18" name="TextBox 17"/>
          <p:cNvSpPr txBox="1"/>
          <p:nvPr/>
        </p:nvSpPr>
        <p:spPr>
          <a:xfrm>
            <a:off x="3708400" y="37338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2 * </a:t>
            </a:r>
          </a:p>
        </p:txBody>
      </p:sp>
      <p:sp>
        <p:nvSpPr>
          <p:cNvPr id="19" name="Rectangle 18"/>
          <p:cNvSpPr/>
          <p:nvPr/>
        </p:nvSpPr>
        <p:spPr>
          <a:xfrm>
            <a:off x="5310505" y="37211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335905" y="37338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factorial(1)</a:t>
            </a:r>
          </a:p>
        </p:txBody>
      </p:sp>
      <p:cxnSp>
        <p:nvCxnSpPr>
          <p:cNvPr id="21" name="Connector 20"/>
          <p:cNvCxnSpPr/>
          <p:nvPr/>
        </p:nvCxnSpPr>
        <p:spPr>
          <a:xfrm>
            <a:off x="5666105" y="40132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767705" y="40640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3: executes factorial(1)</a:t>
            </a:r>
          </a:p>
        </p:txBody>
      </p:sp>
      <p:sp>
        <p:nvSpPr>
          <p:cNvPr id="23" name="TextBox 22"/>
          <p:cNvSpPr txBox="1"/>
          <p:nvPr/>
        </p:nvSpPr>
        <p:spPr>
          <a:xfrm>
            <a:off x="4140200" y="44704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1 * </a:t>
            </a:r>
          </a:p>
        </p:txBody>
      </p:sp>
      <p:sp>
        <p:nvSpPr>
          <p:cNvPr id="24" name="Rectangle 23"/>
          <p:cNvSpPr/>
          <p:nvPr/>
        </p:nvSpPr>
        <p:spPr>
          <a:xfrm>
            <a:off x="5742305" y="44577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767705" y="44704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factorial(0)</a:t>
            </a:r>
          </a:p>
        </p:txBody>
      </p:sp>
      <p:cxnSp>
        <p:nvCxnSpPr>
          <p:cNvPr id="26" name="Connector 25"/>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30" name="Rectangle 29"/>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32" name="Rectangle 31"/>
          <p:cNvSpPr/>
          <p:nvPr/>
        </p:nvSpPr>
        <p:spPr>
          <a:xfrm>
            <a:off x="9715500" y="52070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9715500" y="52451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factorial(4)</a:t>
            </a:r>
          </a:p>
        </p:txBody>
      </p:sp>
      <p:sp>
        <p:nvSpPr>
          <p:cNvPr id="34" name="Rectangle 33"/>
          <p:cNvSpPr/>
          <p:nvPr/>
        </p:nvSpPr>
        <p:spPr>
          <a:xfrm>
            <a:off x="9715500" y="47244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9715500" y="47625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factorial(3)</a:t>
            </a:r>
          </a:p>
        </p:txBody>
      </p:sp>
      <p:sp>
        <p:nvSpPr>
          <p:cNvPr id="36" name="Rectangle 35"/>
          <p:cNvSpPr/>
          <p:nvPr/>
        </p:nvSpPr>
        <p:spPr>
          <a:xfrm>
            <a:off x="9715500" y="42418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9715500" y="42799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factorial(2)</a:t>
            </a:r>
          </a:p>
        </p:txBody>
      </p:sp>
      <p:sp>
        <p:nvSpPr>
          <p:cNvPr id="38" name="Rectangle 37"/>
          <p:cNvSpPr/>
          <p:nvPr/>
        </p:nvSpPr>
        <p:spPr>
          <a:xfrm>
            <a:off x="9715500" y="37592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9715500" y="37973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factorial(1)</a:t>
            </a:r>
          </a:p>
        </p:txBody>
      </p:sp>
      <p:sp>
        <p:nvSpPr>
          <p:cNvPr id="40" name="Rounded Rectangle 39"/>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Executes factorial(0)</a:t>
            </a:r>
          </a:p>
        </p:txBody>
      </p:sp>
      <p:cxnSp>
        <p:nvCxnSpPr>
          <p:cNvPr id="42" name="Connector 41"/>
          <p:cNvCxnSpPr/>
          <p:nvPr/>
        </p:nvCxnSpPr>
        <p:spPr>
          <a:xfrm flipH="1">
            <a:off x="6325743" y="1612900"/>
            <a:ext cx="786257" cy="31242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F316FA1-6259-45FA-A0BB-4FCB84911D5F}" type="slidenum">
              <a:rPr sz="1200" b="0" i="0">
                <a:solidFill>
                  <a:srgbClr val="6B6B6B"/>
                </a:solidFill>
                <a:latin typeface="Source Sans 3"/>
                <a:ea typeface="Source Sans 3"/>
                <a:cs typeface="Source Sans 3"/>
              </a:rPr>
              <a:pPr algn="l">
                <a:lnSpc>
                  <a:spcPts val="1500"/>
                </a:lnSpc>
              </a:pPr>
              <a:t>192</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3302000" y="18034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03600" y="18542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0: executes factorial(4)</a:t>
            </a:r>
          </a:p>
        </p:txBody>
      </p:sp>
      <p:sp>
        <p:nvSpPr>
          <p:cNvPr id="8" name="TextBox 7"/>
          <p:cNvSpPr txBox="1"/>
          <p:nvPr/>
        </p:nvSpPr>
        <p:spPr>
          <a:xfrm>
            <a:off x="2844800" y="22606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4 * </a:t>
            </a:r>
          </a:p>
        </p:txBody>
      </p:sp>
      <p:sp>
        <p:nvSpPr>
          <p:cNvPr id="9" name="Rectangle 8"/>
          <p:cNvSpPr/>
          <p:nvPr/>
        </p:nvSpPr>
        <p:spPr>
          <a:xfrm>
            <a:off x="4446905" y="22479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2305" y="22606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factorial(3)</a:t>
            </a:r>
          </a:p>
        </p:txBody>
      </p:sp>
      <p:cxnSp>
        <p:nvCxnSpPr>
          <p:cNvPr id="11" name="Connector 10"/>
          <p:cNvCxnSpPr/>
          <p:nvPr/>
        </p:nvCxnSpPr>
        <p:spPr>
          <a:xfrm>
            <a:off x="4802505" y="25400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04105" y="25908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1: executes factorial(3)</a:t>
            </a:r>
          </a:p>
        </p:txBody>
      </p:sp>
      <p:sp>
        <p:nvSpPr>
          <p:cNvPr id="13" name="TextBox 12"/>
          <p:cNvSpPr txBox="1"/>
          <p:nvPr/>
        </p:nvSpPr>
        <p:spPr>
          <a:xfrm>
            <a:off x="3276600" y="29972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3 * </a:t>
            </a:r>
          </a:p>
        </p:txBody>
      </p:sp>
      <p:sp>
        <p:nvSpPr>
          <p:cNvPr id="14" name="Rectangle 13"/>
          <p:cNvSpPr/>
          <p:nvPr/>
        </p:nvSpPr>
        <p:spPr>
          <a:xfrm>
            <a:off x="4878705" y="29845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04105" y="29972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factorial(2)</a:t>
            </a:r>
          </a:p>
        </p:txBody>
      </p:sp>
      <p:cxnSp>
        <p:nvCxnSpPr>
          <p:cNvPr id="16" name="Connector 15"/>
          <p:cNvCxnSpPr/>
          <p:nvPr/>
        </p:nvCxnSpPr>
        <p:spPr>
          <a:xfrm>
            <a:off x="5234305" y="32766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35905" y="33274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2: executes factorial(2)</a:t>
            </a:r>
          </a:p>
        </p:txBody>
      </p:sp>
      <p:sp>
        <p:nvSpPr>
          <p:cNvPr id="18" name="TextBox 17"/>
          <p:cNvSpPr txBox="1"/>
          <p:nvPr/>
        </p:nvSpPr>
        <p:spPr>
          <a:xfrm>
            <a:off x="3708400" y="37338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2 * </a:t>
            </a:r>
          </a:p>
        </p:txBody>
      </p:sp>
      <p:sp>
        <p:nvSpPr>
          <p:cNvPr id="19" name="Rectangle 18"/>
          <p:cNvSpPr/>
          <p:nvPr/>
        </p:nvSpPr>
        <p:spPr>
          <a:xfrm>
            <a:off x="5310505" y="37211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335905" y="37338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factorial(1)</a:t>
            </a:r>
          </a:p>
        </p:txBody>
      </p:sp>
      <p:cxnSp>
        <p:nvCxnSpPr>
          <p:cNvPr id="21" name="Connector 20"/>
          <p:cNvCxnSpPr/>
          <p:nvPr/>
        </p:nvCxnSpPr>
        <p:spPr>
          <a:xfrm>
            <a:off x="5666105" y="40132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767705" y="40640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3: executes factorial(1)</a:t>
            </a:r>
          </a:p>
        </p:txBody>
      </p:sp>
      <p:sp>
        <p:nvSpPr>
          <p:cNvPr id="23" name="TextBox 22"/>
          <p:cNvSpPr txBox="1"/>
          <p:nvPr/>
        </p:nvSpPr>
        <p:spPr>
          <a:xfrm>
            <a:off x="4140200" y="44704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1 * </a:t>
            </a:r>
          </a:p>
        </p:txBody>
      </p:sp>
      <p:sp>
        <p:nvSpPr>
          <p:cNvPr id="24" name="Rectangle 23"/>
          <p:cNvSpPr/>
          <p:nvPr/>
        </p:nvSpPr>
        <p:spPr>
          <a:xfrm>
            <a:off x="5742305" y="44577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767705" y="44704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factorial(0)</a:t>
            </a:r>
          </a:p>
        </p:txBody>
      </p:sp>
      <p:cxnSp>
        <p:nvCxnSpPr>
          <p:cNvPr id="26" name="Connector 25"/>
          <p:cNvCxnSpPr/>
          <p:nvPr/>
        </p:nvCxnSpPr>
        <p:spPr>
          <a:xfrm>
            <a:off x="6097905" y="47498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99505" y="48006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4: executes factorial(0)</a:t>
            </a:r>
          </a:p>
        </p:txBody>
      </p:sp>
      <p:sp>
        <p:nvSpPr>
          <p:cNvPr id="28" name="TextBox 27"/>
          <p:cNvSpPr txBox="1"/>
          <p:nvPr/>
        </p:nvSpPr>
        <p:spPr>
          <a:xfrm>
            <a:off x="5080000" y="5207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return 1</a:t>
            </a:r>
          </a:p>
        </p:txBody>
      </p:sp>
      <p:cxnSp>
        <p:nvCxnSpPr>
          <p:cNvPr id="29" name="Connector 28"/>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33" name="Rectangle 32"/>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35" name="Rectangle 34"/>
          <p:cNvSpPr/>
          <p:nvPr/>
        </p:nvSpPr>
        <p:spPr>
          <a:xfrm>
            <a:off x="9715500" y="52070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9715500" y="52451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factorial(4)</a:t>
            </a:r>
          </a:p>
        </p:txBody>
      </p:sp>
      <p:sp>
        <p:nvSpPr>
          <p:cNvPr id="37" name="Rectangle 36"/>
          <p:cNvSpPr/>
          <p:nvPr/>
        </p:nvSpPr>
        <p:spPr>
          <a:xfrm>
            <a:off x="9715500" y="47244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9715500" y="47625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factorial(3)</a:t>
            </a:r>
          </a:p>
        </p:txBody>
      </p:sp>
      <p:sp>
        <p:nvSpPr>
          <p:cNvPr id="39" name="Rectangle 38"/>
          <p:cNvSpPr/>
          <p:nvPr/>
        </p:nvSpPr>
        <p:spPr>
          <a:xfrm>
            <a:off x="9715500" y="42418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9715500" y="42799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factorial(2)</a:t>
            </a:r>
          </a:p>
        </p:txBody>
      </p:sp>
      <p:sp>
        <p:nvSpPr>
          <p:cNvPr id="41" name="Rectangle 40"/>
          <p:cNvSpPr/>
          <p:nvPr/>
        </p:nvSpPr>
        <p:spPr>
          <a:xfrm>
            <a:off x="9715500" y="37592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715500" y="37973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factorial(1)</a:t>
            </a:r>
          </a:p>
        </p:txBody>
      </p:sp>
      <p:sp>
        <p:nvSpPr>
          <p:cNvPr id="43" name="Rectangle 42"/>
          <p:cNvSpPr/>
          <p:nvPr/>
        </p:nvSpPr>
        <p:spPr>
          <a:xfrm>
            <a:off x="9715500" y="32766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9715500" y="33147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factorial(0)</a:t>
            </a:r>
          </a:p>
        </p:txBody>
      </p:sp>
      <p:sp>
        <p:nvSpPr>
          <p:cNvPr id="45" name="Rounded Rectangle 44"/>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returns 1</a:t>
            </a:r>
          </a:p>
        </p:txBody>
      </p:sp>
      <p:cxnSp>
        <p:nvCxnSpPr>
          <p:cNvPr id="47" name="Connector 46"/>
          <p:cNvCxnSpPr/>
          <p:nvPr/>
        </p:nvCxnSpPr>
        <p:spPr>
          <a:xfrm flipH="1">
            <a:off x="6238240" y="1612900"/>
            <a:ext cx="873760" cy="38608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792085D7-7228-45E5-88BB-C026BB250D9D}" type="slidenum">
              <a:rPr sz="1200" b="0" i="0">
                <a:solidFill>
                  <a:srgbClr val="6B6B6B"/>
                </a:solidFill>
                <a:latin typeface="Source Sans 3"/>
                <a:ea typeface="Source Sans 3"/>
                <a:cs typeface="Source Sans 3"/>
              </a:rPr>
              <a:pPr algn="l">
                <a:lnSpc>
                  <a:spcPts val="1500"/>
                </a:lnSpc>
              </a:pPr>
              <a:t>193</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3302000" y="18034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03600" y="18542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0: executes factorial(4)</a:t>
            </a:r>
          </a:p>
        </p:txBody>
      </p:sp>
      <p:sp>
        <p:nvSpPr>
          <p:cNvPr id="8" name="TextBox 7"/>
          <p:cNvSpPr txBox="1"/>
          <p:nvPr/>
        </p:nvSpPr>
        <p:spPr>
          <a:xfrm>
            <a:off x="2844800" y="22606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4 * </a:t>
            </a:r>
          </a:p>
        </p:txBody>
      </p:sp>
      <p:sp>
        <p:nvSpPr>
          <p:cNvPr id="9" name="Rectangle 8"/>
          <p:cNvSpPr/>
          <p:nvPr/>
        </p:nvSpPr>
        <p:spPr>
          <a:xfrm>
            <a:off x="4446905" y="22479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2305" y="22606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factorial(3)</a:t>
            </a:r>
          </a:p>
        </p:txBody>
      </p:sp>
      <p:cxnSp>
        <p:nvCxnSpPr>
          <p:cNvPr id="11" name="Connector 10"/>
          <p:cNvCxnSpPr/>
          <p:nvPr/>
        </p:nvCxnSpPr>
        <p:spPr>
          <a:xfrm>
            <a:off x="4802505" y="25400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04105" y="25908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1: executes factorial(3)</a:t>
            </a:r>
          </a:p>
        </p:txBody>
      </p:sp>
      <p:sp>
        <p:nvSpPr>
          <p:cNvPr id="13" name="TextBox 12"/>
          <p:cNvSpPr txBox="1"/>
          <p:nvPr/>
        </p:nvSpPr>
        <p:spPr>
          <a:xfrm>
            <a:off x="3276600" y="29972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3 * </a:t>
            </a:r>
          </a:p>
        </p:txBody>
      </p:sp>
      <p:sp>
        <p:nvSpPr>
          <p:cNvPr id="14" name="Rectangle 13"/>
          <p:cNvSpPr/>
          <p:nvPr/>
        </p:nvSpPr>
        <p:spPr>
          <a:xfrm>
            <a:off x="4878705" y="29845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04105" y="29972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factorial(2)</a:t>
            </a:r>
          </a:p>
        </p:txBody>
      </p:sp>
      <p:cxnSp>
        <p:nvCxnSpPr>
          <p:cNvPr id="16" name="Connector 15"/>
          <p:cNvCxnSpPr/>
          <p:nvPr/>
        </p:nvCxnSpPr>
        <p:spPr>
          <a:xfrm>
            <a:off x="5234305" y="32766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35905" y="33274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2: executes factorial(2)</a:t>
            </a:r>
          </a:p>
        </p:txBody>
      </p:sp>
      <p:sp>
        <p:nvSpPr>
          <p:cNvPr id="18" name="TextBox 17"/>
          <p:cNvSpPr txBox="1"/>
          <p:nvPr/>
        </p:nvSpPr>
        <p:spPr>
          <a:xfrm>
            <a:off x="3708400" y="37338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2 * </a:t>
            </a:r>
          </a:p>
        </p:txBody>
      </p:sp>
      <p:sp>
        <p:nvSpPr>
          <p:cNvPr id="19" name="Rectangle 18"/>
          <p:cNvSpPr/>
          <p:nvPr/>
        </p:nvSpPr>
        <p:spPr>
          <a:xfrm>
            <a:off x="5310505" y="37211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335905" y="37338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factorial(1)</a:t>
            </a:r>
          </a:p>
        </p:txBody>
      </p:sp>
      <p:cxnSp>
        <p:nvCxnSpPr>
          <p:cNvPr id="21" name="Connector 20"/>
          <p:cNvCxnSpPr/>
          <p:nvPr/>
        </p:nvCxnSpPr>
        <p:spPr>
          <a:xfrm>
            <a:off x="5666105" y="40132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767705" y="40640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3: executes factorial(1)</a:t>
            </a:r>
          </a:p>
        </p:txBody>
      </p:sp>
      <p:sp>
        <p:nvSpPr>
          <p:cNvPr id="23" name="TextBox 22"/>
          <p:cNvSpPr txBox="1"/>
          <p:nvPr/>
        </p:nvSpPr>
        <p:spPr>
          <a:xfrm>
            <a:off x="4140200" y="44704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1 * </a:t>
            </a:r>
          </a:p>
        </p:txBody>
      </p:sp>
      <p:sp>
        <p:nvSpPr>
          <p:cNvPr id="24" name="Rectangle 23"/>
          <p:cNvSpPr/>
          <p:nvPr/>
        </p:nvSpPr>
        <p:spPr>
          <a:xfrm>
            <a:off x="5742305" y="44577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767705" y="44704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factorial(0)</a:t>
            </a:r>
          </a:p>
        </p:txBody>
      </p:sp>
      <p:cxnSp>
        <p:nvCxnSpPr>
          <p:cNvPr id="26" name="Connector 25"/>
          <p:cNvCxnSpPr/>
          <p:nvPr/>
        </p:nvCxnSpPr>
        <p:spPr>
          <a:xfrm>
            <a:off x="6097905" y="47498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99505" y="48006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4: executes factorial(0)</a:t>
            </a:r>
          </a:p>
        </p:txBody>
      </p:sp>
      <p:sp>
        <p:nvSpPr>
          <p:cNvPr id="28" name="TextBox 27"/>
          <p:cNvSpPr txBox="1"/>
          <p:nvPr/>
        </p:nvSpPr>
        <p:spPr>
          <a:xfrm>
            <a:off x="5080000" y="5207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return 1</a:t>
            </a:r>
          </a:p>
        </p:txBody>
      </p:sp>
      <p:sp>
        <p:nvSpPr>
          <p:cNvPr id="29" name="TextBox 28"/>
          <p:cNvSpPr txBox="1"/>
          <p:nvPr/>
        </p:nvSpPr>
        <p:spPr>
          <a:xfrm>
            <a:off x="2425700" y="48514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5: return 1</a:t>
            </a:r>
          </a:p>
        </p:txBody>
      </p:sp>
      <p:cxnSp>
        <p:nvCxnSpPr>
          <p:cNvPr id="30" name="Connector 29"/>
          <p:cNvCxnSpPr/>
          <p:nvPr/>
        </p:nvCxnSpPr>
        <p:spPr>
          <a:xfrm flipH="1" flipV="1">
            <a:off x="4546600" y="48006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35" name="Rectangle 34"/>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37" name="Rectangle 36"/>
          <p:cNvSpPr/>
          <p:nvPr/>
        </p:nvSpPr>
        <p:spPr>
          <a:xfrm>
            <a:off x="9715500" y="52070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9715500" y="52451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factorial(4)</a:t>
            </a:r>
          </a:p>
        </p:txBody>
      </p:sp>
      <p:sp>
        <p:nvSpPr>
          <p:cNvPr id="39" name="Rectangle 38"/>
          <p:cNvSpPr/>
          <p:nvPr/>
        </p:nvSpPr>
        <p:spPr>
          <a:xfrm>
            <a:off x="9715500" y="47244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9715500" y="47625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factorial(3)</a:t>
            </a:r>
          </a:p>
        </p:txBody>
      </p:sp>
      <p:sp>
        <p:nvSpPr>
          <p:cNvPr id="41" name="Rectangle 40"/>
          <p:cNvSpPr/>
          <p:nvPr/>
        </p:nvSpPr>
        <p:spPr>
          <a:xfrm>
            <a:off x="9715500" y="42418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715500" y="42799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factorial(2)</a:t>
            </a:r>
          </a:p>
        </p:txBody>
      </p:sp>
      <p:sp>
        <p:nvSpPr>
          <p:cNvPr id="43" name="Rectangle 42"/>
          <p:cNvSpPr/>
          <p:nvPr/>
        </p:nvSpPr>
        <p:spPr>
          <a:xfrm>
            <a:off x="9715500" y="37592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9715500" y="37973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factorial(1)</a:t>
            </a:r>
          </a:p>
        </p:txBody>
      </p:sp>
      <p:sp>
        <p:nvSpPr>
          <p:cNvPr id="45" name="Rounded Rectangle 44"/>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returns factorial(0)</a:t>
            </a:r>
          </a:p>
        </p:txBody>
      </p:sp>
      <p:cxnSp>
        <p:nvCxnSpPr>
          <p:cNvPr id="47" name="Connector 46"/>
          <p:cNvCxnSpPr/>
          <p:nvPr/>
        </p:nvCxnSpPr>
        <p:spPr>
          <a:xfrm flipH="1">
            <a:off x="6238240" y="1612900"/>
            <a:ext cx="873760" cy="38608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17F5B7B7-50AA-48AD-97B3-C83A187673CA}" type="slidenum">
              <a:rPr sz="1200" b="0" i="0">
                <a:solidFill>
                  <a:srgbClr val="6B6B6B"/>
                </a:solidFill>
                <a:latin typeface="Source Sans 3"/>
                <a:ea typeface="Source Sans 3"/>
                <a:cs typeface="Source Sans 3"/>
              </a:rPr>
              <a:pPr algn="l">
                <a:lnSpc>
                  <a:spcPts val="1500"/>
                </a:lnSpc>
              </a:pPr>
              <a:t>194</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3302000" y="18034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03600" y="18542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0: executes factorial(4)</a:t>
            </a:r>
          </a:p>
        </p:txBody>
      </p:sp>
      <p:sp>
        <p:nvSpPr>
          <p:cNvPr id="8" name="TextBox 7"/>
          <p:cNvSpPr txBox="1"/>
          <p:nvPr/>
        </p:nvSpPr>
        <p:spPr>
          <a:xfrm>
            <a:off x="2844800" y="22606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4 * </a:t>
            </a:r>
          </a:p>
        </p:txBody>
      </p:sp>
      <p:sp>
        <p:nvSpPr>
          <p:cNvPr id="9" name="Rectangle 8"/>
          <p:cNvSpPr/>
          <p:nvPr/>
        </p:nvSpPr>
        <p:spPr>
          <a:xfrm>
            <a:off x="4446905" y="22479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2305" y="22606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factorial(3)</a:t>
            </a:r>
          </a:p>
        </p:txBody>
      </p:sp>
      <p:cxnSp>
        <p:nvCxnSpPr>
          <p:cNvPr id="11" name="Connector 10"/>
          <p:cNvCxnSpPr/>
          <p:nvPr/>
        </p:nvCxnSpPr>
        <p:spPr>
          <a:xfrm>
            <a:off x="4802505" y="25400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04105" y="25908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1: executes factorial(3)</a:t>
            </a:r>
          </a:p>
        </p:txBody>
      </p:sp>
      <p:sp>
        <p:nvSpPr>
          <p:cNvPr id="13" name="TextBox 12"/>
          <p:cNvSpPr txBox="1"/>
          <p:nvPr/>
        </p:nvSpPr>
        <p:spPr>
          <a:xfrm>
            <a:off x="3276600" y="29972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3 * </a:t>
            </a:r>
          </a:p>
        </p:txBody>
      </p:sp>
      <p:sp>
        <p:nvSpPr>
          <p:cNvPr id="14" name="Rectangle 13"/>
          <p:cNvSpPr/>
          <p:nvPr/>
        </p:nvSpPr>
        <p:spPr>
          <a:xfrm>
            <a:off x="4878705" y="29845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04105" y="29972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factorial(2)</a:t>
            </a:r>
          </a:p>
        </p:txBody>
      </p:sp>
      <p:cxnSp>
        <p:nvCxnSpPr>
          <p:cNvPr id="16" name="Connector 15"/>
          <p:cNvCxnSpPr/>
          <p:nvPr/>
        </p:nvCxnSpPr>
        <p:spPr>
          <a:xfrm>
            <a:off x="5234305" y="32766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35905" y="33274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2: executes factorial(2)</a:t>
            </a:r>
          </a:p>
        </p:txBody>
      </p:sp>
      <p:sp>
        <p:nvSpPr>
          <p:cNvPr id="18" name="TextBox 17"/>
          <p:cNvSpPr txBox="1"/>
          <p:nvPr/>
        </p:nvSpPr>
        <p:spPr>
          <a:xfrm>
            <a:off x="3708400" y="37338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2 * </a:t>
            </a:r>
          </a:p>
        </p:txBody>
      </p:sp>
      <p:sp>
        <p:nvSpPr>
          <p:cNvPr id="19" name="Rectangle 18"/>
          <p:cNvSpPr/>
          <p:nvPr/>
        </p:nvSpPr>
        <p:spPr>
          <a:xfrm>
            <a:off x="5310505" y="37211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335905" y="37338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factorial(1)</a:t>
            </a:r>
          </a:p>
        </p:txBody>
      </p:sp>
      <p:cxnSp>
        <p:nvCxnSpPr>
          <p:cNvPr id="21" name="Connector 20"/>
          <p:cNvCxnSpPr/>
          <p:nvPr/>
        </p:nvCxnSpPr>
        <p:spPr>
          <a:xfrm>
            <a:off x="5666105" y="40132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767705" y="40640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3: executes factorial(1)</a:t>
            </a:r>
          </a:p>
        </p:txBody>
      </p:sp>
      <p:sp>
        <p:nvSpPr>
          <p:cNvPr id="23" name="TextBox 22"/>
          <p:cNvSpPr txBox="1"/>
          <p:nvPr/>
        </p:nvSpPr>
        <p:spPr>
          <a:xfrm>
            <a:off x="4140200" y="44704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1 * </a:t>
            </a:r>
          </a:p>
        </p:txBody>
      </p:sp>
      <p:sp>
        <p:nvSpPr>
          <p:cNvPr id="24" name="Rectangle 23"/>
          <p:cNvSpPr/>
          <p:nvPr/>
        </p:nvSpPr>
        <p:spPr>
          <a:xfrm>
            <a:off x="5742305" y="44577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767705" y="44704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factorial(0)</a:t>
            </a:r>
          </a:p>
        </p:txBody>
      </p:sp>
      <p:cxnSp>
        <p:nvCxnSpPr>
          <p:cNvPr id="26" name="Connector 25"/>
          <p:cNvCxnSpPr/>
          <p:nvPr/>
        </p:nvCxnSpPr>
        <p:spPr>
          <a:xfrm>
            <a:off x="6097905" y="47498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99505" y="48006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4: executes factorial(0)</a:t>
            </a:r>
          </a:p>
        </p:txBody>
      </p:sp>
      <p:sp>
        <p:nvSpPr>
          <p:cNvPr id="28" name="TextBox 27"/>
          <p:cNvSpPr txBox="1"/>
          <p:nvPr/>
        </p:nvSpPr>
        <p:spPr>
          <a:xfrm>
            <a:off x="5080000" y="5207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return 1</a:t>
            </a:r>
          </a:p>
        </p:txBody>
      </p:sp>
      <p:sp>
        <p:nvSpPr>
          <p:cNvPr id="29" name="TextBox 28"/>
          <p:cNvSpPr txBox="1"/>
          <p:nvPr/>
        </p:nvSpPr>
        <p:spPr>
          <a:xfrm>
            <a:off x="2425700" y="48514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5: return 1</a:t>
            </a:r>
          </a:p>
        </p:txBody>
      </p:sp>
      <p:cxnSp>
        <p:nvCxnSpPr>
          <p:cNvPr id="30" name="Connector 29"/>
          <p:cNvCxnSpPr/>
          <p:nvPr/>
        </p:nvCxnSpPr>
        <p:spPr>
          <a:xfrm flipH="1" flipV="1">
            <a:off x="4546600" y="48006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993900" y="41148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6: return 1</a:t>
            </a:r>
          </a:p>
        </p:txBody>
      </p:sp>
      <p:cxnSp>
        <p:nvCxnSpPr>
          <p:cNvPr id="32" name="Connector 31"/>
          <p:cNvCxnSpPr/>
          <p:nvPr/>
        </p:nvCxnSpPr>
        <p:spPr>
          <a:xfrm flipH="1" flipV="1">
            <a:off x="4114800" y="40640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37" name="Rectangle 36"/>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39" name="Rectangle 38"/>
          <p:cNvSpPr/>
          <p:nvPr/>
        </p:nvSpPr>
        <p:spPr>
          <a:xfrm>
            <a:off x="9715500" y="52070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9715500" y="52451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factorial(4)</a:t>
            </a:r>
          </a:p>
        </p:txBody>
      </p:sp>
      <p:sp>
        <p:nvSpPr>
          <p:cNvPr id="41" name="Rectangle 40"/>
          <p:cNvSpPr/>
          <p:nvPr/>
        </p:nvSpPr>
        <p:spPr>
          <a:xfrm>
            <a:off x="9715500" y="47244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715500" y="47625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factorial(3)</a:t>
            </a:r>
          </a:p>
        </p:txBody>
      </p:sp>
      <p:sp>
        <p:nvSpPr>
          <p:cNvPr id="43" name="Rectangle 42"/>
          <p:cNvSpPr/>
          <p:nvPr/>
        </p:nvSpPr>
        <p:spPr>
          <a:xfrm>
            <a:off x="9715500" y="42418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9715500" y="42799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factorial(2)</a:t>
            </a:r>
          </a:p>
        </p:txBody>
      </p:sp>
      <p:sp>
        <p:nvSpPr>
          <p:cNvPr id="45" name="Rounded Rectangle 44"/>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returns factorial(1)</a:t>
            </a:r>
          </a:p>
        </p:txBody>
      </p:sp>
      <p:cxnSp>
        <p:nvCxnSpPr>
          <p:cNvPr id="47" name="Connector 46"/>
          <p:cNvCxnSpPr/>
          <p:nvPr/>
        </p:nvCxnSpPr>
        <p:spPr>
          <a:xfrm flipH="1">
            <a:off x="6238240" y="1612900"/>
            <a:ext cx="873760" cy="38608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C9BC2CF-CC1E-4729-8FB1-504A47A14F13}" type="slidenum">
              <a:rPr sz="1200" b="0" i="0">
                <a:solidFill>
                  <a:srgbClr val="6B6B6B"/>
                </a:solidFill>
                <a:latin typeface="Source Sans 3"/>
                <a:ea typeface="Source Sans 3"/>
                <a:cs typeface="Source Sans 3"/>
              </a:rPr>
              <a:pPr algn="l">
                <a:lnSpc>
                  <a:spcPts val="1500"/>
                </a:lnSpc>
              </a:pPr>
              <a:t>195</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3302000" y="18034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03600" y="18542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0: executes factorial(4)</a:t>
            </a:r>
          </a:p>
        </p:txBody>
      </p:sp>
      <p:sp>
        <p:nvSpPr>
          <p:cNvPr id="8" name="TextBox 7"/>
          <p:cNvSpPr txBox="1"/>
          <p:nvPr/>
        </p:nvSpPr>
        <p:spPr>
          <a:xfrm>
            <a:off x="2844800" y="22606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4 * </a:t>
            </a:r>
          </a:p>
        </p:txBody>
      </p:sp>
      <p:sp>
        <p:nvSpPr>
          <p:cNvPr id="9" name="Rectangle 8"/>
          <p:cNvSpPr/>
          <p:nvPr/>
        </p:nvSpPr>
        <p:spPr>
          <a:xfrm>
            <a:off x="4446905" y="22479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2305" y="22606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factorial(3)</a:t>
            </a:r>
          </a:p>
        </p:txBody>
      </p:sp>
      <p:cxnSp>
        <p:nvCxnSpPr>
          <p:cNvPr id="11" name="Connector 10"/>
          <p:cNvCxnSpPr/>
          <p:nvPr/>
        </p:nvCxnSpPr>
        <p:spPr>
          <a:xfrm>
            <a:off x="4802505" y="25400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04105" y="25908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1: executes factorial(3)</a:t>
            </a:r>
          </a:p>
        </p:txBody>
      </p:sp>
      <p:sp>
        <p:nvSpPr>
          <p:cNvPr id="13" name="TextBox 12"/>
          <p:cNvSpPr txBox="1"/>
          <p:nvPr/>
        </p:nvSpPr>
        <p:spPr>
          <a:xfrm>
            <a:off x="3276600" y="29972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3 * </a:t>
            </a:r>
          </a:p>
        </p:txBody>
      </p:sp>
      <p:sp>
        <p:nvSpPr>
          <p:cNvPr id="14" name="Rectangle 13"/>
          <p:cNvSpPr/>
          <p:nvPr/>
        </p:nvSpPr>
        <p:spPr>
          <a:xfrm>
            <a:off x="4878705" y="29845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04105" y="29972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factorial(2)</a:t>
            </a:r>
          </a:p>
        </p:txBody>
      </p:sp>
      <p:cxnSp>
        <p:nvCxnSpPr>
          <p:cNvPr id="16" name="Connector 15"/>
          <p:cNvCxnSpPr/>
          <p:nvPr/>
        </p:nvCxnSpPr>
        <p:spPr>
          <a:xfrm>
            <a:off x="5234305" y="32766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35905" y="33274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2: executes factorial(2)</a:t>
            </a:r>
          </a:p>
        </p:txBody>
      </p:sp>
      <p:sp>
        <p:nvSpPr>
          <p:cNvPr id="18" name="TextBox 17"/>
          <p:cNvSpPr txBox="1"/>
          <p:nvPr/>
        </p:nvSpPr>
        <p:spPr>
          <a:xfrm>
            <a:off x="3708400" y="37338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2 * </a:t>
            </a:r>
          </a:p>
        </p:txBody>
      </p:sp>
      <p:sp>
        <p:nvSpPr>
          <p:cNvPr id="19" name="Rectangle 18"/>
          <p:cNvSpPr/>
          <p:nvPr/>
        </p:nvSpPr>
        <p:spPr>
          <a:xfrm>
            <a:off x="5310505" y="37211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335905" y="37338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factorial(1)</a:t>
            </a:r>
          </a:p>
        </p:txBody>
      </p:sp>
      <p:cxnSp>
        <p:nvCxnSpPr>
          <p:cNvPr id="21" name="Connector 20"/>
          <p:cNvCxnSpPr/>
          <p:nvPr/>
        </p:nvCxnSpPr>
        <p:spPr>
          <a:xfrm>
            <a:off x="5666105" y="40132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767705" y="40640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3: executes factorial(1)</a:t>
            </a:r>
          </a:p>
        </p:txBody>
      </p:sp>
      <p:sp>
        <p:nvSpPr>
          <p:cNvPr id="23" name="TextBox 22"/>
          <p:cNvSpPr txBox="1"/>
          <p:nvPr/>
        </p:nvSpPr>
        <p:spPr>
          <a:xfrm>
            <a:off x="4140200" y="44704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1 * </a:t>
            </a:r>
          </a:p>
        </p:txBody>
      </p:sp>
      <p:sp>
        <p:nvSpPr>
          <p:cNvPr id="24" name="Rectangle 23"/>
          <p:cNvSpPr/>
          <p:nvPr/>
        </p:nvSpPr>
        <p:spPr>
          <a:xfrm>
            <a:off x="5742305" y="44577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767705" y="44704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factorial(0)</a:t>
            </a:r>
          </a:p>
        </p:txBody>
      </p:sp>
      <p:cxnSp>
        <p:nvCxnSpPr>
          <p:cNvPr id="26" name="Connector 25"/>
          <p:cNvCxnSpPr/>
          <p:nvPr/>
        </p:nvCxnSpPr>
        <p:spPr>
          <a:xfrm>
            <a:off x="6097905" y="47498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99505" y="48006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4: executes factorial(0)</a:t>
            </a:r>
          </a:p>
        </p:txBody>
      </p:sp>
      <p:sp>
        <p:nvSpPr>
          <p:cNvPr id="28" name="TextBox 27"/>
          <p:cNvSpPr txBox="1"/>
          <p:nvPr/>
        </p:nvSpPr>
        <p:spPr>
          <a:xfrm>
            <a:off x="5080000" y="5207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return 1</a:t>
            </a:r>
          </a:p>
        </p:txBody>
      </p:sp>
      <p:sp>
        <p:nvSpPr>
          <p:cNvPr id="29" name="TextBox 28"/>
          <p:cNvSpPr txBox="1"/>
          <p:nvPr/>
        </p:nvSpPr>
        <p:spPr>
          <a:xfrm>
            <a:off x="2425700" y="48514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5: return 1</a:t>
            </a:r>
          </a:p>
        </p:txBody>
      </p:sp>
      <p:cxnSp>
        <p:nvCxnSpPr>
          <p:cNvPr id="30" name="Connector 29"/>
          <p:cNvCxnSpPr/>
          <p:nvPr/>
        </p:nvCxnSpPr>
        <p:spPr>
          <a:xfrm flipH="1" flipV="1">
            <a:off x="4546600" y="48006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993900" y="41148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6: return 1</a:t>
            </a:r>
          </a:p>
        </p:txBody>
      </p:sp>
      <p:cxnSp>
        <p:nvCxnSpPr>
          <p:cNvPr id="32" name="Connector 31"/>
          <p:cNvCxnSpPr/>
          <p:nvPr/>
        </p:nvCxnSpPr>
        <p:spPr>
          <a:xfrm flipH="1" flipV="1">
            <a:off x="4114800" y="40640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562100" y="33782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7: return 2</a:t>
            </a:r>
          </a:p>
        </p:txBody>
      </p:sp>
      <p:cxnSp>
        <p:nvCxnSpPr>
          <p:cNvPr id="34" name="Connector 33"/>
          <p:cNvCxnSpPr/>
          <p:nvPr/>
        </p:nvCxnSpPr>
        <p:spPr>
          <a:xfrm flipH="1" flipV="1">
            <a:off x="3683000" y="33274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39" name="Rectangle 38"/>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41" name="Rectangle 40"/>
          <p:cNvSpPr/>
          <p:nvPr/>
        </p:nvSpPr>
        <p:spPr>
          <a:xfrm>
            <a:off x="9715500" y="52070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715500" y="52451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factorial(4)</a:t>
            </a:r>
          </a:p>
        </p:txBody>
      </p:sp>
      <p:sp>
        <p:nvSpPr>
          <p:cNvPr id="43" name="Rectangle 42"/>
          <p:cNvSpPr/>
          <p:nvPr/>
        </p:nvSpPr>
        <p:spPr>
          <a:xfrm>
            <a:off x="9715500" y="47244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9715500" y="47625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factorial(3)</a:t>
            </a:r>
          </a:p>
        </p:txBody>
      </p:sp>
      <p:sp>
        <p:nvSpPr>
          <p:cNvPr id="45" name="Rounded Rectangle 44"/>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returns factorial(2)</a:t>
            </a:r>
          </a:p>
        </p:txBody>
      </p:sp>
      <p:cxnSp>
        <p:nvCxnSpPr>
          <p:cNvPr id="47" name="Connector 46"/>
          <p:cNvCxnSpPr/>
          <p:nvPr/>
        </p:nvCxnSpPr>
        <p:spPr>
          <a:xfrm flipH="1">
            <a:off x="6238240" y="1612900"/>
            <a:ext cx="873760" cy="38608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3B0FF748-0A32-4FEA-81C0-89DCC5046938}" type="slidenum">
              <a:rPr sz="1200" b="0" i="0">
                <a:solidFill>
                  <a:srgbClr val="6B6B6B"/>
                </a:solidFill>
                <a:latin typeface="Source Sans 3"/>
                <a:ea typeface="Source Sans 3"/>
                <a:cs typeface="Source Sans 3"/>
              </a:rPr>
              <a:pPr algn="l">
                <a:lnSpc>
                  <a:spcPts val="1500"/>
                </a:lnSpc>
              </a:pPr>
              <a:t>196</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3302000" y="18034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03600" y="18542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0: executes factorial(4)</a:t>
            </a:r>
          </a:p>
        </p:txBody>
      </p:sp>
      <p:sp>
        <p:nvSpPr>
          <p:cNvPr id="8" name="TextBox 7"/>
          <p:cNvSpPr txBox="1"/>
          <p:nvPr/>
        </p:nvSpPr>
        <p:spPr>
          <a:xfrm>
            <a:off x="2844800" y="22606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4 * </a:t>
            </a:r>
          </a:p>
        </p:txBody>
      </p:sp>
      <p:sp>
        <p:nvSpPr>
          <p:cNvPr id="9" name="Rectangle 8"/>
          <p:cNvSpPr/>
          <p:nvPr/>
        </p:nvSpPr>
        <p:spPr>
          <a:xfrm>
            <a:off x="4446905" y="22479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2305" y="22606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factorial(3)</a:t>
            </a:r>
          </a:p>
        </p:txBody>
      </p:sp>
      <p:cxnSp>
        <p:nvCxnSpPr>
          <p:cNvPr id="11" name="Connector 10"/>
          <p:cNvCxnSpPr/>
          <p:nvPr/>
        </p:nvCxnSpPr>
        <p:spPr>
          <a:xfrm>
            <a:off x="4802505" y="25400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04105" y="25908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1: executes factorial(3)</a:t>
            </a:r>
          </a:p>
        </p:txBody>
      </p:sp>
      <p:sp>
        <p:nvSpPr>
          <p:cNvPr id="13" name="TextBox 12"/>
          <p:cNvSpPr txBox="1"/>
          <p:nvPr/>
        </p:nvSpPr>
        <p:spPr>
          <a:xfrm>
            <a:off x="3276600" y="29972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3 * </a:t>
            </a:r>
          </a:p>
        </p:txBody>
      </p:sp>
      <p:sp>
        <p:nvSpPr>
          <p:cNvPr id="14" name="Rectangle 13"/>
          <p:cNvSpPr/>
          <p:nvPr/>
        </p:nvSpPr>
        <p:spPr>
          <a:xfrm>
            <a:off x="4878705" y="29845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04105" y="29972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factorial(2)</a:t>
            </a:r>
          </a:p>
        </p:txBody>
      </p:sp>
      <p:cxnSp>
        <p:nvCxnSpPr>
          <p:cNvPr id="16" name="Connector 15"/>
          <p:cNvCxnSpPr/>
          <p:nvPr/>
        </p:nvCxnSpPr>
        <p:spPr>
          <a:xfrm>
            <a:off x="5234305" y="32766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35905" y="33274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2: executes factorial(2)</a:t>
            </a:r>
          </a:p>
        </p:txBody>
      </p:sp>
      <p:sp>
        <p:nvSpPr>
          <p:cNvPr id="18" name="TextBox 17"/>
          <p:cNvSpPr txBox="1"/>
          <p:nvPr/>
        </p:nvSpPr>
        <p:spPr>
          <a:xfrm>
            <a:off x="3708400" y="37338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2 * </a:t>
            </a:r>
          </a:p>
        </p:txBody>
      </p:sp>
      <p:sp>
        <p:nvSpPr>
          <p:cNvPr id="19" name="Rectangle 18"/>
          <p:cNvSpPr/>
          <p:nvPr/>
        </p:nvSpPr>
        <p:spPr>
          <a:xfrm>
            <a:off x="5310505" y="37211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335905" y="37338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factorial(1)</a:t>
            </a:r>
          </a:p>
        </p:txBody>
      </p:sp>
      <p:cxnSp>
        <p:nvCxnSpPr>
          <p:cNvPr id="21" name="Connector 20"/>
          <p:cNvCxnSpPr/>
          <p:nvPr/>
        </p:nvCxnSpPr>
        <p:spPr>
          <a:xfrm>
            <a:off x="5666105" y="40132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767705" y="40640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3: executes factorial(1)</a:t>
            </a:r>
          </a:p>
        </p:txBody>
      </p:sp>
      <p:sp>
        <p:nvSpPr>
          <p:cNvPr id="23" name="TextBox 22"/>
          <p:cNvSpPr txBox="1"/>
          <p:nvPr/>
        </p:nvSpPr>
        <p:spPr>
          <a:xfrm>
            <a:off x="4140200" y="44704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1 * </a:t>
            </a:r>
          </a:p>
        </p:txBody>
      </p:sp>
      <p:sp>
        <p:nvSpPr>
          <p:cNvPr id="24" name="Rectangle 23"/>
          <p:cNvSpPr/>
          <p:nvPr/>
        </p:nvSpPr>
        <p:spPr>
          <a:xfrm>
            <a:off x="5742305" y="44577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767705" y="44704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factorial(0)</a:t>
            </a:r>
          </a:p>
        </p:txBody>
      </p:sp>
      <p:cxnSp>
        <p:nvCxnSpPr>
          <p:cNvPr id="26" name="Connector 25"/>
          <p:cNvCxnSpPr/>
          <p:nvPr/>
        </p:nvCxnSpPr>
        <p:spPr>
          <a:xfrm>
            <a:off x="6097905" y="47498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99505" y="48006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4: executes factorial(0)</a:t>
            </a:r>
          </a:p>
        </p:txBody>
      </p:sp>
      <p:sp>
        <p:nvSpPr>
          <p:cNvPr id="28" name="TextBox 27"/>
          <p:cNvSpPr txBox="1"/>
          <p:nvPr/>
        </p:nvSpPr>
        <p:spPr>
          <a:xfrm>
            <a:off x="5080000" y="5207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return 1</a:t>
            </a:r>
          </a:p>
        </p:txBody>
      </p:sp>
      <p:sp>
        <p:nvSpPr>
          <p:cNvPr id="29" name="TextBox 28"/>
          <p:cNvSpPr txBox="1"/>
          <p:nvPr/>
        </p:nvSpPr>
        <p:spPr>
          <a:xfrm>
            <a:off x="2425700" y="48514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5: return 1</a:t>
            </a:r>
          </a:p>
        </p:txBody>
      </p:sp>
      <p:cxnSp>
        <p:nvCxnSpPr>
          <p:cNvPr id="30" name="Connector 29"/>
          <p:cNvCxnSpPr/>
          <p:nvPr/>
        </p:nvCxnSpPr>
        <p:spPr>
          <a:xfrm flipH="1" flipV="1">
            <a:off x="4546600" y="48006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993900" y="41148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6: return 1</a:t>
            </a:r>
          </a:p>
        </p:txBody>
      </p:sp>
      <p:cxnSp>
        <p:nvCxnSpPr>
          <p:cNvPr id="32" name="Connector 31"/>
          <p:cNvCxnSpPr/>
          <p:nvPr/>
        </p:nvCxnSpPr>
        <p:spPr>
          <a:xfrm flipH="1" flipV="1">
            <a:off x="4114800" y="40640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562100" y="33782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7: return 2</a:t>
            </a:r>
          </a:p>
        </p:txBody>
      </p:sp>
      <p:cxnSp>
        <p:nvCxnSpPr>
          <p:cNvPr id="34" name="Connector 33"/>
          <p:cNvCxnSpPr/>
          <p:nvPr/>
        </p:nvCxnSpPr>
        <p:spPr>
          <a:xfrm flipH="1" flipV="1">
            <a:off x="3683000" y="33274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130300" y="26416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8: return 6</a:t>
            </a:r>
          </a:p>
        </p:txBody>
      </p:sp>
      <p:cxnSp>
        <p:nvCxnSpPr>
          <p:cNvPr id="36" name="Connector 35"/>
          <p:cNvCxnSpPr/>
          <p:nvPr/>
        </p:nvCxnSpPr>
        <p:spPr>
          <a:xfrm flipH="1" flipV="1">
            <a:off x="3251200" y="25908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41" name="Rectangle 40"/>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43" name="Rectangle 42"/>
          <p:cNvSpPr/>
          <p:nvPr/>
        </p:nvSpPr>
        <p:spPr>
          <a:xfrm>
            <a:off x="9715500" y="5207000"/>
            <a:ext cx="1524000" cy="4826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9715500" y="5245100"/>
            <a:ext cx="1524000" cy="4826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Space Required</a:t>
            </a:r>
          </a:p>
          <a:p>
            <a:pPr algn="ctr">
              <a:lnSpc>
                <a:spcPts val="1500"/>
              </a:lnSpc>
            </a:pPr>
            <a:r>
              <a:rPr sz="1200" b="0" i="0">
                <a:solidFill>
                  <a:srgbClr val="111111"/>
                </a:solidFill>
                <a:latin typeface="Times New Roman"/>
                <a:ea typeface="Times New Roman"/>
                <a:cs typeface="Times New Roman"/>
              </a:rPr>
              <a:t>for factorial(4)</a:t>
            </a:r>
          </a:p>
        </p:txBody>
      </p:sp>
      <p:sp>
        <p:nvSpPr>
          <p:cNvPr id="45" name="Rounded Rectangle 44"/>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returns factorial(3)</a:t>
            </a:r>
          </a:p>
        </p:txBody>
      </p:sp>
      <p:cxnSp>
        <p:nvCxnSpPr>
          <p:cNvPr id="47" name="Connector 46"/>
          <p:cNvCxnSpPr/>
          <p:nvPr/>
        </p:nvCxnSpPr>
        <p:spPr>
          <a:xfrm flipH="1">
            <a:off x="6238240" y="1612900"/>
            <a:ext cx="873760" cy="38608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Trace Recursive factorial</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B7C2E434-FEAC-42F2-BD63-EF247F3FBA83}" type="slidenum">
              <a:rPr sz="1200" b="0" i="0">
                <a:solidFill>
                  <a:srgbClr val="6B6B6B"/>
                </a:solidFill>
                <a:latin typeface="Source Sans 3"/>
                <a:ea typeface="Source Sans 3"/>
                <a:cs typeface="Source Sans 3"/>
              </a:rPr>
              <a:pPr algn="l">
                <a:lnSpc>
                  <a:spcPts val="1500"/>
                </a:lnSpc>
              </a:pPr>
              <a:t>197</a:t>
            </a:fld>
            <a:endParaRPr sz="1200" b="0" i="0">
              <a:solidFill>
                <a:srgbClr val="6B6B6B"/>
              </a:solidFill>
              <a:latin typeface="Source Sans 3"/>
              <a:ea typeface="Source Sans 3"/>
              <a:cs typeface="Source Sans 3"/>
            </a:endParaRPr>
          </a:p>
        </p:txBody>
      </p:sp>
      <p:sp>
        <p:nvSpPr>
          <p:cNvPr id="4" name="Rectangle 3"/>
          <p:cNvSpPr/>
          <p:nvPr/>
        </p:nvSpPr>
        <p:spPr>
          <a:xfrm>
            <a:off x="2946400" y="15113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2971800" y="1524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factorial(4)</a:t>
            </a:r>
          </a:p>
        </p:txBody>
      </p:sp>
      <p:cxnSp>
        <p:nvCxnSpPr>
          <p:cNvPr id="6" name="Connector 5"/>
          <p:cNvCxnSpPr/>
          <p:nvPr/>
        </p:nvCxnSpPr>
        <p:spPr>
          <a:xfrm>
            <a:off x="3302000" y="18034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403600" y="18542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0: executes factorial(4)</a:t>
            </a:r>
          </a:p>
        </p:txBody>
      </p:sp>
      <p:sp>
        <p:nvSpPr>
          <p:cNvPr id="8" name="TextBox 7"/>
          <p:cNvSpPr txBox="1"/>
          <p:nvPr/>
        </p:nvSpPr>
        <p:spPr>
          <a:xfrm>
            <a:off x="2844800" y="22606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4 * </a:t>
            </a:r>
          </a:p>
        </p:txBody>
      </p:sp>
      <p:sp>
        <p:nvSpPr>
          <p:cNvPr id="9" name="Rectangle 8"/>
          <p:cNvSpPr/>
          <p:nvPr/>
        </p:nvSpPr>
        <p:spPr>
          <a:xfrm>
            <a:off x="4446905" y="22479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472305" y="22606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factorial(3)</a:t>
            </a:r>
          </a:p>
        </p:txBody>
      </p:sp>
      <p:cxnSp>
        <p:nvCxnSpPr>
          <p:cNvPr id="11" name="Connector 10"/>
          <p:cNvCxnSpPr/>
          <p:nvPr/>
        </p:nvCxnSpPr>
        <p:spPr>
          <a:xfrm>
            <a:off x="4802505" y="25400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904105" y="25908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1: executes factorial(3)</a:t>
            </a:r>
          </a:p>
        </p:txBody>
      </p:sp>
      <p:sp>
        <p:nvSpPr>
          <p:cNvPr id="13" name="TextBox 12"/>
          <p:cNvSpPr txBox="1"/>
          <p:nvPr/>
        </p:nvSpPr>
        <p:spPr>
          <a:xfrm>
            <a:off x="3276600" y="29972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3 * </a:t>
            </a:r>
          </a:p>
        </p:txBody>
      </p:sp>
      <p:sp>
        <p:nvSpPr>
          <p:cNvPr id="14" name="Rectangle 13"/>
          <p:cNvSpPr/>
          <p:nvPr/>
        </p:nvSpPr>
        <p:spPr>
          <a:xfrm>
            <a:off x="4878705" y="29845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4904105" y="29972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factorial(2)</a:t>
            </a:r>
          </a:p>
        </p:txBody>
      </p:sp>
      <p:cxnSp>
        <p:nvCxnSpPr>
          <p:cNvPr id="16" name="Connector 15"/>
          <p:cNvCxnSpPr/>
          <p:nvPr/>
        </p:nvCxnSpPr>
        <p:spPr>
          <a:xfrm>
            <a:off x="5234305" y="32766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35905" y="33274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2: executes factorial(2)</a:t>
            </a:r>
          </a:p>
        </p:txBody>
      </p:sp>
      <p:sp>
        <p:nvSpPr>
          <p:cNvPr id="18" name="TextBox 17"/>
          <p:cNvSpPr txBox="1"/>
          <p:nvPr/>
        </p:nvSpPr>
        <p:spPr>
          <a:xfrm>
            <a:off x="3708400" y="37338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2 * </a:t>
            </a:r>
          </a:p>
        </p:txBody>
      </p:sp>
      <p:sp>
        <p:nvSpPr>
          <p:cNvPr id="19" name="Rectangle 18"/>
          <p:cNvSpPr/>
          <p:nvPr/>
        </p:nvSpPr>
        <p:spPr>
          <a:xfrm>
            <a:off x="5310505" y="37211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335905" y="37338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factorial(1)</a:t>
            </a:r>
          </a:p>
        </p:txBody>
      </p:sp>
      <p:cxnSp>
        <p:nvCxnSpPr>
          <p:cNvPr id="21" name="Connector 20"/>
          <p:cNvCxnSpPr/>
          <p:nvPr/>
        </p:nvCxnSpPr>
        <p:spPr>
          <a:xfrm>
            <a:off x="5666105" y="40132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767705" y="40640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3: executes factorial(1)</a:t>
            </a:r>
          </a:p>
        </p:txBody>
      </p:sp>
      <p:sp>
        <p:nvSpPr>
          <p:cNvPr id="23" name="TextBox 22"/>
          <p:cNvSpPr txBox="1"/>
          <p:nvPr/>
        </p:nvSpPr>
        <p:spPr>
          <a:xfrm>
            <a:off x="4140200" y="4470400"/>
            <a:ext cx="1576705" cy="304800"/>
          </a:xfrm>
          <a:prstGeom prst="rect">
            <a:avLst/>
          </a:prstGeom>
          <a:noFill/>
        </p:spPr>
        <p:txBody>
          <a:bodyPr wrap="square" lIns="0" tIns="0" rIns="0" bIns="0" anchor="t">
            <a:spAutoFit/>
          </a:bodyPr>
          <a:lstStyle/>
          <a:p>
            <a:pPr algn="r">
              <a:lnSpc>
                <a:spcPts val="2100"/>
              </a:lnSpc>
            </a:pPr>
            <a:r>
              <a:rPr sz="1700" b="0" i="0">
                <a:solidFill>
                  <a:srgbClr val="111111"/>
                </a:solidFill>
                <a:latin typeface="Times New Roman"/>
                <a:ea typeface="Times New Roman"/>
                <a:cs typeface="Times New Roman"/>
              </a:rPr>
              <a:t>return 1 * </a:t>
            </a:r>
          </a:p>
        </p:txBody>
      </p:sp>
      <p:sp>
        <p:nvSpPr>
          <p:cNvPr id="24" name="Rectangle 23"/>
          <p:cNvSpPr/>
          <p:nvPr/>
        </p:nvSpPr>
        <p:spPr>
          <a:xfrm>
            <a:off x="5742305" y="4457700"/>
            <a:ext cx="1268476" cy="292100"/>
          </a:xfrm>
          <a:prstGeom prst="rect">
            <a:avLst/>
          </a:prstGeom>
          <a:solidFill>
            <a:srgbClr val="FFFF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5767705" y="44704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factorial(0)</a:t>
            </a:r>
          </a:p>
        </p:txBody>
      </p:sp>
      <p:cxnSp>
        <p:nvCxnSpPr>
          <p:cNvPr id="26" name="Connector 25"/>
          <p:cNvCxnSpPr/>
          <p:nvPr/>
        </p:nvCxnSpPr>
        <p:spPr>
          <a:xfrm>
            <a:off x="6097905" y="4749800"/>
            <a:ext cx="0" cy="4318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99505" y="4800600"/>
            <a:ext cx="3810000" cy="279400"/>
          </a:xfrm>
          <a:prstGeom prst="rect">
            <a:avLst/>
          </a:prstGeom>
          <a:noFill/>
        </p:spPr>
        <p:txBody>
          <a:bodyPr wrap="square" lIns="0" tIns="0" rIns="0" bIns="0" anchor="t">
            <a:spAutoFit/>
          </a:bodyPr>
          <a:lstStyle/>
          <a:p>
            <a:pPr algn="l">
              <a:lnSpc>
                <a:spcPts val="2000"/>
              </a:lnSpc>
            </a:pPr>
            <a:r>
              <a:rPr sz="1600" b="0" i="0">
                <a:solidFill>
                  <a:srgbClr val="111111"/>
                </a:solidFill>
                <a:latin typeface="Times New Roman"/>
                <a:ea typeface="Times New Roman"/>
                <a:cs typeface="Times New Roman"/>
              </a:rPr>
              <a:t>Step 4: executes factorial(0)</a:t>
            </a:r>
          </a:p>
        </p:txBody>
      </p:sp>
      <p:sp>
        <p:nvSpPr>
          <p:cNvPr id="28" name="TextBox 27"/>
          <p:cNvSpPr txBox="1"/>
          <p:nvPr/>
        </p:nvSpPr>
        <p:spPr>
          <a:xfrm>
            <a:off x="5080000" y="5207000"/>
            <a:ext cx="2540000" cy="304800"/>
          </a:xfrm>
          <a:prstGeom prst="rect">
            <a:avLst/>
          </a:prstGeom>
          <a:noFill/>
        </p:spPr>
        <p:txBody>
          <a:bodyPr wrap="square" lIns="0" tIns="0" rIns="0" bIns="0" anchor="t">
            <a:spAutoFit/>
          </a:bodyPr>
          <a:lstStyle/>
          <a:p>
            <a:pPr algn="l">
              <a:lnSpc>
                <a:spcPts val="2100"/>
              </a:lnSpc>
            </a:pPr>
            <a:r>
              <a:rPr sz="1700" b="0" i="0">
                <a:solidFill>
                  <a:srgbClr val="111111"/>
                </a:solidFill>
                <a:latin typeface="Times New Roman"/>
                <a:ea typeface="Times New Roman"/>
                <a:cs typeface="Times New Roman"/>
              </a:rPr>
              <a:t>return 1</a:t>
            </a:r>
          </a:p>
        </p:txBody>
      </p:sp>
      <p:sp>
        <p:nvSpPr>
          <p:cNvPr id="29" name="TextBox 28"/>
          <p:cNvSpPr txBox="1"/>
          <p:nvPr/>
        </p:nvSpPr>
        <p:spPr>
          <a:xfrm>
            <a:off x="2425700" y="48514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5: return 1</a:t>
            </a:r>
          </a:p>
        </p:txBody>
      </p:sp>
      <p:cxnSp>
        <p:nvCxnSpPr>
          <p:cNvPr id="30" name="Connector 29"/>
          <p:cNvCxnSpPr/>
          <p:nvPr/>
        </p:nvCxnSpPr>
        <p:spPr>
          <a:xfrm flipH="1" flipV="1">
            <a:off x="4546600" y="48006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993900" y="41148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6: return 1</a:t>
            </a:r>
          </a:p>
        </p:txBody>
      </p:sp>
      <p:cxnSp>
        <p:nvCxnSpPr>
          <p:cNvPr id="32" name="Connector 31"/>
          <p:cNvCxnSpPr/>
          <p:nvPr/>
        </p:nvCxnSpPr>
        <p:spPr>
          <a:xfrm flipH="1" flipV="1">
            <a:off x="4114800" y="40640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1562100" y="33782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7: return 2</a:t>
            </a:r>
          </a:p>
        </p:txBody>
      </p:sp>
      <p:cxnSp>
        <p:nvCxnSpPr>
          <p:cNvPr id="34" name="Connector 33"/>
          <p:cNvCxnSpPr/>
          <p:nvPr/>
        </p:nvCxnSpPr>
        <p:spPr>
          <a:xfrm flipH="1" flipV="1">
            <a:off x="3683000" y="33274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1130300" y="26416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8: return 6</a:t>
            </a:r>
          </a:p>
        </p:txBody>
      </p:sp>
      <p:cxnSp>
        <p:nvCxnSpPr>
          <p:cNvPr id="36" name="Connector 35"/>
          <p:cNvCxnSpPr/>
          <p:nvPr/>
        </p:nvCxnSpPr>
        <p:spPr>
          <a:xfrm flipH="1" flipV="1">
            <a:off x="3251200" y="25908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98500" y="1905000"/>
            <a:ext cx="2032000" cy="279400"/>
          </a:xfrm>
          <a:prstGeom prst="rect">
            <a:avLst/>
          </a:prstGeom>
          <a:noFill/>
        </p:spPr>
        <p:txBody>
          <a:bodyPr wrap="square" lIns="0" tIns="0" rIns="0" bIns="0" anchor="t">
            <a:spAutoFit/>
          </a:bodyPr>
          <a:lstStyle/>
          <a:p>
            <a:pPr algn="r">
              <a:lnSpc>
                <a:spcPts val="2000"/>
              </a:lnSpc>
            </a:pPr>
            <a:r>
              <a:rPr sz="1600" b="0" i="0">
                <a:solidFill>
                  <a:srgbClr val="111111"/>
                </a:solidFill>
                <a:latin typeface="Times New Roman"/>
                <a:ea typeface="Times New Roman"/>
                <a:cs typeface="Times New Roman"/>
              </a:rPr>
              <a:t>Step 9: return 24</a:t>
            </a:r>
          </a:p>
        </p:txBody>
      </p:sp>
      <p:cxnSp>
        <p:nvCxnSpPr>
          <p:cNvPr id="38" name="Connector 37"/>
          <p:cNvCxnSpPr/>
          <p:nvPr/>
        </p:nvCxnSpPr>
        <p:spPr>
          <a:xfrm flipH="1" flipV="1">
            <a:off x="2819400" y="1854200"/>
            <a:ext cx="165100" cy="508000"/>
          </a:xfrm>
          <a:prstGeom prst="line">
            <a:avLst/>
          </a:prstGeom>
          <a:ln w="15875">
            <a:solidFill>
              <a:srgbClr val="1111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715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1239500" y="1905000"/>
            <a:ext cx="0" cy="406400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715500" y="5969000"/>
            <a:ext cx="1524000" cy="0"/>
          </a:xfrm>
          <a:prstGeom prst="line">
            <a:avLst/>
          </a:prstGeom>
          <a:ln w="12700">
            <a:solidFill>
              <a:srgbClr val="111111"/>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715500" y="1981200"/>
            <a:ext cx="1524000" cy="254000"/>
          </a:xfrm>
          <a:prstGeom prst="rect">
            <a:avLst/>
          </a:prstGeom>
          <a:noFill/>
        </p:spPr>
        <p:txBody>
          <a:bodyPr wrap="square" lIns="0" tIns="0" rIns="0" bIns="0" anchor="t">
            <a:spAutoFit/>
          </a:bodyPr>
          <a:lstStyle/>
          <a:p>
            <a:pPr algn="ctr">
              <a:lnSpc>
                <a:spcPts val="1750"/>
              </a:lnSpc>
            </a:pPr>
            <a:r>
              <a:rPr sz="1400" b="0" i="0">
                <a:solidFill>
                  <a:srgbClr val="111111"/>
                </a:solidFill>
                <a:latin typeface="Times New Roman"/>
                <a:ea typeface="Times New Roman"/>
                <a:cs typeface="Times New Roman"/>
              </a:rPr>
              <a:t>Stack</a:t>
            </a:r>
          </a:p>
        </p:txBody>
      </p:sp>
      <p:sp>
        <p:nvSpPr>
          <p:cNvPr id="43" name="Rectangle 42"/>
          <p:cNvSpPr/>
          <p:nvPr/>
        </p:nvSpPr>
        <p:spPr>
          <a:xfrm>
            <a:off x="9715500" y="5689600"/>
            <a:ext cx="1524000" cy="279400"/>
          </a:xfrm>
          <a:prstGeom prst="rect">
            <a:avLst/>
          </a:prstGeom>
          <a:solidFill>
            <a:srgbClr val="FFFFFF"/>
          </a:solidFill>
          <a:ln w="9525">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9715500" y="5727700"/>
            <a:ext cx="1524000" cy="279400"/>
          </a:xfrm>
          <a:prstGeom prst="rect">
            <a:avLst/>
          </a:prstGeom>
          <a:noFill/>
        </p:spPr>
        <p:txBody>
          <a:bodyPr wrap="square" lIns="0" tIns="0" rIns="0" bIns="0" anchor="t">
            <a:spAutoFit/>
          </a:bodyPr>
          <a:lstStyle/>
          <a:p>
            <a:pPr algn="ctr">
              <a:lnSpc>
                <a:spcPts val="1500"/>
              </a:lnSpc>
            </a:pPr>
            <a:r>
              <a:rPr sz="1200" b="0" i="0">
                <a:solidFill>
                  <a:srgbClr val="111111"/>
                </a:solidFill>
                <a:latin typeface="Times New Roman"/>
                <a:ea typeface="Times New Roman"/>
                <a:cs typeface="Times New Roman"/>
              </a:rPr>
              <a:t>Main method</a:t>
            </a:r>
          </a:p>
        </p:txBody>
      </p:sp>
      <p:sp>
        <p:nvSpPr>
          <p:cNvPr id="45" name="Rounded Rectangle 44"/>
          <p:cNvSpPr/>
          <p:nvPr/>
        </p:nvSpPr>
        <p:spPr>
          <a:xfrm>
            <a:off x="6604000" y="1117600"/>
            <a:ext cx="2921000" cy="497840"/>
          </a:xfrm>
          <a:prstGeom prst="roundRect">
            <a:avLst>
              <a:gd name="adj" fmla="val 17000"/>
            </a:avLst>
          </a:prstGeom>
          <a:solidFill>
            <a:srgbClr val="D9D9D9"/>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654800" y="1206500"/>
            <a:ext cx="2819400" cy="370840"/>
          </a:xfrm>
          <a:prstGeom prst="rect">
            <a:avLst/>
          </a:prstGeom>
          <a:noFill/>
        </p:spPr>
        <p:txBody>
          <a:bodyPr wrap="square" lIns="0" tIns="0" rIns="0" bIns="0" anchor="t">
            <a:spAutoFit/>
          </a:bodyPr>
          <a:lstStyle/>
          <a:p>
            <a:pPr algn="ctr">
              <a:lnSpc>
                <a:spcPts val="2520"/>
              </a:lnSpc>
            </a:pPr>
            <a:r>
              <a:rPr sz="1800" b="0" i="0">
                <a:solidFill>
                  <a:srgbClr val="111111"/>
                </a:solidFill>
                <a:latin typeface="Times New Roman"/>
                <a:ea typeface="Times New Roman"/>
                <a:cs typeface="Times New Roman"/>
              </a:rPr>
              <a:t>returns factorial(4)</a:t>
            </a:r>
          </a:p>
        </p:txBody>
      </p:sp>
      <p:cxnSp>
        <p:nvCxnSpPr>
          <p:cNvPr id="47" name="Connector 46"/>
          <p:cNvCxnSpPr/>
          <p:nvPr/>
        </p:nvCxnSpPr>
        <p:spPr>
          <a:xfrm flipH="1">
            <a:off x="6238240" y="1612900"/>
            <a:ext cx="873760" cy="3860800"/>
          </a:xfrm>
          <a:prstGeom prst="line">
            <a:avLst/>
          </a:prstGeom>
          <a:ln w="12700">
            <a:solidFill>
              <a:srgbClr val="7F7F7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Fibonacci Numbers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E48D59E7-25E0-4773-95DA-01ED37CF271B}" type="slidenum">
              <a:rPr sz="1200" b="0" i="0">
                <a:solidFill>
                  <a:srgbClr val="6B6B6B"/>
                </a:solidFill>
                <a:latin typeface="Source Sans 3"/>
                <a:ea typeface="Source Sans 3"/>
                <a:cs typeface="Source Sans 3"/>
              </a:rPr>
              <a:pPr algn="l">
                <a:lnSpc>
                  <a:spcPts val="1500"/>
                </a:lnSpc>
              </a:pPr>
              <a:t>198</a:t>
            </a:fld>
            <a:endParaRPr sz="1200" b="0" i="0">
              <a:solidFill>
                <a:srgbClr val="6B6B6B"/>
              </a:solidFill>
              <a:latin typeface="Source Sans 3"/>
              <a:ea typeface="Source Sans 3"/>
              <a:cs typeface="Source Sans 3"/>
            </a:endParaRPr>
          </a:p>
        </p:txBody>
      </p:sp>
      <p:sp>
        <p:nvSpPr>
          <p:cNvPr id="4" name="TextBox 3"/>
          <p:cNvSpPr txBox="1"/>
          <p:nvPr/>
        </p:nvSpPr>
        <p:spPr>
          <a:xfrm>
            <a:off x="1079500" y="1397000"/>
            <a:ext cx="7932420" cy="194056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Fibonacci series: 0 1 1 2 3 5 8 13 21 34 55 89...</a:t>
            </a:r>
          </a:p>
          <a:p>
            <a:pPr algn="l">
              <a:lnSpc>
                <a:spcPts val="2379"/>
              </a:lnSpc>
            </a:pPr>
            <a:r>
              <a:rPr sz="1700" b="1" i="0">
                <a:solidFill>
                  <a:srgbClr val="000000"/>
                </a:solidFill>
                <a:latin typeface="Courier New"/>
                <a:ea typeface="Courier New"/>
                <a:cs typeface="Courier New"/>
              </a:rPr>
              <a:t>         indices: 0 1 2 3 4 5 6 7  8  9  10 11</a:t>
            </a:r>
          </a:p>
          <a:p>
            <a:pPr algn="l">
              <a:lnSpc>
                <a:spcPts val="2379"/>
              </a:lnSpc>
            </a:pPr>
            <a:r>
              <a:rPr sz="1700" b="1" i="0">
                <a:solidFill>
                  <a:srgbClr val="000000"/>
                </a:solidFill>
                <a:latin typeface="Courier New"/>
                <a:ea typeface="Courier New"/>
                <a:cs typeface="Courier New"/>
              </a:rPr>
              <a:t> </a:t>
            </a:r>
          </a:p>
          <a:p>
            <a:pPr algn="l">
              <a:lnSpc>
                <a:spcPts val="2379"/>
              </a:lnSpc>
            </a:pPr>
            <a:r>
              <a:rPr sz="1700" b="1" i="0">
                <a:solidFill>
                  <a:srgbClr val="000000"/>
                </a:solidFill>
                <a:latin typeface="Courier New"/>
                <a:ea typeface="Courier New"/>
                <a:cs typeface="Courier New"/>
              </a:rPr>
              <a:t>fib(0) = 0;</a:t>
            </a:r>
          </a:p>
          <a:p>
            <a:pPr algn="l">
              <a:lnSpc>
                <a:spcPts val="2379"/>
              </a:lnSpc>
            </a:pPr>
            <a:r>
              <a:rPr sz="1700" b="1" i="0">
                <a:solidFill>
                  <a:srgbClr val="000000"/>
                </a:solidFill>
                <a:latin typeface="Courier New"/>
                <a:ea typeface="Courier New"/>
                <a:cs typeface="Courier New"/>
              </a:rPr>
              <a:t>fib(1) = 1;</a:t>
            </a:r>
          </a:p>
          <a:p>
            <a:pPr algn="l">
              <a:lnSpc>
                <a:spcPts val="2379"/>
              </a:lnSpc>
            </a:pPr>
            <a:r>
              <a:rPr sz="1700" b="1" i="0">
                <a:solidFill>
                  <a:srgbClr val="000000"/>
                </a:solidFill>
                <a:latin typeface="Courier New"/>
                <a:ea typeface="Courier New"/>
                <a:cs typeface="Courier New"/>
              </a:rPr>
              <a:t>fib(index) = fib(index -1) + fib(index -2); index &gt;=2</a:t>
            </a:r>
          </a:p>
        </p:txBody>
      </p:sp>
      <p:sp>
        <p:nvSpPr>
          <p:cNvPr id="5" name="TextBox 4"/>
          <p:cNvSpPr txBox="1"/>
          <p:nvPr/>
        </p:nvSpPr>
        <p:spPr>
          <a:xfrm>
            <a:off x="1079500" y="3937000"/>
            <a:ext cx="8191500" cy="731520"/>
          </a:xfrm>
          <a:prstGeom prst="rect">
            <a:avLst/>
          </a:prstGeom>
          <a:noFill/>
        </p:spPr>
        <p:txBody>
          <a:bodyPr wrap="square" lIns="0" tIns="0" rIns="0" bIns="0" anchor="t">
            <a:spAutoFit/>
          </a:bodyPr>
          <a:lstStyle/>
          <a:p>
            <a:pPr algn="l">
              <a:lnSpc>
                <a:spcPts val="2379"/>
              </a:lnSpc>
            </a:pPr>
            <a:r>
              <a:rPr sz="1700" b="1" i="0">
                <a:solidFill>
                  <a:srgbClr val="000000"/>
                </a:solidFill>
                <a:latin typeface="Courier New"/>
                <a:ea typeface="Courier New"/>
                <a:cs typeface="Courier New"/>
              </a:rPr>
              <a:t>fib(3) = fib(2) + fib(1) = (fib(1) + fib(0)) + fib(1) =</a:t>
            </a:r>
          </a:p>
          <a:p>
            <a:pPr algn="l">
              <a:lnSpc>
                <a:spcPts val="2379"/>
              </a:lnSpc>
            </a:pPr>
            <a:r>
              <a:rPr sz="1700" b="1" i="0">
                <a:solidFill>
                  <a:srgbClr val="000000"/>
                </a:solidFill>
                <a:latin typeface="Courier New"/>
                <a:ea typeface="Courier New"/>
                <a:cs typeface="Courier New"/>
              </a:rPr>
              <a:t>         (1 + 0) + fib(1) = 1 + fib(1) = 1 + 1 = 2</a:t>
            </a:r>
          </a:p>
        </p:txBody>
      </p:sp>
      <p:sp>
        <p:nvSpPr>
          <p:cNvPr id="6" name="Rounded Rectangle 5"/>
          <p:cNvSpPr/>
          <p:nvPr/>
        </p:nvSpPr>
        <p:spPr>
          <a:xfrm>
            <a:off x="9161780" y="5732780"/>
            <a:ext cx="2077720" cy="426720"/>
          </a:xfrm>
          <a:prstGeom prst="roundRect">
            <a:avLst>
              <a:gd name="adj" fmla="val 50000"/>
            </a:avLst>
          </a:prstGeom>
          <a:solidFill>
            <a:srgbClr val="E8742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400" b="1" i="0">
                <a:solidFill>
                  <a:srgbClr val="222222"/>
                </a:solidFill>
                <a:latin typeface="Source Sans 3"/>
                <a:ea typeface="Source Sans 3"/>
                <a:cs typeface="Source Sans 3"/>
                <a:hlinkClick r:id="rId2"/>
              </a:rPr>
              <a:t>▶ ComputeFibonacci</a:t>
            </a:r>
            <a:endParaRPr sz="1400" b="1" i="0">
              <a:solidFill>
                <a:srgbClr val="222222"/>
              </a:solidFill>
              <a:latin typeface="Source Sans 3"/>
              <a:ea typeface="Source Sans 3"/>
              <a:cs typeface="Source Sans 3"/>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Characteristics of Recursion</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4B9EBD51-BA45-42FF-992B-7DF51607610F}" type="slidenum">
              <a:rPr sz="1200" b="0" i="0">
                <a:solidFill>
                  <a:srgbClr val="6B6B6B"/>
                </a:solidFill>
                <a:latin typeface="Source Sans 3"/>
                <a:ea typeface="Source Sans 3"/>
                <a:cs typeface="Source Sans 3"/>
              </a:rPr>
              <a:pPr algn="l">
                <a:lnSpc>
                  <a:spcPts val="1500"/>
                </a:lnSpc>
              </a:pPr>
              <a:t>199</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3590727"/>
          </a:xfrm>
          <a:prstGeom prst="rect">
            <a:avLst/>
          </a:prstGeom>
          <a:noFill/>
        </p:spPr>
        <p:txBody>
          <a:bodyPr wrap="square" lIns="0" tIns="0" rIns="0" bIns="0" anchor="t">
            <a:spAutoFit/>
          </a:bodyPr>
          <a:lstStyle/>
          <a:p>
            <a:pPr algn="just">
              <a:lnSpc>
                <a:spcPts val="2750"/>
              </a:lnSpc>
            </a:pPr>
            <a:r>
              <a:rPr sz="2200" b="0" i="0">
                <a:solidFill>
                  <a:srgbClr val="111111"/>
                </a:solidFill>
                <a:latin typeface="Times New Roman"/>
                <a:ea typeface="Times New Roman"/>
                <a:cs typeface="Times New Roman"/>
              </a:rPr>
              <a:t>All recursive methods have the following characteristics:</a:t>
            </a:r>
          </a:p>
          <a:p>
            <a:pPr marL="279400" indent="-279400" algn="just">
              <a:lnSpc>
                <a:spcPts val="2750"/>
              </a:lnSpc>
              <a:spcBef>
                <a:spcPts val="1400"/>
              </a:spcBef>
            </a:pPr>
            <a:r>
              <a:rPr sz="2200" b="0" i="0">
                <a:solidFill>
                  <a:srgbClr val="111111"/>
                </a:solidFill>
                <a:latin typeface="Times New Roman"/>
                <a:ea typeface="Times New Roman"/>
                <a:cs typeface="Times New Roman"/>
              </a:rPr>
              <a:t>▫  One or more base cases (the simplest case) are used to stop recursion.</a:t>
            </a:r>
          </a:p>
          <a:p>
            <a:pPr marL="279400" indent="-279400" algn="just">
              <a:lnSpc>
                <a:spcPts val="2750"/>
              </a:lnSpc>
              <a:spcBef>
                <a:spcPts val="1400"/>
              </a:spcBef>
            </a:pPr>
            <a:r>
              <a:rPr sz="2200" b="0" i="0">
                <a:solidFill>
                  <a:srgbClr val="111111"/>
                </a:solidFill>
                <a:latin typeface="Times New Roman"/>
                <a:ea typeface="Times New Roman"/>
                <a:cs typeface="Times New Roman"/>
              </a:rPr>
              <a:t>▫  Every recursive call reduces the original problem, bringing it increasingly closer to a base case until it becomes that case.</a:t>
            </a:r>
          </a:p>
          <a:p>
            <a:pPr algn="just">
              <a:lnSpc>
                <a:spcPts val="2750"/>
              </a:lnSpc>
              <a:spcBef>
                <a:spcPts val="1400"/>
              </a:spcBef>
            </a:pPr>
            <a:r>
              <a:rPr sz="2200" b="0" i="0">
                <a:solidFill>
                  <a:srgbClr val="111111"/>
                </a:solidFill>
                <a:latin typeface="Times New Roman"/>
                <a:ea typeface="Times New Roman"/>
                <a:cs typeface="Times New Roman"/>
              </a:rPr>
              <a:t>In general, to solve a problem using recursion, you </a:t>
            </a:r>
            <a:r>
              <a:rPr sz="2200" b="1" i="0">
                <a:solidFill>
                  <a:srgbClr val="111111"/>
                </a:solidFill>
                <a:latin typeface="Times New Roman"/>
                <a:ea typeface="Times New Roman"/>
                <a:cs typeface="Times New Roman"/>
              </a:rPr>
              <a:t>break it into subproblems</a:t>
            </a:r>
            <a:r>
              <a:rPr sz="2200" b="0" i="0">
                <a:solidFill>
                  <a:srgbClr val="111111"/>
                </a:solidFill>
                <a:latin typeface="Times New Roman"/>
                <a:ea typeface="Times New Roman"/>
                <a:cs typeface="Times New Roman"/>
              </a:rPr>
              <a:t>. </a:t>
            </a:r>
            <a:endParaRPr lang="en-US" sz="2200" b="0" i="0" dirty="0" smtClean="0">
              <a:solidFill>
                <a:srgbClr val="111111"/>
              </a:solidFill>
              <a:latin typeface="Times New Roman"/>
              <a:ea typeface="Times New Roman"/>
              <a:cs typeface="Times New Roman"/>
            </a:endParaRPr>
          </a:p>
          <a:p>
            <a:pPr algn="just">
              <a:lnSpc>
                <a:spcPts val="2750"/>
              </a:lnSpc>
              <a:spcBef>
                <a:spcPts val="1400"/>
              </a:spcBef>
            </a:pPr>
            <a:r>
              <a:rPr sz="2200" b="0" i="0" smtClean="0">
                <a:solidFill>
                  <a:srgbClr val="111111"/>
                </a:solidFill>
                <a:latin typeface="Times New Roman"/>
                <a:ea typeface="Times New Roman"/>
                <a:cs typeface="Times New Roman"/>
              </a:rPr>
              <a:t>If </a:t>
            </a:r>
            <a:r>
              <a:rPr sz="2200" b="0" i="0">
                <a:solidFill>
                  <a:srgbClr val="111111"/>
                </a:solidFill>
                <a:latin typeface="Times New Roman"/>
                <a:ea typeface="Times New Roman"/>
                <a:cs typeface="Times New Roman"/>
              </a:rPr>
              <a:t>a subproblem resembles the original problem, you can apply the same approach to solve the subproblem recursively. This subproblem is almost the same as the original problem in nature with a smaller size.</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0" y="2900680"/>
            <a:ext cx="10883900" cy="768350"/>
          </a:xfrm>
        </p:spPr>
        <p:txBody>
          <a:bodyPr lIns="0" tIns="0" rIns="0" bIns="0" anchor="t"/>
          <a:lstStyle/>
          <a:p>
            <a:pPr algn="l">
              <a:lnSpc>
                <a:spcPts val="5775"/>
              </a:lnSpc>
            </a:pPr>
            <a:r>
              <a:rPr sz="5500" b="0" i="0">
                <a:solidFill>
                  <a:srgbClr val="222222"/>
                </a:solidFill>
                <a:latin typeface="Times New Roman"/>
                <a:ea typeface="Times New Roman"/>
                <a:cs typeface="Times New Roman"/>
              </a:rPr>
              <a:t>Arguments</a:t>
            </a:r>
          </a:p>
        </p:txBody>
      </p:sp>
      <p:sp>
        <p:nvSpPr>
          <p:cNvPr id="3" name="TextBox 2"/>
          <p:cNvSpPr txBox="1"/>
          <p:nvPr/>
        </p:nvSpPr>
        <p:spPr>
          <a:xfrm>
            <a:off x="812800" y="2456180"/>
            <a:ext cx="10883900" cy="292100"/>
          </a:xfrm>
          <a:prstGeom prst="rect">
            <a:avLst/>
          </a:prstGeom>
          <a:noFill/>
        </p:spPr>
        <p:txBody>
          <a:bodyPr wrap="square" lIns="0" tIns="0" rIns="0" bIns="0" anchor="t">
            <a:spAutoFit/>
          </a:bodyPr>
          <a:lstStyle/>
          <a:p>
            <a:pPr algn="l">
              <a:lnSpc>
                <a:spcPts val="1875"/>
              </a:lnSpc>
            </a:pPr>
            <a:r>
              <a:rPr sz="1500" b="1" i="0">
                <a:solidFill>
                  <a:srgbClr val="B5500F"/>
                </a:solidFill>
                <a:latin typeface="Source Sans 3"/>
                <a:ea typeface="Source Sans 3"/>
                <a:cs typeface="Source Sans 3"/>
              </a:rPr>
              <a:t>Java basics</a:t>
            </a:r>
          </a:p>
        </p:txBody>
      </p:sp>
      <p:sp>
        <p:nvSpPr>
          <p:cNvPr id="4" name="Rectangle 3"/>
          <p:cNvSpPr/>
          <p:nvPr/>
        </p:nvSpPr>
        <p:spPr>
          <a:xfrm>
            <a:off x="812800" y="3811905"/>
            <a:ext cx="1524000" cy="38100"/>
          </a:xfrm>
          <a:prstGeom prst="rect">
            <a:avLst/>
          </a:prstGeom>
          <a:solidFill>
            <a:srgbClr val="E874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A0D8DB3-47C2-45D2-A858-D5684091C6E9}" type="slidenum">
              <a:rPr sz="1200" b="0" i="0">
                <a:solidFill>
                  <a:srgbClr val="6B6B6B"/>
                </a:solidFill>
                <a:latin typeface="Source Sans 3"/>
                <a:ea typeface="Source Sans 3"/>
                <a:cs typeface="Source Sans 3"/>
              </a:rPr>
              <a:pPr algn="l">
                <a:lnSpc>
                  <a:spcPts val="1500"/>
                </a:lnSpc>
              </a:pPr>
              <a:t>200</a:t>
            </a:fld>
            <a:endParaRPr sz="1200" b="0" i="0">
              <a:solidFill>
                <a:srgbClr val="6B6B6B"/>
              </a:solidFill>
              <a:latin typeface="Source Sans 3"/>
              <a:ea typeface="Source Sans 3"/>
              <a:cs typeface="Source Sans 3"/>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Using Command-Line Arguments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CEE06002-2102-48F2-81D9-7C49F4B4F959}" type="slidenum">
              <a:rPr sz="1200" b="0" i="0">
                <a:solidFill>
                  <a:srgbClr val="6B6B6B"/>
                </a:solidFill>
                <a:latin typeface="Source Sans 3"/>
                <a:ea typeface="Source Sans 3"/>
                <a:cs typeface="Source Sans 3"/>
              </a:rPr>
              <a:pPr algn="l">
                <a:lnSpc>
                  <a:spcPts val="1500"/>
                </a:lnSpc>
              </a:pPr>
              <a:t>201</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5080000"/>
          </a:xfrm>
          <a:prstGeom prst="rect">
            <a:avLst/>
          </a:prstGeom>
          <a:noFill/>
        </p:spPr>
        <p:txBody>
          <a:bodyPr wrap="square" lIns="0" tIns="0" rIns="0" bIns="0" anchor="t">
            <a:spAutoFit/>
          </a:bodyPr>
          <a:lstStyle/>
          <a:p>
            <a:pPr marL="279400" indent="-279400" algn="l">
              <a:lnSpc>
                <a:spcPts val="3000"/>
              </a:lnSpc>
            </a:pPr>
            <a:r>
              <a:rPr sz="2400" b="0" i="0">
                <a:solidFill>
                  <a:srgbClr val="111111"/>
                </a:solidFill>
                <a:latin typeface="Times New Roman"/>
                <a:ea typeface="Times New Roman"/>
                <a:cs typeface="Times New Roman"/>
              </a:rPr>
              <a:t>▫  Command-line arguments</a:t>
            </a:r>
          </a:p>
          <a:p>
            <a:pPr marL="736600" indent="-254000" algn="l">
              <a:lnSpc>
                <a:spcPts val="2750"/>
              </a:lnSpc>
              <a:spcBef>
                <a:spcPts val="480"/>
              </a:spcBef>
            </a:pPr>
            <a:r>
              <a:rPr sz="2200" b="0" i="0">
                <a:solidFill>
                  <a:srgbClr val="111111"/>
                </a:solidFill>
                <a:latin typeface="Times New Roman"/>
                <a:ea typeface="Times New Roman"/>
                <a:cs typeface="Times New Roman"/>
              </a:rPr>
              <a:t>–  Pass arguments from the command line</a:t>
            </a:r>
          </a:p>
          <a:p>
            <a:pPr marL="457200" indent="0" algn="l">
              <a:lnSpc>
                <a:spcPts val="2610"/>
              </a:lnSpc>
              <a:spcBef>
                <a:spcPts val="480"/>
              </a:spcBef>
            </a:pPr>
            <a:r>
              <a:rPr sz="1800" b="1" i="0">
                <a:solidFill>
                  <a:srgbClr val="111111"/>
                </a:solidFill>
                <a:latin typeface="Courier New"/>
                <a:ea typeface="Courier New"/>
                <a:cs typeface="Courier New"/>
              </a:rPr>
              <a:t>String args[]</a:t>
            </a:r>
          </a:p>
          <a:p>
            <a:pPr marL="736600" indent="-254000" algn="l">
              <a:lnSpc>
                <a:spcPts val="2750"/>
              </a:lnSpc>
              <a:spcBef>
                <a:spcPts val="480"/>
              </a:spcBef>
            </a:pPr>
            <a:r>
              <a:rPr sz="2200" b="0" i="0">
                <a:solidFill>
                  <a:srgbClr val="111111"/>
                </a:solidFill>
                <a:latin typeface="Times New Roman"/>
                <a:ea typeface="Times New Roman"/>
                <a:cs typeface="Times New Roman"/>
              </a:rPr>
              <a:t>–  Appear after the class name in the java command</a:t>
            </a:r>
          </a:p>
          <a:p>
            <a:pPr marL="457200" indent="0" algn="l">
              <a:lnSpc>
                <a:spcPts val="2610"/>
              </a:lnSpc>
              <a:spcBef>
                <a:spcPts val="480"/>
              </a:spcBef>
            </a:pPr>
            <a:r>
              <a:rPr sz="1800" b="1" i="0">
                <a:solidFill>
                  <a:srgbClr val="111111"/>
                </a:solidFill>
                <a:latin typeface="Courier New"/>
                <a:ea typeface="Courier New"/>
                <a:cs typeface="Courier New"/>
              </a:rPr>
              <a:t>java MyClass a b</a:t>
            </a:r>
          </a:p>
          <a:p>
            <a:pPr marL="736600" indent="-254000" algn="l">
              <a:lnSpc>
                <a:spcPts val="2750"/>
              </a:lnSpc>
              <a:spcBef>
                <a:spcPts val="480"/>
              </a:spcBef>
            </a:pPr>
            <a:r>
              <a:rPr sz="2200" b="0" i="0">
                <a:solidFill>
                  <a:srgbClr val="111111"/>
                </a:solidFill>
                <a:latin typeface="Times New Roman"/>
                <a:ea typeface="Times New Roman"/>
                <a:cs typeface="Times New Roman"/>
              </a:rPr>
              <a:t>–  Number of arguments passed in from command line</a:t>
            </a:r>
          </a:p>
          <a:p>
            <a:pPr marL="457200" indent="0" algn="l">
              <a:lnSpc>
                <a:spcPts val="2610"/>
              </a:lnSpc>
              <a:spcBef>
                <a:spcPts val="480"/>
              </a:spcBef>
            </a:pPr>
            <a:r>
              <a:rPr sz="1800" b="1" i="0">
                <a:solidFill>
                  <a:srgbClr val="111111"/>
                </a:solidFill>
                <a:latin typeface="Courier New"/>
                <a:ea typeface="Courier New"/>
                <a:cs typeface="Courier New"/>
              </a:rPr>
              <a:t>args.length</a:t>
            </a:r>
          </a:p>
          <a:p>
            <a:pPr marL="736600" indent="-254000" algn="l">
              <a:lnSpc>
                <a:spcPts val="2750"/>
              </a:lnSpc>
              <a:spcBef>
                <a:spcPts val="480"/>
              </a:spcBef>
            </a:pPr>
            <a:r>
              <a:rPr sz="2200" b="0" i="0">
                <a:solidFill>
                  <a:srgbClr val="111111"/>
                </a:solidFill>
                <a:latin typeface="Times New Roman"/>
                <a:ea typeface="Times New Roman"/>
                <a:cs typeface="Times New Roman"/>
              </a:rPr>
              <a:t>–  First command-line argument</a:t>
            </a:r>
          </a:p>
          <a:p>
            <a:pPr marL="457200" indent="0" algn="l">
              <a:lnSpc>
                <a:spcPts val="2610"/>
              </a:lnSpc>
              <a:spcBef>
                <a:spcPts val="480"/>
              </a:spcBef>
            </a:pPr>
            <a:r>
              <a:rPr sz="1800" b="1" i="0">
                <a:solidFill>
                  <a:srgbClr val="111111"/>
                </a:solidFill>
                <a:latin typeface="Courier New"/>
                <a:ea typeface="Courier New"/>
                <a:cs typeface="Courier New"/>
              </a:rPr>
              <a:t>args[ 0 ]</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Using Command-Line Arguments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2E562937-0174-4809-9DEC-24F3CA877C09}" type="slidenum">
              <a:rPr sz="1200" b="0" i="0">
                <a:solidFill>
                  <a:srgbClr val="6B6B6B"/>
                </a:solidFill>
                <a:latin typeface="Source Sans 3"/>
                <a:ea typeface="Source Sans 3"/>
                <a:cs typeface="Source Sans 3"/>
              </a:rPr>
              <a:pPr algn="l">
                <a:lnSpc>
                  <a:spcPts val="1500"/>
                </a:lnSpc>
              </a:pPr>
              <a:t>202</a:t>
            </a:fld>
            <a:endParaRPr sz="1200" b="0" i="0">
              <a:solidFill>
                <a:srgbClr val="6B6B6B"/>
              </a:solidFill>
              <a:latin typeface="Source Sans 3"/>
              <a:ea typeface="Source Sans 3"/>
              <a:cs typeface="Source Sans 3"/>
            </a:endParaRPr>
          </a:p>
        </p:txBody>
      </p:sp>
      <p:sp>
        <p:nvSpPr>
          <p:cNvPr id="4" name="TextBox 3"/>
          <p:cNvSpPr txBox="1"/>
          <p:nvPr/>
        </p:nvSpPr>
        <p:spPr>
          <a:xfrm>
            <a:off x="1079500" y="1295400"/>
            <a:ext cx="5212080" cy="307777"/>
          </a:xfrm>
          <a:prstGeom prst="rect">
            <a:avLst/>
          </a:prstGeom>
          <a:noFill/>
        </p:spPr>
        <p:txBody>
          <a:bodyPr wrap="square" lIns="0" tIns="0" rIns="0" bIns="0" anchor="t">
            <a:spAutoFit/>
          </a:bodyPr>
          <a:lstStyle/>
          <a:p>
            <a:pPr algn="l">
              <a:lnSpc>
                <a:spcPts val="2379"/>
              </a:lnSpc>
            </a:pPr>
            <a:r>
              <a:rPr lang="en-US" sz="1700" b="1" dirty="0" smtClean="0">
                <a:solidFill>
                  <a:srgbClr val="000000"/>
                </a:solidFill>
                <a:latin typeface="Courier New"/>
                <a:ea typeface="Courier New"/>
                <a:cs typeface="Courier New"/>
              </a:rPr>
              <a:t>C</a:t>
            </a:r>
            <a:r>
              <a:rPr sz="1700" b="1" i="0" smtClean="0">
                <a:solidFill>
                  <a:srgbClr val="000000"/>
                </a:solidFill>
                <a:latin typeface="Courier New"/>
                <a:ea typeface="Courier New"/>
                <a:cs typeface="Courier New"/>
              </a:rPr>
              <a:t>:\</a:t>
            </a:r>
            <a:r>
              <a:rPr sz="1700" b="1" i="0">
                <a:solidFill>
                  <a:srgbClr val="000000"/>
                </a:solidFill>
                <a:latin typeface="Courier New"/>
                <a:ea typeface="Courier New"/>
                <a:cs typeface="Courier New"/>
              </a:rPr>
              <a:t>javaex\&gt; java sum 5 6 8 -7 13</a:t>
            </a:r>
          </a:p>
        </p:txBody>
      </p:sp>
      <p:sp>
        <p:nvSpPr>
          <p:cNvPr id="5" name="TextBox 4"/>
          <p:cNvSpPr txBox="1"/>
          <p:nvPr/>
        </p:nvSpPr>
        <p:spPr>
          <a:xfrm>
            <a:off x="1079500" y="1905000"/>
            <a:ext cx="6065520" cy="3256280"/>
          </a:xfrm>
          <a:prstGeom prst="rect">
            <a:avLst/>
          </a:prstGeom>
          <a:noFill/>
        </p:spPr>
        <p:txBody>
          <a:bodyPr wrap="square" lIns="0" tIns="0" rIns="0" bIns="0" anchor="t">
            <a:spAutoFit/>
          </a:bodyPr>
          <a:lstStyle/>
          <a:p>
            <a:pPr algn="l">
              <a:lnSpc>
                <a:spcPts val="2240"/>
              </a:lnSpc>
            </a:pPr>
            <a:r>
              <a:rPr sz="1600" b="1" i="0">
                <a:solidFill>
                  <a:srgbClr val="000000"/>
                </a:solidFill>
                <a:latin typeface="Courier New"/>
                <a:ea typeface="Courier New"/>
                <a:cs typeface="Courier New"/>
              </a:rPr>
              <a:t>public class test {</a:t>
            </a:r>
          </a:p>
          <a:p>
            <a:pPr algn="l">
              <a:lnSpc>
                <a:spcPts val="2240"/>
              </a:lnSpc>
            </a:pPr>
            <a:r>
              <a:rPr sz="1600" b="1" i="0">
                <a:solidFill>
                  <a:srgbClr val="000000"/>
                </a:solidFill>
                <a:latin typeface="Courier New"/>
                <a:ea typeface="Courier New"/>
                <a:cs typeface="Courier New"/>
              </a:rPr>
              <a:t>  publis static void main(String[] args){</a:t>
            </a:r>
          </a:p>
          <a:p>
            <a:pPr algn="l">
              <a:lnSpc>
                <a:spcPts val="2240"/>
              </a:lnSpc>
            </a:pPr>
            <a:r>
              <a:rPr sz="1600" b="1" i="0">
                <a:solidFill>
                  <a:srgbClr val="000000"/>
                </a:solidFill>
                <a:latin typeface="Courier New"/>
                <a:ea typeface="Courier New"/>
                <a:cs typeface="Courier New"/>
              </a:rPr>
              <a:t>    sum=0;</a:t>
            </a:r>
          </a:p>
          <a:p>
            <a:pPr algn="l">
              <a:lnSpc>
                <a:spcPts val="2240"/>
              </a:lnSpc>
            </a:pPr>
            <a:r>
              <a:rPr sz="1600" b="1" i="0">
                <a:solidFill>
                  <a:srgbClr val="000000"/>
                </a:solidFill>
                <a:latin typeface="Courier New"/>
                <a:ea typeface="Courier New"/>
                <a:cs typeface="Courier New"/>
              </a:rPr>
              <a:t>    System.out.print("The sum of ");</a:t>
            </a:r>
          </a:p>
          <a:p>
            <a:pPr algn="l">
              <a:lnSpc>
                <a:spcPts val="2240"/>
              </a:lnSpc>
            </a:pPr>
            <a:r>
              <a:rPr sz="1600" b="1" i="0">
                <a:solidFill>
                  <a:srgbClr val="000000"/>
                </a:solidFill>
                <a:latin typeface="Courier New"/>
                <a:ea typeface="Courier New"/>
                <a:cs typeface="Courier New"/>
              </a:rPr>
              <a:t>    for(int i:args) {</a:t>
            </a:r>
          </a:p>
          <a:p>
            <a:pPr algn="l">
              <a:lnSpc>
                <a:spcPts val="2240"/>
              </a:lnSpc>
            </a:pPr>
            <a:r>
              <a:rPr sz="1600" b="1" i="0">
                <a:solidFill>
                  <a:srgbClr val="000000"/>
                </a:solidFill>
                <a:latin typeface="Courier New"/>
                <a:ea typeface="Courier New"/>
                <a:cs typeface="Courier New"/>
              </a:rPr>
              <a:t>      sum+=i;</a:t>
            </a:r>
          </a:p>
          <a:p>
            <a:pPr algn="l">
              <a:lnSpc>
                <a:spcPts val="2240"/>
              </a:lnSpc>
            </a:pPr>
            <a:r>
              <a:rPr sz="1600" b="1" i="0">
                <a:solidFill>
                  <a:srgbClr val="000000"/>
                </a:solidFill>
                <a:latin typeface="Courier New"/>
                <a:ea typeface="Courier New"/>
                <a:cs typeface="Courier New"/>
              </a:rPr>
              <a:t>      System.out.print(i+",");</a:t>
            </a:r>
          </a:p>
          <a:p>
            <a:pPr algn="l">
              <a:lnSpc>
                <a:spcPts val="2240"/>
              </a:lnSpc>
            </a:pPr>
            <a:r>
              <a:rPr sz="1600" b="1" i="0">
                <a:solidFill>
                  <a:srgbClr val="000000"/>
                </a:solidFill>
                <a:latin typeface="Courier New"/>
                <a:ea typeface="Courier New"/>
                <a:cs typeface="Courier New"/>
              </a:rPr>
              <a:t>    }</a:t>
            </a:r>
          </a:p>
          <a:p>
            <a:pPr algn="l">
              <a:lnSpc>
                <a:spcPts val="2240"/>
              </a:lnSpc>
            </a:pPr>
            <a:r>
              <a:rPr sz="1600" b="1" i="0">
                <a:solidFill>
                  <a:srgbClr val="000000"/>
                </a:solidFill>
                <a:latin typeface="Courier New"/>
                <a:ea typeface="Courier New"/>
                <a:cs typeface="Courier New"/>
              </a:rPr>
              <a:t>    System.out.print(" is "+sum+"\n");</a:t>
            </a:r>
          </a:p>
          <a:p>
            <a:pPr algn="l">
              <a:lnSpc>
                <a:spcPts val="2240"/>
              </a:lnSpc>
            </a:pPr>
            <a:r>
              <a:rPr sz="1600" b="1" i="0">
                <a:solidFill>
                  <a:srgbClr val="000000"/>
                </a:solidFill>
                <a:latin typeface="Courier New"/>
                <a:ea typeface="Courier New"/>
                <a:cs typeface="Courier New"/>
              </a:rPr>
              <a:t>  }</a:t>
            </a:r>
          </a:p>
          <a:p>
            <a:pPr algn="l">
              <a:lnSpc>
                <a:spcPts val="2240"/>
              </a:lnSpc>
            </a:pPr>
            <a:r>
              <a:rPr sz="1600" b="1" i="0">
                <a:solidFill>
                  <a:srgbClr val="000000"/>
                </a:solidFill>
                <a:latin typeface="Courier New"/>
                <a:ea typeface="Courier New"/>
                <a:cs typeface="Courier New"/>
              </a:rPr>
              <a:t>}</a:t>
            </a:r>
          </a:p>
        </p:txBody>
      </p:sp>
      <p:sp>
        <p:nvSpPr>
          <p:cNvPr id="6" name="Rectangle 5"/>
          <p:cNvSpPr/>
          <p:nvPr/>
        </p:nvSpPr>
        <p:spPr>
          <a:xfrm>
            <a:off x="952500" y="5334000"/>
            <a:ext cx="6604000" cy="876300"/>
          </a:xfrm>
          <a:prstGeom prst="rect">
            <a:avLst/>
          </a:prstGeom>
          <a:noFill/>
          <a:ln w="19050">
            <a:solidFill>
              <a:srgbClr val="E0C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960120" y="5341620"/>
            <a:ext cx="6588760" cy="304800"/>
          </a:xfrm>
          <a:prstGeom prst="rect">
            <a:avLst/>
          </a:prstGeom>
          <a:solidFill>
            <a:srgbClr val="00008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i="0">
                <a:solidFill>
                  <a:srgbClr val="FFFFFF"/>
                </a:solidFill>
                <a:latin typeface="Source Sans 3"/>
                <a:ea typeface="Source Sans 3"/>
                <a:cs typeface="Source Sans 3"/>
              </a:rPr>
              <a:t>Output</a:t>
            </a:r>
          </a:p>
        </p:txBody>
      </p:sp>
      <p:sp>
        <p:nvSpPr>
          <p:cNvPr id="8" name="TextBox 7"/>
          <p:cNvSpPr txBox="1"/>
          <p:nvPr/>
        </p:nvSpPr>
        <p:spPr>
          <a:xfrm>
            <a:off x="1079500" y="5753100"/>
            <a:ext cx="6350000" cy="571500"/>
          </a:xfrm>
          <a:prstGeom prst="rect">
            <a:avLst/>
          </a:prstGeom>
          <a:noFill/>
        </p:spPr>
        <p:txBody>
          <a:bodyPr wrap="square" lIns="0" tIns="0" rIns="0" bIns="0" anchor="t">
            <a:spAutoFit/>
          </a:bodyPr>
          <a:lstStyle/>
          <a:p>
            <a:pPr algn="l">
              <a:lnSpc>
                <a:spcPts val="2100"/>
              </a:lnSpc>
            </a:pPr>
            <a:r>
              <a:rPr sz="1500" b="0" i="0">
                <a:solidFill>
                  <a:srgbClr val="111111"/>
                </a:solidFill>
                <a:latin typeface="Courier New"/>
                <a:ea typeface="Courier New"/>
                <a:cs typeface="Courier New"/>
              </a:rPr>
              <a:t>The sum of 5, 6, 8, -7, 13 is 25</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Variable-Length Argument Lists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DF0AEC18-4083-4C13-9D77-A1C8BDAA715F}" type="slidenum">
              <a:rPr sz="1200" b="0" i="0">
                <a:solidFill>
                  <a:srgbClr val="6B6B6B"/>
                </a:solidFill>
                <a:latin typeface="Source Sans 3"/>
                <a:ea typeface="Source Sans 3"/>
                <a:cs typeface="Source Sans 3"/>
              </a:rPr>
              <a:pPr algn="l">
                <a:lnSpc>
                  <a:spcPts val="1500"/>
                </a:lnSpc>
              </a:pPr>
              <a:t>203</a:t>
            </a:fld>
            <a:endParaRPr sz="1200" b="0" i="0">
              <a:solidFill>
                <a:srgbClr val="6B6B6B"/>
              </a:solidFill>
              <a:latin typeface="Source Sans 3"/>
              <a:ea typeface="Source Sans 3"/>
              <a:cs typeface="Source Sans 3"/>
            </a:endParaRPr>
          </a:p>
        </p:txBody>
      </p:sp>
      <p:sp>
        <p:nvSpPr>
          <p:cNvPr id="4" name="TextBox 3"/>
          <p:cNvSpPr txBox="1"/>
          <p:nvPr/>
        </p:nvSpPr>
        <p:spPr>
          <a:xfrm>
            <a:off x="952500" y="1206500"/>
            <a:ext cx="10287000" cy="2592248"/>
          </a:xfrm>
          <a:prstGeom prst="rect">
            <a:avLst/>
          </a:prstGeom>
          <a:noFill/>
        </p:spPr>
        <p:txBody>
          <a:bodyPr wrap="square" lIns="0" tIns="0" rIns="0" bIns="0" anchor="t">
            <a:spAutoFit/>
          </a:bodyPr>
          <a:lstStyle/>
          <a:p>
            <a:pPr marL="279400" indent="-279400" algn="just">
              <a:lnSpc>
                <a:spcPts val="3125"/>
              </a:lnSpc>
            </a:pPr>
            <a:r>
              <a:rPr sz="2500" b="0" i="0">
                <a:solidFill>
                  <a:srgbClr val="111111"/>
                </a:solidFill>
                <a:latin typeface="Times New Roman"/>
                <a:ea typeface="Times New Roman"/>
                <a:cs typeface="Times New Roman"/>
              </a:rPr>
              <a:t>▫  Variable-length argument lists</a:t>
            </a:r>
          </a:p>
          <a:p>
            <a:pPr marL="736600" indent="-254000" algn="just">
              <a:lnSpc>
                <a:spcPts val="2875"/>
              </a:lnSpc>
              <a:spcBef>
                <a:spcPts val="600"/>
              </a:spcBef>
            </a:pPr>
            <a:r>
              <a:rPr sz="2300" b="0" i="0">
                <a:solidFill>
                  <a:srgbClr val="111111"/>
                </a:solidFill>
                <a:latin typeface="Times New Roman"/>
                <a:ea typeface="Times New Roman"/>
                <a:cs typeface="Times New Roman"/>
              </a:rPr>
              <a:t>–  Unspecified number of arguments</a:t>
            </a:r>
          </a:p>
          <a:p>
            <a:pPr marL="736600" indent="-254000" algn="just">
              <a:lnSpc>
                <a:spcPts val="2875"/>
              </a:lnSpc>
              <a:spcBef>
                <a:spcPts val="600"/>
              </a:spcBef>
            </a:pPr>
            <a:r>
              <a:rPr sz="2300" b="0" i="0">
                <a:solidFill>
                  <a:srgbClr val="111111"/>
                </a:solidFill>
                <a:latin typeface="Times New Roman"/>
                <a:ea typeface="Times New Roman"/>
                <a:cs typeface="Times New Roman"/>
              </a:rPr>
              <a:t>–  Use ellipsis (…) in method’s parameter list</a:t>
            </a:r>
          </a:p>
          <a:p>
            <a:pPr marL="457200" indent="0" algn="just">
              <a:lnSpc>
                <a:spcPts val="2875"/>
              </a:lnSpc>
              <a:spcBef>
                <a:spcPts val="500"/>
              </a:spcBef>
            </a:pPr>
            <a:r>
              <a:rPr sz="2300" b="0" i="0">
                <a:solidFill>
                  <a:srgbClr val="111111"/>
                </a:solidFill>
                <a:latin typeface="Times New Roman"/>
                <a:ea typeface="Times New Roman"/>
                <a:cs typeface="Times New Roman"/>
              </a:rPr>
              <a:t>–  Can occur only once in parameter list</a:t>
            </a:r>
          </a:p>
          <a:p>
            <a:pPr marL="457200" indent="0" algn="just">
              <a:lnSpc>
                <a:spcPts val="2875"/>
              </a:lnSpc>
              <a:spcBef>
                <a:spcPts val="500"/>
              </a:spcBef>
            </a:pPr>
            <a:r>
              <a:rPr sz="2300" b="0" i="0">
                <a:solidFill>
                  <a:srgbClr val="111111"/>
                </a:solidFill>
                <a:latin typeface="Times New Roman"/>
                <a:ea typeface="Times New Roman"/>
                <a:cs typeface="Times New Roman"/>
              </a:rPr>
              <a:t>–  Must be placed at the end of parameter list</a:t>
            </a:r>
          </a:p>
          <a:p>
            <a:pPr marL="736600" indent="-254000" algn="just">
              <a:lnSpc>
                <a:spcPts val="2875"/>
              </a:lnSpc>
              <a:spcBef>
                <a:spcPts val="600"/>
              </a:spcBef>
            </a:pPr>
            <a:r>
              <a:rPr sz="2300" b="0" i="0">
                <a:solidFill>
                  <a:srgbClr val="111111"/>
                </a:solidFill>
                <a:latin typeface="Times New Roman"/>
                <a:ea typeface="Times New Roman"/>
                <a:cs typeface="Times New Roman"/>
              </a:rPr>
              <a:t>–  Array whose elements are all of the same type</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4050" y="355600"/>
            <a:ext cx="10883900" cy="508000"/>
          </a:xfrm>
        </p:spPr>
        <p:txBody>
          <a:bodyPr lIns="0" tIns="0" rIns="0" bIns="0" anchor="t"/>
          <a:lstStyle/>
          <a:p>
            <a:pPr algn="ctr">
              <a:lnSpc>
                <a:spcPts val="3795"/>
              </a:lnSpc>
            </a:pPr>
            <a:r>
              <a:rPr sz="3300" b="0" i="0">
                <a:solidFill>
                  <a:srgbClr val="111111"/>
                </a:solidFill>
                <a:latin typeface="Times New Roman"/>
                <a:ea typeface="Times New Roman"/>
                <a:cs typeface="Times New Roman"/>
              </a:rPr>
              <a:t>Variable-Length Argument Lists</a:t>
            </a:r>
          </a:p>
        </p:txBody>
      </p:sp>
      <p:sp>
        <p:nvSpPr>
          <p:cNvPr id="3" name="TextBox 2"/>
          <p:cNvSpPr txBox="1"/>
          <p:nvPr/>
        </p:nvSpPr>
        <p:spPr>
          <a:xfrm>
            <a:off x="812800" y="6390640"/>
            <a:ext cx="10883900" cy="241300"/>
          </a:xfrm>
          <a:prstGeom prst="rect">
            <a:avLst/>
          </a:prstGeom>
          <a:noFill/>
        </p:spPr>
        <p:txBody>
          <a:bodyPr wrap="square" lIns="0" tIns="0" rIns="0" bIns="0" anchor="t">
            <a:spAutoFit/>
          </a:bodyPr>
          <a:lstStyle/>
          <a:p>
            <a:pPr algn="l">
              <a:lnSpc>
                <a:spcPts val="1500"/>
              </a:lnSpc>
            </a:pPr>
            <a:r>
              <a:rPr sz="1200" b="0" i="0">
                <a:solidFill>
                  <a:srgbClr val="6B6B6B"/>
                </a:solidFill>
                <a:latin typeface="Source Sans 3"/>
                <a:ea typeface="Source Sans 3"/>
                <a:cs typeface="Source Sans 3"/>
              </a:rPr>
              <a:t>OOP · Java basics  ·  </a:t>
            </a:r>
            <a:fld id="{2F565064-4C6D-4D6C-AEC0-AFDB4C632B0D}" type="slidenum">
              <a:rPr sz="1200" b="0" i="0">
                <a:solidFill>
                  <a:srgbClr val="6B6B6B"/>
                </a:solidFill>
                <a:latin typeface="Source Sans 3"/>
                <a:ea typeface="Source Sans 3"/>
                <a:cs typeface="Source Sans 3"/>
              </a:rPr>
              <a:pPr algn="l">
                <a:lnSpc>
                  <a:spcPts val="1500"/>
                </a:lnSpc>
              </a:pPr>
              <a:t>204</a:t>
            </a:fld>
            <a:endParaRPr sz="1200" b="0" i="0">
              <a:solidFill>
                <a:srgbClr val="6B6B6B"/>
              </a:solidFill>
              <a:latin typeface="Source Sans 3"/>
              <a:ea typeface="Source Sans 3"/>
              <a:cs typeface="Source Sans 3"/>
            </a:endParaRPr>
          </a:p>
        </p:txBody>
      </p:sp>
      <p:sp>
        <p:nvSpPr>
          <p:cNvPr id="4" name="TextBox 3"/>
          <p:cNvSpPr txBox="1"/>
          <p:nvPr/>
        </p:nvSpPr>
        <p:spPr>
          <a:xfrm>
            <a:off x="230294" y="1168400"/>
            <a:ext cx="11826240" cy="4385816"/>
          </a:xfrm>
          <a:prstGeom prst="rect">
            <a:avLst/>
          </a:prstGeom>
          <a:noFill/>
        </p:spPr>
        <p:txBody>
          <a:bodyPr wrap="square" lIns="0" tIns="0" rIns="0" bIns="0" anchor="t">
            <a:spAutoFit/>
          </a:bodyPr>
          <a:lstStyle/>
          <a:p>
            <a:pPr algn="l">
              <a:lnSpc>
                <a:spcPts val="1750"/>
              </a:lnSpc>
            </a:pPr>
            <a:r>
              <a:rPr sz="1600" b="1" i="0">
                <a:solidFill>
                  <a:srgbClr val="000000"/>
                </a:solidFill>
                <a:latin typeface="Courier New"/>
                <a:ea typeface="Courier New"/>
                <a:cs typeface="Courier New"/>
              </a:rPr>
              <a:t>public class VarargsTest {</a:t>
            </a:r>
          </a:p>
          <a:p>
            <a:pPr algn="l">
              <a:lnSpc>
                <a:spcPts val="1750"/>
              </a:lnSpc>
            </a:pPr>
            <a:r>
              <a:rPr sz="1600" b="1" i="0">
                <a:solidFill>
                  <a:srgbClr val="000000"/>
                </a:solidFill>
                <a:latin typeface="Courier New"/>
                <a:ea typeface="Courier New"/>
                <a:cs typeface="Courier New"/>
              </a:rPr>
              <a:t>   public static double average( double... numbers ) {</a:t>
            </a:r>
          </a:p>
          <a:p>
            <a:pPr algn="l">
              <a:lnSpc>
                <a:spcPts val="1750"/>
              </a:lnSpc>
            </a:pPr>
            <a:r>
              <a:rPr sz="1600" b="1" i="0">
                <a:solidFill>
                  <a:srgbClr val="000000"/>
                </a:solidFill>
                <a:latin typeface="Courier New"/>
                <a:ea typeface="Courier New"/>
                <a:cs typeface="Courier New"/>
              </a:rPr>
              <a:t>      double total = 0.0;</a:t>
            </a:r>
          </a:p>
          <a:p>
            <a:pPr algn="l">
              <a:lnSpc>
                <a:spcPts val="1750"/>
              </a:lnSpc>
            </a:pPr>
            <a:r>
              <a:rPr sz="1600" b="1" i="0">
                <a:solidFill>
                  <a:srgbClr val="000000"/>
                </a:solidFill>
                <a:latin typeface="Courier New"/>
                <a:ea typeface="Courier New"/>
                <a:cs typeface="Courier New"/>
              </a:rPr>
              <a:t>      for ( double d : numbers )</a:t>
            </a:r>
          </a:p>
          <a:p>
            <a:pPr algn="l">
              <a:lnSpc>
                <a:spcPts val="1750"/>
              </a:lnSpc>
            </a:pPr>
            <a:r>
              <a:rPr sz="1600" b="1" i="0">
                <a:solidFill>
                  <a:srgbClr val="000000"/>
                </a:solidFill>
                <a:latin typeface="Courier New"/>
                <a:ea typeface="Courier New"/>
                <a:cs typeface="Courier New"/>
              </a:rPr>
              <a:t>         total += d;</a:t>
            </a:r>
          </a:p>
          <a:p>
            <a:pPr algn="l">
              <a:lnSpc>
                <a:spcPts val="1750"/>
              </a:lnSpc>
            </a:pPr>
            <a:r>
              <a:rPr sz="1600" b="1" i="0">
                <a:solidFill>
                  <a:srgbClr val="000000"/>
                </a:solidFill>
                <a:latin typeface="Courier New"/>
                <a:ea typeface="Courier New"/>
                <a:cs typeface="Courier New"/>
              </a:rPr>
              <a:t>      return total / numbers.length;</a:t>
            </a:r>
          </a:p>
          <a:p>
            <a:pPr algn="l">
              <a:lnSpc>
                <a:spcPts val="1750"/>
              </a:lnSpc>
            </a:pPr>
            <a:r>
              <a:rPr sz="1600" b="1" i="0">
                <a:solidFill>
                  <a:srgbClr val="000000"/>
                </a:solidFill>
                <a:latin typeface="Courier New"/>
                <a:ea typeface="Courier New"/>
                <a:cs typeface="Courier New"/>
              </a:rPr>
              <a:t>   }</a:t>
            </a:r>
          </a:p>
          <a:p>
            <a:pPr algn="l">
              <a:lnSpc>
                <a:spcPts val="1750"/>
              </a:lnSpc>
            </a:pPr>
            <a:r>
              <a:rPr sz="1600" b="1" i="0">
                <a:solidFill>
                  <a:srgbClr val="000000"/>
                </a:solidFill>
                <a:latin typeface="Courier New"/>
                <a:ea typeface="Courier New"/>
                <a:cs typeface="Courier New"/>
              </a:rPr>
              <a:t>   public static void main( String[] args ) {</a:t>
            </a:r>
          </a:p>
          <a:p>
            <a:pPr algn="l">
              <a:lnSpc>
                <a:spcPts val="1750"/>
              </a:lnSpc>
            </a:pPr>
            <a:r>
              <a:rPr sz="1600" b="1" i="0">
                <a:solidFill>
                  <a:srgbClr val="000000"/>
                </a:solidFill>
                <a:latin typeface="Courier New"/>
                <a:ea typeface="Courier New"/>
                <a:cs typeface="Courier New"/>
              </a:rPr>
              <a:t>      double d1 = 10.0;</a:t>
            </a:r>
          </a:p>
          <a:p>
            <a:pPr algn="l">
              <a:lnSpc>
                <a:spcPts val="1750"/>
              </a:lnSpc>
            </a:pPr>
            <a:r>
              <a:rPr sz="1600" b="1" i="0">
                <a:solidFill>
                  <a:srgbClr val="000000"/>
                </a:solidFill>
                <a:latin typeface="Courier New"/>
                <a:ea typeface="Courier New"/>
                <a:cs typeface="Courier New"/>
              </a:rPr>
              <a:t>      double d2 = 20.0;</a:t>
            </a:r>
          </a:p>
          <a:p>
            <a:pPr algn="l">
              <a:lnSpc>
                <a:spcPts val="1750"/>
              </a:lnSpc>
            </a:pPr>
            <a:r>
              <a:rPr sz="1600" b="1" i="0">
                <a:solidFill>
                  <a:srgbClr val="000000"/>
                </a:solidFill>
                <a:latin typeface="Courier New"/>
                <a:ea typeface="Courier New"/>
                <a:cs typeface="Courier New"/>
              </a:rPr>
              <a:t>      double d3 = 30.0;</a:t>
            </a:r>
          </a:p>
          <a:p>
            <a:pPr algn="l">
              <a:lnSpc>
                <a:spcPts val="1750"/>
              </a:lnSpc>
            </a:pPr>
            <a:r>
              <a:rPr sz="1600" b="1" i="0">
                <a:solidFill>
                  <a:srgbClr val="000000"/>
                </a:solidFill>
                <a:latin typeface="Courier New"/>
                <a:ea typeface="Courier New"/>
                <a:cs typeface="Courier New"/>
              </a:rPr>
              <a:t>      double d4 = 40.0;</a:t>
            </a:r>
          </a:p>
          <a:p>
            <a:pPr algn="l">
              <a:lnSpc>
                <a:spcPts val="1750"/>
              </a:lnSpc>
            </a:pPr>
            <a:r>
              <a:rPr sz="1600" b="1" i="0">
                <a:solidFill>
                  <a:srgbClr val="000000"/>
                </a:solidFill>
                <a:latin typeface="Courier New"/>
                <a:ea typeface="Courier New"/>
                <a:cs typeface="Courier New"/>
              </a:rPr>
              <a:t>      System.out.printf( "d1 = %.1f\nd2 = %.1f\nd3 = %.1f\nd4 = %.1f\n\n", d1, d2, d3, d4 );</a:t>
            </a:r>
          </a:p>
          <a:p>
            <a:pPr algn="l">
              <a:lnSpc>
                <a:spcPts val="1750"/>
              </a:lnSpc>
            </a:pPr>
            <a:r>
              <a:rPr sz="1600" b="1" i="0">
                <a:solidFill>
                  <a:srgbClr val="000000"/>
                </a:solidFill>
                <a:latin typeface="Courier New"/>
                <a:ea typeface="Courier New"/>
                <a:cs typeface="Courier New"/>
              </a:rPr>
              <a:t>      System.out.printf( "Average of d1 and d2 is %.1f\n",  average( d1, d2 ) );</a:t>
            </a:r>
          </a:p>
          <a:p>
            <a:pPr algn="l">
              <a:lnSpc>
                <a:spcPts val="1750"/>
              </a:lnSpc>
            </a:pPr>
            <a:r>
              <a:rPr sz="1600" b="1" i="0">
                <a:solidFill>
                  <a:srgbClr val="000000"/>
                </a:solidFill>
                <a:latin typeface="Courier New"/>
                <a:ea typeface="Courier New"/>
                <a:cs typeface="Courier New"/>
              </a:rPr>
              <a:t>      System.out.printf( "Average of d1, d2 and d3 is %.1f\n",  average( d1, d2, d3 ) );</a:t>
            </a:r>
          </a:p>
          <a:p>
            <a:pPr algn="l">
              <a:lnSpc>
                <a:spcPts val="1750"/>
              </a:lnSpc>
            </a:pPr>
            <a:r>
              <a:rPr sz="1600" b="1" i="0">
                <a:solidFill>
                  <a:srgbClr val="000000"/>
                </a:solidFill>
                <a:latin typeface="Courier New"/>
                <a:ea typeface="Courier New"/>
                <a:cs typeface="Courier New"/>
              </a:rPr>
              <a:t>      System.out.printf( "Average of d1, d2, d3 and d4 is %.1f\n",  average( d1, d2, d3, d4 ) );</a:t>
            </a:r>
          </a:p>
          <a:p>
            <a:pPr algn="l">
              <a:lnSpc>
                <a:spcPts val="1750"/>
              </a:lnSpc>
            </a:pPr>
            <a:r>
              <a:rPr sz="1600" b="1" i="0">
                <a:solidFill>
                  <a:srgbClr val="000000"/>
                </a:solidFill>
                <a:latin typeface="Courier New"/>
                <a:ea typeface="Courier New"/>
                <a:cs typeface="Courier New"/>
              </a:rPr>
              <a:t>   }</a:t>
            </a:r>
          </a:p>
          <a:p>
            <a:pPr algn="l">
              <a:lnSpc>
                <a:spcPts val="1750"/>
              </a:lnSpc>
            </a:pPr>
            <a:r>
              <a:rPr sz="1600" b="1" i="0">
                <a:solidFill>
                  <a:srgbClr val="000000"/>
                </a:solidFill>
                <a:latin typeface="Courier New"/>
                <a:ea typeface="Courier New"/>
                <a:cs typeface="Courier New"/>
              </a:rPr>
              <a:t>}</a:t>
            </a:r>
          </a:p>
        </p:txBody>
      </p:sp>
    </p:spTree>
  </p:cSld>
  <p:clrMapOvr>
    <a:masterClrMapping/>
  </p:clrMapOvr>
</p:sld>
</file>

<file path=ppt/theme/theme1.xml><?xml version="1.0" encoding="utf-8"?>
<a:theme xmlns:a="http://schemas.openxmlformats.org/drawingml/2006/main" name="OOP Lab 1 — Java Basics: Anatomy of a Program">
  <a:themeElements>
    <a:clrScheme name="OOP Lab 1 — Java Basics: Anatomy of a Program">
      <a:dk1>
        <a:srgbClr val="111111"/>
      </a:dk1>
      <a:lt1>
        <a:srgbClr val="FFFFFF"/>
      </a:lt1>
      <a:dk2>
        <a:srgbClr val="4D4D4D"/>
      </a:dk2>
      <a:lt2>
        <a:srgbClr val="E7E7E7"/>
      </a:lt2>
      <a:accent1>
        <a:srgbClr val="E8742C"/>
      </a:accent1>
      <a:accent2>
        <a:srgbClr val="C00000"/>
      </a:accent2>
      <a:accent3>
        <a:srgbClr val="2B4F8C"/>
      </a:accent3>
      <a:accent4>
        <a:srgbClr val="000080"/>
      </a:accent4>
      <a:accent5>
        <a:srgbClr val="B5500F"/>
      </a:accent5>
      <a:accent6>
        <a:srgbClr val="6B6B6B"/>
      </a:accent6>
      <a:hlink>
        <a:srgbClr val="0563C1"/>
      </a:hlink>
      <a:folHlink>
        <a:srgbClr val="954F72"/>
      </a:folHlink>
    </a:clrScheme>
    <a:fontScheme name="OOP Lab 1 — Java Basics: Anatomy of a Program">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urier New"/>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14627</Words>
  <Application>Microsoft Office PowerPoint</Application>
  <PresentationFormat>Custom</PresentationFormat>
  <Paragraphs>2480</Paragraphs>
  <Slides>204</Slides>
  <Notes>0</Notes>
  <HiddenSlides>0</HiddenSlides>
  <MMClips>0</MMClips>
  <ScaleCrop>false</ScaleCrop>
  <HeadingPairs>
    <vt:vector size="4" baseType="variant">
      <vt:variant>
        <vt:lpstr>Theme</vt:lpstr>
      </vt:variant>
      <vt:variant>
        <vt:i4>1</vt:i4>
      </vt:variant>
      <vt:variant>
        <vt:lpstr>Slide Titles</vt:lpstr>
      </vt:variant>
      <vt:variant>
        <vt:i4>204</vt:i4>
      </vt:variant>
    </vt:vector>
  </HeadingPairs>
  <TitlesOfParts>
    <vt:vector size="205" baseType="lpstr">
      <vt:lpstr>OOP Lab 1 — Java Basics: Anatomy of a Program</vt:lpstr>
      <vt:lpstr>Programming in Java</vt:lpstr>
      <vt:lpstr>Trace a Program Execution</vt:lpstr>
      <vt:lpstr>Trace a Program Execution</vt:lpstr>
      <vt:lpstr>Trace a Program Execution</vt:lpstr>
      <vt:lpstr>Trace a Program Execution</vt:lpstr>
      <vt:lpstr>Trace a Program Execution</vt:lpstr>
      <vt:lpstr>Reading Input from the Console</vt:lpstr>
      <vt:lpstr>Identifiers</vt:lpstr>
      <vt:lpstr>Variables</vt:lpstr>
      <vt:lpstr>Declaring Variables and Assignment Statements</vt:lpstr>
      <vt:lpstr>Constants</vt:lpstr>
      <vt:lpstr>Numerical Data Types</vt:lpstr>
      <vt:lpstr>Numeric Operators</vt:lpstr>
      <vt:lpstr>Integer Division</vt:lpstr>
      <vt:lpstr>NOTE</vt:lpstr>
      <vt:lpstr>Number Literals</vt:lpstr>
      <vt:lpstr>Integer Literals</vt:lpstr>
      <vt:lpstr>Floating-Point Literals</vt:lpstr>
      <vt:lpstr>Numeric Type Conversion</vt:lpstr>
      <vt:lpstr>Type Casting</vt:lpstr>
      <vt:lpstr>Debugging</vt:lpstr>
      <vt:lpstr>Debugger</vt:lpstr>
      <vt:lpstr>JOptionPane Input</vt:lpstr>
      <vt:lpstr>Getting Input from Input Dialog Boxes</vt:lpstr>
      <vt:lpstr>Getting Input from Input Dialog Boxes</vt:lpstr>
      <vt:lpstr>Two Ways to Invoke the Method</vt:lpstr>
      <vt:lpstr>Converting Strings to Integers and Doubles</vt:lpstr>
      <vt:lpstr>Selections</vt:lpstr>
      <vt:lpstr>The boolean Type and Operators</vt:lpstr>
      <vt:lpstr>Comparison Operators</vt:lpstr>
      <vt:lpstr>One-way if Statements</vt:lpstr>
      <vt:lpstr>The Two-way if Statement</vt:lpstr>
      <vt:lpstr>if...else Example</vt:lpstr>
      <vt:lpstr>Note</vt:lpstr>
      <vt:lpstr>Note, cont.</vt:lpstr>
      <vt:lpstr>Common Errors</vt:lpstr>
      <vt:lpstr>TIP</vt:lpstr>
      <vt:lpstr>CAUTION</vt:lpstr>
      <vt:lpstr>Logical Operators</vt:lpstr>
      <vt:lpstr>Truth Table for Operator !</vt:lpstr>
      <vt:lpstr>Truth Table for Operator &amp;&amp;</vt:lpstr>
      <vt:lpstr>Truth Table for Operator ||</vt:lpstr>
      <vt:lpstr>Truth Table for Operator ^</vt:lpstr>
      <vt:lpstr>Examples</vt:lpstr>
      <vt:lpstr>switch Statement Flow Chart</vt:lpstr>
      <vt:lpstr>switch Statement Rules</vt:lpstr>
      <vt:lpstr>switch Statement Rules</vt:lpstr>
      <vt:lpstr>Trace switch statement</vt:lpstr>
      <vt:lpstr>Conditional Operator</vt:lpstr>
      <vt:lpstr>Conditional Operator</vt:lpstr>
      <vt:lpstr>Formatting Output</vt:lpstr>
      <vt:lpstr>Frequently-Used Specifiers</vt:lpstr>
      <vt:lpstr>Operator Precedence</vt:lpstr>
      <vt:lpstr>Operator Precedence and Associativity</vt:lpstr>
      <vt:lpstr>(GUI) Confirmation Dialogs</vt:lpstr>
      <vt:lpstr>Mathematical Functions, Characters, and Strings</vt:lpstr>
      <vt:lpstr>Mathematical Functions and the Math Class</vt:lpstr>
      <vt:lpstr>Trigonometric Methods</vt:lpstr>
      <vt:lpstr>Exponent Methods</vt:lpstr>
      <vt:lpstr>Rounding Methods</vt:lpstr>
      <vt:lpstr>Rounding Methods Examples</vt:lpstr>
      <vt:lpstr>min, max, and abs</vt:lpstr>
      <vt:lpstr>The random Method</vt:lpstr>
      <vt:lpstr>Character Data Type</vt:lpstr>
      <vt:lpstr>Unicode Format</vt:lpstr>
      <vt:lpstr>Escape Sequences for Special Characters</vt:lpstr>
      <vt:lpstr>Casting between char and Numeric Types</vt:lpstr>
      <vt:lpstr>Comparing and Testing Characters</vt:lpstr>
      <vt:lpstr>Methods in the Character Class</vt:lpstr>
      <vt:lpstr>The String Type</vt:lpstr>
      <vt:lpstr>Simple Methods for String Objects</vt:lpstr>
      <vt:lpstr>Getting String Length</vt:lpstr>
      <vt:lpstr>String Concatenation</vt:lpstr>
      <vt:lpstr>Comparing Strings</vt:lpstr>
      <vt:lpstr>Loops</vt:lpstr>
      <vt:lpstr>Slide 76</vt:lpstr>
      <vt:lpstr>while Loop</vt:lpstr>
      <vt:lpstr>Trace while Loop</vt:lpstr>
      <vt:lpstr>Trace while Loop</vt:lpstr>
      <vt:lpstr>Trace while Loop</vt:lpstr>
      <vt:lpstr>Trace while Loop</vt:lpstr>
      <vt:lpstr>Trace while Loop</vt:lpstr>
      <vt:lpstr>Trace while Loop</vt:lpstr>
      <vt:lpstr>Trace while Loop</vt:lpstr>
      <vt:lpstr>Trace while Loop</vt:lpstr>
      <vt:lpstr>Trace while Loop</vt:lpstr>
      <vt:lpstr>Ending a Loop with a Sentinel Value</vt:lpstr>
      <vt:lpstr>Caution</vt:lpstr>
      <vt:lpstr>do-while Loop</vt:lpstr>
      <vt:lpstr>for Loops</vt:lpstr>
      <vt:lpstr>Trace for Loop</vt:lpstr>
      <vt:lpstr>Trace for Loop</vt:lpstr>
      <vt:lpstr>Trace for Loop</vt:lpstr>
      <vt:lpstr>Trace for Loop</vt:lpstr>
      <vt:lpstr>Trace for Loop</vt:lpstr>
      <vt:lpstr>Trace for Loop</vt:lpstr>
      <vt:lpstr>Trace for Loop</vt:lpstr>
      <vt:lpstr>Trace for Loop</vt:lpstr>
      <vt:lpstr>Trace for Loop</vt:lpstr>
      <vt:lpstr>Trace for Loop</vt:lpstr>
      <vt:lpstr>Note</vt:lpstr>
      <vt:lpstr>Note</vt:lpstr>
      <vt:lpstr>Caution</vt:lpstr>
      <vt:lpstr>Caution, cont.</vt:lpstr>
      <vt:lpstr>Which Loop to Use?</vt:lpstr>
      <vt:lpstr>Recommendations</vt:lpstr>
      <vt:lpstr>Using break and continue</vt:lpstr>
      <vt:lpstr>(GUI) Controlling a Loop with a Confirmation Dialog</vt:lpstr>
      <vt:lpstr>Methods</vt:lpstr>
      <vt:lpstr>Problem</vt:lpstr>
      <vt:lpstr>Solution</vt:lpstr>
      <vt:lpstr>Defining Methods</vt:lpstr>
      <vt:lpstr>Method Signature</vt:lpstr>
      <vt:lpstr>Formal Parameters</vt:lpstr>
      <vt:lpstr>Actual Parameters</vt:lpstr>
      <vt:lpstr>Return Value Type</vt:lpstr>
      <vt:lpstr>Calling Methods</vt:lpstr>
      <vt:lpstr>Calling Methods, cont.</vt:lpstr>
      <vt:lpstr>Trace Method Invocation</vt:lpstr>
      <vt:lpstr>Trace Method Invocation</vt:lpstr>
      <vt:lpstr>Trace Method Invocation</vt:lpstr>
      <vt:lpstr>Trace Method Invocation</vt:lpstr>
      <vt:lpstr>Trace Method Invocation</vt:lpstr>
      <vt:lpstr>Trace Method Invocation</vt:lpstr>
      <vt:lpstr>Trace Method Invocation</vt:lpstr>
      <vt:lpstr>Trace Method Invocation</vt:lpstr>
      <vt:lpstr>Trace Method Invocation</vt:lpstr>
      <vt:lpstr>Trace Method Invocation</vt:lpstr>
      <vt:lpstr>CAUTION</vt:lpstr>
      <vt:lpstr>Call Stacks</vt:lpstr>
      <vt:lpstr>Trace Call Stack</vt:lpstr>
      <vt:lpstr>Trace Call Stack</vt:lpstr>
      <vt:lpstr>Trace Call Stack</vt:lpstr>
      <vt:lpstr>Trace Call Stack</vt:lpstr>
      <vt:lpstr>Trace Call Stack</vt:lpstr>
      <vt:lpstr>Trace Call Stack</vt:lpstr>
      <vt:lpstr>Trace Call Stack</vt:lpstr>
      <vt:lpstr>Trace Call Stack</vt:lpstr>
      <vt:lpstr>Trace Call Stack</vt:lpstr>
      <vt:lpstr>Trace Call Stack</vt:lpstr>
      <vt:lpstr>void Method Example</vt:lpstr>
      <vt:lpstr>Passing Parameters</vt:lpstr>
      <vt:lpstr>Pass by Value</vt:lpstr>
      <vt:lpstr>Pass by Value, cont.</vt:lpstr>
      <vt:lpstr>Modularizing Code</vt:lpstr>
      <vt:lpstr>Overloading Methods</vt:lpstr>
      <vt:lpstr>Ambiguous Invocation</vt:lpstr>
      <vt:lpstr>Scope of Local Variables</vt:lpstr>
      <vt:lpstr>Scope of Local Variables, cont.</vt:lpstr>
      <vt:lpstr>Scope of Local Variables, cont.</vt:lpstr>
      <vt:lpstr>Global Variables</vt:lpstr>
      <vt:lpstr>Global vs Local variables</vt:lpstr>
      <vt:lpstr>Benefits of Methods</vt:lpstr>
      <vt:lpstr>Single-Dimensional Arrays</vt:lpstr>
      <vt:lpstr>Opening Problem</vt:lpstr>
      <vt:lpstr>Introducing Arrays</vt:lpstr>
      <vt:lpstr>Declaring Array Variables</vt:lpstr>
      <vt:lpstr>Creating Arrays</vt:lpstr>
      <vt:lpstr>Declaring and Creating in One Step</vt:lpstr>
      <vt:lpstr>The Length of an Array</vt:lpstr>
      <vt:lpstr>Default Values</vt:lpstr>
      <vt:lpstr>Indexed Variables</vt:lpstr>
      <vt:lpstr>Array Initializers</vt:lpstr>
      <vt:lpstr>CAUTION</vt:lpstr>
      <vt:lpstr>Processing Arrays</vt:lpstr>
      <vt:lpstr>Processing Arrays</vt:lpstr>
      <vt:lpstr>Enhanced for Loop (for-each loop)</vt:lpstr>
      <vt:lpstr>Copying Arrays</vt:lpstr>
      <vt:lpstr>Passing Arrays to Methods</vt:lpstr>
      <vt:lpstr>Anonymous Array</vt:lpstr>
      <vt:lpstr>Returning an Array from a Method</vt:lpstr>
      <vt:lpstr>Searching Arrays</vt:lpstr>
      <vt:lpstr>The Arrays.binarySearch Method</vt:lpstr>
      <vt:lpstr>The Arrays.sort Method</vt:lpstr>
      <vt:lpstr>Multidimensional Arrays</vt:lpstr>
      <vt:lpstr>Declare/Create Two-dimensional Arrays</vt:lpstr>
      <vt:lpstr>Declaring and Creating Two-dimensional Arrays </vt:lpstr>
      <vt:lpstr>Two-dimensional Array Illustration</vt:lpstr>
      <vt:lpstr>Declaring, Creating, and Initializing Using Shorthand Notations</vt:lpstr>
      <vt:lpstr>Lengths of Two-dimensional Arrays</vt:lpstr>
      <vt:lpstr>Lengths of Two-dimensional Arrays, cont.</vt:lpstr>
      <vt:lpstr>Ragged Arrays</vt:lpstr>
      <vt:lpstr>Ragged Arrays, cont.</vt:lpstr>
      <vt:lpstr>Multidimensional Arrays</vt:lpstr>
      <vt:lpstr>Recursion</vt:lpstr>
      <vt:lpstr>Computing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Trace Recursive factorial</vt:lpstr>
      <vt:lpstr>Fibonacci Numbers</vt:lpstr>
      <vt:lpstr>Characteristics of Recursion</vt:lpstr>
      <vt:lpstr>Arguments</vt:lpstr>
      <vt:lpstr>Using Command-Line Arguments</vt:lpstr>
      <vt:lpstr>Using Command-Line Arguments</vt:lpstr>
      <vt:lpstr>Variable-Length Argument Lists</vt:lpstr>
      <vt:lpstr>Variable-Length Argument Lists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 Lab 1 — Java Basics: Anatomy of a Program</dc:title>
  <dc:creator>alba meca</dc:creator>
  <cp:lastModifiedBy>Alba Meca</cp:lastModifiedBy>
  <cp:revision>6</cp:revision>
  <dcterms:created xsi:type="dcterms:W3CDTF">2026-10-05T08:24:51Z</dcterms:created>
  <dcterms:modified xsi:type="dcterms:W3CDTF">2026-10-11T13:51:41Z</dcterms:modified>
</cp:coreProperties>
</file>